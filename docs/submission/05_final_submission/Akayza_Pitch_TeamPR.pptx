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8FAFC"/>
                </a:solidFill>
                <a:latin typeface="Calibri"/>
              </a:defRPr>
            </a:pPr>
            <a:r>
              <a:rPr sz="1200" b="0" i="0" u="none" strike="noStrike">
                <a:solidFill>
                  <a:srgbClr val="F8FAFC"/>
                </a:solidFill>
                <a:latin typeface="Calibri"/>
              </a:rPr>
              <a:t>Spaza Shop Support Fund (R million)</a:t>
            </a:r>
          </a:p>
        </c:rich>
      </c:tx>
      <c:layout/>
      <c:overlay val="0"/>
    </c:title>
    <c:autoTitleDeleted val="0"/>
    <c:plotArea>
      <c:layout/>
      <c:barChart>
        <c:barDir val="bar"/>
        <c:grouping val="clustered"/>
        <c:varyColors val="0"/>
        <c:ser>
          <c:idx val="0"/>
          <c:order val="0"/>
          <c:tx>
            <c:strRef>
              <c:f>Sheet1!$B$1</c:f>
              <c:strCache>
                <c:ptCount val="1"/>
                <c:pt idx="0">
                  <c:v>Spaza Shop Support Fund</c:v>
                </c:pt>
              </c:strCache>
            </c:strRef>
          </c:tx>
          <c:spPr>
            <a:solidFill>
              <a:srgbClr val="64748B"/>
            </a:solidFill>
            <a:effectLst/>
          </c:spPr>
          <c:invertIfNegative val="0"/>
          <c:dLbls>
            <c:numFmt formatCode="#,##0.0" sourceLinked="0"/>
            <c:txPr>
              <a:bodyPr/>
              <a:lstStyle/>
              <a:p>
                <a:pPr>
                  <a:defRPr b="1" i="0" strike="noStrike" sz="1200" u="none">
                    <a:solidFill>
                      <a:srgbClr val="F8FAFC"/>
                    </a:solidFill>
                    <a:latin typeface="Arial"/>
                  </a:defRPr>
                </a:pPr>
              </a:p>
            </c:txPr>
            <c:showLegendKey val="0"/>
            <c:showVal val="1"/>
            <c:showCatName val="0"/>
            <c:showSerName val="0"/>
            <c:showPercent val="0"/>
            <c:showBubbleSize val="0"/>
            <c:showLeaderLines val="0"/>
          </c:dLbls>
          <c:dPt>
            <c:idx val="0"/>
            <c:invertIfNegative val="0"/>
            <c:bubble3D val="0"/>
            <c:spPr>
              <a:solidFill>
                <a:srgbClr val="64748B"/>
              </a:solidFill>
              <a:effectLst/>
            </c:spPr>
          </c:dPt>
          <c:dPt>
            <c:idx val="1"/>
            <c:invertIfNegative val="0"/>
            <c:bubble3D val="0"/>
            <c:spPr>
              <a:solidFill>
                <a:srgbClr val="F59E0B"/>
              </a:solidFill>
              <a:effectLst/>
            </c:spPr>
          </c:dPt>
          <c:cat>
            <c:multiLvlStrRef>
              <c:f>Sheet1!$A$2:$A$3</c:f>
              <c:multiLvlStrCache>
                <c:ptCount val="2"/>
                <c:lvl>
                  <c:pt idx="0">
                    <c:v>Put on the table</c:v>
                  </c:pt>
                  <c:pt idx="1">
                    <c:v>Reached shops</c:v>
                  </c:pt>
                </c:lvl>
              </c:multiLvlStrCache>
            </c:multiLvlStrRef>
          </c:cat>
          <c:val>
            <c:numRef>
              <c:f>Sheet1!$B$2:$B$3</c:f>
              <c:numCache>
                <c:formatCode>General</c:formatCode>
                <c:ptCount val="2"/>
                <c:pt idx="0">
                  <c:v>500</c:v>
                </c:pt>
                <c:pt idx="1">
                  <c:v>179.6</c:v>
                </c:pt>
              </c:numCache>
            </c:numRef>
          </c:val>
        </c:ser>
        <c:dLbls>
          <c:numFmt formatCode="#,##0.0" sourceLinked="0"/>
          <c:txPr>
            <a:bodyPr/>
            <a:lstStyle/>
            <a:p>
              <a:pPr>
                <a:defRPr b="1" i="0" strike="noStrike" sz="1200" u="none">
                  <a:solidFill>
                    <a:srgbClr val="F8FAFC"/>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F8FAFC"/>
                </a:solidFill>
                <a:latin typeface="Arial"/>
              </a:defRPr>
            </a:pPr>
            <a:endParaRPr lang="en-US"/>
          </a:p>
        </c:txPr>
        <c:crossAx val="2094734552"/>
        <c:crosses val="autoZero"/>
        <c:auto val="1"/>
        <c:lblAlgn val="ctr"/>
        <c:noMultiLvlLbl val="1"/>
      </c:catAx>
      <c:valAx>
        <c:axId val="2094734552"/>
        <c:scaling>
          <c:orientation val="minMax"/>
          <c:max val="65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8FAFC"/>
                </a:solidFill>
                <a:latin typeface="Calibri"/>
              </a:defRPr>
            </a:pPr>
            <a:r>
              <a:rPr sz="1200" b="0" i="0" u="none" strike="noStrike">
                <a:solidFill>
                  <a:srgbClr val="F8FAFC"/>
                </a:solidFill>
                <a:latin typeface="Calibri"/>
              </a:rPr>
              <a:t>Revenue, a month at year end (R thousand, estimate)</a:t>
            </a:r>
          </a:p>
        </c:rich>
      </c:tx>
      <c:layout/>
      <c:overlay val="0"/>
    </c:title>
    <c:autoTitleDeleted val="0"/>
    <c:plotArea>
      <c:layout/>
      <c:barChart>
        <c:barDir val="col"/>
        <c:grouping val="stacked"/>
        <c:varyColors val="0"/>
        <c:ser>
          <c:idx val="0"/>
          <c:order val="0"/>
          <c:tx>
            <c:strRef>
              <c:f>Sheet1!$B$1</c:f>
              <c:strCache>
                <c:ptCount val="1"/>
                <c:pt idx="0">
                  <c:v>Supplier subscriptions</c:v>
                </c:pt>
              </c:strCache>
            </c:strRef>
          </c:tx>
          <c:spPr>
            <a:solidFill>
              <a:srgbClr val="10B981"/>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16</c:v>
                </c:pt>
                <c:pt idx="1">
                  <c:v>83</c:v>
                </c:pt>
                <c:pt idx="2">
                  <c:v>310</c:v>
                </c:pt>
              </c:numCache>
            </c:numRef>
          </c:val>
        </c:ser>
        <c:ser>
          <c:idx val="1"/>
          <c:order val="1"/>
          <c:tx>
            <c:strRef>
              <c:f>Sheet1!$C$1</c:f>
              <c:strCache>
                <c:ptCount val="1"/>
                <c:pt idx="0">
                  <c:v>~1% on digital orders</c:v>
                </c:pt>
              </c:strCache>
            </c:strRef>
          </c:tx>
          <c:spPr>
            <a:solidFill>
              <a:srgbClr val="F59E0B"/>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40</c:v>
                </c:pt>
                <c:pt idx="1">
                  <c:v>200</c:v>
                </c:pt>
                <c:pt idx="2">
                  <c:v>800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8FAF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F8FAFC"/>
              </a:solidFil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F8FAFC"/>
                </a:solidFill>
                <a:latin typeface="Calibri"/>
              </a:defRPr>
            </a:pPr>
            <a:r>
              <a:rPr sz="1200" b="0" i="0" u="none" strike="noStrike">
                <a:solidFill>
                  <a:srgbClr val="F8FAFC"/>
                </a:solidFill>
                <a:latin typeface="Calibri"/>
              </a:rPr>
              <a:t>Long term: a month at year end (R thousand, estimate)</a:t>
            </a:r>
          </a:p>
        </c:rich>
      </c:tx>
      <c:layout/>
      <c:overlay val="0"/>
    </c:title>
    <c:autoTitleDeleted val="0"/>
    <c:plotArea>
      <c:layout/>
      <c:barChart>
        <c:barDir val="col"/>
        <c:grouping val="clustered"/>
        <c:varyColors val="0"/>
        <c:ser>
          <c:idx val="0"/>
          <c:order val="0"/>
          <c:tx>
            <c:strRef>
              <c:f>Sheet1!$B$1</c:f>
              <c:strCache>
                <c:ptCount val="1"/>
                <c:pt idx="0">
                  <c:v>Running costs</c:v>
                </c:pt>
              </c:strCache>
            </c:strRef>
          </c:tx>
          <c:spPr>
            <a:solidFill>
              <a:srgbClr val="F87171"/>
            </a:solidFill>
            <a:effectLst/>
          </c:spPr>
          <c:invertIfNegative val="0"/>
          <c:dLbls>
            <c:numFmt formatCode="#,##0" sourceLinked="0"/>
            <c:txPr>
              <a:bodyPr/>
              <a:lstStyle/>
              <a:p>
                <a:pPr>
                  <a:defRPr b="1" i="0" strike="noStrike" sz="1200" u="none">
                    <a:solidFill>
                      <a:srgbClr val="F8FAFC"/>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Sheet1!$B$2:$B$4</c:f>
              <c:numCache>
                <c:formatCode>General</c:formatCode>
                <c:ptCount val="3"/>
                <c:pt idx="0">
                  <c:v>75</c:v>
                </c:pt>
                <c:pt idx="1">
                  <c:v>270</c:v>
                </c:pt>
                <c:pt idx="2">
                  <c:v>650</c:v>
                </c:pt>
              </c:numCache>
            </c:numRef>
          </c:val>
        </c:ser>
        <c:ser>
          <c:idx val="1"/>
          <c:order val="1"/>
          <c:tx>
            <c:strRef>
              <c:f>Sheet1!$C$1</c:f>
              <c:strCache>
                <c:ptCount val="1"/>
                <c:pt idx="0">
                  <c:v>Revenue</c:v>
                </c:pt>
              </c:strCache>
            </c:strRef>
          </c:tx>
          <c:spPr>
            <a:solidFill>
              <a:srgbClr val="10B981"/>
            </a:solidFill>
            <a:effectLst/>
          </c:spPr>
          <c:invertIfNegative val="0"/>
          <c:dLbls>
            <c:numFmt formatCode="#,##0" sourceLinked="0"/>
            <c:txPr>
              <a:bodyPr/>
              <a:lstStyle/>
              <a:p>
                <a:pPr>
                  <a:defRPr b="1" i="0" strike="noStrike" sz="1200" u="none">
                    <a:solidFill>
                      <a:srgbClr val="F8FAFC"/>
                    </a:solidFill>
                    <a:latin typeface="Arial"/>
                  </a:defRPr>
                </a:pPr>
              </a:p>
            </c:txPr>
            <c:showLegendKey val="0"/>
            <c:showVal val="1"/>
            <c:showCatName val="0"/>
            <c:showSerName val="0"/>
            <c:showPercent val="0"/>
            <c:showBubbleSize val="0"/>
            <c:showLeaderLines val="0"/>
          </c:dLbls>
          <c:cat>
            <c:multiLvlStrRef>
              <c:f>Sheet1!$A$2:$A$4</c:f>
              <c:multiLvlStrCache>
                <c:ptCount val="3"/>
                <c:lvl>
                  <c:pt idx="0">
                    <c:v>Year 1</c:v>
                  </c:pt>
                  <c:pt idx="1">
                    <c:v>Year 2</c:v>
                  </c:pt>
                  <c:pt idx="2">
                    <c:v>Year 3</c:v>
                  </c:pt>
                </c:lvl>
              </c:multiLvlStrCache>
            </c:multiLvlStrRef>
          </c:cat>
          <c:val>
            <c:numRef>
              <c:f>Sheet1!$C$2:$C$4</c:f>
              <c:numCache>
                <c:formatCode>General</c:formatCode>
                <c:ptCount val="3"/>
                <c:pt idx="0">
                  <c:v>56</c:v>
                </c:pt>
                <c:pt idx="1">
                  <c:v>283</c:v>
                </c:pt>
                <c:pt idx="2">
                  <c:v>1100</c:v>
                </c:pt>
              </c:numCache>
            </c:numRef>
          </c:val>
        </c:ser>
        <c:dLbls>
          <c:numFmt formatCode="#,##0" sourceLinked="0"/>
          <c:txPr>
            <a:bodyPr/>
            <a:lstStyle/>
            <a:p>
              <a:pPr>
                <a:defRPr b="1" i="0" strike="noStrike" sz="1200" u="none">
                  <a:solidFill>
                    <a:srgbClr val="F8FAFC"/>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F8FAFC"/>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F8FAFC"/>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(5 s): 'Good morning. We're Team PR, and this is Akayza. Keep it in the kasi.' Then straight to the problem.
3-MINUTE ROUND: slides 1, 2, 3, 4 (short), 5, 6, 7, then 10 (demo). Skip 8 and 9 unless asked; they're in the deck for the judges.
TOP 12 (5 min, mostly demo): 2, 3, then the live demo, then 6 and 7. Keep 8 and 9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(20 s): 'R900 billion moves through South Africa's township economy every year. That's about 12% of our GDP and one in five jobs: shops, builders, food sellers, salons. And it's hidden in plain sight. Fewer than 9% of these businesses can get a bank loan. 80% are unregistered. When government put R500 million on the table for spaza shops, only R179.6 million reached them, because 354 applications couldn't be verified. With no record, even help can't reach them.'
IF ASKED where R900 bn comes from: Standard Bank's Township Informal Economy Report, October 2025, research by Foshizi, 250+ businesses in five provinces. Say 'about R900 billion', never 800. 12.3% of GDP and ~19.5% of employment: same report.
MORE EVIDENCE if pushed: DSBD (May 2026): ~82,000 spaza shops registered, 44,696 verified, ~15,000 licensed. NIQ (Mar 2026): traditional trade ~R170.1 bn in sales, growing faster than the big chains.
The fund figures are specifically about spaza shops, so we name them there. WhatsApp is how they talk; it isn't the problem. The problem is that nothing turns everyday trading into a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(25 s): 'That's where Akayza comes in. One free app that makes the business visible, and ready for tomorrow. It works the way they already operate, cash or digital. Every digital stock order becomes a record the owner holds, and over time a strong trading history. Today, the business tools take the stress away. This week, they buy better from their own suppliers and pay safely. Tomorrow, that history is their first step to finance. Businesses never pay. Suppliers are our customers: they pay a monthly subscription or contract, plus a commission on every order, because we bring them more orders. And next, banks and lenders, as partners, only with the owner's consent.'
HONEST LIMIT (say it before a judge does): 'We only call digital payments proof, because the payment provider confirms the money moved. Cash and what an owner writes in the tools is their own record. We never add them together.'
We don't lend or offer credit ourselves; banks and lenders are future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(20 s), tell it as a story: 'Meet Thandi. Her customers pay her in cash, and there's no proof that money moved. But with her suppliers there can be, so that's where we start. Monday she restocks from her usual supplier in two minutes. Wednesday a customer pays back his credit, and she records it in her credit book. Friday she pays her supplier in the app: no cash on the road, the payment is confirmed and the invoice arrives. And at month end she sees her business: who owes her, what she orders most, and the suppliers that fit how she buys.' Then: 'Any informal business has the same week, like Sipho the builder.'
We recommend suppliers, never products: the month-end view is her own numbers. Thandi and Sipho are illustrations, not real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(25 s): 'Our users are small and informal businesses; they use it free. Our customers are suppliers. The township economy is R900 billion a year; spaza shops alone move R180 billion. And 56% already prefer EFT: that's why South Africa first. Suppliers pay us, businesses never do: R299 or R1,499 a month, and about 1% only on digital orders, never on cash. We don't chase businesses one by one: we sign a supplier, and it brings the businesses it already delivers to. And businesses invite the suppliers they already order from. End of year one, about R56,000 a month; year three, about R1.1 million.'
WHY SA FIRST (if asked): we live it; big and dense (one supplier route serves hundreds of businesses); ready for digital; clear rules (POPIA, CIPC, VAT). Then the rest of Africa.
HOW the revenue works: subscriptions = supplier mix × price; commission = active businesses × ~R4,000 digital orders a month × 1%. Year 1: 5 Starter + 10 Pro suppliers, 1,000 businesses. Estimates, and we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(25 s), slowly, it's the most important number: 'What do we need right now? R300,000 for a six-month pilot: two suppliers live and fifty to a hundred businesses using it every week. Most of it goes to the people on the ground. Running the system costs about R460 a month. After the pilot we raise about R1.5 million to grow; suppliers' fees overtake our costs in year two, and by year three we make about R1.1 million a month against R650,000 in costs.'
IF ASKED for the long-term breakdown (a month at year end, R thousand, estimates): team 40 / 150 / 350 (2, 5, 10 people); field agents 16 / 50 / 120; sales and marketing 10 / 40 / 100; hosting, SMS, email, maps 5 / 15 / 40; security, POPIA, audits 4 / 15 / 40. Totals 75 / 270 / 650.
Why R1.5m: year 1 runs at a loss while suppliers sign up, plus hiring the year-2 team before their revenue arrives, plus six months of safety.
Costs stay low because we hold no stock, no cash and no vans: suppliers deliver, the payment provider holds the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(20 s): 'Everyone serves a slice. A wholesaler's own app, like Shoprite Cash &amp; Carry's, sells its own range. Payment apps take card payments. We serve the whole business, with the suppliers it already uses, for any kind of business. It gets smarter with use, and it builds a record that holds up.'
Our biggest competitor is the habit: calls, voice notes and WhatsApp messages to different suppliers, nothing in one place, nothing to track. Then a notebook. Don't attack anyone; show the gap. We complement payment apps; we don't replace them. We're not a marketplace: we recommend suppliers, never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if there's time, 15 s): 'It's built: a phone app, an API and a database, with payments, photos and maps behind the API. Over 1,400 automated tests run before every change. And the owner can seal their record with ML-DSA-65, the NIST post-quantum standard, so a record signed today still proves itself when quantum computers arrive.'
DETAIL for Q&amp;A: each feature is its own module; an automated architecture test stops one reaching into another's data. Seals: Ed25519 + ML-DSA-65 over a Merkle tree of every record; a check shows any record changed or deleted, even straight in the database; we keep no copy; public keys published. TRL 4 = works end to end in our environment with payments in the provider's sandbox.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(only if asked, 15 s): 'We comply with the law by design, POPIA for example, not as an afterthought. We collect only what we need or can verify. Only the owner sees their data. We never touch card numbers or hold money. Nothing personal goes into logs. Nothing is shared without consent. And we're honest about proof: only digital payments verified by the provider count as proof.'
Q&amp;A: security is invisible to the owner (email, password, a code only on a new phone). Breach plan: revoke sessions, rotate keys, tell users and the Information Regulator (POPIA s22). Data export and account closure are built on the server; the buttons come to the app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full 81-second video, with music, is inside the deck (no Wi-Fi needed). Click it to play, or set Playback &gt; Start: Automatically once in PowerPoint.
3-MINUTE ROUND: let it run about 50 seconds (to Sipho's order book and record), then click on to close. TOP 12: play it all.
Let the music and captions carry it; add at most one line: 'This is Akayza on a real phone, against our real system.'
CLOSE (10 s), look at the panel, not the screen: 'R900 billion is moving, and nobody can see it. Akayza makes it visible, and suppliers pay for it. It's built, it works, and R300,000 puts it in real businesses. Are you buying?' Then stop talking.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4" Type="http://schemas.openxmlformats.org/officeDocument/2006/relationships/chart" Target="/ppt/charts/chart1.xml"/><Relationship Id="rId1" Type="http://schemas.openxmlformats.org/officeDocument/2006/relationships/image" Target="../media/image-2-1.jpeg"/><Relationship Id="rId2" Type="http://schemas.openxmlformats.org/officeDocument/2006/relationships/image" Target="../media/image-2-2.jpeg"/><Relationship Id="rId3" Type="http://schemas.openxmlformats.org/officeDocument/2006/relationships/image" Target="../media/image-2-3.jpeg"/><Relationship Id="rId5" Type="http://schemas.openxmlformats.org/officeDocument/2006/relationships/image" Target="../media/image-2-4.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slideLayout" Target="../slideLayouts/slideLayout1.xml"/><Relationship Id="rId10"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4" Type="http://schemas.openxmlformats.org/officeDocument/2006/relationships/hyperlink" Target="https://drive.google.com/file/d/1yYQfVBEG-dnn-hxgRRtD5xDVw8vZV8Es/view" TargetMode="External"/><Relationship Id="rId5" Type="http://schemas.openxmlformats.org/officeDocument/2006/relationships/hyperlink" Target="https://drive.google.com/file/d/1yYQfVBEG-dnn-hxgRRtD5xDVw8vZV8Es/view" TargetMode="External"/><Relationship Id="rId1" Type="http://schemas.openxmlformats.org/officeDocument/2006/relationships/video" Target="../media/media-10-1.mp4"/><Relationship Id="rId2" Type="http://schemas.microsoft.com/office/2007/relationships/media" Target="../media/media-10-1.mp4"/><Relationship Id="rId3" Type="http://schemas.openxmlformats.org/officeDocument/2006/relationships/image" Target="../media/image-10-3.png"/><Relationship Id="rId6" Type="http://schemas.openxmlformats.org/officeDocument/2006/relationships/image" Target="../media/image-10-4.png"/><Relationship Id="rId7" Type="http://schemas.openxmlformats.org/officeDocument/2006/relationships/image" Target="../media/image-10-5.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85800" y="1005840"/>
            <a:ext cx="1463040" cy="1463040"/>
          </a:xfrm>
          <a:prstGeom prst="rect">
            <a:avLst/>
          </a:prstGeom>
        </p:spPr>
      </p:pic>
      <p:sp>
        <p:nvSpPr>
          <p:cNvPr id="3" name="Text 0"/>
          <p:cNvSpPr txBox="1"/>
          <p:nvPr/>
        </p:nvSpPr>
        <p:spPr>
          <a:xfrm>
            <a:off x="658368" y="2651760"/>
            <a:ext cx="6400800" cy="1197033"/>
          </a:xfrm>
          <a:prstGeom prst="rect">
            <a:avLst/>
          </a:prstGeom>
          <a:noFill/>
          <a:ln/>
        </p:spPr>
        <p:txBody>
          <a:bodyPr wrap="square" lIns="0" tIns="0" rIns="0" bIns="0" rtlCol="0" anchor="t"/>
          <a:lstStyle/>
          <a:p>
            <a:pPr indent="0" marL="0">
              <a:buNone/>
            </a:pPr>
            <a:r>
              <a:rPr lang="en-US" sz="7200" b="1" dirty="0">
                <a:solidFill>
                  <a:srgbClr val="F8FAFC"/>
                </a:solidFill>
                <a:latin typeface="Arial" pitchFamily="34" charset="0"/>
                <a:ea typeface="Arial" pitchFamily="34" charset="-122"/>
                <a:cs typeface="Arial" pitchFamily="34" charset="-120"/>
              </a:rPr>
              <a:t>akay</a:t>
            </a:r>
            <a:pPr indent="0" marL="0">
              <a:buNone/>
            </a:pPr>
            <a:r>
              <a:rPr lang="en-US" sz="7200" b="1" dirty="0">
                <a:solidFill>
                  <a:srgbClr val="10B981"/>
                </a:solidFill>
                <a:latin typeface="Arial" pitchFamily="34" charset="0"/>
                <a:ea typeface="Arial" pitchFamily="34" charset="-122"/>
                <a:cs typeface="Arial" pitchFamily="34" charset="-120"/>
              </a:rPr>
              <a:t>za</a:t>
            </a:r>
            <a:endParaRPr lang="en-US" sz="7200" dirty="0"/>
          </a:p>
        </p:txBody>
      </p:sp>
      <p:sp>
        <p:nvSpPr>
          <p:cNvPr id="4" name="Text 1"/>
          <p:cNvSpPr txBox="1"/>
          <p:nvPr/>
        </p:nvSpPr>
        <p:spPr>
          <a:xfrm>
            <a:off x="731520" y="3931920"/>
            <a:ext cx="7315200" cy="640080"/>
          </a:xfrm>
          <a:prstGeom prst="rect">
            <a:avLst/>
          </a:prstGeom>
          <a:noFill/>
          <a:ln/>
        </p:spPr>
        <p:txBody>
          <a:bodyPr wrap="square" lIns="0" tIns="0" rIns="0" bIns="0" rtlCol="0" anchor="t"/>
          <a:lstStyle/>
          <a:p>
            <a:pPr indent="0" marL="0">
              <a:buNone/>
            </a:pPr>
            <a:r>
              <a:rPr lang="en-US" sz="3000" i="1" dirty="0">
                <a:solidFill>
                  <a:srgbClr val="FBBF24"/>
                </a:solidFill>
                <a:latin typeface="Georgia" pitchFamily="34" charset="0"/>
                <a:ea typeface="Georgia" pitchFamily="34" charset="-122"/>
                <a:cs typeface="Georgia" pitchFamily="34" charset="-120"/>
              </a:rPr>
              <a:t>Keep it in the kasi.</a:t>
            </a:r>
            <a:endParaRPr lang="en-US" sz="3000" dirty="0"/>
          </a:p>
        </p:txBody>
      </p:sp>
      <p:sp>
        <p:nvSpPr>
          <p:cNvPr id="5" name="Text 2"/>
          <p:cNvSpPr txBox="1"/>
          <p:nvPr/>
        </p:nvSpPr>
        <p:spPr>
          <a:xfrm>
            <a:off x="731520" y="4617720"/>
            <a:ext cx="6766560" cy="731520"/>
          </a:xfrm>
          <a:prstGeom prst="rect">
            <a:avLst/>
          </a:prstGeom>
          <a:noFill/>
          <a:ln/>
        </p:spPr>
        <p:txBody>
          <a:bodyPr wrap="square" lIns="0" tIns="0" rIns="0" bIns="0" rtlCol="0" anchor="t"/>
          <a:lstStyle/>
          <a:p>
            <a:pPr indent="0" marL="0">
              <a:buNone/>
            </a:pPr>
            <a:r>
              <a:rPr lang="en-US" sz="1800" dirty="0">
                <a:solidFill>
                  <a:srgbClr val="A3B3C9"/>
                </a:solidFill>
                <a:latin typeface="Calibri" pitchFamily="34" charset="0"/>
                <a:ea typeface="Calibri" pitchFamily="34" charset="-122"/>
                <a:cs typeface="Calibri" pitchFamily="34" charset="-120"/>
              </a:rPr>
              <a:t>Making South Africa's informal and small businesses visible, and ready for tomorrow.</a:t>
            </a:r>
            <a:endParaRPr lang="en-US" sz="1800" dirty="0"/>
          </a:p>
        </p:txBody>
      </p:sp>
      <p:sp>
        <p:nvSpPr>
          <p:cNvPr id="6" name="Text 3"/>
          <p:cNvSpPr txBox="1"/>
          <p:nvPr/>
        </p:nvSpPr>
        <p:spPr>
          <a:xfrm>
            <a:off x="731520" y="5806440"/>
            <a:ext cx="8229600" cy="365760"/>
          </a:xfrm>
          <a:prstGeom prst="rect">
            <a:avLst/>
          </a:prstGeom>
          <a:noFill/>
          <a:ln/>
        </p:spPr>
        <p:txBody>
          <a:bodyPr wrap="square" lIns="0" tIns="0" rIns="0" bIns="0" rtlCol="0" anchor="t"/>
          <a:lstStyle/>
          <a:p>
            <a:pPr indent="0" marL="0">
              <a:buNone/>
            </a:pPr>
            <a:r>
              <a:rPr lang="en-US" sz="1300" dirty="0">
                <a:solidFill>
                  <a:srgbClr val="64748B"/>
                </a:solidFill>
                <a:latin typeface="Calibri" pitchFamily="34" charset="0"/>
                <a:ea typeface="Calibri" pitchFamily="34" charset="-122"/>
                <a:cs typeface="Calibri" pitchFamily="34" charset="-120"/>
              </a:rPr>
              <a:t>Prepared by Team PR  ·  GKHack26  ·  27 September 2026</a:t>
            </a:r>
            <a:endParaRPr lang="en-US" sz="1300" dirty="0"/>
          </a:p>
        </p:txBody>
      </p:sp>
      <p:sp>
        <p:nvSpPr>
          <p:cNvPr id="7" name="Shape 4"/>
          <p:cNvSpPr/>
          <p:nvPr/>
        </p:nvSpPr>
        <p:spPr>
          <a:xfrm>
            <a:off x="8412480" y="822960"/>
            <a:ext cx="3291840" cy="3291840"/>
          </a:xfrm>
          <a:prstGeom prst="ellipse">
            <a:avLst/>
          </a:prstGeom>
          <a:solidFill>
            <a:srgbClr val="0F172A"/>
          </a:solidFill>
          <a:ln w="25400">
            <a:solidFill>
              <a:srgbClr val="1E2B45"/>
            </a:solidFill>
            <a:prstDash val="solid"/>
          </a:ln>
        </p:spPr>
      </p:sp>
      <p:sp>
        <p:nvSpPr>
          <p:cNvPr id="8" name="Shape 5"/>
          <p:cNvSpPr/>
          <p:nvPr/>
        </p:nvSpPr>
        <p:spPr>
          <a:xfrm>
            <a:off x="9235440" y="2286000"/>
            <a:ext cx="2651760" cy="2651760"/>
          </a:xfrm>
          <a:prstGeom prst="ellipse">
            <a:avLst/>
          </a:prstGeom>
          <a:solidFill>
            <a:srgbClr val="0F172A">
              <a:alpha val="0"/>
            </a:srgbClr>
          </a:solidFill>
          <a:ln w="19050">
            <a:solidFill>
              <a:srgbClr val="10B981">
                <a:alpha val="60000"/>
              </a:srgbClr>
            </a:solidFill>
            <a:prstDash val="solid"/>
          </a:ln>
        </p:spPr>
      </p:sp>
      <p:sp>
        <p:nvSpPr>
          <p:cNvPr id="9" name="Shape 6"/>
          <p:cNvSpPr/>
          <p:nvPr/>
        </p:nvSpPr>
        <p:spPr>
          <a:xfrm>
            <a:off x="8229600" y="3200400"/>
            <a:ext cx="2286000" cy="2286000"/>
          </a:xfrm>
          <a:prstGeom prst="ellipse">
            <a:avLst/>
          </a:prstGeom>
          <a:solidFill>
            <a:srgbClr val="0F172A">
              <a:alpha val="0"/>
            </a:srgbClr>
          </a:solidFill>
          <a:ln w="19050">
            <a:solidFill>
              <a:srgbClr val="F59E0B">
                <a:alpha val="6000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863840" y="0"/>
            <a:ext cx="4327855" cy="2267712"/>
          </a:xfrm>
          <a:prstGeom prst="rect">
            <a:avLst/>
          </a:prstGeom>
        </p:spPr>
      </p:pic>
      <p:pic>
        <p:nvPicPr>
          <p:cNvPr id="3" name="Image 1" descr="preencoded.png">    </p:cNvPr>
          <p:cNvPicPr>
            <a:picLocks noChangeAspect="1"/>
          </p:cNvPicPr>
          <p:nvPr/>
        </p:nvPicPr>
        <p:blipFill>
          <a:blip r:embed="rId2"/>
          <a:stretch>
            <a:fillRect/>
          </a:stretch>
        </p:blipFill>
        <p:spPr>
          <a:xfrm>
            <a:off x="7863840" y="2304288"/>
            <a:ext cx="4327855" cy="2267712"/>
          </a:xfrm>
          <a:prstGeom prst="rect">
            <a:avLst/>
          </a:prstGeom>
        </p:spPr>
      </p:pic>
      <p:pic>
        <p:nvPicPr>
          <p:cNvPr id="4" name="Image 2" descr="preencoded.png">    </p:cNvPr>
          <p:cNvPicPr>
            <a:picLocks noChangeAspect="1"/>
          </p:cNvPicPr>
          <p:nvPr/>
        </p:nvPicPr>
        <p:blipFill>
          <a:blip r:embed="rId3"/>
          <a:stretch>
            <a:fillRect/>
          </a:stretch>
        </p:blipFill>
        <p:spPr>
          <a:xfrm>
            <a:off x="7863840" y="4608576"/>
            <a:ext cx="4327855" cy="2267712"/>
          </a:xfrm>
          <a:prstGeom prst="rect">
            <a:avLst/>
          </a:prstGeom>
        </p:spPr>
      </p:pic>
      <p:sp>
        <p:nvSpPr>
          <p:cNvPr id="5"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THE PROBLEM</a:t>
            </a:r>
            <a:endParaRPr lang="en-US" sz="1300" dirty="0"/>
          </a:p>
        </p:txBody>
      </p:sp>
      <p:sp>
        <p:nvSpPr>
          <p:cNvPr id="6" name="Text 1"/>
          <p:cNvSpPr txBox="1"/>
          <p:nvPr/>
        </p:nvSpPr>
        <p:spPr>
          <a:xfrm>
            <a:off x="548640" y="731520"/>
            <a:ext cx="6949440" cy="1143000"/>
          </a:xfrm>
          <a:prstGeom prst="rect">
            <a:avLst/>
          </a:prstGeom>
          <a:noFill/>
          <a:ln/>
        </p:spPr>
        <p:txBody>
          <a:bodyPr wrap="square" lIns="0" tIns="0" rIns="0" bIns="0" rtlCol="0" anchor="t"/>
          <a:lstStyle/>
          <a:p>
            <a:pPr indent="0" marL="0">
              <a:buNone/>
            </a:pPr>
            <a:r>
              <a:rPr lang="en-US" sz="3200" b="1" dirty="0">
                <a:solidFill>
                  <a:srgbClr val="F8FAFC"/>
                </a:solidFill>
                <a:latin typeface="Georgia" pitchFamily="34" charset="0"/>
                <a:ea typeface="Georgia" pitchFamily="34" charset="-122"/>
                <a:cs typeface="Georgia" pitchFamily="34" charset="-120"/>
              </a:rPr>
              <a:t>R900 billion a year, hidden in plain sight</a:t>
            </a:r>
            <a:endParaRPr lang="en-US" sz="3200" dirty="0"/>
          </a:p>
        </p:txBody>
      </p:sp>
      <p:sp>
        <p:nvSpPr>
          <p:cNvPr id="7" name="Text 2"/>
          <p:cNvSpPr txBox="1"/>
          <p:nvPr/>
        </p:nvSpPr>
        <p:spPr>
          <a:xfrm>
            <a:off x="548640" y="1874520"/>
            <a:ext cx="6949440" cy="365760"/>
          </a:xfrm>
          <a:prstGeom prst="rect">
            <a:avLst/>
          </a:prstGeom>
          <a:noFill/>
          <a:ln/>
        </p:spPr>
        <p:txBody>
          <a:bodyPr wrap="square" lIns="0" tIns="0" rIns="0" bIns="0" rtlCol="0" anchor="t"/>
          <a:lstStyle/>
          <a:p>
            <a:pPr indent="0" marL="0">
              <a:buNone/>
            </a:pPr>
            <a:r>
              <a:rPr lang="en-US" sz="1800" dirty="0">
                <a:solidFill>
                  <a:srgbClr val="FBBF24"/>
                </a:solidFill>
                <a:latin typeface="Calibri" pitchFamily="34" charset="0"/>
                <a:ea typeface="Calibri" pitchFamily="34" charset="-122"/>
                <a:cs typeface="Calibri" pitchFamily="34" charset="-120"/>
              </a:rPr>
              <a:t>About 12% of South Africa's GDP, and 1 in 5 jobs.</a:t>
            </a:r>
            <a:endParaRPr lang="en-US" sz="1800" dirty="0"/>
          </a:p>
        </p:txBody>
      </p:sp>
      <p:sp>
        <p:nvSpPr>
          <p:cNvPr id="8" name="Shape 3"/>
          <p:cNvSpPr/>
          <p:nvPr/>
        </p:nvSpPr>
        <p:spPr>
          <a:xfrm>
            <a:off x="548640" y="2423160"/>
            <a:ext cx="2194560" cy="1417320"/>
          </a:xfrm>
          <a:prstGeom prst="roundRect">
            <a:avLst>
              <a:gd name="adj" fmla="val 7742"/>
            </a:avLst>
          </a:prstGeom>
          <a:solidFill>
            <a:srgbClr val="17223A"/>
          </a:solidFill>
          <a:ln w="12700">
            <a:solidFill>
              <a:srgbClr val="17223A"/>
            </a:solidFill>
            <a:prstDash val="solid"/>
          </a:ln>
        </p:spPr>
      </p:sp>
      <p:sp>
        <p:nvSpPr>
          <p:cNvPr id="9" name="Text 4"/>
          <p:cNvSpPr txBox="1"/>
          <p:nvPr/>
        </p:nvSpPr>
        <p:spPr>
          <a:xfrm>
            <a:off x="777240" y="2514600"/>
            <a:ext cx="1828800" cy="731520"/>
          </a:xfrm>
          <a:prstGeom prst="rect">
            <a:avLst/>
          </a:prstGeom>
          <a:noFill/>
          <a:ln/>
        </p:spPr>
        <p:txBody>
          <a:bodyPr wrap="square" lIns="0" tIns="0" rIns="0" bIns="0" rtlCol="0" anchor="t"/>
          <a:lstStyle/>
          <a:p>
            <a:pPr indent="0" marL="0">
              <a:buNone/>
            </a:pPr>
            <a:r>
              <a:rPr lang="en-US" sz="3800" b="1" dirty="0">
                <a:solidFill>
                  <a:srgbClr val="FBBF24"/>
                </a:solidFill>
                <a:latin typeface="Georgia" pitchFamily="34" charset="0"/>
                <a:ea typeface="Georgia" pitchFamily="34" charset="-122"/>
                <a:cs typeface="Georgia" pitchFamily="34" charset="-120"/>
              </a:rPr>
              <a:t>&lt; 9%</a:t>
            </a:r>
            <a:endParaRPr lang="en-US" sz="3800" dirty="0"/>
          </a:p>
        </p:txBody>
      </p:sp>
      <p:sp>
        <p:nvSpPr>
          <p:cNvPr id="10" name="Text 5"/>
          <p:cNvSpPr txBox="1"/>
          <p:nvPr/>
        </p:nvSpPr>
        <p:spPr>
          <a:xfrm>
            <a:off x="777240" y="3246120"/>
            <a:ext cx="1828800" cy="594360"/>
          </a:xfrm>
          <a:prstGeom prst="rect">
            <a:avLst/>
          </a:prstGeom>
          <a:noFill/>
          <a:ln/>
        </p:spPr>
        <p:txBody>
          <a:bodyPr wrap="square" lIns="0" tIns="0" rIns="0" bIns="0" rtlCol="0" anchor="t"/>
          <a:lstStyle/>
          <a:p>
            <a:pPr indent="0" marL="0">
              <a:buNone/>
            </a:pPr>
            <a:r>
              <a:rPr lang="en-US" sz="1400" dirty="0">
                <a:solidFill>
                  <a:srgbClr val="A3B3C9"/>
                </a:solidFill>
                <a:latin typeface="Calibri" pitchFamily="34" charset="0"/>
                <a:ea typeface="Calibri" pitchFamily="34" charset="-122"/>
                <a:cs typeface="Calibri" pitchFamily="34" charset="-120"/>
              </a:rPr>
              <a:t>can get a bank loan</a:t>
            </a:r>
            <a:endParaRPr lang="en-US" sz="1400" dirty="0"/>
          </a:p>
        </p:txBody>
      </p:sp>
      <p:sp>
        <p:nvSpPr>
          <p:cNvPr id="11" name="Shape 6"/>
          <p:cNvSpPr/>
          <p:nvPr/>
        </p:nvSpPr>
        <p:spPr>
          <a:xfrm>
            <a:off x="2926080" y="2423160"/>
            <a:ext cx="2194560" cy="1417320"/>
          </a:xfrm>
          <a:prstGeom prst="roundRect">
            <a:avLst>
              <a:gd name="adj" fmla="val 7742"/>
            </a:avLst>
          </a:prstGeom>
          <a:solidFill>
            <a:srgbClr val="17223A"/>
          </a:solidFill>
          <a:ln w="12700">
            <a:solidFill>
              <a:srgbClr val="17223A"/>
            </a:solidFill>
            <a:prstDash val="solid"/>
          </a:ln>
        </p:spPr>
      </p:sp>
      <p:sp>
        <p:nvSpPr>
          <p:cNvPr id="12" name="Text 7"/>
          <p:cNvSpPr txBox="1"/>
          <p:nvPr/>
        </p:nvSpPr>
        <p:spPr>
          <a:xfrm>
            <a:off x="3154680" y="2514600"/>
            <a:ext cx="1828800" cy="731520"/>
          </a:xfrm>
          <a:prstGeom prst="rect">
            <a:avLst/>
          </a:prstGeom>
          <a:noFill/>
          <a:ln/>
        </p:spPr>
        <p:txBody>
          <a:bodyPr wrap="square" lIns="0" tIns="0" rIns="0" bIns="0" rtlCol="0" anchor="t"/>
          <a:lstStyle/>
          <a:p>
            <a:pPr indent="0" marL="0">
              <a:buNone/>
            </a:pPr>
            <a:r>
              <a:rPr lang="en-US" sz="3800" b="1" dirty="0">
                <a:solidFill>
                  <a:srgbClr val="10B981"/>
                </a:solidFill>
                <a:latin typeface="Georgia" pitchFamily="34" charset="0"/>
                <a:ea typeface="Georgia" pitchFamily="34" charset="-122"/>
                <a:cs typeface="Georgia" pitchFamily="34" charset="-120"/>
              </a:rPr>
              <a:t>80%</a:t>
            </a:r>
            <a:endParaRPr lang="en-US" sz="3800" dirty="0"/>
          </a:p>
        </p:txBody>
      </p:sp>
      <p:sp>
        <p:nvSpPr>
          <p:cNvPr id="13" name="Text 8"/>
          <p:cNvSpPr txBox="1"/>
          <p:nvPr/>
        </p:nvSpPr>
        <p:spPr>
          <a:xfrm>
            <a:off x="3154680" y="3246120"/>
            <a:ext cx="1828800" cy="594360"/>
          </a:xfrm>
          <a:prstGeom prst="rect">
            <a:avLst/>
          </a:prstGeom>
          <a:noFill/>
          <a:ln/>
        </p:spPr>
        <p:txBody>
          <a:bodyPr wrap="square" lIns="0" tIns="0" rIns="0" bIns="0" rtlCol="0" anchor="t"/>
          <a:lstStyle/>
          <a:p>
            <a:pPr indent="0" marL="0">
              <a:buNone/>
            </a:pPr>
            <a:r>
              <a:rPr lang="en-US" sz="1400" dirty="0">
                <a:solidFill>
                  <a:srgbClr val="A3B3C9"/>
                </a:solidFill>
                <a:latin typeface="Calibri" pitchFamily="34" charset="0"/>
                <a:ea typeface="Calibri" pitchFamily="34" charset="-122"/>
                <a:cs typeface="Calibri" pitchFamily="34" charset="-120"/>
              </a:rPr>
              <a:t>are unregistered</a:t>
            </a:r>
            <a:endParaRPr lang="en-US" sz="1400" dirty="0"/>
          </a:p>
        </p:txBody>
      </p:sp>
      <p:sp>
        <p:nvSpPr>
          <p:cNvPr id="14" name="Shape 9"/>
          <p:cNvSpPr/>
          <p:nvPr/>
        </p:nvSpPr>
        <p:spPr>
          <a:xfrm>
            <a:off x="5303520" y="2423160"/>
            <a:ext cx="2194560" cy="1417320"/>
          </a:xfrm>
          <a:prstGeom prst="roundRect">
            <a:avLst>
              <a:gd name="adj" fmla="val 7742"/>
            </a:avLst>
          </a:prstGeom>
          <a:solidFill>
            <a:srgbClr val="17223A"/>
          </a:solidFill>
          <a:ln w="12700">
            <a:solidFill>
              <a:srgbClr val="17223A"/>
            </a:solidFill>
            <a:prstDash val="solid"/>
          </a:ln>
        </p:spPr>
      </p:sp>
      <p:sp>
        <p:nvSpPr>
          <p:cNvPr id="15" name="Text 10"/>
          <p:cNvSpPr txBox="1"/>
          <p:nvPr/>
        </p:nvSpPr>
        <p:spPr>
          <a:xfrm>
            <a:off x="5532120" y="2514600"/>
            <a:ext cx="1828800" cy="731520"/>
          </a:xfrm>
          <a:prstGeom prst="rect">
            <a:avLst/>
          </a:prstGeom>
          <a:noFill/>
          <a:ln/>
        </p:spPr>
        <p:txBody>
          <a:bodyPr wrap="square" lIns="0" tIns="0" rIns="0" bIns="0" rtlCol="0" anchor="t"/>
          <a:lstStyle/>
          <a:p>
            <a:pPr indent="0" marL="0">
              <a:buNone/>
            </a:pPr>
            <a:r>
              <a:rPr lang="en-US" sz="3800" b="1" dirty="0">
                <a:solidFill>
                  <a:srgbClr val="34D399"/>
                </a:solidFill>
                <a:latin typeface="Georgia" pitchFamily="34" charset="0"/>
                <a:ea typeface="Georgia" pitchFamily="34" charset="-122"/>
                <a:cs typeface="Georgia" pitchFamily="34" charset="-120"/>
              </a:rPr>
              <a:t>57%</a:t>
            </a:r>
            <a:endParaRPr lang="en-US" sz="3800" dirty="0"/>
          </a:p>
        </p:txBody>
      </p:sp>
      <p:sp>
        <p:nvSpPr>
          <p:cNvPr id="16" name="Text 11"/>
          <p:cNvSpPr txBox="1"/>
          <p:nvPr/>
        </p:nvSpPr>
        <p:spPr>
          <a:xfrm>
            <a:off x="5532120" y="3246120"/>
            <a:ext cx="1828800" cy="594360"/>
          </a:xfrm>
          <a:prstGeom prst="rect">
            <a:avLst/>
          </a:prstGeom>
          <a:noFill/>
          <a:ln/>
        </p:spPr>
        <p:txBody>
          <a:bodyPr wrap="square" lIns="0" tIns="0" rIns="0" bIns="0" rtlCol="0" anchor="t"/>
          <a:lstStyle/>
          <a:p>
            <a:pPr indent="0" marL="0">
              <a:buNone/>
            </a:pPr>
            <a:r>
              <a:rPr lang="en-US" sz="1400" dirty="0">
                <a:solidFill>
                  <a:srgbClr val="A3B3C9"/>
                </a:solidFill>
                <a:latin typeface="Calibri" pitchFamily="34" charset="0"/>
                <a:ea typeface="Calibri" pitchFamily="34" charset="-122"/>
                <a:cs typeface="Calibri" pitchFamily="34" charset="-120"/>
              </a:rPr>
              <a:t>run on savings and family</a:t>
            </a:r>
            <a:endParaRPr lang="en-US" sz="1400" dirty="0"/>
          </a:p>
        </p:txBody>
      </p:sp>
      <p:sp>
        <p:nvSpPr>
          <p:cNvPr id="17" name="Shape 12"/>
          <p:cNvSpPr/>
          <p:nvPr/>
        </p:nvSpPr>
        <p:spPr>
          <a:xfrm>
            <a:off x="548640" y="4023360"/>
            <a:ext cx="6949440" cy="2148840"/>
          </a:xfrm>
          <a:prstGeom prst="roundRect">
            <a:avLst>
              <a:gd name="adj" fmla="val 5106"/>
            </a:avLst>
          </a:prstGeom>
          <a:solidFill>
            <a:srgbClr val="17223A"/>
          </a:solidFill>
          <a:ln w="12700">
            <a:solidFill>
              <a:srgbClr val="17223A"/>
            </a:solidFill>
            <a:prstDash val="solid"/>
          </a:ln>
        </p:spPr>
      </p:sp>
      <p:graphicFrame>
        <p:nvGraphicFramePr>
          <p:cNvPr id="18" name="Chart 0" descr=""/>
          <p:cNvGraphicFramePr/>
          <p:nvPr/>
        </p:nvGraphicFramePr>
        <p:xfrm>
          <a:off x="685800" y="4096512"/>
          <a:ext cx="4206240" cy="2011680"/>
        </p:xfrm>
        <a:graphic xmlns:a="http://schemas.openxmlformats.org/drawingml/2006/main">
          <a:graphicData uri="http://schemas.openxmlformats.org/drawingml/2006/chart">
            <c:chart xmlns:c="http://schemas.openxmlformats.org/drawingml/2006/chart" r:id="rId4"/>
          </a:graphicData>
        </a:graphic>
      </p:graphicFrame>
      <p:sp>
        <p:nvSpPr>
          <p:cNvPr id="19" name="Text 13"/>
          <p:cNvSpPr txBox="1"/>
          <p:nvPr/>
        </p:nvSpPr>
        <p:spPr>
          <a:xfrm>
            <a:off x="4983480" y="4206240"/>
            <a:ext cx="2331720" cy="1828800"/>
          </a:xfrm>
          <a:prstGeom prst="rect">
            <a:avLst/>
          </a:prstGeom>
          <a:noFill/>
          <a:ln/>
        </p:spPr>
        <p:txBody>
          <a:bodyPr wrap="square" lIns="0" tIns="0" rIns="0" bIns="0" rtlCol="0" anchor="ctr"/>
          <a:lstStyle/>
          <a:p>
            <a:pPr indent="0" marL="0">
              <a:buNone/>
            </a:pPr>
            <a:r>
              <a:rPr lang="en-US" sz="1400" i="1" dirty="0">
                <a:solidFill>
                  <a:srgbClr val="FBBF24"/>
                </a:solidFill>
                <a:latin typeface="Calibri" pitchFamily="34" charset="0"/>
                <a:ea typeface="Calibri" pitchFamily="34" charset="-122"/>
                <a:cs typeface="Calibri" pitchFamily="34" charset="-120"/>
              </a:rPr>
              <a:t>354 applications failed verification. With no record, even help can't reach them.</a:t>
            </a:r>
            <a:endParaRPr lang="en-US" sz="1400" dirty="0"/>
          </a:p>
        </p:txBody>
      </p:sp>
      <p:pic>
        <p:nvPicPr>
          <p:cNvPr id="20" name="Image 3" descr="preencoded.png">    </p:cNvPr>
          <p:cNvPicPr>
            <a:picLocks noChangeAspect="1"/>
          </p:cNvPicPr>
          <p:nvPr/>
        </p:nvPicPr>
        <p:blipFill>
          <a:blip r:embed="rId5"/>
          <a:stretch>
            <a:fillRect/>
          </a:stretch>
        </p:blipFill>
        <p:spPr>
          <a:xfrm>
            <a:off x="11231575" y="6291072"/>
            <a:ext cx="384048" cy="384048"/>
          </a:xfrm>
          <a:prstGeom prst="rect">
            <a:avLst/>
          </a:prstGeom>
        </p:spPr>
      </p:pic>
      <p:sp>
        <p:nvSpPr>
          <p:cNvPr id="21" name="Text 14"/>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2</a:t>
            </a:r>
            <a:endParaRPr lang="en-US" sz="1000" dirty="0"/>
          </a:p>
        </p:txBody>
      </p:sp>
      <p:sp>
        <p:nvSpPr>
          <p:cNvPr id="22" name="Text 15"/>
          <p:cNvSpPr txBox="1"/>
          <p:nvPr/>
        </p:nvSpPr>
        <p:spPr>
          <a:xfrm>
            <a:off x="548640" y="6336792"/>
            <a:ext cx="7040880" cy="36576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Standard Bank, Oct 2025; DSBD, May 2026. Photos: Business Explainer; SABC News.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WHAT WE OFFER</a:t>
            </a:r>
            <a:endParaRPr lang="en-US" sz="1300" dirty="0"/>
          </a:p>
        </p:txBody>
      </p:sp>
      <p:sp>
        <p:nvSpPr>
          <p:cNvPr id="3" name="Text 1"/>
          <p:cNvSpPr txBox="1"/>
          <p:nvPr/>
        </p:nvSpPr>
        <p:spPr>
          <a:xfrm>
            <a:off x="548640" y="731520"/>
            <a:ext cx="11064240" cy="1005840"/>
          </a:xfrm>
          <a:prstGeom prst="rect">
            <a:avLst/>
          </a:prstGeom>
          <a:noFill/>
          <a:ln/>
        </p:spPr>
        <p:txBody>
          <a:bodyPr wrap="square" lIns="0" tIns="0" rIns="0" bIns="0" rtlCol="0" anchor="t"/>
          <a:lstStyle/>
          <a:p>
            <a:pPr indent="0" marL="0">
              <a:buNone/>
            </a:pPr>
            <a:r>
              <a:rPr lang="en-US" sz="3000" b="1" dirty="0">
                <a:solidFill>
                  <a:srgbClr val="F8FAFC"/>
                </a:solidFill>
                <a:latin typeface="Georgia" pitchFamily="34" charset="0"/>
                <a:ea typeface="Georgia" pitchFamily="34" charset="-122"/>
                <a:cs typeface="Georgia" pitchFamily="34" charset="-120"/>
              </a:rPr>
              <a:t>One free app that makes the business visible, and ready for tomorrow</a:t>
            </a:r>
            <a:endParaRPr lang="en-US" sz="3000" dirty="0"/>
          </a:p>
        </p:txBody>
      </p:sp>
      <p:sp>
        <p:nvSpPr>
          <p:cNvPr id="4" name="Text 2"/>
          <p:cNvSpPr txBox="1"/>
          <p:nvPr/>
        </p:nvSpPr>
        <p:spPr>
          <a:xfrm>
            <a:off x="548640" y="1783080"/>
            <a:ext cx="11064240" cy="731520"/>
          </a:xfrm>
          <a:prstGeom prst="rect">
            <a:avLst/>
          </a:prstGeom>
          <a:noFill/>
          <a:ln/>
        </p:spPr>
        <p:txBody>
          <a:bodyPr wrap="square" lIns="0" tIns="0" rIns="0" bIns="0" rtlCol="0" anchor="t"/>
          <a:lstStyle/>
          <a:p>
            <a:pPr indent="0" marL="0">
              <a:buNone/>
            </a:pPr>
            <a:r>
              <a:rPr lang="en-US" sz="1550" dirty="0">
                <a:solidFill>
                  <a:srgbClr val="A3B3C9"/>
                </a:solidFill>
                <a:latin typeface="Calibri" pitchFamily="34" charset="0"/>
                <a:ea typeface="Calibri" pitchFamily="34" charset="-122"/>
                <a:cs typeface="Calibri" pitchFamily="34" charset="-120"/>
              </a:rPr>
              <a:t>It works the way they already operate, with cash and digital payments. Every digital stock order becomes a record the owner holds, and over time a strong trading history, alongside the business tools they use every day.</a:t>
            </a:r>
            <a:endParaRPr lang="en-US" sz="1550" dirty="0"/>
          </a:p>
        </p:txBody>
      </p:sp>
      <p:sp>
        <p:nvSpPr>
          <p:cNvPr id="5" name="Shape 3"/>
          <p:cNvSpPr/>
          <p:nvPr/>
        </p:nvSpPr>
        <p:spPr>
          <a:xfrm>
            <a:off x="548640" y="2606040"/>
            <a:ext cx="3474720" cy="2103120"/>
          </a:xfrm>
          <a:prstGeom prst="roundRect">
            <a:avLst>
              <a:gd name="adj" fmla="val 5217"/>
            </a:avLst>
          </a:prstGeom>
          <a:solidFill>
            <a:srgbClr val="17223A"/>
          </a:solidFill>
          <a:ln w="12700">
            <a:solidFill>
              <a:srgbClr val="17223A"/>
            </a:solidFill>
            <a:prstDash val="solid"/>
          </a:ln>
        </p:spPr>
      </p:sp>
      <p:sp>
        <p:nvSpPr>
          <p:cNvPr id="6" name="Text 4"/>
          <p:cNvSpPr txBox="1"/>
          <p:nvPr/>
        </p:nvSpPr>
        <p:spPr>
          <a:xfrm>
            <a:off x="822960" y="2761488"/>
            <a:ext cx="2286000" cy="320040"/>
          </a:xfrm>
          <a:prstGeom prst="rect">
            <a:avLst/>
          </a:prstGeom>
          <a:noFill/>
          <a:ln/>
        </p:spPr>
        <p:txBody>
          <a:bodyPr wrap="square" lIns="0" tIns="0" rIns="0" bIns="0" rtlCol="0" anchor="t"/>
          <a:lstStyle/>
          <a:p>
            <a:pPr indent="0" marL="0">
              <a:buNone/>
            </a:pPr>
            <a:r>
              <a:rPr lang="en-US" sz="1250" b="1" spc="300" kern="0" dirty="0">
                <a:solidFill>
                  <a:srgbClr val="10B981"/>
                </a:solidFill>
                <a:latin typeface="Calibri" pitchFamily="34" charset="0"/>
                <a:ea typeface="Calibri" pitchFamily="34" charset="-122"/>
                <a:cs typeface="Calibri" pitchFamily="34" charset="-120"/>
              </a:rPr>
              <a:t>TODAY</a:t>
            </a:r>
            <a:endParaRPr lang="en-US" sz="1250" dirty="0"/>
          </a:p>
        </p:txBody>
      </p:sp>
      <p:sp>
        <p:nvSpPr>
          <p:cNvPr id="7" name="Shape 5"/>
          <p:cNvSpPr/>
          <p:nvPr/>
        </p:nvSpPr>
        <p:spPr>
          <a:xfrm>
            <a:off x="3291840" y="2715768"/>
            <a:ext cx="475488" cy="475488"/>
          </a:xfrm>
          <a:prstGeom prst="ellipse">
            <a:avLst/>
          </a:prstGeom>
          <a:solidFill>
            <a:srgbClr val="1E2B45"/>
          </a:solidFill>
          <a:ln w="19050">
            <a:solidFill>
              <a:srgbClr val="10B981"/>
            </a:solidFill>
            <a:prstDash val="solid"/>
          </a:ln>
        </p:spPr>
      </p:sp>
      <p:pic>
        <p:nvPicPr>
          <p:cNvPr id="8" name="Image 0" descr="preencoded.png">    </p:cNvPr>
          <p:cNvPicPr>
            <a:picLocks noChangeAspect="1"/>
          </p:cNvPicPr>
          <p:nvPr/>
        </p:nvPicPr>
        <p:blipFill>
          <a:blip r:embed="rId1"/>
          <a:stretch>
            <a:fillRect/>
          </a:stretch>
        </p:blipFill>
        <p:spPr>
          <a:xfrm>
            <a:off x="3405957" y="2829885"/>
            <a:ext cx="247254" cy="247254"/>
          </a:xfrm>
          <a:prstGeom prst="rect">
            <a:avLst/>
          </a:prstGeom>
        </p:spPr>
      </p:pic>
      <p:sp>
        <p:nvSpPr>
          <p:cNvPr id="9" name="Text 6"/>
          <p:cNvSpPr txBox="1"/>
          <p:nvPr/>
        </p:nvSpPr>
        <p:spPr>
          <a:xfrm>
            <a:off x="822960" y="3200400"/>
            <a:ext cx="3017520" cy="411480"/>
          </a:xfrm>
          <a:prstGeom prst="rect">
            <a:avLst/>
          </a:prstGeom>
          <a:noFill/>
          <a:ln/>
        </p:spPr>
        <p:txBody>
          <a:bodyPr wrap="square" lIns="0" tIns="0" rIns="0" bIns="0" rtlCol="0" anchor="t"/>
          <a:lstStyle/>
          <a:p>
            <a:pPr indent="0" marL="0">
              <a:buNone/>
            </a:pPr>
            <a:r>
              <a:rPr lang="en-US" sz="1800" b="1" dirty="0">
                <a:solidFill>
                  <a:srgbClr val="F8FAFC"/>
                </a:solidFill>
                <a:latin typeface="Georgia" pitchFamily="34" charset="0"/>
                <a:ea typeface="Georgia" pitchFamily="34" charset="-122"/>
                <a:cs typeface="Georgia" pitchFamily="34" charset="-120"/>
              </a:rPr>
              <a:t>Less stress</a:t>
            </a:r>
            <a:endParaRPr lang="en-US" sz="1800" dirty="0"/>
          </a:p>
        </p:txBody>
      </p:sp>
      <p:sp>
        <p:nvSpPr>
          <p:cNvPr id="10" name="Text 7"/>
          <p:cNvSpPr txBox="1"/>
          <p:nvPr/>
        </p:nvSpPr>
        <p:spPr>
          <a:xfrm>
            <a:off x="822960" y="3657600"/>
            <a:ext cx="2971800" cy="100584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Business tools in one place: a credit book, an order book, jobs in stages and My record.</a:t>
            </a:r>
            <a:endParaRPr lang="en-US" sz="1300" dirty="0"/>
          </a:p>
        </p:txBody>
      </p:sp>
      <p:sp>
        <p:nvSpPr>
          <p:cNvPr id="11" name="Shape 8"/>
          <p:cNvSpPr/>
          <p:nvPr/>
        </p:nvSpPr>
        <p:spPr>
          <a:xfrm>
            <a:off x="4297680" y="2606040"/>
            <a:ext cx="3474720" cy="2103120"/>
          </a:xfrm>
          <a:prstGeom prst="roundRect">
            <a:avLst>
              <a:gd name="adj" fmla="val 5217"/>
            </a:avLst>
          </a:prstGeom>
          <a:solidFill>
            <a:srgbClr val="17223A"/>
          </a:solidFill>
          <a:ln w="12700">
            <a:solidFill>
              <a:srgbClr val="17223A"/>
            </a:solidFill>
            <a:prstDash val="solid"/>
          </a:ln>
        </p:spPr>
      </p:sp>
      <p:sp>
        <p:nvSpPr>
          <p:cNvPr id="12" name="Text 9"/>
          <p:cNvSpPr txBox="1"/>
          <p:nvPr/>
        </p:nvSpPr>
        <p:spPr>
          <a:xfrm>
            <a:off x="4572000" y="2761488"/>
            <a:ext cx="2286000" cy="320040"/>
          </a:xfrm>
          <a:prstGeom prst="rect">
            <a:avLst/>
          </a:prstGeom>
          <a:noFill/>
          <a:ln/>
        </p:spPr>
        <p:txBody>
          <a:bodyPr wrap="square" lIns="0" tIns="0" rIns="0" bIns="0" rtlCol="0" anchor="t"/>
          <a:lstStyle/>
          <a:p>
            <a:pPr indent="0" marL="0">
              <a:buNone/>
            </a:pPr>
            <a:r>
              <a:rPr lang="en-US" sz="1250" b="1" spc="300" kern="0" dirty="0">
                <a:solidFill>
                  <a:srgbClr val="FBBF24"/>
                </a:solidFill>
                <a:latin typeface="Calibri" pitchFamily="34" charset="0"/>
                <a:ea typeface="Calibri" pitchFamily="34" charset="-122"/>
                <a:cs typeface="Calibri" pitchFamily="34" charset="-120"/>
              </a:rPr>
              <a:t>THIS WEEK</a:t>
            </a:r>
            <a:endParaRPr lang="en-US" sz="1250" dirty="0"/>
          </a:p>
        </p:txBody>
      </p:sp>
      <p:sp>
        <p:nvSpPr>
          <p:cNvPr id="13" name="Shape 10"/>
          <p:cNvSpPr/>
          <p:nvPr/>
        </p:nvSpPr>
        <p:spPr>
          <a:xfrm>
            <a:off x="7040880" y="2715768"/>
            <a:ext cx="475488" cy="475488"/>
          </a:xfrm>
          <a:prstGeom prst="ellipse">
            <a:avLst/>
          </a:prstGeom>
          <a:solidFill>
            <a:srgbClr val="1E2B45"/>
          </a:solidFill>
          <a:ln w="19050">
            <a:solidFill>
              <a:srgbClr val="FBBF24"/>
            </a:solidFill>
            <a:prstDash val="solid"/>
          </a:ln>
        </p:spPr>
      </p:sp>
      <p:pic>
        <p:nvPicPr>
          <p:cNvPr id="14" name="Image 1" descr="preencoded.png">    </p:cNvPr>
          <p:cNvPicPr>
            <a:picLocks noChangeAspect="1"/>
          </p:cNvPicPr>
          <p:nvPr/>
        </p:nvPicPr>
        <p:blipFill>
          <a:blip r:embed="rId2"/>
          <a:stretch>
            <a:fillRect/>
          </a:stretch>
        </p:blipFill>
        <p:spPr>
          <a:xfrm>
            <a:off x="7154997" y="2829885"/>
            <a:ext cx="247254" cy="247254"/>
          </a:xfrm>
          <a:prstGeom prst="rect">
            <a:avLst/>
          </a:prstGeom>
        </p:spPr>
      </p:pic>
      <p:sp>
        <p:nvSpPr>
          <p:cNvPr id="15" name="Text 11"/>
          <p:cNvSpPr txBox="1"/>
          <p:nvPr/>
        </p:nvSpPr>
        <p:spPr>
          <a:xfrm>
            <a:off x="4572000" y="3200400"/>
            <a:ext cx="3017520" cy="411480"/>
          </a:xfrm>
          <a:prstGeom prst="rect">
            <a:avLst/>
          </a:prstGeom>
          <a:noFill/>
          <a:ln/>
        </p:spPr>
        <p:txBody>
          <a:bodyPr wrap="square" lIns="0" tIns="0" rIns="0" bIns="0" rtlCol="0" anchor="t"/>
          <a:lstStyle/>
          <a:p>
            <a:pPr indent="0" marL="0">
              <a:buNone/>
            </a:pPr>
            <a:r>
              <a:rPr lang="en-US" sz="1800" b="1" dirty="0">
                <a:solidFill>
                  <a:srgbClr val="F8FAFC"/>
                </a:solidFill>
                <a:latin typeface="Georgia" pitchFamily="34" charset="0"/>
                <a:ea typeface="Georgia" pitchFamily="34" charset="-122"/>
                <a:cs typeface="Georgia" pitchFamily="34" charset="-120"/>
              </a:rPr>
              <a:t>Buy better, pay safely</a:t>
            </a:r>
            <a:endParaRPr lang="en-US" sz="1800" dirty="0"/>
          </a:p>
        </p:txBody>
      </p:sp>
      <p:sp>
        <p:nvSpPr>
          <p:cNvPr id="16" name="Text 12"/>
          <p:cNvSpPr txBox="1"/>
          <p:nvPr/>
        </p:nvSpPr>
        <p:spPr>
          <a:xfrm>
            <a:off x="4572000" y="3657600"/>
            <a:ext cx="2971800" cy="100584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Order from your own suppliers, matched to what you really buy. Pay digitally or cash, get a proper invoice.</a:t>
            </a:r>
            <a:endParaRPr lang="en-US" sz="1300" dirty="0"/>
          </a:p>
        </p:txBody>
      </p:sp>
      <p:sp>
        <p:nvSpPr>
          <p:cNvPr id="17" name="Shape 13"/>
          <p:cNvSpPr/>
          <p:nvPr/>
        </p:nvSpPr>
        <p:spPr>
          <a:xfrm>
            <a:off x="8046720" y="2606040"/>
            <a:ext cx="3474720" cy="2103120"/>
          </a:xfrm>
          <a:prstGeom prst="roundRect">
            <a:avLst>
              <a:gd name="adj" fmla="val 5217"/>
            </a:avLst>
          </a:prstGeom>
          <a:solidFill>
            <a:srgbClr val="17223A"/>
          </a:solidFill>
          <a:ln w="12700">
            <a:solidFill>
              <a:srgbClr val="17223A"/>
            </a:solidFill>
            <a:prstDash val="solid"/>
          </a:ln>
        </p:spPr>
      </p:sp>
      <p:sp>
        <p:nvSpPr>
          <p:cNvPr id="18" name="Text 14"/>
          <p:cNvSpPr txBox="1"/>
          <p:nvPr/>
        </p:nvSpPr>
        <p:spPr>
          <a:xfrm>
            <a:off x="8321040" y="2761488"/>
            <a:ext cx="2286000" cy="320040"/>
          </a:xfrm>
          <a:prstGeom prst="rect">
            <a:avLst/>
          </a:prstGeom>
          <a:noFill/>
          <a:ln/>
        </p:spPr>
        <p:txBody>
          <a:bodyPr wrap="square" lIns="0" tIns="0" rIns="0" bIns="0" rtlCol="0" anchor="t"/>
          <a:lstStyle/>
          <a:p>
            <a:pPr indent="0" marL="0">
              <a:buNone/>
            </a:pPr>
            <a:r>
              <a:rPr lang="en-US" sz="1250" b="1" spc="300" kern="0" dirty="0">
                <a:solidFill>
                  <a:srgbClr val="34D399"/>
                </a:solidFill>
                <a:latin typeface="Calibri" pitchFamily="34" charset="0"/>
                <a:ea typeface="Calibri" pitchFamily="34" charset="-122"/>
                <a:cs typeface="Calibri" pitchFamily="34" charset="-120"/>
              </a:rPr>
              <a:t>TOMORROW</a:t>
            </a:r>
            <a:endParaRPr lang="en-US" sz="1250" dirty="0"/>
          </a:p>
        </p:txBody>
      </p:sp>
      <p:sp>
        <p:nvSpPr>
          <p:cNvPr id="19" name="Shape 15"/>
          <p:cNvSpPr/>
          <p:nvPr/>
        </p:nvSpPr>
        <p:spPr>
          <a:xfrm>
            <a:off x="10789920" y="2715768"/>
            <a:ext cx="475488" cy="475488"/>
          </a:xfrm>
          <a:prstGeom prst="ellipse">
            <a:avLst/>
          </a:prstGeom>
          <a:solidFill>
            <a:srgbClr val="1E2B45"/>
          </a:solidFill>
          <a:ln w="19050">
            <a:solidFill>
              <a:srgbClr val="34D399"/>
            </a:solidFill>
            <a:prstDash val="solid"/>
          </a:ln>
        </p:spPr>
      </p:sp>
      <p:pic>
        <p:nvPicPr>
          <p:cNvPr id="20" name="Image 2" descr="preencoded.png">    </p:cNvPr>
          <p:cNvPicPr>
            <a:picLocks noChangeAspect="1"/>
          </p:cNvPicPr>
          <p:nvPr/>
        </p:nvPicPr>
        <p:blipFill>
          <a:blip r:embed="rId3"/>
          <a:stretch>
            <a:fillRect/>
          </a:stretch>
        </p:blipFill>
        <p:spPr>
          <a:xfrm>
            <a:off x="10904037" y="2829885"/>
            <a:ext cx="247254" cy="247254"/>
          </a:xfrm>
          <a:prstGeom prst="rect">
            <a:avLst/>
          </a:prstGeom>
        </p:spPr>
      </p:pic>
      <p:sp>
        <p:nvSpPr>
          <p:cNvPr id="21" name="Text 16"/>
          <p:cNvSpPr txBox="1"/>
          <p:nvPr/>
        </p:nvSpPr>
        <p:spPr>
          <a:xfrm>
            <a:off x="8321040" y="3200400"/>
            <a:ext cx="3017520" cy="411480"/>
          </a:xfrm>
          <a:prstGeom prst="rect">
            <a:avLst/>
          </a:prstGeom>
          <a:noFill/>
          <a:ln/>
        </p:spPr>
        <p:txBody>
          <a:bodyPr wrap="square" lIns="0" tIns="0" rIns="0" bIns="0" rtlCol="0" anchor="t"/>
          <a:lstStyle/>
          <a:p>
            <a:pPr indent="0" marL="0">
              <a:buNone/>
            </a:pPr>
            <a:r>
              <a:rPr lang="en-US" sz="1800" b="1" dirty="0">
                <a:solidFill>
                  <a:srgbClr val="F8FAFC"/>
                </a:solidFill>
                <a:latin typeface="Georgia" pitchFamily="34" charset="0"/>
                <a:ea typeface="Georgia" pitchFamily="34" charset="-122"/>
                <a:cs typeface="Georgia" pitchFamily="34" charset="-120"/>
              </a:rPr>
              <a:t>Ready to grow</a:t>
            </a:r>
            <a:endParaRPr lang="en-US" sz="1800" dirty="0"/>
          </a:p>
        </p:txBody>
      </p:sp>
      <p:sp>
        <p:nvSpPr>
          <p:cNvPr id="22" name="Text 17"/>
          <p:cNvSpPr txBox="1"/>
          <p:nvPr/>
        </p:nvSpPr>
        <p:spPr>
          <a:xfrm>
            <a:off x="8321040" y="3657600"/>
            <a:ext cx="2971800" cy="100584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A sealed trading history you own and choose to share: the first step to finance and registration.</a:t>
            </a:r>
            <a:endParaRPr lang="en-US" sz="1300" dirty="0"/>
          </a:p>
        </p:txBody>
      </p:sp>
      <p:sp>
        <p:nvSpPr>
          <p:cNvPr id="23" name="Shape 18"/>
          <p:cNvSpPr/>
          <p:nvPr/>
        </p:nvSpPr>
        <p:spPr>
          <a:xfrm>
            <a:off x="548640" y="4846320"/>
            <a:ext cx="2743200" cy="1371600"/>
          </a:xfrm>
          <a:prstGeom prst="roundRect">
            <a:avLst>
              <a:gd name="adj" fmla="val 8000"/>
            </a:avLst>
          </a:prstGeom>
          <a:solidFill>
            <a:srgbClr val="1E2B45"/>
          </a:solidFill>
          <a:ln w="12700">
            <a:solidFill>
              <a:srgbClr val="1E2B45"/>
            </a:solidFill>
            <a:prstDash val="solid"/>
          </a:ln>
        </p:spPr>
      </p:sp>
      <p:sp>
        <p:nvSpPr>
          <p:cNvPr id="24" name="Text 19"/>
          <p:cNvSpPr txBox="1"/>
          <p:nvPr/>
        </p:nvSpPr>
        <p:spPr>
          <a:xfrm>
            <a:off x="749808" y="4937760"/>
            <a:ext cx="2377440" cy="256032"/>
          </a:xfrm>
          <a:prstGeom prst="rect">
            <a:avLst/>
          </a:prstGeom>
          <a:noFill/>
          <a:ln/>
        </p:spPr>
        <p:txBody>
          <a:bodyPr wrap="square" lIns="0" tIns="0" rIns="0" bIns="0" rtlCol="0" anchor="t"/>
          <a:lstStyle/>
          <a:p>
            <a:pPr indent="0" marL="0">
              <a:buNone/>
            </a:pPr>
            <a:r>
              <a:rPr lang="en-US" sz="1050" b="1" spc="200" kern="0" dirty="0">
                <a:solidFill>
                  <a:srgbClr val="A3B3C9"/>
                </a:solidFill>
                <a:latin typeface="Calibri" pitchFamily="34" charset="0"/>
                <a:ea typeface="Calibri" pitchFamily="34" charset="-122"/>
                <a:cs typeface="Calibri" pitchFamily="34" charset="-120"/>
              </a:rPr>
              <a:t>USERS</a:t>
            </a:r>
            <a:endParaRPr lang="en-US" sz="1050" dirty="0"/>
          </a:p>
        </p:txBody>
      </p:sp>
      <p:sp>
        <p:nvSpPr>
          <p:cNvPr id="25" name="Text 20"/>
          <p:cNvSpPr txBox="1"/>
          <p:nvPr/>
        </p:nvSpPr>
        <p:spPr>
          <a:xfrm>
            <a:off x="749808" y="5175504"/>
            <a:ext cx="2377440" cy="320040"/>
          </a:xfrm>
          <a:prstGeom prst="rect">
            <a:avLst/>
          </a:prstGeom>
          <a:noFill/>
          <a:ln/>
        </p:spPr>
        <p:txBody>
          <a:bodyPr wrap="square" lIns="0" tIns="0" rIns="0" bIns="0" rtlCol="0" anchor="t"/>
          <a:lstStyle/>
          <a:p>
            <a:pPr indent="0" marL="0">
              <a:buNone/>
            </a:pPr>
            <a:r>
              <a:rPr lang="en-US" sz="1500" b="1" dirty="0">
                <a:solidFill>
                  <a:srgbClr val="10B981"/>
                </a:solidFill>
                <a:latin typeface="Calibri" pitchFamily="34" charset="0"/>
                <a:ea typeface="Calibri" pitchFamily="34" charset="-122"/>
                <a:cs typeface="Calibri" pitchFamily="34" charset="-120"/>
              </a:rPr>
              <a:t>Small businesses</a:t>
            </a:r>
            <a:endParaRPr lang="en-US" sz="1500" dirty="0"/>
          </a:p>
        </p:txBody>
      </p:sp>
      <p:sp>
        <p:nvSpPr>
          <p:cNvPr id="26" name="Text 21"/>
          <p:cNvSpPr txBox="1"/>
          <p:nvPr/>
        </p:nvSpPr>
        <p:spPr>
          <a:xfrm>
            <a:off x="749808" y="5522976"/>
            <a:ext cx="2377440" cy="658368"/>
          </a:xfrm>
          <a:prstGeom prst="rect">
            <a:avLst/>
          </a:prstGeom>
          <a:noFill/>
          <a:ln/>
        </p:spPr>
        <p:txBody>
          <a:bodyPr wrap="square" lIns="0" tIns="0" rIns="0" bIns="0" rtlCol="0" anchor="t"/>
          <a:lstStyle/>
          <a:p>
            <a:pPr indent="0" marL="0">
              <a:buNone/>
            </a:pPr>
            <a:r>
              <a:rPr lang="en-US" sz="1200" dirty="0">
                <a:solidFill>
                  <a:srgbClr val="F8FAFC"/>
                </a:solidFill>
                <a:latin typeface="Calibri" pitchFamily="34" charset="0"/>
                <a:ea typeface="Calibri" pitchFamily="34" charset="-122"/>
                <a:cs typeface="Calibri" pitchFamily="34" charset="-120"/>
              </a:rPr>
              <a:t>Use it free, always.</a:t>
            </a:r>
            <a:endParaRPr lang="en-US" sz="1200" dirty="0"/>
          </a:p>
        </p:txBody>
      </p:sp>
      <p:sp>
        <p:nvSpPr>
          <p:cNvPr id="27" name="Shape 22"/>
          <p:cNvSpPr/>
          <p:nvPr/>
        </p:nvSpPr>
        <p:spPr>
          <a:xfrm>
            <a:off x="3429000" y="4846320"/>
            <a:ext cx="4572000" cy="1371600"/>
          </a:xfrm>
          <a:prstGeom prst="roundRect">
            <a:avLst>
              <a:gd name="adj" fmla="val 8000"/>
            </a:avLst>
          </a:prstGeom>
          <a:solidFill>
            <a:srgbClr val="1E2B45"/>
          </a:solidFill>
          <a:ln w="12700">
            <a:solidFill>
              <a:srgbClr val="1E2B45"/>
            </a:solidFill>
            <a:prstDash val="solid"/>
          </a:ln>
        </p:spPr>
      </p:sp>
      <p:sp>
        <p:nvSpPr>
          <p:cNvPr id="28" name="Text 23"/>
          <p:cNvSpPr txBox="1"/>
          <p:nvPr/>
        </p:nvSpPr>
        <p:spPr>
          <a:xfrm>
            <a:off x="3630168" y="4937760"/>
            <a:ext cx="4206240" cy="256032"/>
          </a:xfrm>
          <a:prstGeom prst="rect">
            <a:avLst/>
          </a:prstGeom>
          <a:noFill/>
          <a:ln/>
        </p:spPr>
        <p:txBody>
          <a:bodyPr wrap="square" lIns="0" tIns="0" rIns="0" bIns="0" rtlCol="0" anchor="t"/>
          <a:lstStyle/>
          <a:p>
            <a:pPr indent="0" marL="0">
              <a:buNone/>
            </a:pPr>
            <a:r>
              <a:rPr lang="en-US" sz="1050" b="1" spc="200" kern="0" dirty="0">
                <a:solidFill>
                  <a:srgbClr val="A3B3C9"/>
                </a:solidFill>
                <a:latin typeface="Calibri" pitchFamily="34" charset="0"/>
                <a:ea typeface="Calibri" pitchFamily="34" charset="-122"/>
                <a:cs typeface="Calibri" pitchFamily="34" charset="-120"/>
              </a:rPr>
              <a:t>CUSTOMERS</a:t>
            </a:r>
            <a:endParaRPr lang="en-US" sz="1050" dirty="0"/>
          </a:p>
        </p:txBody>
      </p:sp>
      <p:sp>
        <p:nvSpPr>
          <p:cNvPr id="29" name="Text 24"/>
          <p:cNvSpPr txBox="1"/>
          <p:nvPr/>
        </p:nvSpPr>
        <p:spPr>
          <a:xfrm>
            <a:off x="3630168" y="5175504"/>
            <a:ext cx="4206240" cy="320040"/>
          </a:xfrm>
          <a:prstGeom prst="rect">
            <a:avLst/>
          </a:prstGeom>
          <a:noFill/>
          <a:ln/>
        </p:spPr>
        <p:txBody>
          <a:bodyPr wrap="square" lIns="0" tIns="0" rIns="0" bIns="0" rtlCol="0" anchor="t"/>
          <a:lstStyle/>
          <a:p>
            <a:pPr indent="0" marL="0">
              <a:buNone/>
            </a:pPr>
            <a:r>
              <a:rPr lang="en-US" sz="1500" b="1" dirty="0">
                <a:solidFill>
                  <a:srgbClr val="FBBF24"/>
                </a:solidFill>
                <a:latin typeface="Calibri" pitchFamily="34" charset="0"/>
                <a:ea typeface="Calibri" pitchFamily="34" charset="-122"/>
                <a:cs typeface="Calibri" pitchFamily="34" charset="-120"/>
              </a:rPr>
              <a:t>Suppliers</a:t>
            </a:r>
            <a:endParaRPr lang="en-US" sz="1500" dirty="0"/>
          </a:p>
        </p:txBody>
      </p:sp>
      <p:sp>
        <p:nvSpPr>
          <p:cNvPr id="30" name="Text 25"/>
          <p:cNvSpPr txBox="1"/>
          <p:nvPr/>
        </p:nvSpPr>
        <p:spPr>
          <a:xfrm>
            <a:off x="3630168" y="5522976"/>
            <a:ext cx="4206240" cy="658368"/>
          </a:xfrm>
          <a:prstGeom prst="rect">
            <a:avLst/>
          </a:prstGeom>
          <a:noFill/>
          <a:ln/>
        </p:spPr>
        <p:txBody>
          <a:bodyPr wrap="square" lIns="0" tIns="0" rIns="0" bIns="0" rtlCol="0" anchor="t"/>
          <a:lstStyle/>
          <a:p>
            <a:pPr indent="0" marL="0">
              <a:buNone/>
            </a:pPr>
            <a:r>
              <a:rPr lang="en-US" sz="1200" dirty="0">
                <a:solidFill>
                  <a:srgbClr val="F8FAFC"/>
                </a:solidFill>
                <a:latin typeface="Calibri" pitchFamily="34" charset="0"/>
                <a:ea typeface="Calibri" pitchFamily="34" charset="-122"/>
                <a:cs typeface="Calibri" pitchFamily="34" charset="-120"/>
              </a:rPr>
              <a:t>Pay a monthly subscription or contract, plus a commission on every order: more orders from the businesses they already serve.</a:t>
            </a:r>
            <a:endParaRPr lang="en-US" sz="1200" dirty="0"/>
          </a:p>
        </p:txBody>
      </p:sp>
      <p:sp>
        <p:nvSpPr>
          <p:cNvPr id="31" name="Shape 26"/>
          <p:cNvSpPr/>
          <p:nvPr/>
        </p:nvSpPr>
        <p:spPr>
          <a:xfrm>
            <a:off x="8138160" y="4846320"/>
            <a:ext cx="3474720" cy="1371600"/>
          </a:xfrm>
          <a:prstGeom prst="roundRect">
            <a:avLst>
              <a:gd name="adj" fmla="val 8000"/>
            </a:avLst>
          </a:prstGeom>
          <a:solidFill>
            <a:srgbClr val="1E2B45"/>
          </a:solidFill>
          <a:ln w="12700">
            <a:solidFill>
              <a:srgbClr val="1E2B45"/>
            </a:solidFill>
            <a:prstDash val="solid"/>
          </a:ln>
        </p:spPr>
      </p:sp>
      <p:sp>
        <p:nvSpPr>
          <p:cNvPr id="32" name="Text 27"/>
          <p:cNvSpPr txBox="1"/>
          <p:nvPr/>
        </p:nvSpPr>
        <p:spPr>
          <a:xfrm>
            <a:off x="8339328" y="4937760"/>
            <a:ext cx="3108960" cy="256032"/>
          </a:xfrm>
          <a:prstGeom prst="rect">
            <a:avLst/>
          </a:prstGeom>
          <a:noFill/>
          <a:ln/>
        </p:spPr>
        <p:txBody>
          <a:bodyPr wrap="square" lIns="0" tIns="0" rIns="0" bIns="0" rtlCol="0" anchor="t"/>
          <a:lstStyle/>
          <a:p>
            <a:pPr indent="0" marL="0">
              <a:buNone/>
            </a:pPr>
            <a:r>
              <a:rPr lang="en-US" sz="1050" b="1" spc="200" kern="0" dirty="0">
                <a:solidFill>
                  <a:srgbClr val="A3B3C9"/>
                </a:solidFill>
                <a:latin typeface="Calibri" pitchFamily="34" charset="0"/>
                <a:ea typeface="Calibri" pitchFamily="34" charset="-122"/>
                <a:cs typeface="Calibri" pitchFamily="34" charset="-120"/>
              </a:rPr>
              <a:t>TOMORROW</a:t>
            </a:r>
            <a:endParaRPr lang="en-US" sz="1050" dirty="0"/>
          </a:p>
        </p:txBody>
      </p:sp>
      <p:sp>
        <p:nvSpPr>
          <p:cNvPr id="33" name="Text 28"/>
          <p:cNvSpPr txBox="1"/>
          <p:nvPr/>
        </p:nvSpPr>
        <p:spPr>
          <a:xfrm>
            <a:off x="8339328" y="5175504"/>
            <a:ext cx="3108960" cy="320040"/>
          </a:xfrm>
          <a:prstGeom prst="rect">
            <a:avLst/>
          </a:prstGeom>
          <a:noFill/>
          <a:ln/>
        </p:spPr>
        <p:txBody>
          <a:bodyPr wrap="square" lIns="0" tIns="0" rIns="0" bIns="0" rtlCol="0" anchor="t"/>
          <a:lstStyle/>
          <a:p>
            <a:pPr indent="0" marL="0">
              <a:buNone/>
            </a:pPr>
            <a:r>
              <a:rPr lang="en-US" sz="1500" b="1" dirty="0">
                <a:solidFill>
                  <a:srgbClr val="34D399"/>
                </a:solidFill>
                <a:latin typeface="Calibri" pitchFamily="34" charset="0"/>
                <a:ea typeface="Calibri" pitchFamily="34" charset="-122"/>
                <a:cs typeface="Calibri" pitchFamily="34" charset="-120"/>
              </a:rPr>
              <a:t>Banks and lenders</a:t>
            </a:r>
            <a:endParaRPr lang="en-US" sz="1500" dirty="0"/>
          </a:p>
        </p:txBody>
      </p:sp>
      <p:sp>
        <p:nvSpPr>
          <p:cNvPr id="34" name="Text 29"/>
          <p:cNvSpPr txBox="1"/>
          <p:nvPr/>
        </p:nvSpPr>
        <p:spPr>
          <a:xfrm>
            <a:off x="8339328" y="5522976"/>
            <a:ext cx="3108960" cy="658368"/>
          </a:xfrm>
          <a:prstGeom prst="rect">
            <a:avLst/>
          </a:prstGeom>
          <a:noFill/>
          <a:ln/>
        </p:spPr>
        <p:txBody>
          <a:bodyPr wrap="square" lIns="0" tIns="0" rIns="0" bIns="0" rtlCol="0" anchor="t"/>
          <a:lstStyle/>
          <a:p>
            <a:pPr indent="0" marL="0">
              <a:buNone/>
            </a:pPr>
            <a:r>
              <a:rPr lang="en-US" sz="1200" dirty="0">
                <a:solidFill>
                  <a:srgbClr val="F8FAFC"/>
                </a:solidFill>
                <a:latin typeface="Calibri" pitchFamily="34" charset="0"/>
                <a:ea typeface="Calibri" pitchFamily="34" charset="-122"/>
                <a:cs typeface="Calibri" pitchFamily="34" charset="-120"/>
              </a:rPr>
              <a:t>Partnerships: a verified trading history they can trust, shared only with the owner's consent.</a:t>
            </a:r>
            <a:endParaRPr lang="en-US" sz="1200" dirty="0"/>
          </a:p>
        </p:txBody>
      </p:sp>
      <p:pic>
        <p:nvPicPr>
          <p:cNvPr id="35" name="Image 3" descr="preencoded.png">    </p:cNvPr>
          <p:cNvPicPr>
            <a:picLocks noChangeAspect="1"/>
          </p:cNvPicPr>
          <p:nvPr/>
        </p:nvPicPr>
        <p:blipFill>
          <a:blip r:embed="rId4"/>
          <a:stretch>
            <a:fillRect/>
          </a:stretch>
        </p:blipFill>
        <p:spPr>
          <a:xfrm>
            <a:off x="11231575" y="6291072"/>
            <a:ext cx="384048" cy="384048"/>
          </a:xfrm>
          <a:prstGeom prst="rect">
            <a:avLst/>
          </a:prstGeom>
        </p:spPr>
      </p:pic>
      <p:sp>
        <p:nvSpPr>
          <p:cNvPr id="36" name="Text 30"/>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3</a:t>
            </a:r>
            <a:endParaRPr lang="en-US" sz="1000" dirty="0"/>
          </a:p>
        </p:txBody>
      </p:sp>
      <p:sp>
        <p:nvSpPr>
          <p:cNvPr id="37" name="Text 31"/>
          <p:cNvSpPr txBox="1"/>
          <p:nvPr/>
        </p:nvSpPr>
        <p:spPr>
          <a:xfrm>
            <a:off x="548640" y="6336792"/>
            <a:ext cx="10241280" cy="36576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Honest limit: only digital payments count as proof, because the payment provider confirms the money moved. Cash and the business tools are the owner's own record.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USER JOURNEY</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F8FAFC"/>
                </a:solidFill>
                <a:latin typeface="Georgia" pitchFamily="34" charset="0"/>
                <a:ea typeface="Georgia" pitchFamily="34" charset="-122"/>
                <a:cs typeface="Georgia" pitchFamily="34" charset="-120"/>
              </a:rPr>
              <a:t>Thandi's week, with Akayza</a:t>
            </a:r>
            <a:endParaRPr lang="en-US" sz="3200" dirty="0"/>
          </a:p>
        </p:txBody>
      </p:sp>
      <p:sp>
        <p:nvSpPr>
          <p:cNvPr id="4" name="Text 2"/>
          <p:cNvSpPr txBox="1"/>
          <p:nvPr/>
        </p:nvSpPr>
        <p:spPr>
          <a:xfrm>
            <a:off x="548640" y="1508760"/>
            <a:ext cx="11064240" cy="640080"/>
          </a:xfrm>
          <a:prstGeom prst="rect">
            <a:avLst/>
          </a:prstGeom>
          <a:noFill/>
          <a:ln/>
        </p:spPr>
        <p:txBody>
          <a:bodyPr wrap="square" lIns="0" tIns="0" rIns="0" bIns="0" rtlCol="0" anchor="t"/>
          <a:lstStyle/>
          <a:p>
            <a:pPr indent="0" marL="0">
              <a:buNone/>
            </a:pPr>
            <a:r>
              <a:rPr lang="en-US" sz="1600" i="1" dirty="0">
                <a:solidFill>
                  <a:srgbClr val="A3B3C9"/>
                </a:solidFill>
                <a:latin typeface="Calibri" pitchFamily="34" charset="0"/>
                <a:ea typeface="Calibri" pitchFamily="34" charset="-122"/>
                <a:cs typeface="Calibri" pitchFamily="34" charset="-120"/>
              </a:rPr>
              <a:t>Thandi runs a small shop. Her customers pay her in cash, with no proof it moved. Where money can be proven is with her suppliers, so that's where Akayza starts.</a:t>
            </a:r>
            <a:endParaRPr lang="en-US" sz="1600" dirty="0"/>
          </a:p>
        </p:txBody>
      </p:sp>
      <p:sp>
        <p:nvSpPr>
          <p:cNvPr id="5" name="Shape 3"/>
          <p:cNvSpPr/>
          <p:nvPr/>
        </p:nvSpPr>
        <p:spPr>
          <a:xfrm>
            <a:off x="548640" y="2331720"/>
            <a:ext cx="2606040" cy="3474720"/>
          </a:xfrm>
          <a:prstGeom prst="roundRect">
            <a:avLst>
              <a:gd name="adj" fmla="val 4211"/>
            </a:avLst>
          </a:prstGeom>
          <a:solidFill>
            <a:srgbClr val="17223A"/>
          </a:solidFill>
          <a:ln w="12700">
            <a:solidFill>
              <a:srgbClr val="17223A"/>
            </a:solidFill>
            <a:prstDash val="solid"/>
          </a:ln>
        </p:spPr>
      </p:sp>
      <p:sp>
        <p:nvSpPr>
          <p:cNvPr id="6" name="Shape 4"/>
          <p:cNvSpPr/>
          <p:nvPr/>
        </p:nvSpPr>
        <p:spPr>
          <a:xfrm>
            <a:off x="822960" y="2578608"/>
            <a:ext cx="713232" cy="713232"/>
          </a:xfrm>
          <a:prstGeom prst="ellipse">
            <a:avLst/>
          </a:prstGeom>
          <a:solidFill>
            <a:srgbClr val="1E2B45"/>
          </a:solidFill>
          <a:ln w="19050">
            <a:solidFill>
              <a:srgbClr val="10B981"/>
            </a:solidFill>
            <a:prstDash val="solid"/>
          </a:ln>
        </p:spPr>
      </p:sp>
      <p:pic>
        <p:nvPicPr>
          <p:cNvPr id="7" name="Image 0" descr="preencoded.png">    </p:cNvPr>
          <p:cNvPicPr>
            <a:picLocks noChangeAspect="1"/>
          </p:cNvPicPr>
          <p:nvPr/>
        </p:nvPicPr>
        <p:blipFill>
          <a:blip r:embed="rId1"/>
          <a:stretch>
            <a:fillRect/>
          </a:stretch>
        </p:blipFill>
        <p:spPr>
          <a:xfrm>
            <a:off x="994136" y="2749784"/>
            <a:ext cx="370881" cy="370881"/>
          </a:xfrm>
          <a:prstGeom prst="rect">
            <a:avLst/>
          </a:prstGeom>
        </p:spPr>
      </p:pic>
      <p:sp>
        <p:nvSpPr>
          <p:cNvPr id="8" name="Text 5"/>
          <p:cNvSpPr txBox="1"/>
          <p:nvPr/>
        </p:nvSpPr>
        <p:spPr>
          <a:xfrm>
            <a:off x="822960" y="3474720"/>
            <a:ext cx="2194560" cy="320040"/>
          </a:xfrm>
          <a:prstGeom prst="rect">
            <a:avLst/>
          </a:prstGeom>
          <a:noFill/>
          <a:ln/>
        </p:spPr>
        <p:txBody>
          <a:bodyPr wrap="square" lIns="0" tIns="0" rIns="0" bIns="0" rtlCol="0" anchor="t"/>
          <a:lstStyle/>
          <a:p>
            <a:pPr indent="0" marL="0">
              <a:buNone/>
            </a:pPr>
            <a:r>
              <a:rPr lang="en-US" sz="1300" b="1" spc="200" kern="0" dirty="0">
                <a:solidFill>
                  <a:srgbClr val="10B981"/>
                </a:solidFill>
                <a:latin typeface="Calibri" pitchFamily="34" charset="0"/>
                <a:ea typeface="Calibri" pitchFamily="34" charset="-122"/>
                <a:cs typeface="Calibri" pitchFamily="34" charset="-120"/>
              </a:rPr>
              <a:t>MONDAY</a:t>
            </a:r>
            <a:endParaRPr lang="en-US" sz="1300" dirty="0"/>
          </a:p>
        </p:txBody>
      </p:sp>
      <p:sp>
        <p:nvSpPr>
          <p:cNvPr id="9" name="Text 6"/>
          <p:cNvSpPr txBox="1"/>
          <p:nvPr/>
        </p:nvSpPr>
        <p:spPr>
          <a:xfrm>
            <a:off x="822960" y="3822192"/>
            <a:ext cx="2148840" cy="685800"/>
          </a:xfrm>
          <a:prstGeom prst="rect">
            <a:avLst/>
          </a:prstGeom>
          <a:noFill/>
          <a:ln/>
        </p:spPr>
        <p:txBody>
          <a:bodyPr wrap="square" lIns="0" tIns="0" rIns="0" bIns="0" rtlCol="0" anchor="t"/>
          <a:lstStyle/>
          <a:p>
            <a:pPr indent="0" marL="0">
              <a:buNone/>
            </a:pPr>
            <a:r>
              <a:rPr lang="en-US" sz="1700" b="1" dirty="0">
                <a:solidFill>
                  <a:srgbClr val="F8FAFC"/>
                </a:solidFill>
                <a:latin typeface="Calibri" pitchFamily="34" charset="0"/>
                <a:ea typeface="Calibri" pitchFamily="34" charset="-122"/>
                <a:cs typeface="Calibri" pitchFamily="34" charset="-120"/>
              </a:rPr>
              <a:t>Restocks in 2 minutes</a:t>
            </a:r>
            <a:endParaRPr lang="en-US" sz="1700" dirty="0"/>
          </a:p>
        </p:txBody>
      </p:sp>
      <p:sp>
        <p:nvSpPr>
          <p:cNvPr id="10" name="Text 7"/>
          <p:cNvSpPr txBox="1"/>
          <p:nvPr/>
        </p:nvSpPr>
        <p:spPr>
          <a:xfrm>
            <a:off x="822960" y="4553712"/>
            <a:ext cx="2148840" cy="1188720"/>
          </a:xfrm>
          <a:prstGeom prst="rect">
            <a:avLst/>
          </a:prstGeom>
          <a:noFill/>
          <a:ln/>
        </p:spPr>
        <p:txBody>
          <a:bodyPr wrap="square" lIns="0" tIns="0" rIns="0" bIns="0" rtlCol="0" anchor="t"/>
          <a:lstStyle/>
          <a:p>
            <a:pPr indent="0" marL="0">
              <a:buNone/>
            </a:pPr>
            <a:r>
              <a:rPr lang="en-US" sz="1350" dirty="0">
                <a:solidFill>
                  <a:srgbClr val="A3B3C9"/>
                </a:solidFill>
                <a:latin typeface="Calibri" pitchFamily="34" charset="0"/>
                <a:ea typeface="Calibri" pitchFamily="34" charset="-122"/>
                <a:cs typeface="Calibri" pitchFamily="34" charset="-120"/>
              </a:rPr>
              <a:t>Her usual supplier, their prices, delivered. No calls, no running out.</a:t>
            </a:r>
            <a:endParaRPr lang="en-US" sz="1350" dirty="0"/>
          </a:p>
        </p:txBody>
      </p:sp>
      <p:sp>
        <p:nvSpPr>
          <p:cNvPr id="11" name="Shape 8"/>
          <p:cNvSpPr/>
          <p:nvPr/>
        </p:nvSpPr>
        <p:spPr>
          <a:xfrm>
            <a:off x="3182112" y="4069080"/>
            <a:ext cx="164592" cy="0"/>
          </a:xfrm>
          <a:prstGeom prst="line">
            <a:avLst/>
          </a:prstGeom>
          <a:noFill/>
          <a:ln w="19050">
            <a:solidFill>
              <a:srgbClr val="64748B"/>
            </a:solidFill>
            <a:prstDash val="solid"/>
            <a:tailEnd type="triangle"/>
          </a:ln>
        </p:spPr>
      </p:sp>
      <p:sp>
        <p:nvSpPr>
          <p:cNvPr id="12" name="Shape 9"/>
          <p:cNvSpPr/>
          <p:nvPr/>
        </p:nvSpPr>
        <p:spPr>
          <a:xfrm>
            <a:off x="3364992" y="2331720"/>
            <a:ext cx="2606040" cy="3474720"/>
          </a:xfrm>
          <a:prstGeom prst="roundRect">
            <a:avLst>
              <a:gd name="adj" fmla="val 4211"/>
            </a:avLst>
          </a:prstGeom>
          <a:solidFill>
            <a:srgbClr val="17223A"/>
          </a:solidFill>
          <a:ln w="12700">
            <a:solidFill>
              <a:srgbClr val="17223A"/>
            </a:solidFill>
            <a:prstDash val="solid"/>
          </a:ln>
        </p:spPr>
      </p:sp>
      <p:sp>
        <p:nvSpPr>
          <p:cNvPr id="13" name="Shape 10"/>
          <p:cNvSpPr/>
          <p:nvPr/>
        </p:nvSpPr>
        <p:spPr>
          <a:xfrm>
            <a:off x="3639312" y="2578608"/>
            <a:ext cx="713232" cy="713232"/>
          </a:xfrm>
          <a:prstGeom prst="ellipse">
            <a:avLst/>
          </a:prstGeom>
          <a:solidFill>
            <a:srgbClr val="1E2B45"/>
          </a:solidFill>
          <a:ln w="19050">
            <a:solidFill>
              <a:srgbClr val="FBBF24"/>
            </a:solidFill>
            <a:prstDash val="solid"/>
          </a:ln>
        </p:spPr>
      </p:sp>
      <p:pic>
        <p:nvPicPr>
          <p:cNvPr id="14" name="Image 1" descr="preencoded.png">    </p:cNvPr>
          <p:cNvPicPr>
            <a:picLocks noChangeAspect="1"/>
          </p:cNvPicPr>
          <p:nvPr/>
        </p:nvPicPr>
        <p:blipFill>
          <a:blip r:embed="rId2"/>
          <a:stretch>
            <a:fillRect/>
          </a:stretch>
        </p:blipFill>
        <p:spPr>
          <a:xfrm>
            <a:off x="3810488" y="2749784"/>
            <a:ext cx="370881" cy="370881"/>
          </a:xfrm>
          <a:prstGeom prst="rect">
            <a:avLst/>
          </a:prstGeom>
        </p:spPr>
      </p:pic>
      <p:sp>
        <p:nvSpPr>
          <p:cNvPr id="15" name="Text 11"/>
          <p:cNvSpPr txBox="1"/>
          <p:nvPr/>
        </p:nvSpPr>
        <p:spPr>
          <a:xfrm>
            <a:off x="3639312" y="3474720"/>
            <a:ext cx="2194560" cy="320040"/>
          </a:xfrm>
          <a:prstGeom prst="rect">
            <a:avLst/>
          </a:prstGeom>
          <a:noFill/>
          <a:ln/>
        </p:spPr>
        <p:txBody>
          <a:bodyPr wrap="square" lIns="0" tIns="0" rIns="0" bIns="0" rtlCol="0" anchor="t"/>
          <a:lstStyle/>
          <a:p>
            <a:pPr indent="0" marL="0">
              <a:buNone/>
            </a:pPr>
            <a:r>
              <a:rPr lang="en-US" sz="1300" b="1" spc="200" kern="0" dirty="0">
                <a:solidFill>
                  <a:srgbClr val="FBBF24"/>
                </a:solidFill>
                <a:latin typeface="Calibri" pitchFamily="34" charset="0"/>
                <a:ea typeface="Calibri" pitchFamily="34" charset="-122"/>
                <a:cs typeface="Calibri" pitchFamily="34" charset="-120"/>
              </a:rPr>
              <a:t>WEDNESDAY</a:t>
            </a:r>
            <a:endParaRPr lang="en-US" sz="1300" dirty="0"/>
          </a:p>
        </p:txBody>
      </p:sp>
      <p:sp>
        <p:nvSpPr>
          <p:cNvPr id="16" name="Text 12"/>
          <p:cNvSpPr txBox="1"/>
          <p:nvPr/>
        </p:nvSpPr>
        <p:spPr>
          <a:xfrm>
            <a:off x="3639312" y="3822192"/>
            <a:ext cx="2148840" cy="685800"/>
          </a:xfrm>
          <a:prstGeom prst="rect">
            <a:avLst/>
          </a:prstGeom>
          <a:noFill/>
          <a:ln/>
        </p:spPr>
        <p:txBody>
          <a:bodyPr wrap="square" lIns="0" tIns="0" rIns="0" bIns="0" rtlCol="0" anchor="t"/>
          <a:lstStyle/>
          <a:p>
            <a:pPr indent="0" marL="0">
              <a:buNone/>
            </a:pPr>
            <a:r>
              <a:rPr lang="en-US" sz="1700" b="1" dirty="0">
                <a:solidFill>
                  <a:srgbClr val="F8FAFC"/>
                </a:solidFill>
                <a:latin typeface="Calibri" pitchFamily="34" charset="0"/>
                <a:ea typeface="Calibri" pitchFamily="34" charset="-122"/>
                <a:cs typeface="Calibri" pitchFamily="34" charset="-120"/>
              </a:rPr>
              <a:t>Records a repayment</a:t>
            </a:r>
            <a:endParaRPr lang="en-US" sz="1700" dirty="0"/>
          </a:p>
        </p:txBody>
      </p:sp>
      <p:sp>
        <p:nvSpPr>
          <p:cNvPr id="17" name="Text 13"/>
          <p:cNvSpPr txBox="1"/>
          <p:nvPr/>
        </p:nvSpPr>
        <p:spPr>
          <a:xfrm>
            <a:off x="3639312" y="4553712"/>
            <a:ext cx="2148840" cy="1188720"/>
          </a:xfrm>
          <a:prstGeom prst="rect">
            <a:avLst/>
          </a:prstGeom>
          <a:noFill/>
          <a:ln/>
        </p:spPr>
        <p:txBody>
          <a:bodyPr wrap="square" lIns="0" tIns="0" rIns="0" bIns="0" rtlCol="0" anchor="t"/>
          <a:lstStyle/>
          <a:p>
            <a:pPr indent="0" marL="0">
              <a:buNone/>
            </a:pPr>
            <a:r>
              <a:rPr lang="en-US" sz="1350" dirty="0">
                <a:solidFill>
                  <a:srgbClr val="A3B3C9"/>
                </a:solidFill>
                <a:latin typeface="Calibri" pitchFamily="34" charset="0"/>
                <a:ea typeface="Calibri" pitchFamily="34" charset="-122"/>
                <a:cs typeface="Calibri" pitchFamily="34" charset="-120"/>
              </a:rPr>
              <a:t>A customer settles his credit. She records it in her credit book, one of her business tools.</a:t>
            </a:r>
            <a:endParaRPr lang="en-US" sz="1350" dirty="0"/>
          </a:p>
        </p:txBody>
      </p:sp>
      <p:sp>
        <p:nvSpPr>
          <p:cNvPr id="18" name="Shape 14"/>
          <p:cNvSpPr/>
          <p:nvPr/>
        </p:nvSpPr>
        <p:spPr>
          <a:xfrm>
            <a:off x="5998464" y="4069080"/>
            <a:ext cx="164592" cy="0"/>
          </a:xfrm>
          <a:prstGeom prst="line">
            <a:avLst/>
          </a:prstGeom>
          <a:noFill/>
          <a:ln w="19050">
            <a:solidFill>
              <a:srgbClr val="64748B"/>
            </a:solidFill>
            <a:prstDash val="solid"/>
            <a:tailEnd type="triangle"/>
          </a:ln>
        </p:spPr>
      </p:sp>
      <p:sp>
        <p:nvSpPr>
          <p:cNvPr id="19" name="Shape 15"/>
          <p:cNvSpPr/>
          <p:nvPr/>
        </p:nvSpPr>
        <p:spPr>
          <a:xfrm>
            <a:off x="6181344" y="2331720"/>
            <a:ext cx="2606040" cy="3474720"/>
          </a:xfrm>
          <a:prstGeom prst="roundRect">
            <a:avLst>
              <a:gd name="adj" fmla="val 4211"/>
            </a:avLst>
          </a:prstGeom>
          <a:solidFill>
            <a:srgbClr val="17223A"/>
          </a:solidFill>
          <a:ln w="12700">
            <a:solidFill>
              <a:srgbClr val="17223A"/>
            </a:solidFill>
            <a:prstDash val="solid"/>
          </a:ln>
        </p:spPr>
      </p:sp>
      <p:sp>
        <p:nvSpPr>
          <p:cNvPr id="20" name="Shape 16"/>
          <p:cNvSpPr/>
          <p:nvPr/>
        </p:nvSpPr>
        <p:spPr>
          <a:xfrm>
            <a:off x="6455664" y="2578608"/>
            <a:ext cx="713232" cy="713232"/>
          </a:xfrm>
          <a:prstGeom prst="ellipse">
            <a:avLst/>
          </a:prstGeom>
          <a:solidFill>
            <a:srgbClr val="1E2B45"/>
          </a:solidFill>
          <a:ln w="19050">
            <a:solidFill>
              <a:srgbClr val="34D399"/>
            </a:solidFill>
            <a:prstDash val="solid"/>
          </a:ln>
        </p:spPr>
      </p:sp>
      <p:pic>
        <p:nvPicPr>
          <p:cNvPr id="21" name="Image 2" descr="preencoded.png">    </p:cNvPr>
          <p:cNvPicPr>
            <a:picLocks noChangeAspect="1"/>
          </p:cNvPicPr>
          <p:nvPr/>
        </p:nvPicPr>
        <p:blipFill>
          <a:blip r:embed="rId3"/>
          <a:stretch>
            <a:fillRect/>
          </a:stretch>
        </p:blipFill>
        <p:spPr>
          <a:xfrm>
            <a:off x="6626840" y="2749784"/>
            <a:ext cx="370881" cy="370881"/>
          </a:xfrm>
          <a:prstGeom prst="rect">
            <a:avLst/>
          </a:prstGeom>
        </p:spPr>
      </p:pic>
      <p:sp>
        <p:nvSpPr>
          <p:cNvPr id="22" name="Text 17"/>
          <p:cNvSpPr txBox="1"/>
          <p:nvPr/>
        </p:nvSpPr>
        <p:spPr>
          <a:xfrm>
            <a:off x="6455664" y="3474720"/>
            <a:ext cx="2194560" cy="320040"/>
          </a:xfrm>
          <a:prstGeom prst="rect">
            <a:avLst/>
          </a:prstGeom>
          <a:noFill/>
          <a:ln/>
        </p:spPr>
        <p:txBody>
          <a:bodyPr wrap="square" lIns="0" tIns="0" rIns="0" bIns="0" rtlCol="0" anchor="t"/>
          <a:lstStyle/>
          <a:p>
            <a:pPr indent="0" marL="0">
              <a:buNone/>
            </a:pPr>
            <a:r>
              <a:rPr lang="en-US" sz="1300" b="1" spc="200" kern="0" dirty="0">
                <a:solidFill>
                  <a:srgbClr val="34D399"/>
                </a:solidFill>
                <a:latin typeface="Calibri" pitchFamily="34" charset="0"/>
                <a:ea typeface="Calibri" pitchFamily="34" charset="-122"/>
                <a:cs typeface="Calibri" pitchFamily="34" charset="-120"/>
              </a:rPr>
              <a:t>FRIDAY</a:t>
            </a:r>
            <a:endParaRPr lang="en-US" sz="1300" dirty="0"/>
          </a:p>
        </p:txBody>
      </p:sp>
      <p:sp>
        <p:nvSpPr>
          <p:cNvPr id="23" name="Text 18"/>
          <p:cNvSpPr txBox="1"/>
          <p:nvPr/>
        </p:nvSpPr>
        <p:spPr>
          <a:xfrm>
            <a:off x="6455664" y="3822192"/>
            <a:ext cx="2148840" cy="685800"/>
          </a:xfrm>
          <a:prstGeom prst="rect">
            <a:avLst/>
          </a:prstGeom>
          <a:noFill/>
          <a:ln/>
        </p:spPr>
        <p:txBody>
          <a:bodyPr wrap="square" lIns="0" tIns="0" rIns="0" bIns="0" rtlCol="0" anchor="t"/>
          <a:lstStyle/>
          <a:p>
            <a:pPr indent="0" marL="0">
              <a:buNone/>
            </a:pPr>
            <a:r>
              <a:rPr lang="en-US" sz="1700" b="1" dirty="0">
                <a:solidFill>
                  <a:srgbClr val="F8FAFC"/>
                </a:solidFill>
                <a:latin typeface="Calibri" pitchFamily="34" charset="0"/>
                <a:ea typeface="Calibri" pitchFamily="34" charset="-122"/>
                <a:cs typeface="Calibri" pitchFamily="34" charset="-120"/>
              </a:rPr>
              <a:t>Pays without cash risk</a:t>
            </a:r>
            <a:endParaRPr lang="en-US" sz="1700" dirty="0"/>
          </a:p>
        </p:txBody>
      </p:sp>
      <p:sp>
        <p:nvSpPr>
          <p:cNvPr id="24" name="Text 19"/>
          <p:cNvSpPr txBox="1"/>
          <p:nvPr/>
        </p:nvSpPr>
        <p:spPr>
          <a:xfrm>
            <a:off x="6455664" y="4553712"/>
            <a:ext cx="2148840" cy="1188720"/>
          </a:xfrm>
          <a:prstGeom prst="rect">
            <a:avLst/>
          </a:prstGeom>
          <a:noFill/>
          <a:ln/>
        </p:spPr>
        <p:txBody>
          <a:bodyPr wrap="square" lIns="0" tIns="0" rIns="0" bIns="0" rtlCol="0" anchor="t"/>
          <a:lstStyle/>
          <a:p>
            <a:pPr indent="0" marL="0">
              <a:buNone/>
            </a:pPr>
            <a:r>
              <a:rPr lang="en-US" sz="1350" dirty="0">
                <a:solidFill>
                  <a:srgbClr val="A3B3C9"/>
                </a:solidFill>
                <a:latin typeface="Calibri" pitchFamily="34" charset="0"/>
                <a:ea typeface="Calibri" pitchFamily="34" charset="-122"/>
                <a:cs typeface="Calibri" pitchFamily="34" charset="-120"/>
              </a:rPr>
              <a:t>Pays the supplier in the app. The provider confirms it; the invoice arrives.</a:t>
            </a:r>
            <a:endParaRPr lang="en-US" sz="1350" dirty="0"/>
          </a:p>
        </p:txBody>
      </p:sp>
      <p:sp>
        <p:nvSpPr>
          <p:cNvPr id="25" name="Shape 20"/>
          <p:cNvSpPr/>
          <p:nvPr/>
        </p:nvSpPr>
        <p:spPr>
          <a:xfrm>
            <a:off x="8814816" y="4069080"/>
            <a:ext cx="164592" cy="0"/>
          </a:xfrm>
          <a:prstGeom prst="line">
            <a:avLst/>
          </a:prstGeom>
          <a:noFill/>
          <a:ln w="19050">
            <a:solidFill>
              <a:srgbClr val="64748B"/>
            </a:solidFill>
            <a:prstDash val="solid"/>
            <a:tailEnd type="triangle"/>
          </a:ln>
        </p:spPr>
      </p:sp>
      <p:sp>
        <p:nvSpPr>
          <p:cNvPr id="26" name="Shape 21"/>
          <p:cNvSpPr/>
          <p:nvPr/>
        </p:nvSpPr>
        <p:spPr>
          <a:xfrm>
            <a:off x="8997696" y="2331720"/>
            <a:ext cx="2606040" cy="3474720"/>
          </a:xfrm>
          <a:prstGeom prst="roundRect">
            <a:avLst>
              <a:gd name="adj" fmla="val 4211"/>
            </a:avLst>
          </a:prstGeom>
          <a:solidFill>
            <a:srgbClr val="17223A"/>
          </a:solidFill>
          <a:ln w="12700">
            <a:solidFill>
              <a:srgbClr val="17223A"/>
            </a:solidFill>
            <a:prstDash val="solid"/>
          </a:ln>
        </p:spPr>
      </p:sp>
      <p:sp>
        <p:nvSpPr>
          <p:cNvPr id="27" name="Shape 22"/>
          <p:cNvSpPr/>
          <p:nvPr/>
        </p:nvSpPr>
        <p:spPr>
          <a:xfrm>
            <a:off x="9272016" y="2578608"/>
            <a:ext cx="713232" cy="713232"/>
          </a:xfrm>
          <a:prstGeom prst="ellipse">
            <a:avLst/>
          </a:prstGeom>
          <a:solidFill>
            <a:srgbClr val="1E2B45"/>
          </a:solidFill>
          <a:ln w="19050">
            <a:solidFill>
              <a:srgbClr val="F59E0B"/>
            </a:solidFill>
            <a:prstDash val="solid"/>
          </a:ln>
        </p:spPr>
      </p:sp>
      <p:pic>
        <p:nvPicPr>
          <p:cNvPr id="28" name="Image 3" descr="preencoded.png">    </p:cNvPr>
          <p:cNvPicPr>
            <a:picLocks noChangeAspect="1"/>
          </p:cNvPicPr>
          <p:nvPr/>
        </p:nvPicPr>
        <p:blipFill>
          <a:blip r:embed="rId4"/>
          <a:stretch>
            <a:fillRect/>
          </a:stretch>
        </p:blipFill>
        <p:spPr>
          <a:xfrm>
            <a:off x="9443192" y="2749784"/>
            <a:ext cx="370881" cy="370881"/>
          </a:xfrm>
          <a:prstGeom prst="rect">
            <a:avLst/>
          </a:prstGeom>
        </p:spPr>
      </p:pic>
      <p:sp>
        <p:nvSpPr>
          <p:cNvPr id="29" name="Text 23"/>
          <p:cNvSpPr txBox="1"/>
          <p:nvPr/>
        </p:nvSpPr>
        <p:spPr>
          <a:xfrm>
            <a:off x="9272016" y="3474720"/>
            <a:ext cx="2194560" cy="320040"/>
          </a:xfrm>
          <a:prstGeom prst="rect">
            <a:avLst/>
          </a:prstGeom>
          <a:noFill/>
          <a:ln/>
        </p:spPr>
        <p:txBody>
          <a:bodyPr wrap="square" lIns="0" tIns="0" rIns="0" bIns="0" rtlCol="0" anchor="t"/>
          <a:lstStyle/>
          <a:p>
            <a:pPr indent="0" marL="0">
              <a:buNone/>
            </a:pPr>
            <a:r>
              <a:rPr lang="en-US" sz="1300" b="1" spc="200" kern="0" dirty="0">
                <a:solidFill>
                  <a:srgbClr val="F59E0B"/>
                </a:solidFill>
                <a:latin typeface="Calibri" pitchFamily="34" charset="0"/>
                <a:ea typeface="Calibri" pitchFamily="34" charset="-122"/>
                <a:cs typeface="Calibri" pitchFamily="34" charset="-120"/>
              </a:rPr>
              <a:t>MONTH END</a:t>
            </a:r>
            <a:endParaRPr lang="en-US" sz="1300" dirty="0"/>
          </a:p>
        </p:txBody>
      </p:sp>
      <p:sp>
        <p:nvSpPr>
          <p:cNvPr id="30" name="Text 24"/>
          <p:cNvSpPr txBox="1"/>
          <p:nvPr/>
        </p:nvSpPr>
        <p:spPr>
          <a:xfrm>
            <a:off x="9272016" y="3822192"/>
            <a:ext cx="2148840" cy="685800"/>
          </a:xfrm>
          <a:prstGeom prst="rect">
            <a:avLst/>
          </a:prstGeom>
          <a:noFill/>
          <a:ln/>
        </p:spPr>
        <p:txBody>
          <a:bodyPr wrap="square" lIns="0" tIns="0" rIns="0" bIns="0" rtlCol="0" anchor="t"/>
          <a:lstStyle/>
          <a:p>
            <a:pPr indent="0" marL="0">
              <a:buNone/>
            </a:pPr>
            <a:r>
              <a:rPr lang="en-US" sz="1700" b="1" dirty="0">
                <a:solidFill>
                  <a:srgbClr val="F8FAFC"/>
                </a:solidFill>
                <a:latin typeface="Calibri" pitchFamily="34" charset="0"/>
                <a:ea typeface="Calibri" pitchFamily="34" charset="-122"/>
                <a:cs typeface="Calibri" pitchFamily="34" charset="-120"/>
              </a:rPr>
              <a:t>Sees her business</a:t>
            </a:r>
            <a:endParaRPr lang="en-US" sz="1700" dirty="0"/>
          </a:p>
        </p:txBody>
      </p:sp>
      <p:sp>
        <p:nvSpPr>
          <p:cNvPr id="31" name="Text 25"/>
          <p:cNvSpPr txBox="1"/>
          <p:nvPr/>
        </p:nvSpPr>
        <p:spPr>
          <a:xfrm>
            <a:off x="9272016" y="4553712"/>
            <a:ext cx="2148840" cy="1188720"/>
          </a:xfrm>
          <a:prstGeom prst="rect">
            <a:avLst/>
          </a:prstGeom>
          <a:noFill/>
          <a:ln/>
        </p:spPr>
        <p:txBody>
          <a:bodyPr wrap="square" lIns="0" tIns="0" rIns="0" bIns="0" rtlCol="0" anchor="t"/>
          <a:lstStyle/>
          <a:p>
            <a:pPr indent="0" marL="0">
              <a:buNone/>
            </a:pPr>
            <a:r>
              <a:rPr lang="en-US" sz="1350" dirty="0">
                <a:solidFill>
                  <a:srgbClr val="A3B3C9"/>
                </a:solidFill>
                <a:latin typeface="Calibri" pitchFamily="34" charset="0"/>
                <a:ea typeface="Calibri" pitchFamily="34" charset="-122"/>
                <a:cs typeface="Calibri" pitchFamily="34" charset="-120"/>
              </a:rPr>
              <a:t>Who owes her, what she orders most and how often, and the suppliers that fit how she buys.</a:t>
            </a:r>
            <a:endParaRPr lang="en-US" sz="1350" dirty="0"/>
          </a:p>
        </p:txBody>
      </p:sp>
      <p:sp>
        <p:nvSpPr>
          <p:cNvPr id="32" name="Text 26"/>
          <p:cNvSpPr txBox="1"/>
          <p:nvPr/>
        </p:nvSpPr>
        <p:spPr>
          <a:xfrm>
            <a:off x="548640" y="5897880"/>
            <a:ext cx="10972800" cy="365760"/>
          </a:xfrm>
          <a:prstGeom prst="rect">
            <a:avLst/>
          </a:prstGeom>
          <a:noFill/>
          <a:ln/>
        </p:spPr>
        <p:txBody>
          <a:bodyPr wrap="square" lIns="0" tIns="0" rIns="0" bIns="0" rtlCol="0" anchor="t"/>
          <a:lstStyle/>
          <a:p>
            <a:pPr indent="0" marL="0">
              <a:buNone/>
            </a:pPr>
            <a:r>
              <a:rPr lang="en-US" sz="1400" i="1" dirty="0">
                <a:solidFill>
                  <a:srgbClr val="10B981"/>
                </a:solidFill>
                <a:latin typeface="Calibri" pitchFamily="34" charset="0"/>
                <a:ea typeface="Calibri" pitchFamily="34" charset="-122"/>
                <a:cs typeface="Calibri" pitchFamily="34" charset="-120"/>
              </a:rPr>
              <a:t>Same week for Sipho the builder: materials for the site from his suppliers, jobs tracked in stages.</a:t>
            </a:r>
            <a:endParaRPr lang="en-US" sz="1400" dirty="0"/>
          </a:p>
        </p:txBody>
      </p:sp>
      <p:pic>
        <p:nvPicPr>
          <p:cNvPr id="33" name="Image 4" descr="preencoded.png">    </p:cNvPr>
          <p:cNvPicPr>
            <a:picLocks noChangeAspect="1"/>
          </p:cNvPicPr>
          <p:nvPr/>
        </p:nvPicPr>
        <p:blipFill>
          <a:blip r:embed="rId5"/>
          <a:stretch>
            <a:fillRect/>
          </a:stretch>
        </p:blipFill>
        <p:spPr>
          <a:xfrm>
            <a:off x="11231575" y="6291072"/>
            <a:ext cx="384048" cy="384048"/>
          </a:xfrm>
          <a:prstGeom prst="rect">
            <a:avLst/>
          </a:prstGeom>
        </p:spPr>
      </p:pic>
      <p:sp>
        <p:nvSpPr>
          <p:cNvPr id="34" name="Text 27"/>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MARKET AND BUSINESS MODEL</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F8FAFC"/>
                </a:solidFill>
                <a:latin typeface="Georgia" pitchFamily="34" charset="0"/>
                <a:ea typeface="Georgia" pitchFamily="34" charset="-122"/>
                <a:cs typeface="Georgia" pitchFamily="34" charset="-120"/>
              </a:rPr>
              <a:t>Suppliers pay. Businesses use it free.</a:t>
            </a:r>
            <a:endParaRPr lang="en-US" sz="3200" dirty="0"/>
          </a:p>
        </p:txBody>
      </p:sp>
      <p:sp>
        <p:nvSpPr>
          <p:cNvPr id="4" name="Text 2"/>
          <p:cNvSpPr txBox="1"/>
          <p:nvPr/>
        </p:nvSpPr>
        <p:spPr>
          <a:xfrm>
            <a:off x="548640" y="1783080"/>
            <a:ext cx="1920240" cy="548640"/>
          </a:xfrm>
          <a:prstGeom prst="rect">
            <a:avLst/>
          </a:prstGeom>
          <a:noFill/>
          <a:ln/>
        </p:spPr>
        <p:txBody>
          <a:bodyPr wrap="square" lIns="0" tIns="0" rIns="0" bIns="0" rtlCol="0" anchor="t"/>
          <a:lstStyle/>
          <a:p>
            <a:pPr indent="0" marL="0">
              <a:buNone/>
            </a:pPr>
            <a:r>
              <a:rPr lang="en-US" sz="2600" b="1" dirty="0">
                <a:solidFill>
                  <a:srgbClr val="A3B3C9"/>
                </a:solidFill>
                <a:latin typeface="Georgia" pitchFamily="34" charset="0"/>
                <a:ea typeface="Georgia" pitchFamily="34" charset="-122"/>
                <a:cs typeface="Georgia" pitchFamily="34" charset="-120"/>
              </a:rPr>
              <a:t>R900 bn</a:t>
            </a:r>
            <a:endParaRPr lang="en-US" sz="2600" dirty="0"/>
          </a:p>
        </p:txBody>
      </p:sp>
      <p:sp>
        <p:nvSpPr>
          <p:cNvPr id="5" name="Text 3"/>
          <p:cNvSpPr txBox="1"/>
          <p:nvPr/>
        </p:nvSpPr>
        <p:spPr>
          <a:xfrm>
            <a:off x="2514600" y="1810512"/>
            <a:ext cx="2926080" cy="914400"/>
          </a:xfrm>
          <a:prstGeom prst="rect">
            <a:avLst/>
          </a:prstGeom>
          <a:noFill/>
          <a:ln/>
        </p:spPr>
        <p:txBody>
          <a:bodyPr wrap="square" lIns="0" tIns="0" rIns="0" bIns="0" rtlCol="0" anchor="t"/>
          <a:lstStyle/>
          <a:p>
            <a:pPr indent="0" marL="0">
              <a:buNone/>
            </a:pPr>
            <a:r>
              <a:rPr lang="en-US" sz="1450" dirty="0">
                <a:solidFill>
                  <a:srgbClr val="F8FAFC"/>
                </a:solidFill>
                <a:latin typeface="Calibri" pitchFamily="34" charset="0"/>
                <a:ea typeface="Calibri" pitchFamily="34" charset="-122"/>
                <a:cs typeface="Calibri" pitchFamily="34" charset="-120"/>
              </a:rPr>
              <a:t>a year through the township economy: every informal and small business.</a:t>
            </a:r>
            <a:endParaRPr lang="en-US" sz="1450" dirty="0"/>
          </a:p>
        </p:txBody>
      </p:sp>
      <p:sp>
        <p:nvSpPr>
          <p:cNvPr id="6" name="Text 4"/>
          <p:cNvSpPr txBox="1"/>
          <p:nvPr/>
        </p:nvSpPr>
        <p:spPr>
          <a:xfrm>
            <a:off x="548640" y="2807208"/>
            <a:ext cx="1920240" cy="548640"/>
          </a:xfrm>
          <a:prstGeom prst="rect">
            <a:avLst/>
          </a:prstGeom>
          <a:noFill/>
          <a:ln/>
        </p:spPr>
        <p:txBody>
          <a:bodyPr wrap="square" lIns="0" tIns="0" rIns="0" bIns="0" rtlCol="0" anchor="t"/>
          <a:lstStyle/>
          <a:p>
            <a:pPr indent="0" marL="0">
              <a:buNone/>
            </a:pPr>
            <a:r>
              <a:rPr lang="en-US" sz="2600" b="1" dirty="0">
                <a:solidFill>
                  <a:srgbClr val="FBBF24"/>
                </a:solidFill>
                <a:latin typeface="Georgia" pitchFamily="34" charset="0"/>
                <a:ea typeface="Georgia" pitchFamily="34" charset="-122"/>
                <a:cs typeface="Georgia" pitchFamily="34" charset="-120"/>
              </a:rPr>
              <a:t>R180 bn</a:t>
            </a:r>
            <a:endParaRPr lang="en-US" sz="2600" dirty="0"/>
          </a:p>
        </p:txBody>
      </p:sp>
      <p:sp>
        <p:nvSpPr>
          <p:cNvPr id="7" name="Text 5"/>
          <p:cNvSpPr txBox="1"/>
          <p:nvPr/>
        </p:nvSpPr>
        <p:spPr>
          <a:xfrm>
            <a:off x="2514600" y="2834640"/>
            <a:ext cx="2926080" cy="914400"/>
          </a:xfrm>
          <a:prstGeom prst="rect">
            <a:avLst/>
          </a:prstGeom>
          <a:noFill/>
          <a:ln/>
        </p:spPr>
        <p:txBody>
          <a:bodyPr wrap="square" lIns="0" tIns="0" rIns="0" bIns="0" rtlCol="0" anchor="t"/>
          <a:lstStyle/>
          <a:p>
            <a:pPr indent="0" marL="0">
              <a:buNone/>
            </a:pPr>
            <a:r>
              <a:rPr lang="en-US" sz="1450" dirty="0">
                <a:solidFill>
                  <a:srgbClr val="F8FAFC"/>
                </a:solidFill>
                <a:latin typeface="Calibri" pitchFamily="34" charset="0"/>
                <a:ea typeface="Calibri" pitchFamily="34" charset="-122"/>
                <a:cs typeface="Calibri" pitchFamily="34" charset="-120"/>
              </a:rPr>
              <a:t>through spaza shops alone, already buying from suppliers every week.</a:t>
            </a:r>
            <a:endParaRPr lang="en-US" sz="1450" dirty="0"/>
          </a:p>
        </p:txBody>
      </p:sp>
      <p:sp>
        <p:nvSpPr>
          <p:cNvPr id="8" name="Text 6"/>
          <p:cNvSpPr txBox="1"/>
          <p:nvPr/>
        </p:nvSpPr>
        <p:spPr>
          <a:xfrm>
            <a:off x="548640" y="3831336"/>
            <a:ext cx="1920240" cy="548640"/>
          </a:xfrm>
          <a:prstGeom prst="rect">
            <a:avLst/>
          </a:prstGeom>
          <a:noFill/>
          <a:ln/>
        </p:spPr>
        <p:txBody>
          <a:bodyPr wrap="square" lIns="0" tIns="0" rIns="0" bIns="0" rtlCol="0" anchor="t"/>
          <a:lstStyle/>
          <a:p>
            <a:pPr indent="0" marL="0">
              <a:buNone/>
            </a:pPr>
            <a:r>
              <a:rPr lang="en-US" sz="2600" b="1" dirty="0">
                <a:solidFill>
                  <a:srgbClr val="34D399"/>
                </a:solidFill>
                <a:latin typeface="Georgia" pitchFamily="34" charset="0"/>
                <a:ea typeface="Georgia" pitchFamily="34" charset="-122"/>
                <a:cs typeface="Georgia" pitchFamily="34" charset="-120"/>
              </a:rPr>
              <a:t>56%</a:t>
            </a:r>
            <a:endParaRPr lang="en-US" sz="2600" dirty="0"/>
          </a:p>
        </p:txBody>
      </p:sp>
      <p:sp>
        <p:nvSpPr>
          <p:cNvPr id="9" name="Text 7"/>
          <p:cNvSpPr txBox="1"/>
          <p:nvPr/>
        </p:nvSpPr>
        <p:spPr>
          <a:xfrm>
            <a:off x="2514600" y="3858768"/>
            <a:ext cx="2926080" cy="914400"/>
          </a:xfrm>
          <a:prstGeom prst="rect">
            <a:avLst/>
          </a:prstGeom>
          <a:noFill/>
          <a:ln/>
        </p:spPr>
        <p:txBody>
          <a:bodyPr wrap="square" lIns="0" tIns="0" rIns="0" bIns="0" rtlCol="0" anchor="t"/>
          <a:lstStyle/>
          <a:p>
            <a:pPr indent="0" marL="0">
              <a:buNone/>
            </a:pPr>
            <a:r>
              <a:rPr lang="en-US" sz="1450" dirty="0">
                <a:solidFill>
                  <a:srgbClr val="F8FAFC"/>
                </a:solidFill>
                <a:latin typeface="Calibri" pitchFamily="34" charset="0"/>
                <a:ea typeface="Calibri" pitchFamily="34" charset="-122"/>
                <a:cs typeface="Calibri" pitchFamily="34" charset="-120"/>
              </a:rPr>
              <a:t>already prefer EFT. Ready for digital: why South Africa first.</a:t>
            </a:r>
            <a:endParaRPr lang="en-US" sz="1450" dirty="0"/>
          </a:p>
        </p:txBody>
      </p:sp>
      <p:sp>
        <p:nvSpPr>
          <p:cNvPr id="10" name="Shape 8"/>
          <p:cNvSpPr/>
          <p:nvPr/>
        </p:nvSpPr>
        <p:spPr>
          <a:xfrm>
            <a:off x="548640" y="4937760"/>
            <a:ext cx="4937760" cy="1188720"/>
          </a:xfrm>
          <a:prstGeom prst="roundRect">
            <a:avLst>
              <a:gd name="adj" fmla="val 9231"/>
            </a:avLst>
          </a:prstGeom>
          <a:solidFill>
            <a:srgbClr val="1E2B45"/>
          </a:solidFill>
          <a:ln w="12700">
            <a:solidFill>
              <a:srgbClr val="1E2B45"/>
            </a:solidFill>
            <a:prstDash val="solid"/>
          </a:ln>
        </p:spPr>
      </p:sp>
      <p:sp>
        <p:nvSpPr>
          <p:cNvPr id="11" name="Text 9"/>
          <p:cNvSpPr txBox="1"/>
          <p:nvPr/>
        </p:nvSpPr>
        <p:spPr>
          <a:xfrm>
            <a:off x="777240" y="5001768"/>
            <a:ext cx="4572000" cy="1078992"/>
          </a:xfrm>
          <a:prstGeom prst="rect">
            <a:avLst/>
          </a:prstGeom>
          <a:noFill/>
          <a:ln/>
        </p:spPr>
        <p:txBody>
          <a:bodyPr wrap="square" lIns="0" tIns="0" rIns="0" bIns="0" rtlCol="0" anchor="ctr"/>
          <a:lstStyle/>
          <a:p>
            <a:pPr indent="0" marL="0">
              <a:buNone/>
            </a:pPr>
            <a:r>
              <a:rPr lang="en-US" sz="1250" b="1" dirty="0">
                <a:solidFill>
                  <a:srgbClr val="FBBF24"/>
                </a:solidFill>
                <a:latin typeface="Calibri" pitchFamily="34" charset="0"/>
                <a:ea typeface="Calibri" pitchFamily="34" charset="-122"/>
                <a:cs typeface="Calibri" pitchFamily="34" charset="-120"/>
              </a:rPr>
              <a:t>Go-to-market  </a:t>
            </a:r>
            <a:pPr indent="0" marL="0">
              <a:buNone/>
            </a:pPr>
            <a:r>
              <a:rPr lang="en-US" sz="1250" dirty="0">
                <a:solidFill>
                  <a:srgbClr val="F8FAFC"/>
                </a:solidFill>
                <a:latin typeface="Calibri" pitchFamily="34" charset="0"/>
                <a:ea typeface="Calibri" pitchFamily="34" charset="-122"/>
                <a:cs typeface="Calibri" pitchFamily="34" charset="-120"/>
              </a:rPr>
              <a:t>Two ways in. Sign a supplier, and it brings the businesses it delivers to. Businesses invite the suppliers they already order from. 2 suppliers in the pilot, 15 in year 1, 200 by year 3.</a:t>
            </a:r>
            <a:endParaRPr lang="en-US" sz="1250" dirty="0"/>
          </a:p>
        </p:txBody>
      </p:sp>
      <p:sp>
        <p:nvSpPr>
          <p:cNvPr id="12" name="Shape 10"/>
          <p:cNvSpPr/>
          <p:nvPr/>
        </p:nvSpPr>
        <p:spPr>
          <a:xfrm>
            <a:off x="5852160" y="1783080"/>
            <a:ext cx="1353312" cy="868680"/>
          </a:xfrm>
          <a:prstGeom prst="roundRect">
            <a:avLst>
              <a:gd name="adj" fmla="val 12632"/>
            </a:avLst>
          </a:prstGeom>
          <a:solidFill>
            <a:srgbClr val="17223A"/>
          </a:solidFill>
          <a:ln w="12700">
            <a:solidFill>
              <a:srgbClr val="17223A"/>
            </a:solidFill>
            <a:prstDash val="solid"/>
          </a:ln>
        </p:spPr>
      </p:sp>
      <p:sp>
        <p:nvSpPr>
          <p:cNvPr id="13" name="Text 11"/>
          <p:cNvSpPr txBox="1"/>
          <p:nvPr/>
        </p:nvSpPr>
        <p:spPr>
          <a:xfrm>
            <a:off x="5852160" y="1847088"/>
            <a:ext cx="1353312" cy="411480"/>
          </a:xfrm>
          <a:prstGeom prst="rect">
            <a:avLst/>
          </a:prstGeom>
          <a:noFill/>
          <a:ln/>
        </p:spPr>
        <p:txBody>
          <a:bodyPr wrap="square" lIns="0" tIns="0" rIns="0" bIns="0" rtlCol="0" anchor="t"/>
          <a:lstStyle/>
          <a:p>
            <a:pPr algn="ctr" indent="0" marL="0">
              <a:buNone/>
            </a:pPr>
            <a:r>
              <a:rPr lang="en-US" sz="1900" b="1" dirty="0">
                <a:solidFill>
                  <a:srgbClr val="34D399"/>
                </a:solidFill>
                <a:latin typeface="Georgia" pitchFamily="34" charset="0"/>
                <a:ea typeface="Georgia" pitchFamily="34" charset="-122"/>
                <a:cs typeface="Georgia" pitchFamily="34" charset="-120"/>
              </a:rPr>
              <a:t>R299</a:t>
            </a:r>
            <a:endParaRPr lang="en-US" sz="1900" dirty="0"/>
          </a:p>
        </p:txBody>
      </p:sp>
      <p:sp>
        <p:nvSpPr>
          <p:cNvPr id="14" name="Text 12"/>
          <p:cNvSpPr txBox="1"/>
          <p:nvPr/>
        </p:nvSpPr>
        <p:spPr>
          <a:xfrm>
            <a:off x="5897880" y="2258568"/>
            <a:ext cx="1261872" cy="320040"/>
          </a:xfrm>
          <a:prstGeom prst="rect">
            <a:avLst/>
          </a:prstGeom>
          <a:noFill/>
          <a:ln/>
        </p:spPr>
        <p:txBody>
          <a:bodyPr wrap="square" lIns="0" tIns="0" rIns="0" bIns="0" rtlCol="0" anchor="t"/>
          <a:lstStyle/>
          <a:p>
            <a:pPr algn="ctr" indent="0" marL="0">
              <a:buNone/>
            </a:pPr>
            <a:r>
              <a:rPr lang="en-US" sz="1050" dirty="0">
                <a:solidFill>
                  <a:srgbClr val="A3B3C9"/>
                </a:solidFill>
                <a:latin typeface="Calibri" pitchFamily="34" charset="0"/>
                <a:ea typeface="Calibri" pitchFamily="34" charset="-122"/>
                <a:cs typeface="Calibri" pitchFamily="34" charset="-120"/>
              </a:rPr>
              <a:t>Starter</a:t>
            </a:r>
            <a:endParaRPr lang="en-US" sz="1050" dirty="0"/>
          </a:p>
        </p:txBody>
      </p:sp>
      <p:sp>
        <p:nvSpPr>
          <p:cNvPr id="15" name="Shape 13"/>
          <p:cNvSpPr/>
          <p:nvPr/>
        </p:nvSpPr>
        <p:spPr>
          <a:xfrm>
            <a:off x="7315200" y="1783080"/>
            <a:ext cx="1353312" cy="868680"/>
          </a:xfrm>
          <a:prstGeom prst="roundRect">
            <a:avLst>
              <a:gd name="adj" fmla="val 12632"/>
            </a:avLst>
          </a:prstGeom>
          <a:solidFill>
            <a:srgbClr val="17223A"/>
          </a:solidFill>
          <a:ln w="12700">
            <a:solidFill>
              <a:srgbClr val="17223A"/>
            </a:solidFill>
            <a:prstDash val="solid"/>
          </a:ln>
        </p:spPr>
      </p:sp>
      <p:sp>
        <p:nvSpPr>
          <p:cNvPr id="16" name="Text 14"/>
          <p:cNvSpPr txBox="1"/>
          <p:nvPr/>
        </p:nvSpPr>
        <p:spPr>
          <a:xfrm>
            <a:off x="7315200" y="1847088"/>
            <a:ext cx="1353312" cy="411480"/>
          </a:xfrm>
          <a:prstGeom prst="rect">
            <a:avLst/>
          </a:prstGeom>
          <a:noFill/>
          <a:ln/>
        </p:spPr>
        <p:txBody>
          <a:bodyPr wrap="square" lIns="0" tIns="0" rIns="0" bIns="0" rtlCol="0" anchor="t"/>
          <a:lstStyle/>
          <a:p>
            <a:pPr algn="ctr" indent="0" marL="0">
              <a:buNone/>
            </a:pPr>
            <a:r>
              <a:rPr lang="en-US" sz="1900" b="1" dirty="0">
                <a:solidFill>
                  <a:srgbClr val="34D399"/>
                </a:solidFill>
                <a:latin typeface="Georgia" pitchFamily="34" charset="0"/>
                <a:ea typeface="Georgia" pitchFamily="34" charset="-122"/>
                <a:cs typeface="Georgia" pitchFamily="34" charset="-120"/>
              </a:rPr>
              <a:t>R1,499</a:t>
            </a:r>
            <a:endParaRPr lang="en-US" sz="1900" dirty="0"/>
          </a:p>
        </p:txBody>
      </p:sp>
      <p:sp>
        <p:nvSpPr>
          <p:cNvPr id="17" name="Text 15"/>
          <p:cNvSpPr txBox="1"/>
          <p:nvPr/>
        </p:nvSpPr>
        <p:spPr>
          <a:xfrm>
            <a:off x="7360920" y="2258568"/>
            <a:ext cx="1261872" cy="320040"/>
          </a:xfrm>
          <a:prstGeom prst="rect">
            <a:avLst/>
          </a:prstGeom>
          <a:noFill/>
          <a:ln/>
        </p:spPr>
        <p:txBody>
          <a:bodyPr wrap="square" lIns="0" tIns="0" rIns="0" bIns="0" rtlCol="0" anchor="t"/>
          <a:lstStyle/>
          <a:p>
            <a:pPr algn="ctr" indent="0" marL="0">
              <a:buNone/>
            </a:pPr>
            <a:r>
              <a:rPr lang="en-US" sz="1050" dirty="0">
                <a:solidFill>
                  <a:srgbClr val="A3B3C9"/>
                </a:solidFill>
                <a:latin typeface="Calibri" pitchFamily="34" charset="0"/>
                <a:ea typeface="Calibri" pitchFamily="34" charset="-122"/>
                <a:cs typeface="Calibri" pitchFamily="34" charset="-120"/>
              </a:rPr>
              <a:t>Pro</a:t>
            </a:r>
            <a:endParaRPr lang="en-US" sz="1050" dirty="0"/>
          </a:p>
        </p:txBody>
      </p:sp>
      <p:sp>
        <p:nvSpPr>
          <p:cNvPr id="18" name="Shape 16"/>
          <p:cNvSpPr/>
          <p:nvPr/>
        </p:nvSpPr>
        <p:spPr>
          <a:xfrm>
            <a:off x="8778240" y="1783080"/>
            <a:ext cx="1353312" cy="868680"/>
          </a:xfrm>
          <a:prstGeom prst="roundRect">
            <a:avLst>
              <a:gd name="adj" fmla="val 12632"/>
            </a:avLst>
          </a:prstGeom>
          <a:solidFill>
            <a:srgbClr val="17223A"/>
          </a:solidFill>
          <a:ln w="12700">
            <a:solidFill>
              <a:srgbClr val="17223A"/>
            </a:solidFill>
            <a:prstDash val="solid"/>
          </a:ln>
        </p:spPr>
      </p:sp>
      <p:sp>
        <p:nvSpPr>
          <p:cNvPr id="19" name="Text 17"/>
          <p:cNvSpPr txBox="1"/>
          <p:nvPr/>
        </p:nvSpPr>
        <p:spPr>
          <a:xfrm>
            <a:off x="8778240" y="1847088"/>
            <a:ext cx="1353312" cy="411480"/>
          </a:xfrm>
          <a:prstGeom prst="rect">
            <a:avLst/>
          </a:prstGeom>
          <a:noFill/>
          <a:ln/>
        </p:spPr>
        <p:txBody>
          <a:bodyPr wrap="square" lIns="0" tIns="0" rIns="0" bIns="0" rtlCol="0" anchor="t"/>
          <a:lstStyle/>
          <a:p>
            <a:pPr algn="ctr" indent="0" marL="0">
              <a:buNone/>
            </a:pPr>
            <a:r>
              <a:rPr lang="en-US" sz="1900" b="1" dirty="0">
                <a:solidFill>
                  <a:srgbClr val="34D399"/>
                </a:solidFill>
                <a:latin typeface="Georgia" pitchFamily="34" charset="0"/>
                <a:ea typeface="Georgia" pitchFamily="34" charset="-122"/>
                <a:cs typeface="Georgia" pitchFamily="34" charset="-120"/>
              </a:rPr>
              <a:t>R4,999</a:t>
            </a:r>
            <a:endParaRPr lang="en-US" sz="1900" dirty="0"/>
          </a:p>
        </p:txBody>
      </p:sp>
      <p:sp>
        <p:nvSpPr>
          <p:cNvPr id="20" name="Text 18"/>
          <p:cNvSpPr txBox="1"/>
          <p:nvPr/>
        </p:nvSpPr>
        <p:spPr>
          <a:xfrm>
            <a:off x="8823960" y="2258568"/>
            <a:ext cx="1261872" cy="320040"/>
          </a:xfrm>
          <a:prstGeom prst="rect">
            <a:avLst/>
          </a:prstGeom>
          <a:noFill/>
          <a:ln/>
        </p:spPr>
        <p:txBody>
          <a:bodyPr wrap="square" lIns="0" tIns="0" rIns="0" bIns="0" rtlCol="0" anchor="t"/>
          <a:lstStyle/>
          <a:p>
            <a:pPr algn="ctr" indent="0" marL="0">
              <a:buNone/>
            </a:pPr>
            <a:r>
              <a:rPr lang="en-US" sz="1050" dirty="0">
                <a:solidFill>
                  <a:srgbClr val="A3B3C9"/>
                </a:solidFill>
                <a:latin typeface="Calibri" pitchFamily="34" charset="0"/>
                <a:ea typeface="Calibri" pitchFamily="34" charset="-122"/>
                <a:cs typeface="Calibri" pitchFamily="34" charset="-120"/>
              </a:rPr>
              <a:t>Stock-system link</a:t>
            </a:r>
            <a:endParaRPr lang="en-US" sz="1050" dirty="0"/>
          </a:p>
        </p:txBody>
      </p:sp>
      <p:sp>
        <p:nvSpPr>
          <p:cNvPr id="21" name="Shape 19"/>
          <p:cNvSpPr/>
          <p:nvPr/>
        </p:nvSpPr>
        <p:spPr>
          <a:xfrm>
            <a:off x="10241280" y="1783080"/>
            <a:ext cx="1353312" cy="868680"/>
          </a:xfrm>
          <a:prstGeom prst="roundRect">
            <a:avLst>
              <a:gd name="adj" fmla="val 12632"/>
            </a:avLst>
          </a:prstGeom>
          <a:solidFill>
            <a:srgbClr val="17223A"/>
          </a:solidFill>
          <a:ln w="12700">
            <a:solidFill>
              <a:srgbClr val="17223A"/>
            </a:solidFill>
            <a:prstDash val="solid"/>
          </a:ln>
        </p:spPr>
      </p:sp>
      <p:sp>
        <p:nvSpPr>
          <p:cNvPr id="22" name="Text 20"/>
          <p:cNvSpPr txBox="1"/>
          <p:nvPr/>
        </p:nvSpPr>
        <p:spPr>
          <a:xfrm>
            <a:off x="10241280" y="1847088"/>
            <a:ext cx="1353312" cy="411480"/>
          </a:xfrm>
          <a:prstGeom prst="rect">
            <a:avLst/>
          </a:prstGeom>
          <a:noFill/>
          <a:ln/>
        </p:spPr>
        <p:txBody>
          <a:bodyPr wrap="square" lIns="0" tIns="0" rIns="0" bIns="0" rtlCol="0" anchor="t"/>
          <a:lstStyle/>
          <a:p>
            <a:pPr algn="ctr" indent="0" marL="0">
              <a:buNone/>
            </a:pPr>
            <a:r>
              <a:rPr lang="en-US" sz="1900" b="1" dirty="0">
                <a:solidFill>
                  <a:srgbClr val="FBBF24"/>
                </a:solidFill>
                <a:latin typeface="Georgia" pitchFamily="34" charset="0"/>
                <a:ea typeface="Georgia" pitchFamily="34" charset="-122"/>
                <a:cs typeface="Georgia" pitchFamily="34" charset="-120"/>
              </a:rPr>
              <a:t>~1%</a:t>
            </a:r>
            <a:endParaRPr lang="en-US" sz="1900" dirty="0"/>
          </a:p>
        </p:txBody>
      </p:sp>
      <p:sp>
        <p:nvSpPr>
          <p:cNvPr id="23" name="Text 21"/>
          <p:cNvSpPr txBox="1"/>
          <p:nvPr/>
        </p:nvSpPr>
        <p:spPr>
          <a:xfrm>
            <a:off x="10287000" y="2258568"/>
            <a:ext cx="1261872" cy="320040"/>
          </a:xfrm>
          <a:prstGeom prst="rect">
            <a:avLst/>
          </a:prstGeom>
          <a:noFill/>
          <a:ln/>
        </p:spPr>
        <p:txBody>
          <a:bodyPr wrap="square" lIns="0" tIns="0" rIns="0" bIns="0" rtlCol="0" anchor="t"/>
          <a:lstStyle/>
          <a:p>
            <a:pPr algn="ctr" indent="0" marL="0">
              <a:buNone/>
            </a:pPr>
            <a:r>
              <a:rPr lang="en-US" sz="1050" dirty="0">
                <a:solidFill>
                  <a:srgbClr val="A3B3C9"/>
                </a:solidFill>
                <a:latin typeface="Calibri" pitchFamily="34" charset="0"/>
                <a:ea typeface="Calibri" pitchFamily="34" charset="-122"/>
                <a:cs typeface="Calibri" pitchFamily="34" charset="-120"/>
              </a:rPr>
              <a:t>digital orders only</a:t>
            </a:r>
            <a:endParaRPr lang="en-US" sz="1050" dirty="0"/>
          </a:p>
        </p:txBody>
      </p:sp>
      <p:sp>
        <p:nvSpPr>
          <p:cNvPr id="24" name="Shape 22"/>
          <p:cNvSpPr/>
          <p:nvPr/>
        </p:nvSpPr>
        <p:spPr>
          <a:xfrm>
            <a:off x="5852160" y="2788920"/>
            <a:ext cx="5760720" cy="3337560"/>
          </a:xfrm>
          <a:prstGeom prst="roundRect">
            <a:avLst>
              <a:gd name="adj" fmla="val 3288"/>
            </a:avLst>
          </a:prstGeom>
          <a:solidFill>
            <a:srgbClr val="17223A"/>
          </a:solidFill>
          <a:ln w="12700">
            <a:solidFill>
              <a:srgbClr val="17223A"/>
            </a:solidFill>
            <a:prstDash val="solid"/>
          </a:ln>
        </p:spPr>
      </p:sp>
      <p:graphicFrame>
        <p:nvGraphicFramePr>
          <p:cNvPr id="25" name="Chart 0" descr=""/>
          <p:cNvGraphicFramePr/>
          <p:nvPr/>
        </p:nvGraphicFramePr>
        <p:xfrm>
          <a:off x="5943600" y="2852928"/>
          <a:ext cx="5577840" cy="2743200"/>
        </p:xfrm>
        <a:graphic xmlns:a="http://schemas.openxmlformats.org/drawingml/2006/main">
          <a:graphicData uri="http://schemas.openxmlformats.org/drawingml/2006/chart">
            <c:chart xmlns:c="http://schemas.openxmlformats.org/drawingml/2006/chart" r:id="rId1"/>
          </a:graphicData>
        </a:graphic>
      </p:graphicFrame>
      <p:sp>
        <p:nvSpPr>
          <p:cNvPr id="26" name="Text 23"/>
          <p:cNvSpPr txBox="1"/>
          <p:nvPr/>
        </p:nvSpPr>
        <p:spPr>
          <a:xfrm>
            <a:off x="5943600" y="5669280"/>
            <a:ext cx="5577840" cy="320040"/>
          </a:xfrm>
          <a:prstGeom prst="rect">
            <a:avLst/>
          </a:prstGeom>
          <a:noFill/>
          <a:ln/>
        </p:spPr>
        <p:txBody>
          <a:bodyPr wrap="square" lIns="0" tIns="0" rIns="0" bIns="0" rtlCol="0" anchor="t"/>
          <a:lstStyle/>
          <a:p>
            <a:pPr algn="ctr" indent="0" marL="0">
              <a:buNone/>
            </a:pPr>
            <a:r>
              <a:rPr lang="en-US" sz="1250" b="1" dirty="0">
                <a:solidFill>
                  <a:srgbClr val="F8FAFC"/>
                </a:solidFill>
                <a:latin typeface="Calibri" pitchFamily="34" charset="0"/>
                <a:ea typeface="Calibri" pitchFamily="34" charset="-122"/>
                <a:cs typeface="Calibri" pitchFamily="34" charset="-120"/>
              </a:rPr>
              <a:t>R56k → R283k → R1.1m a month</a:t>
            </a:r>
            <a:endParaRPr lang="en-US" sz="1250" dirty="0"/>
          </a:p>
        </p:txBody>
      </p:sp>
      <p:pic>
        <p:nvPicPr>
          <p:cNvPr id="27" name="Image 0" descr="preencoded.png">    </p:cNvPr>
          <p:cNvPicPr>
            <a:picLocks noChangeAspect="1"/>
          </p:cNvPicPr>
          <p:nvPr/>
        </p:nvPicPr>
        <p:blipFill>
          <a:blip r:embed="rId2"/>
          <a:stretch>
            <a:fillRect/>
          </a:stretch>
        </p:blipFill>
        <p:spPr>
          <a:xfrm>
            <a:off x="11231575" y="6291072"/>
            <a:ext cx="384048" cy="384048"/>
          </a:xfrm>
          <a:prstGeom prst="rect">
            <a:avLst/>
          </a:prstGeom>
        </p:spPr>
      </p:pic>
      <p:sp>
        <p:nvSpPr>
          <p:cNvPr id="28" name="Text 24"/>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5</a:t>
            </a:r>
            <a:endParaRPr lang="en-US" sz="1000" dirty="0"/>
          </a:p>
        </p:txBody>
      </p:sp>
      <p:sp>
        <p:nvSpPr>
          <p:cNvPr id="29" name="Text 25"/>
          <p:cNvSpPr txBox="1"/>
          <p:nvPr/>
        </p:nvSpPr>
        <p:spPr>
          <a:xfrm>
            <a:off x="548640" y="6336792"/>
            <a:ext cx="9875520" cy="36576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Standard Bank 2025 (economy, spaza segment, EFT). Revenue: our estimates; commission assumes ~R4,000 of digital orders per business a month.</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WHAT IT COSTS, AND WHAT WE NEED NOW</a:t>
            </a:r>
            <a:endParaRPr lang="en-US" sz="1300" dirty="0"/>
          </a:p>
        </p:txBody>
      </p:sp>
      <p:sp>
        <p:nvSpPr>
          <p:cNvPr id="3" name="Text 1"/>
          <p:cNvSpPr txBox="1"/>
          <p:nvPr/>
        </p:nvSpPr>
        <p:spPr>
          <a:xfrm>
            <a:off x="548640" y="777240"/>
            <a:ext cx="5120640" cy="1005840"/>
          </a:xfrm>
          <a:prstGeom prst="rect">
            <a:avLst/>
          </a:prstGeom>
          <a:noFill/>
          <a:ln/>
        </p:spPr>
        <p:txBody>
          <a:bodyPr wrap="square" lIns="0" tIns="0" rIns="0" bIns="0" rtlCol="0" anchor="t"/>
          <a:lstStyle/>
          <a:p>
            <a:pPr indent="0" marL="0">
              <a:buNone/>
            </a:pPr>
            <a:r>
              <a:rPr lang="en-US" sz="6000" b="1" dirty="0">
                <a:solidFill>
                  <a:srgbClr val="FBBF24"/>
                </a:solidFill>
                <a:latin typeface="Georgia" pitchFamily="34" charset="0"/>
                <a:ea typeface="Georgia" pitchFamily="34" charset="-122"/>
                <a:cs typeface="Georgia" pitchFamily="34" charset="-120"/>
              </a:rPr>
              <a:t>R300,000</a:t>
            </a:r>
            <a:endParaRPr lang="en-US" sz="6000" dirty="0"/>
          </a:p>
        </p:txBody>
      </p:sp>
      <p:sp>
        <p:nvSpPr>
          <p:cNvPr id="4" name="Text 2"/>
          <p:cNvSpPr txBox="1"/>
          <p:nvPr/>
        </p:nvSpPr>
        <p:spPr>
          <a:xfrm>
            <a:off x="548640" y="1783080"/>
            <a:ext cx="5120640" cy="411480"/>
          </a:xfrm>
          <a:prstGeom prst="rect">
            <a:avLst/>
          </a:prstGeom>
          <a:noFill/>
          <a:ln/>
        </p:spPr>
        <p:txBody>
          <a:bodyPr wrap="square" lIns="0" tIns="0" rIns="0" bIns="0" rtlCol="0" anchor="t"/>
          <a:lstStyle/>
          <a:p>
            <a:pPr indent="0" marL="0">
              <a:buNone/>
            </a:pPr>
            <a:r>
              <a:rPr lang="en-US" sz="2000" b="1" dirty="0">
                <a:solidFill>
                  <a:srgbClr val="F8FAFC"/>
                </a:solidFill>
                <a:latin typeface="Calibri" pitchFamily="34" charset="0"/>
                <a:ea typeface="Calibri" pitchFamily="34" charset="-122"/>
                <a:cs typeface="Calibri" pitchFamily="34" charset="-120"/>
              </a:rPr>
              <a:t>now, for a 6-month pilot</a:t>
            </a:r>
            <a:endParaRPr lang="en-US" sz="2000" dirty="0"/>
          </a:p>
        </p:txBody>
      </p:sp>
      <p:sp>
        <p:nvSpPr>
          <p:cNvPr id="5" name="Shape 3"/>
          <p:cNvSpPr/>
          <p:nvPr/>
        </p:nvSpPr>
        <p:spPr>
          <a:xfrm>
            <a:off x="548640" y="2377440"/>
            <a:ext cx="4937760" cy="2743200"/>
          </a:xfrm>
          <a:prstGeom prst="roundRect">
            <a:avLst>
              <a:gd name="adj" fmla="val 4000"/>
            </a:avLst>
          </a:prstGeom>
          <a:solidFill>
            <a:srgbClr val="17223A"/>
          </a:solidFill>
          <a:ln w="12700">
            <a:solidFill>
              <a:srgbClr val="17223A"/>
            </a:solidFill>
            <a:prstDash val="solid"/>
          </a:ln>
        </p:spPr>
      </p:sp>
      <p:sp>
        <p:nvSpPr>
          <p:cNvPr id="6" name="Text 4"/>
          <p:cNvSpPr txBox="1"/>
          <p:nvPr/>
        </p:nvSpPr>
        <p:spPr>
          <a:xfrm>
            <a:off x="822960" y="2542032"/>
            <a:ext cx="3474720" cy="365760"/>
          </a:xfrm>
          <a:prstGeom prst="rect">
            <a:avLst/>
          </a:prstGeom>
          <a:noFill/>
          <a:ln/>
        </p:spPr>
        <p:txBody>
          <a:bodyPr wrap="square" lIns="0" tIns="0" rIns="0" bIns="0" rtlCol="0" anchor="t"/>
          <a:lstStyle/>
          <a:p>
            <a:pPr indent="0" marL="0">
              <a:buNone/>
            </a:pPr>
            <a:r>
              <a:rPr lang="en-US" sz="1450" dirty="0">
                <a:solidFill>
                  <a:srgbClr val="A3B3C9"/>
                </a:solidFill>
                <a:latin typeface="Calibri" pitchFamily="34" charset="0"/>
                <a:ea typeface="Calibri" pitchFamily="34" charset="-122"/>
                <a:cs typeface="Calibri" pitchFamily="34" charset="-120"/>
              </a:rPr>
              <a:t>Stipends for pilot businesses</a:t>
            </a:r>
            <a:endParaRPr lang="en-US" sz="1450" dirty="0"/>
          </a:p>
        </p:txBody>
      </p:sp>
      <p:sp>
        <p:nvSpPr>
          <p:cNvPr id="7" name="Text 5"/>
          <p:cNvSpPr txBox="1"/>
          <p:nvPr/>
        </p:nvSpPr>
        <p:spPr>
          <a:xfrm>
            <a:off x="4206240" y="2542032"/>
            <a:ext cx="1051560" cy="365760"/>
          </a:xfrm>
          <a:prstGeom prst="rect">
            <a:avLst/>
          </a:prstGeom>
          <a:noFill/>
          <a:ln/>
        </p:spPr>
        <p:txBody>
          <a:bodyPr wrap="square" lIns="0" tIns="0" rIns="0" bIns="0" rtlCol="0" anchor="t"/>
          <a:lstStyle/>
          <a:p>
            <a:pPr algn="r" indent="0" marL="0">
              <a:buNone/>
            </a:pPr>
            <a:r>
              <a:rPr lang="en-US" sz="1450" b="1" dirty="0">
                <a:solidFill>
                  <a:srgbClr val="F8FAFC"/>
                </a:solidFill>
                <a:latin typeface="Calibri" pitchFamily="34" charset="0"/>
                <a:ea typeface="Calibri" pitchFamily="34" charset="-122"/>
                <a:cs typeface="Calibri" pitchFamily="34" charset="-120"/>
              </a:rPr>
              <a:t>R96k</a:t>
            </a:r>
            <a:endParaRPr lang="en-US" sz="1450" dirty="0"/>
          </a:p>
        </p:txBody>
      </p:sp>
      <p:sp>
        <p:nvSpPr>
          <p:cNvPr id="8" name="Text 6"/>
          <p:cNvSpPr txBox="1"/>
          <p:nvPr/>
        </p:nvSpPr>
        <p:spPr>
          <a:xfrm>
            <a:off x="822960" y="2953512"/>
            <a:ext cx="3474720" cy="365760"/>
          </a:xfrm>
          <a:prstGeom prst="rect">
            <a:avLst/>
          </a:prstGeom>
          <a:noFill/>
          <a:ln/>
        </p:spPr>
        <p:txBody>
          <a:bodyPr wrap="square" lIns="0" tIns="0" rIns="0" bIns="0" rtlCol="0" anchor="t"/>
          <a:lstStyle/>
          <a:p>
            <a:pPr indent="0" marL="0">
              <a:buNone/>
            </a:pPr>
            <a:r>
              <a:rPr lang="en-US" sz="1450" dirty="0">
                <a:solidFill>
                  <a:srgbClr val="A3B3C9"/>
                </a:solidFill>
                <a:latin typeface="Calibri" pitchFamily="34" charset="0"/>
                <a:ea typeface="Calibri" pitchFamily="34" charset="-122"/>
                <a:cs typeface="Calibri" pitchFamily="34" charset="-120"/>
              </a:rPr>
              <a:t>Field agent</a:t>
            </a:r>
            <a:endParaRPr lang="en-US" sz="1450" dirty="0"/>
          </a:p>
        </p:txBody>
      </p:sp>
      <p:sp>
        <p:nvSpPr>
          <p:cNvPr id="9" name="Text 7"/>
          <p:cNvSpPr txBox="1"/>
          <p:nvPr/>
        </p:nvSpPr>
        <p:spPr>
          <a:xfrm>
            <a:off x="4206240" y="2953512"/>
            <a:ext cx="1051560" cy="365760"/>
          </a:xfrm>
          <a:prstGeom prst="rect">
            <a:avLst/>
          </a:prstGeom>
          <a:noFill/>
          <a:ln/>
        </p:spPr>
        <p:txBody>
          <a:bodyPr wrap="square" lIns="0" tIns="0" rIns="0" bIns="0" rtlCol="0" anchor="t"/>
          <a:lstStyle/>
          <a:p>
            <a:pPr algn="r" indent="0" marL="0">
              <a:buNone/>
            </a:pPr>
            <a:r>
              <a:rPr lang="en-US" sz="1450" b="1" dirty="0">
                <a:solidFill>
                  <a:srgbClr val="F8FAFC"/>
                </a:solidFill>
                <a:latin typeface="Calibri" pitchFamily="34" charset="0"/>
                <a:ea typeface="Calibri" pitchFamily="34" charset="-122"/>
                <a:cs typeface="Calibri" pitchFamily="34" charset="-120"/>
              </a:rPr>
              <a:t>R60k</a:t>
            </a:r>
            <a:endParaRPr lang="en-US" sz="1450" dirty="0"/>
          </a:p>
        </p:txBody>
      </p:sp>
      <p:sp>
        <p:nvSpPr>
          <p:cNvPr id="10" name="Text 8"/>
          <p:cNvSpPr txBox="1"/>
          <p:nvPr/>
        </p:nvSpPr>
        <p:spPr>
          <a:xfrm>
            <a:off x="822960" y="3364992"/>
            <a:ext cx="3474720" cy="365760"/>
          </a:xfrm>
          <a:prstGeom prst="rect">
            <a:avLst/>
          </a:prstGeom>
          <a:noFill/>
          <a:ln/>
        </p:spPr>
        <p:txBody>
          <a:bodyPr wrap="square" lIns="0" tIns="0" rIns="0" bIns="0" rtlCol="0" anchor="t"/>
          <a:lstStyle/>
          <a:p>
            <a:pPr indent="0" marL="0">
              <a:buNone/>
            </a:pPr>
            <a:r>
              <a:rPr lang="en-US" sz="1450" dirty="0">
                <a:solidFill>
                  <a:srgbClr val="A3B3C9"/>
                </a:solidFill>
                <a:latin typeface="Calibri" pitchFamily="34" charset="0"/>
                <a:ea typeface="Calibri" pitchFamily="34" charset="-122"/>
                <a:cs typeface="Calibri" pitchFamily="34" charset="-120"/>
              </a:rPr>
              <a:t>Data bundles</a:t>
            </a:r>
            <a:endParaRPr lang="en-US" sz="1450" dirty="0"/>
          </a:p>
        </p:txBody>
      </p:sp>
      <p:sp>
        <p:nvSpPr>
          <p:cNvPr id="11" name="Text 9"/>
          <p:cNvSpPr txBox="1"/>
          <p:nvPr/>
        </p:nvSpPr>
        <p:spPr>
          <a:xfrm>
            <a:off x="4206240" y="3364992"/>
            <a:ext cx="1051560" cy="365760"/>
          </a:xfrm>
          <a:prstGeom prst="rect">
            <a:avLst/>
          </a:prstGeom>
          <a:noFill/>
          <a:ln/>
        </p:spPr>
        <p:txBody>
          <a:bodyPr wrap="square" lIns="0" tIns="0" rIns="0" bIns="0" rtlCol="0" anchor="t"/>
          <a:lstStyle/>
          <a:p>
            <a:pPr algn="r" indent="0" marL="0">
              <a:buNone/>
            </a:pPr>
            <a:r>
              <a:rPr lang="en-US" sz="1450" b="1" dirty="0">
                <a:solidFill>
                  <a:srgbClr val="F8FAFC"/>
                </a:solidFill>
                <a:latin typeface="Calibri" pitchFamily="34" charset="0"/>
                <a:ea typeface="Calibri" pitchFamily="34" charset="-122"/>
                <a:cs typeface="Calibri" pitchFamily="34" charset="-120"/>
              </a:rPr>
              <a:t>R60k</a:t>
            </a:r>
            <a:endParaRPr lang="en-US" sz="1450" dirty="0"/>
          </a:p>
        </p:txBody>
      </p:sp>
      <p:sp>
        <p:nvSpPr>
          <p:cNvPr id="12" name="Text 10"/>
          <p:cNvSpPr txBox="1"/>
          <p:nvPr/>
        </p:nvSpPr>
        <p:spPr>
          <a:xfrm>
            <a:off x="822960" y="3776472"/>
            <a:ext cx="3474720" cy="365760"/>
          </a:xfrm>
          <a:prstGeom prst="rect">
            <a:avLst/>
          </a:prstGeom>
          <a:noFill/>
          <a:ln/>
        </p:spPr>
        <p:txBody>
          <a:bodyPr wrap="square" lIns="0" tIns="0" rIns="0" bIns="0" rtlCol="0" anchor="t"/>
          <a:lstStyle/>
          <a:p>
            <a:pPr indent="0" marL="0">
              <a:buNone/>
            </a:pPr>
            <a:r>
              <a:rPr lang="en-US" sz="1450" dirty="0">
                <a:solidFill>
                  <a:srgbClr val="A3B3C9"/>
                </a:solidFill>
                <a:latin typeface="Calibri" pitchFamily="34" charset="0"/>
                <a:ea typeface="Calibri" pitchFamily="34" charset="-122"/>
                <a:cs typeface="Calibri" pitchFamily="34" charset="-120"/>
              </a:rPr>
              <a:t>POPIA review + security test</a:t>
            </a:r>
            <a:endParaRPr lang="en-US" sz="1450" dirty="0"/>
          </a:p>
        </p:txBody>
      </p:sp>
      <p:sp>
        <p:nvSpPr>
          <p:cNvPr id="13" name="Text 11"/>
          <p:cNvSpPr txBox="1"/>
          <p:nvPr/>
        </p:nvSpPr>
        <p:spPr>
          <a:xfrm>
            <a:off x="4206240" y="3776472"/>
            <a:ext cx="1051560" cy="365760"/>
          </a:xfrm>
          <a:prstGeom prst="rect">
            <a:avLst/>
          </a:prstGeom>
          <a:noFill/>
          <a:ln/>
        </p:spPr>
        <p:txBody>
          <a:bodyPr wrap="square" lIns="0" tIns="0" rIns="0" bIns="0" rtlCol="0" anchor="t"/>
          <a:lstStyle/>
          <a:p>
            <a:pPr algn="r" indent="0" marL="0">
              <a:buNone/>
            </a:pPr>
            <a:r>
              <a:rPr lang="en-US" sz="1450" b="1" dirty="0">
                <a:solidFill>
                  <a:srgbClr val="F8FAFC"/>
                </a:solidFill>
                <a:latin typeface="Calibri" pitchFamily="34" charset="0"/>
                <a:ea typeface="Calibri" pitchFamily="34" charset="-122"/>
                <a:cs typeface="Calibri" pitchFamily="34" charset="-120"/>
              </a:rPr>
              <a:t>R30k</a:t>
            </a:r>
            <a:endParaRPr lang="en-US" sz="1450" dirty="0"/>
          </a:p>
        </p:txBody>
      </p:sp>
      <p:sp>
        <p:nvSpPr>
          <p:cNvPr id="14" name="Text 12"/>
          <p:cNvSpPr txBox="1"/>
          <p:nvPr/>
        </p:nvSpPr>
        <p:spPr>
          <a:xfrm>
            <a:off x="822960" y="4187952"/>
            <a:ext cx="3474720" cy="365760"/>
          </a:xfrm>
          <a:prstGeom prst="rect">
            <a:avLst/>
          </a:prstGeom>
          <a:noFill/>
          <a:ln/>
        </p:spPr>
        <p:txBody>
          <a:bodyPr wrap="square" lIns="0" tIns="0" rIns="0" bIns="0" rtlCol="0" anchor="t"/>
          <a:lstStyle/>
          <a:p>
            <a:pPr indent="0" marL="0">
              <a:buNone/>
            </a:pPr>
            <a:r>
              <a:rPr lang="en-US" sz="1450" dirty="0">
                <a:solidFill>
                  <a:srgbClr val="A3B3C9"/>
                </a:solidFill>
                <a:latin typeface="Calibri" pitchFamily="34" charset="0"/>
                <a:ea typeface="Calibri" pitchFamily="34" charset="-122"/>
                <a:cs typeface="Calibri" pitchFamily="34" charset="-120"/>
              </a:rPr>
              <a:t>Devices + contingency</a:t>
            </a:r>
            <a:endParaRPr lang="en-US" sz="1450" dirty="0"/>
          </a:p>
        </p:txBody>
      </p:sp>
      <p:sp>
        <p:nvSpPr>
          <p:cNvPr id="15" name="Text 13"/>
          <p:cNvSpPr txBox="1"/>
          <p:nvPr/>
        </p:nvSpPr>
        <p:spPr>
          <a:xfrm>
            <a:off x="4206240" y="4187952"/>
            <a:ext cx="1051560" cy="365760"/>
          </a:xfrm>
          <a:prstGeom prst="rect">
            <a:avLst/>
          </a:prstGeom>
          <a:noFill/>
          <a:ln/>
        </p:spPr>
        <p:txBody>
          <a:bodyPr wrap="square" lIns="0" tIns="0" rIns="0" bIns="0" rtlCol="0" anchor="t"/>
          <a:lstStyle/>
          <a:p>
            <a:pPr algn="r" indent="0" marL="0">
              <a:buNone/>
            </a:pPr>
            <a:r>
              <a:rPr lang="en-US" sz="1450" b="1" dirty="0">
                <a:solidFill>
                  <a:srgbClr val="F8FAFC"/>
                </a:solidFill>
                <a:latin typeface="Calibri" pitchFamily="34" charset="0"/>
                <a:ea typeface="Calibri" pitchFamily="34" charset="-122"/>
                <a:cs typeface="Calibri" pitchFamily="34" charset="-120"/>
              </a:rPr>
              <a:t>R30k</a:t>
            </a:r>
            <a:endParaRPr lang="en-US" sz="1450" dirty="0"/>
          </a:p>
        </p:txBody>
      </p:sp>
      <p:sp>
        <p:nvSpPr>
          <p:cNvPr id="16" name="Text 14"/>
          <p:cNvSpPr txBox="1"/>
          <p:nvPr/>
        </p:nvSpPr>
        <p:spPr>
          <a:xfrm>
            <a:off x="822960" y="4599432"/>
            <a:ext cx="3474720" cy="365760"/>
          </a:xfrm>
          <a:prstGeom prst="rect">
            <a:avLst/>
          </a:prstGeom>
          <a:noFill/>
          <a:ln/>
        </p:spPr>
        <p:txBody>
          <a:bodyPr wrap="square" lIns="0" tIns="0" rIns="0" bIns="0" rtlCol="0" anchor="t"/>
          <a:lstStyle/>
          <a:p>
            <a:pPr indent="0" marL="0">
              <a:buNone/>
            </a:pPr>
            <a:r>
              <a:rPr lang="en-US" sz="1450" dirty="0">
                <a:solidFill>
                  <a:srgbClr val="A3B3C9"/>
                </a:solidFill>
                <a:latin typeface="Calibri" pitchFamily="34" charset="0"/>
                <a:ea typeface="Calibri" pitchFamily="34" charset="-122"/>
                <a:cs typeface="Calibri" pitchFamily="34" charset="-120"/>
              </a:rPr>
              <a:t>Running costs (6 months)</a:t>
            </a:r>
            <a:endParaRPr lang="en-US" sz="1450" dirty="0"/>
          </a:p>
        </p:txBody>
      </p:sp>
      <p:sp>
        <p:nvSpPr>
          <p:cNvPr id="17" name="Text 15"/>
          <p:cNvSpPr txBox="1"/>
          <p:nvPr/>
        </p:nvSpPr>
        <p:spPr>
          <a:xfrm>
            <a:off x="4206240" y="4599432"/>
            <a:ext cx="1051560" cy="365760"/>
          </a:xfrm>
          <a:prstGeom prst="rect">
            <a:avLst/>
          </a:prstGeom>
          <a:noFill/>
          <a:ln/>
        </p:spPr>
        <p:txBody>
          <a:bodyPr wrap="square" lIns="0" tIns="0" rIns="0" bIns="0" rtlCol="0" anchor="t"/>
          <a:lstStyle/>
          <a:p>
            <a:pPr algn="r" indent="0" marL="0">
              <a:buNone/>
            </a:pPr>
            <a:r>
              <a:rPr lang="en-US" sz="1450" b="1" dirty="0">
                <a:solidFill>
                  <a:srgbClr val="F8FAFC"/>
                </a:solidFill>
                <a:latin typeface="Calibri" pitchFamily="34" charset="0"/>
                <a:ea typeface="Calibri" pitchFamily="34" charset="-122"/>
                <a:cs typeface="Calibri" pitchFamily="34" charset="-120"/>
              </a:rPr>
              <a:t>R24k</a:t>
            </a:r>
            <a:endParaRPr lang="en-US" sz="1450" dirty="0"/>
          </a:p>
        </p:txBody>
      </p:sp>
      <p:sp>
        <p:nvSpPr>
          <p:cNvPr id="18" name="Text 16"/>
          <p:cNvSpPr txBox="1"/>
          <p:nvPr/>
        </p:nvSpPr>
        <p:spPr>
          <a:xfrm>
            <a:off x="548640" y="5303520"/>
            <a:ext cx="4937760" cy="777240"/>
          </a:xfrm>
          <a:prstGeom prst="rect">
            <a:avLst/>
          </a:prstGeom>
          <a:noFill/>
          <a:ln/>
        </p:spPr>
        <p:txBody>
          <a:bodyPr wrap="square" lIns="0" tIns="0" rIns="0" bIns="0" rtlCol="0" anchor="t"/>
          <a:lstStyle/>
          <a:p>
            <a:pPr indent="0" marL="0">
              <a:buNone/>
            </a:pPr>
            <a:r>
              <a:rPr lang="en-US" sz="1400" i="1" dirty="0">
                <a:solidFill>
                  <a:srgbClr val="34D399"/>
                </a:solidFill>
                <a:latin typeface="Calibri" pitchFamily="34" charset="0"/>
                <a:ea typeface="Calibri" pitchFamily="34" charset="-122"/>
                <a:cs typeface="Calibri" pitchFamily="34" charset="-120"/>
              </a:rPr>
              <a:t>It buys: 2 suppliers live, 50-100 businesses every week, proof in real shops and sites (TRL 6).</a:t>
            </a:r>
            <a:endParaRPr lang="en-US" sz="1400" dirty="0"/>
          </a:p>
        </p:txBody>
      </p:sp>
      <p:sp>
        <p:nvSpPr>
          <p:cNvPr id="19" name="Shape 17"/>
          <p:cNvSpPr/>
          <p:nvPr/>
        </p:nvSpPr>
        <p:spPr>
          <a:xfrm>
            <a:off x="5852160" y="777240"/>
            <a:ext cx="5760720" cy="4343400"/>
          </a:xfrm>
          <a:prstGeom prst="roundRect">
            <a:avLst>
              <a:gd name="adj" fmla="val 2526"/>
            </a:avLst>
          </a:prstGeom>
          <a:solidFill>
            <a:srgbClr val="17223A"/>
          </a:solidFill>
          <a:ln w="12700">
            <a:solidFill>
              <a:srgbClr val="17223A"/>
            </a:solidFill>
            <a:prstDash val="solid"/>
          </a:ln>
        </p:spPr>
      </p:sp>
      <p:graphicFrame>
        <p:nvGraphicFramePr>
          <p:cNvPr id="20" name="Chart 0" descr=""/>
          <p:cNvGraphicFramePr/>
          <p:nvPr/>
        </p:nvGraphicFramePr>
        <p:xfrm>
          <a:off x="5943600" y="868680"/>
          <a:ext cx="5577840" cy="4160520"/>
        </p:xfrm>
        <a:graphic xmlns:a="http://schemas.openxmlformats.org/drawingml/2006/main">
          <a:graphicData uri="http://schemas.openxmlformats.org/drawingml/2006/chart">
            <c:chart xmlns:c="http://schemas.openxmlformats.org/drawingml/2006/chart" r:id="rId1"/>
          </a:graphicData>
        </a:graphic>
      </p:graphicFrame>
      <p:sp>
        <p:nvSpPr>
          <p:cNvPr id="21" name="Shape 18"/>
          <p:cNvSpPr/>
          <p:nvPr/>
        </p:nvSpPr>
        <p:spPr>
          <a:xfrm>
            <a:off x="5852160" y="5303520"/>
            <a:ext cx="1828800" cy="822960"/>
          </a:xfrm>
          <a:prstGeom prst="roundRect">
            <a:avLst>
              <a:gd name="adj" fmla="val 13333"/>
            </a:avLst>
          </a:prstGeom>
          <a:solidFill>
            <a:srgbClr val="1E2B45"/>
          </a:solidFill>
          <a:ln w="12700">
            <a:solidFill>
              <a:srgbClr val="1E2B45"/>
            </a:solidFill>
            <a:prstDash val="solid"/>
          </a:ln>
        </p:spPr>
      </p:sp>
      <p:sp>
        <p:nvSpPr>
          <p:cNvPr id="22" name="Text 19"/>
          <p:cNvSpPr txBox="1"/>
          <p:nvPr/>
        </p:nvSpPr>
        <p:spPr>
          <a:xfrm>
            <a:off x="5989320" y="5376672"/>
            <a:ext cx="1600200" cy="274320"/>
          </a:xfrm>
          <a:prstGeom prst="rect">
            <a:avLst/>
          </a:prstGeom>
          <a:noFill/>
          <a:ln/>
        </p:spPr>
        <p:txBody>
          <a:bodyPr wrap="square" lIns="0" tIns="0" rIns="0" bIns="0" rtlCol="0" anchor="t"/>
          <a:lstStyle/>
          <a:p>
            <a:pPr indent="0" marL="0">
              <a:buNone/>
            </a:pPr>
            <a:r>
              <a:rPr lang="en-US" sz="1050" b="1" spc="200" kern="0" dirty="0">
                <a:solidFill>
                  <a:srgbClr val="A3B3C9"/>
                </a:solidFill>
                <a:latin typeface="Calibri" pitchFamily="34" charset="0"/>
                <a:ea typeface="Calibri" pitchFamily="34" charset="-122"/>
                <a:cs typeface="Calibri" pitchFamily="34" charset="-120"/>
              </a:rPr>
              <a:t>START</a:t>
            </a:r>
            <a:endParaRPr lang="en-US" sz="1050" dirty="0"/>
          </a:p>
        </p:txBody>
      </p:sp>
      <p:sp>
        <p:nvSpPr>
          <p:cNvPr id="23" name="Text 20"/>
          <p:cNvSpPr txBox="1"/>
          <p:nvPr/>
        </p:nvSpPr>
        <p:spPr>
          <a:xfrm>
            <a:off x="5989320" y="5669280"/>
            <a:ext cx="1645920" cy="365760"/>
          </a:xfrm>
          <a:prstGeom prst="rect">
            <a:avLst/>
          </a:prstGeom>
          <a:noFill/>
          <a:ln/>
        </p:spPr>
        <p:txBody>
          <a:bodyPr wrap="square" lIns="0" tIns="0" rIns="0" bIns="0" rtlCol="0" anchor="t"/>
          <a:lstStyle/>
          <a:p>
            <a:pPr indent="0" marL="0">
              <a:buNone/>
            </a:pPr>
            <a:r>
              <a:rPr lang="en-US" sz="1350" b="1" dirty="0">
                <a:solidFill>
                  <a:srgbClr val="FBBF24"/>
                </a:solidFill>
                <a:latin typeface="Calibri" pitchFamily="34" charset="0"/>
                <a:ea typeface="Calibri" pitchFamily="34" charset="-122"/>
                <a:cs typeface="Calibri" pitchFamily="34" charset="-120"/>
              </a:rPr>
              <a:t>R300k pilot</a:t>
            </a:r>
            <a:endParaRPr lang="en-US" sz="1350" dirty="0"/>
          </a:p>
        </p:txBody>
      </p:sp>
      <p:sp>
        <p:nvSpPr>
          <p:cNvPr id="24" name="Shape 21"/>
          <p:cNvSpPr/>
          <p:nvPr/>
        </p:nvSpPr>
        <p:spPr>
          <a:xfrm>
            <a:off x="7799832" y="5303520"/>
            <a:ext cx="1828800" cy="822960"/>
          </a:xfrm>
          <a:prstGeom prst="roundRect">
            <a:avLst>
              <a:gd name="adj" fmla="val 13333"/>
            </a:avLst>
          </a:prstGeom>
          <a:solidFill>
            <a:srgbClr val="1E2B45"/>
          </a:solidFill>
          <a:ln w="12700">
            <a:solidFill>
              <a:srgbClr val="1E2B45"/>
            </a:solidFill>
            <a:prstDash val="solid"/>
          </a:ln>
        </p:spPr>
      </p:sp>
      <p:sp>
        <p:nvSpPr>
          <p:cNvPr id="25" name="Text 22"/>
          <p:cNvSpPr txBox="1"/>
          <p:nvPr/>
        </p:nvSpPr>
        <p:spPr>
          <a:xfrm>
            <a:off x="7936992" y="5376672"/>
            <a:ext cx="1600200" cy="274320"/>
          </a:xfrm>
          <a:prstGeom prst="rect">
            <a:avLst/>
          </a:prstGeom>
          <a:noFill/>
          <a:ln/>
        </p:spPr>
        <p:txBody>
          <a:bodyPr wrap="square" lIns="0" tIns="0" rIns="0" bIns="0" rtlCol="0" anchor="t"/>
          <a:lstStyle/>
          <a:p>
            <a:pPr indent="0" marL="0">
              <a:buNone/>
            </a:pPr>
            <a:r>
              <a:rPr lang="en-US" sz="1050" b="1" spc="200" kern="0" dirty="0">
                <a:solidFill>
                  <a:srgbClr val="A3B3C9"/>
                </a:solidFill>
                <a:latin typeface="Calibri" pitchFamily="34" charset="0"/>
                <a:ea typeface="Calibri" pitchFamily="34" charset="-122"/>
                <a:cs typeface="Calibri" pitchFamily="34" charset="-120"/>
              </a:rPr>
              <a:t>GROW</a:t>
            </a:r>
            <a:endParaRPr lang="en-US" sz="1050" dirty="0"/>
          </a:p>
        </p:txBody>
      </p:sp>
      <p:sp>
        <p:nvSpPr>
          <p:cNvPr id="26" name="Text 23"/>
          <p:cNvSpPr txBox="1"/>
          <p:nvPr/>
        </p:nvSpPr>
        <p:spPr>
          <a:xfrm>
            <a:off x="7936992" y="5669280"/>
            <a:ext cx="1645920" cy="365760"/>
          </a:xfrm>
          <a:prstGeom prst="rect">
            <a:avLst/>
          </a:prstGeom>
          <a:noFill/>
          <a:ln/>
        </p:spPr>
        <p:txBody>
          <a:bodyPr wrap="square" lIns="0" tIns="0" rIns="0" bIns="0" rtlCol="0" anchor="t"/>
          <a:lstStyle/>
          <a:p>
            <a:pPr indent="0" marL="0">
              <a:buNone/>
            </a:pPr>
            <a:r>
              <a:rPr lang="en-US" sz="1350" b="1" dirty="0">
                <a:solidFill>
                  <a:srgbClr val="34D399"/>
                </a:solidFill>
                <a:latin typeface="Calibri" pitchFamily="34" charset="0"/>
                <a:ea typeface="Calibri" pitchFamily="34" charset="-122"/>
                <a:cs typeface="Calibri" pitchFamily="34" charset="-120"/>
              </a:rPr>
              <a:t>~R1.5m after the pilot</a:t>
            </a:r>
            <a:endParaRPr lang="en-US" sz="1350" dirty="0"/>
          </a:p>
        </p:txBody>
      </p:sp>
      <p:sp>
        <p:nvSpPr>
          <p:cNvPr id="27" name="Shape 24"/>
          <p:cNvSpPr/>
          <p:nvPr/>
        </p:nvSpPr>
        <p:spPr>
          <a:xfrm>
            <a:off x="9747504" y="5303520"/>
            <a:ext cx="1828800" cy="822960"/>
          </a:xfrm>
          <a:prstGeom prst="roundRect">
            <a:avLst>
              <a:gd name="adj" fmla="val 13333"/>
            </a:avLst>
          </a:prstGeom>
          <a:solidFill>
            <a:srgbClr val="1E2B45"/>
          </a:solidFill>
          <a:ln w="12700">
            <a:solidFill>
              <a:srgbClr val="1E2B45"/>
            </a:solidFill>
            <a:prstDash val="solid"/>
          </a:ln>
        </p:spPr>
      </p:sp>
      <p:sp>
        <p:nvSpPr>
          <p:cNvPr id="28" name="Text 25"/>
          <p:cNvSpPr txBox="1"/>
          <p:nvPr/>
        </p:nvSpPr>
        <p:spPr>
          <a:xfrm>
            <a:off x="9884664" y="5376672"/>
            <a:ext cx="1600200" cy="274320"/>
          </a:xfrm>
          <a:prstGeom prst="rect">
            <a:avLst/>
          </a:prstGeom>
          <a:noFill/>
          <a:ln/>
        </p:spPr>
        <p:txBody>
          <a:bodyPr wrap="square" lIns="0" tIns="0" rIns="0" bIns="0" rtlCol="0" anchor="t"/>
          <a:lstStyle/>
          <a:p>
            <a:pPr indent="0" marL="0">
              <a:buNone/>
            </a:pPr>
            <a:r>
              <a:rPr lang="en-US" sz="1050" b="1" spc="200" kern="0" dirty="0">
                <a:solidFill>
                  <a:srgbClr val="A3B3C9"/>
                </a:solidFill>
                <a:latin typeface="Calibri" pitchFamily="34" charset="0"/>
                <a:ea typeface="Calibri" pitchFamily="34" charset="-122"/>
                <a:cs typeface="Calibri" pitchFamily="34" charset="-120"/>
              </a:rPr>
              <a:t>BREAK EVEN</a:t>
            </a:r>
            <a:endParaRPr lang="en-US" sz="1050" dirty="0"/>
          </a:p>
        </p:txBody>
      </p:sp>
      <p:sp>
        <p:nvSpPr>
          <p:cNvPr id="29" name="Text 26"/>
          <p:cNvSpPr txBox="1"/>
          <p:nvPr/>
        </p:nvSpPr>
        <p:spPr>
          <a:xfrm>
            <a:off x="9884664" y="5669280"/>
            <a:ext cx="1645920" cy="365760"/>
          </a:xfrm>
          <a:prstGeom prst="rect">
            <a:avLst/>
          </a:prstGeom>
          <a:noFill/>
          <a:ln/>
        </p:spPr>
        <p:txBody>
          <a:bodyPr wrap="square" lIns="0" tIns="0" rIns="0" bIns="0" rtlCol="0" anchor="t"/>
          <a:lstStyle/>
          <a:p>
            <a:pPr indent="0" marL="0">
              <a:buNone/>
            </a:pPr>
            <a:r>
              <a:rPr lang="en-US" sz="1350" b="1" dirty="0">
                <a:solidFill>
                  <a:srgbClr val="10B981"/>
                </a:solidFill>
                <a:latin typeface="Calibri" pitchFamily="34" charset="0"/>
                <a:ea typeface="Calibri" pitchFamily="34" charset="-122"/>
                <a:cs typeface="Calibri" pitchFamily="34" charset="-120"/>
              </a:rPr>
              <a:t>Year 2</a:t>
            </a:r>
            <a:endParaRPr lang="en-US" sz="1350" dirty="0"/>
          </a:p>
        </p:txBody>
      </p:sp>
      <p:pic>
        <p:nvPicPr>
          <p:cNvPr id="30" name="Image 0" descr="preencoded.png">    </p:cNvPr>
          <p:cNvPicPr>
            <a:picLocks noChangeAspect="1"/>
          </p:cNvPicPr>
          <p:nvPr/>
        </p:nvPicPr>
        <p:blipFill>
          <a:blip r:embed="rId2"/>
          <a:stretch>
            <a:fillRect/>
          </a:stretch>
        </p:blipFill>
        <p:spPr>
          <a:xfrm>
            <a:off x="11231575" y="6291072"/>
            <a:ext cx="384048" cy="384048"/>
          </a:xfrm>
          <a:prstGeom prst="rect">
            <a:avLst/>
          </a:prstGeom>
        </p:spPr>
      </p:pic>
      <p:sp>
        <p:nvSpPr>
          <p:cNvPr id="31" name="Text 27"/>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6</a:t>
            </a:r>
            <a:endParaRPr lang="en-US" sz="1000" dirty="0"/>
          </a:p>
        </p:txBody>
      </p:sp>
      <p:sp>
        <p:nvSpPr>
          <p:cNvPr id="32" name="Text 28"/>
          <p:cNvSpPr txBox="1"/>
          <p:nvPr/>
        </p:nvSpPr>
        <p:spPr>
          <a:xfrm>
            <a:off x="548640" y="6336792"/>
            <a:ext cx="9875520" cy="365760"/>
          </a:xfrm>
          <a:prstGeom prst="rect">
            <a:avLst/>
          </a:prstGeom>
          <a:noFill/>
          <a:ln/>
        </p:spPr>
        <p:txBody>
          <a:bodyPr wrap="square" lIns="0" tIns="0" rIns="0" bIns="0" rtlCol="0" anchor="t"/>
          <a:lstStyle/>
          <a:p>
            <a:pPr indent="0" marL="0">
              <a:buNone/>
            </a:pPr>
            <a:r>
              <a:rPr lang="en-US" sz="950" dirty="0">
                <a:solidFill>
                  <a:srgbClr val="64748B"/>
                </a:solidFill>
                <a:latin typeface="Calibri" pitchFamily="34" charset="0"/>
                <a:ea typeface="Calibri" pitchFamily="34" charset="-122"/>
                <a:cs typeface="Calibri" pitchFamily="34" charset="-120"/>
              </a:rPr>
              <a:t>Estimates. Long-term costs: team, field agents, sales, hosting and messaging, security and POPIA.</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COMPETITIVE ANALYSIS</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F8FAFC"/>
                </a:solidFill>
                <a:latin typeface="Georgia" pitchFamily="34" charset="0"/>
                <a:ea typeface="Georgia" pitchFamily="34" charset="-122"/>
                <a:cs typeface="Georgia" pitchFamily="34" charset="-120"/>
              </a:rPr>
              <a:t>They serve a slice. We serve the whole business.</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657600"/>
                <a:gridCol w="1828800"/>
                <a:gridCol w="1920240"/>
                <a:gridCol w="1828800"/>
                <a:gridCol w="1828800"/>
              </a:tblGrid>
              <a:tr h="548640">
                <a:tc>
                  <a:txBody>
                    <a:bodyPr/>
                    <a:lstStyle/>
                    <a:p>
                      <a:pPr algn="l" indent="0" marL="0">
                        <a:buNone/>
                      </a:pP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34D399"/>
                          </a:solidFill>
                          <a:latin typeface="Calibri" pitchFamily="34" charset="0"/>
                          <a:ea typeface="Calibri" pitchFamily="34" charset="-122"/>
                          <a:cs typeface="Calibri" pitchFamily="34" charset="-120"/>
                        </a:rPr>
                        <a:t>Runs the business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34D399"/>
                          </a:solidFill>
                          <a:latin typeface="Calibri" pitchFamily="34" charset="0"/>
                          <a:ea typeface="Calibri" pitchFamily="34" charset="-122"/>
                          <a:cs typeface="Calibri" pitchFamily="34" charset="-120"/>
                        </a:rPr>
                        <a:t>Your own suppliers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34D399"/>
                          </a:solidFill>
                          <a:latin typeface="Calibri" pitchFamily="34" charset="0"/>
                          <a:ea typeface="Calibri" pitchFamily="34" charset="-122"/>
                          <a:cs typeface="Calibri" pitchFamily="34" charset="-120"/>
                        </a:rPr>
                        <a:t>Any kind of business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b="1" dirty="0">
                          <a:solidFill>
                            <a:srgbClr val="34D399"/>
                          </a:solidFill>
                          <a:latin typeface="Calibri" pitchFamily="34" charset="0"/>
                          <a:ea typeface="Calibri" pitchFamily="34" charset="-122"/>
                          <a:cs typeface="Calibri" pitchFamily="34" charset="-120"/>
                        </a:rPr>
                        <a:t>Verified payment</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r>
              <a:tr h="548640">
                <a:tc>
                  <a:txBody>
                    <a:bodyPr/>
                    <a:lstStyle/>
                    <a:p>
                      <a:pPr algn="l" indent="0" marL="0">
                        <a:buNone/>
                      </a:pPr>
                      <a:r>
                        <a:rPr lang="en-US" sz="1250" b="1" dirty="0">
                          <a:solidFill>
                            <a:srgbClr val="F8FAFC"/>
                          </a:solidFill>
                          <a:latin typeface="Calibri" pitchFamily="34" charset="0"/>
                          <a:ea typeface="Calibri" pitchFamily="34" charset="-122"/>
                          <a:cs typeface="Calibri" pitchFamily="34" charset="-120"/>
                        </a:rPr>
                        <a:t>WhatsApp, calls + a notebook (today)</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algn="ctr" indent="0" marL="0">
                        <a:buNone/>
                      </a:pPr>
                      <a:r>
                        <a:rPr lang="en-US" sz="1250" dirty="0">
                          <a:solidFill>
                            <a:srgbClr val="64748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scattered: calls, voice notes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algn="ctr" indent="0" marL="0">
                        <a:buNone/>
                      </a:pPr>
                      <a:r>
                        <a:rPr lang="en-US" sz="1250" dirty="0">
                          <a:solidFill>
                            <a:srgbClr val="64748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r>
              <a:tr h="548640">
                <a:tc>
                  <a:txBody>
                    <a:bodyPr/>
                    <a:lstStyle/>
                    <a:p>
                      <a:pPr algn="l" indent="0" marL="0">
                        <a:buNone/>
                      </a:pPr>
                      <a:r>
                        <a:rPr lang="en-US" sz="1250" b="1" dirty="0">
                          <a:solidFill>
                            <a:srgbClr val="F8FAFC"/>
                          </a:solidFill>
                          <a:latin typeface="Calibri" pitchFamily="34" charset="0"/>
                          <a:ea typeface="Calibri" pitchFamily="34" charset="-122"/>
                          <a:cs typeface="Calibri" pitchFamily="34" charset="-120"/>
                        </a:rPr>
                        <a:t>A wholesaler's own app (e.g. Shoprite Cash &amp; Carry)</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dirty="0">
                          <a:solidFill>
                            <a:srgbClr val="64748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one wholesaler</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shops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r>
              <a:tr h="548640">
                <a:tc>
                  <a:txBody>
                    <a:bodyPr/>
                    <a:lstStyle/>
                    <a:p>
                      <a:pPr algn="l" indent="0" marL="0">
                        <a:buNone/>
                      </a:pPr>
                      <a:r>
                        <a:rPr lang="en-US" sz="1250" b="1" dirty="0">
                          <a:solidFill>
                            <a:srgbClr val="F8FAFC"/>
                          </a:solidFill>
                          <a:latin typeface="Calibri" pitchFamily="34" charset="0"/>
                          <a:ea typeface="Calibri" pitchFamily="34" charset="-122"/>
                          <a:cs typeface="Calibri" pitchFamily="34" charset="-120"/>
                        </a:rPr>
                        <a:t>Payments / POS (iKhokha, Yoco)</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sales only</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algn="ctr" indent="0" marL="0">
                        <a:buNone/>
                      </a:pPr>
                      <a:r>
                        <a:rPr lang="en-US" sz="1250" dirty="0">
                          <a:solidFill>
                            <a:srgbClr val="64748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cards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7223A"/>
                    </a:solidFill>
                  </a:tcPr>
                </a:tc>
              </a:tr>
              <a:tr h="548640">
                <a:tc>
                  <a:txBody>
                    <a:bodyPr/>
                    <a:lstStyle/>
                    <a:p>
                      <a:pPr algn="l" indent="0" marL="0">
                        <a:buNone/>
                      </a:pPr>
                      <a:r>
                        <a:rPr lang="en-US" sz="1250" b="1" dirty="0">
                          <a:solidFill>
                            <a:srgbClr val="F8FAFC"/>
                          </a:solidFill>
                          <a:latin typeface="Calibri" pitchFamily="34" charset="0"/>
                          <a:ea typeface="Calibri" pitchFamily="34" charset="-122"/>
                          <a:cs typeface="Calibri" pitchFamily="34" charset="-120"/>
                        </a:rPr>
                        <a:t>Bulk buying (Spazapp)</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dirty="0">
                          <a:solidFill>
                            <a:srgbClr val="64748B"/>
                          </a:solidFill>
                          <a:latin typeface="Calibri" pitchFamily="34" charset="0"/>
                          <a:ea typeface="Calibri" pitchFamily="34" charset="-122"/>
                          <a:cs typeface="Calibri" pitchFamily="34" charset="-120"/>
                        </a:rPr>
                        <a:t>no</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their range</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shops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c>
                  <a:txBody>
                    <a:bodyPr/>
                    <a:lstStyle/>
                    <a:p>
                      <a:pPr algn="ctr" indent="0" marL="0">
                        <a:buNone/>
                      </a:pPr>
                      <a:r>
                        <a:rPr lang="en-US" sz="1250" dirty="0">
                          <a:solidFill>
                            <a:srgbClr val="F8FAFC"/>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0F172A"/>
                    </a:solidFill>
                  </a:tcPr>
                </a:tc>
              </a:tr>
              <a:tr h="548640">
                <a:tc>
                  <a:txBody>
                    <a:bodyPr/>
                    <a:lstStyle/>
                    <a:p>
                      <a:pPr algn="l" indent="0" marL="0">
                        <a:buNone/>
                      </a:pPr>
                      <a:r>
                        <a:rPr lang="en-US" sz="1250" b="1" dirty="0">
                          <a:solidFill>
                            <a:srgbClr val="0F172A"/>
                          </a:solidFill>
                          <a:latin typeface="Calibri" pitchFamily="34" charset="0"/>
                          <a:ea typeface="Calibri" pitchFamily="34" charset="-122"/>
                          <a:cs typeface="Calibri" pitchFamily="34" charset="-120"/>
                        </a:rPr>
                        <a:t>Akayza</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c>
                  <a:txBody>
                    <a:bodyPr/>
                    <a:lstStyle/>
                    <a:p>
                      <a:pPr algn="ctr" indent="0" marL="0">
                        <a:buNone/>
                      </a:pPr>
                      <a:r>
                        <a:rPr lang="en-US" sz="1250" b="1" dirty="0">
                          <a:solidFill>
                            <a:srgbClr val="0F172A"/>
                          </a:solidFill>
                          <a:latin typeface="Calibri" pitchFamily="34" charset="0"/>
                          <a:ea typeface="Calibri" pitchFamily="34" charset="-122"/>
                          <a:cs typeface="Calibri" pitchFamily="34" charset="-120"/>
                        </a:rPr>
                        <a:t>business tools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c>
                  <a:txBody>
                    <a:bodyPr/>
                    <a:lstStyle/>
                    <a:p>
                      <a:pPr algn="ctr" indent="0" marL="0">
                        <a:buNone/>
                      </a:pPr>
                      <a:r>
                        <a:rPr lang="en-US" sz="1250" b="1" dirty="0">
                          <a:solidFill>
                            <a:srgbClr val="0F172A"/>
                          </a:solidFill>
                          <a:latin typeface="Calibri" pitchFamily="34" charset="0"/>
                          <a:ea typeface="Calibri" pitchFamily="34" charset="-122"/>
                          <a:cs typeface="Calibri" pitchFamily="34" charset="-120"/>
                        </a:rPr>
                        <a:t>all your suppliers, one place</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c>
                  <a:txBody>
                    <a:bodyPr/>
                    <a:lstStyle/>
                    <a:p>
                      <a:pPr algn="ctr" indent="0" marL="0">
                        <a:buNone/>
                      </a:pPr>
                      <a:r>
                        <a:rPr lang="en-US" sz="1250" b="1" dirty="0">
                          <a:solidFill>
                            <a:srgbClr val="0F172A"/>
                          </a:solidFill>
                          <a:latin typeface="Calibri" pitchFamily="34" charset="0"/>
                          <a:ea typeface="Calibri" pitchFamily="34" charset="-122"/>
                          <a:cs typeface="Calibri" pitchFamily="34" charset="-120"/>
                        </a:rPr>
                        <a:t>yes</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c>
                  <a:txBody>
                    <a:bodyPr/>
                    <a:lstStyle/>
                    <a:p>
                      <a:pPr algn="ctr" indent="0" marL="0">
                        <a:buNone/>
                      </a:pPr>
                      <a:r>
                        <a:rPr lang="en-US" sz="1250" b="1" dirty="0">
                          <a:solidFill>
                            <a:srgbClr val="0F172A"/>
                          </a:solidFill>
                          <a:latin typeface="Calibri" pitchFamily="34" charset="0"/>
                          <a:ea typeface="Calibri" pitchFamily="34" charset="-122"/>
                          <a:cs typeface="Calibri" pitchFamily="34" charset="-120"/>
                        </a:rPr>
                        <a:t>digital, verified</a:t>
                      </a:r>
                      <a:endParaRPr lang="en-US" sz="1250" dirty="0">
                        <a:latin typeface="Calibri" charset="0"/>
                        <a:ea typeface="Calibri" charset="0"/>
                        <a:cs typeface="Calibri" charset="0"/>
                      </a:endParaRPr>
                    </a:p>
                  </a:txBody>
                  <a:tcPr marL="91440" marR="91440" marT="45720" marB="45720" anchor="ctr">
                    <a:lnL w="12700" cap="flat" cmpd="sng" algn="ctr">
                      <a:solidFill>
                        <a:srgbClr val="1E2B45"/>
                      </a:solidFill>
                      <a:prstDash val="solid"/>
                      <a:round/>
                      <a:headEnd type="none" w="med" len="med"/>
                      <a:tailEnd type="none" w="med" len="med"/>
                    </a:lnL>
                    <a:lnR w="12700" cap="flat" cmpd="sng" algn="ctr">
                      <a:solidFill>
                        <a:srgbClr val="1E2B45"/>
                      </a:solidFill>
                      <a:prstDash val="solid"/>
                      <a:round/>
                      <a:headEnd type="none" w="med" len="med"/>
                      <a:tailEnd type="none" w="med" len="med"/>
                    </a:lnR>
                    <a:lnT w="12700" cap="flat" cmpd="sng" algn="ctr">
                      <a:solidFill>
                        <a:srgbClr val="1E2B45"/>
                      </a:solidFill>
                      <a:prstDash val="solid"/>
                      <a:round/>
                      <a:headEnd type="none" w="med" len="med"/>
                      <a:tailEnd type="none" w="med" len="med"/>
                    </a:lnT>
                    <a:lnB w="12700" cap="flat" cmpd="sng" algn="ctr">
                      <a:solidFill>
                        <a:srgbClr val="1E2B45"/>
                      </a:solidFill>
                      <a:prstDash val="solid"/>
                      <a:round/>
                      <a:headEnd type="none" w="med" len="med"/>
                      <a:tailEnd type="none" w="med" len="med"/>
                    </a:lnB>
                    <a:solidFill>
                      <a:srgbClr val="10B981"/>
                    </a:solidFill>
                  </a:tcPr>
                </a:tc>
              </a:tr>
            </a:tbl>
          </a:graphicData>
        </a:graphic>
      </p:graphicFrame>
      <p:sp>
        <p:nvSpPr>
          <p:cNvPr id="5" name="Shape 2"/>
          <p:cNvSpPr/>
          <p:nvPr/>
        </p:nvSpPr>
        <p:spPr>
          <a:xfrm>
            <a:off x="548640" y="5440680"/>
            <a:ext cx="5440680" cy="822960"/>
          </a:xfrm>
          <a:prstGeom prst="roundRect">
            <a:avLst>
              <a:gd name="adj" fmla="val 13333"/>
            </a:avLst>
          </a:prstGeom>
          <a:solidFill>
            <a:srgbClr val="1E2B45"/>
          </a:solidFill>
          <a:ln w="12700">
            <a:solidFill>
              <a:srgbClr val="1E2B45"/>
            </a:solidFill>
            <a:prstDash val="solid"/>
          </a:ln>
        </p:spPr>
      </p:sp>
      <p:sp>
        <p:nvSpPr>
          <p:cNvPr id="6" name="Text 3"/>
          <p:cNvSpPr txBox="1"/>
          <p:nvPr/>
        </p:nvSpPr>
        <p:spPr>
          <a:xfrm>
            <a:off x="777240" y="5468112"/>
            <a:ext cx="5029200" cy="768096"/>
          </a:xfrm>
          <a:prstGeom prst="rect">
            <a:avLst/>
          </a:prstGeom>
          <a:noFill/>
          <a:ln/>
        </p:spPr>
        <p:txBody>
          <a:bodyPr wrap="square" lIns="0" tIns="0" rIns="0" bIns="0" rtlCol="0" anchor="ctr"/>
          <a:lstStyle/>
          <a:p>
            <a:pPr indent="0" marL="0">
              <a:buNone/>
            </a:pPr>
            <a:r>
              <a:rPr lang="en-US" sz="1250" b="1" dirty="0">
                <a:solidFill>
                  <a:srgbClr val="FBBF24"/>
                </a:solidFill>
                <a:latin typeface="Calibri" pitchFamily="34" charset="0"/>
                <a:ea typeface="Calibri" pitchFamily="34" charset="-122"/>
                <a:cs typeface="Calibri" pitchFamily="34" charset="-120"/>
              </a:rPr>
              <a:t>Gets smarter with use  </a:t>
            </a:r>
            <a:pPr indent="0" marL="0">
              <a:buNone/>
            </a:pPr>
            <a:r>
              <a:rPr lang="en-US" sz="1250" dirty="0">
                <a:solidFill>
                  <a:srgbClr val="F8FAFC"/>
                </a:solidFill>
                <a:latin typeface="Calibri" pitchFamily="34" charset="0"/>
                <a:ea typeface="Calibri" pitchFamily="34" charset="-122"/>
                <a:cs typeface="Calibri" pitchFamily="34" charset="-120"/>
              </a:rPr>
              <a:t>What a business orders and records today shapes the suppliers it's matched with tomorrow: closer, a better fit, stocking what it buys.</a:t>
            </a:r>
            <a:endParaRPr lang="en-US" sz="1250" dirty="0"/>
          </a:p>
        </p:txBody>
      </p:sp>
      <p:sp>
        <p:nvSpPr>
          <p:cNvPr id="7" name="Shape 4"/>
          <p:cNvSpPr/>
          <p:nvPr/>
        </p:nvSpPr>
        <p:spPr>
          <a:xfrm>
            <a:off x="6172200" y="5440680"/>
            <a:ext cx="5440680" cy="822960"/>
          </a:xfrm>
          <a:prstGeom prst="roundRect">
            <a:avLst>
              <a:gd name="adj" fmla="val 13333"/>
            </a:avLst>
          </a:prstGeom>
          <a:solidFill>
            <a:srgbClr val="1E2B45"/>
          </a:solidFill>
          <a:ln w="12700">
            <a:solidFill>
              <a:srgbClr val="1E2B45"/>
            </a:solidFill>
            <a:prstDash val="solid"/>
          </a:ln>
        </p:spPr>
      </p:sp>
      <p:sp>
        <p:nvSpPr>
          <p:cNvPr id="8" name="Text 5"/>
          <p:cNvSpPr txBox="1"/>
          <p:nvPr/>
        </p:nvSpPr>
        <p:spPr>
          <a:xfrm>
            <a:off x="6400800" y="5468112"/>
            <a:ext cx="5029200" cy="768096"/>
          </a:xfrm>
          <a:prstGeom prst="rect">
            <a:avLst/>
          </a:prstGeom>
          <a:noFill/>
          <a:ln/>
        </p:spPr>
        <p:txBody>
          <a:bodyPr wrap="square" lIns="0" tIns="0" rIns="0" bIns="0" rtlCol="0" anchor="ctr"/>
          <a:lstStyle/>
          <a:p>
            <a:pPr indent="0" marL="0">
              <a:buNone/>
            </a:pPr>
            <a:r>
              <a:rPr lang="en-US" sz="1250" b="1" dirty="0">
                <a:solidFill>
                  <a:srgbClr val="FBBF24"/>
                </a:solidFill>
                <a:latin typeface="Calibri" pitchFamily="34" charset="0"/>
                <a:ea typeface="Calibri" pitchFamily="34" charset="-122"/>
                <a:cs typeface="Calibri" pitchFamily="34" charset="-120"/>
              </a:rPr>
              <a:t>A record that holds up  </a:t>
            </a:r>
            <a:pPr indent="0" marL="0">
              <a:buNone/>
            </a:pPr>
            <a:r>
              <a:rPr lang="en-US" sz="1250" dirty="0">
                <a:solidFill>
                  <a:srgbClr val="F8FAFC"/>
                </a:solidFill>
                <a:latin typeface="Calibri" pitchFamily="34" charset="0"/>
                <a:ea typeface="Calibri" pitchFamily="34" charset="-122"/>
                <a:cs typeface="Calibri" pitchFamily="34" charset="-120"/>
              </a:rPr>
              <a:t>Digital payments verified by the provider, and a sealed history of stock orders that nobody can quietly change.</a:t>
            </a:r>
            <a:endParaRPr lang="en-US" sz="1250" dirty="0"/>
          </a:p>
        </p:txBody>
      </p:sp>
      <p:pic>
        <p:nvPicPr>
          <p:cNvPr id="9" name="Image 0" descr="preencoded.png">    </p:cNvPr>
          <p:cNvPicPr>
            <a:picLocks noChangeAspect="1"/>
          </p:cNvPicPr>
          <p:nvPr/>
        </p:nvPicPr>
        <p:blipFill>
          <a:blip r:embed="rId1"/>
          <a:stretch>
            <a:fillRect/>
          </a:stretch>
        </p:blipFill>
        <p:spPr>
          <a:xfrm>
            <a:off x="11231575" y="6291072"/>
            <a:ext cx="384048" cy="384048"/>
          </a:xfrm>
          <a:prstGeom prst="rect">
            <a:avLst/>
          </a:prstGeom>
        </p:spPr>
      </p:pic>
      <p:sp>
        <p:nvSpPr>
          <p:cNvPr id="10" name="Text 6"/>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TECHNOLOGICAL ARCHITECTURE</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F8FAFC"/>
                </a:solidFill>
                <a:latin typeface="Georgia" pitchFamily="34" charset="0"/>
                <a:ea typeface="Georgia" pitchFamily="34" charset="-122"/>
                <a:cs typeface="Georgia" pitchFamily="34" charset="-120"/>
              </a:rPr>
              <a:t>Built, tested, and ready to pilot</a:t>
            </a:r>
            <a:endParaRPr lang="en-US" sz="3200" dirty="0"/>
          </a:p>
        </p:txBody>
      </p:sp>
      <p:sp>
        <p:nvSpPr>
          <p:cNvPr id="4" name="Shape 2"/>
          <p:cNvSpPr/>
          <p:nvPr/>
        </p:nvSpPr>
        <p:spPr>
          <a:xfrm>
            <a:off x="548640" y="1737360"/>
            <a:ext cx="3291840" cy="1691640"/>
          </a:xfrm>
          <a:prstGeom prst="roundRect">
            <a:avLst>
              <a:gd name="adj" fmla="val 6486"/>
            </a:avLst>
          </a:prstGeom>
          <a:solidFill>
            <a:srgbClr val="17223A"/>
          </a:solidFill>
          <a:ln w="12700">
            <a:solidFill>
              <a:srgbClr val="17223A"/>
            </a:solidFill>
            <a:prstDash val="solid"/>
          </a:ln>
        </p:spPr>
      </p:sp>
      <p:sp>
        <p:nvSpPr>
          <p:cNvPr id="5" name="Shape 3"/>
          <p:cNvSpPr/>
          <p:nvPr/>
        </p:nvSpPr>
        <p:spPr>
          <a:xfrm>
            <a:off x="777240" y="1965960"/>
            <a:ext cx="603504" cy="603504"/>
          </a:xfrm>
          <a:prstGeom prst="ellipse">
            <a:avLst/>
          </a:prstGeom>
          <a:solidFill>
            <a:srgbClr val="1E2B45"/>
          </a:solidFill>
          <a:ln w="19050">
            <a:solidFill>
              <a:srgbClr val="10B981"/>
            </a:solidFill>
            <a:prstDash val="solid"/>
          </a:ln>
        </p:spPr>
      </p:sp>
      <p:pic>
        <p:nvPicPr>
          <p:cNvPr id="6" name="Image 0" descr="preencoded.png">    </p:cNvPr>
          <p:cNvPicPr>
            <a:picLocks noChangeAspect="1"/>
          </p:cNvPicPr>
          <p:nvPr/>
        </p:nvPicPr>
        <p:blipFill>
          <a:blip r:embed="rId1"/>
          <a:stretch>
            <a:fillRect/>
          </a:stretch>
        </p:blipFill>
        <p:spPr>
          <a:xfrm>
            <a:off x="922081" y="2110801"/>
            <a:ext cx="313822" cy="313822"/>
          </a:xfrm>
          <a:prstGeom prst="rect">
            <a:avLst/>
          </a:prstGeom>
        </p:spPr>
      </p:pic>
      <p:sp>
        <p:nvSpPr>
          <p:cNvPr id="7" name="Text 4"/>
          <p:cNvSpPr txBox="1"/>
          <p:nvPr/>
        </p:nvSpPr>
        <p:spPr>
          <a:xfrm>
            <a:off x="1508760" y="1993392"/>
            <a:ext cx="2148840" cy="365760"/>
          </a:xfrm>
          <a:prstGeom prst="rect">
            <a:avLst/>
          </a:prstGeom>
          <a:noFill/>
          <a:ln/>
        </p:spPr>
        <p:txBody>
          <a:bodyPr wrap="square" lIns="0" tIns="0" rIns="0" bIns="0" rtlCol="0" anchor="t"/>
          <a:lstStyle/>
          <a:p>
            <a:pPr indent="0" marL="0">
              <a:buNone/>
            </a:pPr>
            <a:r>
              <a:rPr lang="en-US" sz="1700" b="1" dirty="0">
                <a:solidFill>
                  <a:srgbClr val="10B981"/>
                </a:solidFill>
                <a:latin typeface="Calibri" pitchFamily="34" charset="0"/>
                <a:ea typeface="Calibri" pitchFamily="34" charset="-122"/>
                <a:cs typeface="Calibri" pitchFamily="34" charset="-120"/>
              </a:rPr>
              <a:t>Mobile app</a:t>
            </a:r>
            <a:endParaRPr lang="en-US" sz="1700" dirty="0"/>
          </a:p>
        </p:txBody>
      </p:sp>
      <p:sp>
        <p:nvSpPr>
          <p:cNvPr id="8" name="Text 5"/>
          <p:cNvSpPr txBox="1"/>
          <p:nvPr/>
        </p:nvSpPr>
        <p:spPr>
          <a:xfrm>
            <a:off x="1508760" y="2377440"/>
            <a:ext cx="2148840" cy="96012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Frontend: React Native + Expo (TypeScript). Android first; secure storage for sign-in.</a:t>
            </a:r>
            <a:endParaRPr lang="en-US" sz="1300" dirty="0"/>
          </a:p>
        </p:txBody>
      </p:sp>
      <p:sp>
        <p:nvSpPr>
          <p:cNvPr id="9" name="Shape 6"/>
          <p:cNvSpPr/>
          <p:nvPr/>
        </p:nvSpPr>
        <p:spPr>
          <a:xfrm>
            <a:off x="4434840" y="1737360"/>
            <a:ext cx="3291840" cy="1691640"/>
          </a:xfrm>
          <a:prstGeom prst="roundRect">
            <a:avLst>
              <a:gd name="adj" fmla="val 6486"/>
            </a:avLst>
          </a:prstGeom>
          <a:solidFill>
            <a:srgbClr val="17223A"/>
          </a:solidFill>
          <a:ln w="12700">
            <a:solidFill>
              <a:srgbClr val="17223A"/>
            </a:solidFill>
            <a:prstDash val="solid"/>
          </a:ln>
        </p:spPr>
      </p:sp>
      <p:sp>
        <p:nvSpPr>
          <p:cNvPr id="10" name="Shape 7"/>
          <p:cNvSpPr/>
          <p:nvPr/>
        </p:nvSpPr>
        <p:spPr>
          <a:xfrm>
            <a:off x="4663440" y="1965960"/>
            <a:ext cx="603504" cy="603504"/>
          </a:xfrm>
          <a:prstGeom prst="ellipse">
            <a:avLst/>
          </a:prstGeom>
          <a:solidFill>
            <a:srgbClr val="1E2B45"/>
          </a:solidFill>
          <a:ln w="19050">
            <a:solidFill>
              <a:srgbClr val="FBBF24"/>
            </a:solidFill>
            <a:prstDash val="solid"/>
          </a:ln>
        </p:spPr>
      </p:sp>
      <p:pic>
        <p:nvPicPr>
          <p:cNvPr id="11" name="Image 1" descr="preencoded.png">    </p:cNvPr>
          <p:cNvPicPr>
            <a:picLocks noChangeAspect="1"/>
          </p:cNvPicPr>
          <p:nvPr/>
        </p:nvPicPr>
        <p:blipFill>
          <a:blip r:embed="rId2"/>
          <a:stretch>
            <a:fillRect/>
          </a:stretch>
        </p:blipFill>
        <p:spPr>
          <a:xfrm>
            <a:off x="4808281" y="2110801"/>
            <a:ext cx="313822" cy="313822"/>
          </a:xfrm>
          <a:prstGeom prst="rect">
            <a:avLst/>
          </a:prstGeom>
        </p:spPr>
      </p:pic>
      <p:sp>
        <p:nvSpPr>
          <p:cNvPr id="12" name="Text 8"/>
          <p:cNvSpPr txBox="1"/>
          <p:nvPr/>
        </p:nvSpPr>
        <p:spPr>
          <a:xfrm>
            <a:off x="5394960" y="1993392"/>
            <a:ext cx="2148840" cy="365760"/>
          </a:xfrm>
          <a:prstGeom prst="rect">
            <a:avLst/>
          </a:prstGeom>
          <a:noFill/>
          <a:ln/>
        </p:spPr>
        <p:txBody>
          <a:bodyPr wrap="square" lIns="0" tIns="0" rIns="0" bIns="0" rtlCol="0" anchor="t"/>
          <a:lstStyle/>
          <a:p>
            <a:pPr indent="0" marL="0">
              <a:buNone/>
            </a:pPr>
            <a:r>
              <a:rPr lang="en-US" sz="1700" b="1" dirty="0">
                <a:solidFill>
                  <a:srgbClr val="FBBF24"/>
                </a:solidFill>
                <a:latin typeface="Calibri" pitchFamily="34" charset="0"/>
                <a:ea typeface="Calibri" pitchFamily="34" charset="-122"/>
                <a:cs typeface="Calibri" pitchFamily="34" charset="-120"/>
              </a:rPr>
              <a:t>API</a:t>
            </a:r>
            <a:endParaRPr lang="en-US" sz="1700" dirty="0"/>
          </a:p>
        </p:txBody>
      </p:sp>
      <p:sp>
        <p:nvSpPr>
          <p:cNvPr id="13" name="Text 9"/>
          <p:cNvSpPr txBox="1"/>
          <p:nvPr/>
        </p:nvSpPr>
        <p:spPr>
          <a:xfrm>
            <a:off x="5394960" y="2377440"/>
            <a:ext cx="2148840" cy="96012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Backend: Python + Flask. Strict input checks, rate limits; the server prices every order.</a:t>
            </a:r>
            <a:endParaRPr lang="en-US" sz="1300" dirty="0"/>
          </a:p>
        </p:txBody>
      </p:sp>
      <p:sp>
        <p:nvSpPr>
          <p:cNvPr id="14" name="Shape 10"/>
          <p:cNvSpPr/>
          <p:nvPr/>
        </p:nvSpPr>
        <p:spPr>
          <a:xfrm>
            <a:off x="8321040" y="1737360"/>
            <a:ext cx="3291840" cy="1691640"/>
          </a:xfrm>
          <a:prstGeom prst="roundRect">
            <a:avLst>
              <a:gd name="adj" fmla="val 6486"/>
            </a:avLst>
          </a:prstGeom>
          <a:solidFill>
            <a:srgbClr val="17223A"/>
          </a:solidFill>
          <a:ln w="12700">
            <a:solidFill>
              <a:srgbClr val="17223A"/>
            </a:solidFill>
            <a:prstDash val="solid"/>
          </a:ln>
        </p:spPr>
      </p:sp>
      <p:sp>
        <p:nvSpPr>
          <p:cNvPr id="15" name="Shape 11"/>
          <p:cNvSpPr/>
          <p:nvPr/>
        </p:nvSpPr>
        <p:spPr>
          <a:xfrm>
            <a:off x="8549640" y="1965960"/>
            <a:ext cx="603504" cy="603504"/>
          </a:xfrm>
          <a:prstGeom prst="ellipse">
            <a:avLst/>
          </a:prstGeom>
          <a:solidFill>
            <a:srgbClr val="1E2B45"/>
          </a:solidFill>
          <a:ln w="19050">
            <a:solidFill>
              <a:srgbClr val="34D399"/>
            </a:solidFill>
            <a:prstDash val="solid"/>
          </a:ln>
        </p:spPr>
      </p:sp>
      <p:pic>
        <p:nvPicPr>
          <p:cNvPr id="16" name="Image 2" descr="preencoded.png">    </p:cNvPr>
          <p:cNvPicPr>
            <a:picLocks noChangeAspect="1"/>
          </p:cNvPicPr>
          <p:nvPr/>
        </p:nvPicPr>
        <p:blipFill>
          <a:blip r:embed="rId3"/>
          <a:stretch>
            <a:fillRect/>
          </a:stretch>
        </p:blipFill>
        <p:spPr>
          <a:xfrm>
            <a:off x="8694481" y="2110801"/>
            <a:ext cx="313822" cy="313822"/>
          </a:xfrm>
          <a:prstGeom prst="rect">
            <a:avLst/>
          </a:prstGeom>
        </p:spPr>
      </p:pic>
      <p:sp>
        <p:nvSpPr>
          <p:cNvPr id="17" name="Text 12"/>
          <p:cNvSpPr txBox="1"/>
          <p:nvPr/>
        </p:nvSpPr>
        <p:spPr>
          <a:xfrm>
            <a:off x="9281160" y="1993392"/>
            <a:ext cx="2148840" cy="365760"/>
          </a:xfrm>
          <a:prstGeom prst="rect">
            <a:avLst/>
          </a:prstGeom>
          <a:noFill/>
          <a:ln/>
        </p:spPr>
        <p:txBody>
          <a:bodyPr wrap="square" lIns="0" tIns="0" rIns="0" bIns="0" rtlCol="0" anchor="t"/>
          <a:lstStyle/>
          <a:p>
            <a:pPr indent="0" marL="0">
              <a:buNone/>
            </a:pPr>
            <a:r>
              <a:rPr lang="en-US" sz="1700" b="1" dirty="0">
                <a:solidFill>
                  <a:srgbClr val="34D399"/>
                </a:solidFill>
                <a:latin typeface="Calibri" pitchFamily="34" charset="0"/>
                <a:ea typeface="Calibri" pitchFamily="34" charset="-122"/>
                <a:cs typeface="Calibri" pitchFamily="34" charset="-120"/>
              </a:rPr>
              <a:t>Database</a:t>
            </a:r>
            <a:endParaRPr lang="en-US" sz="1700" dirty="0"/>
          </a:p>
        </p:txBody>
      </p:sp>
      <p:sp>
        <p:nvSpPr>
          <p:cNvPr id="18" name="Text 13"/>
          <p:cNvSpPr txBox="1"/>
          <p:nvPr/>
        </p:nvSpPr>
        <p:spPr>
          <a:xfrm>
            <a:off x="9281160" y="2377440"/>
            <a:ext cx="2148840" cy="96012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PostgreSQL, one schema per area, versioned migrations, append-only audit.</a:t>
            </a:r>
            <a:endParaRPr lang="en-US" sz="1300" dirty="0"/>
          </a:p>
        </p:txBody>
      </p:sp>
      <p:sp>
        <p:nvSpPr>
          <p:cNvPr id="19" name="Shape 14"/>
          <p:cNvSpPr/>
          <p:nvPr/>
        </p:nvSpPr>
        <p:spPr>
          <a:xfrm>
            <a:off x="3886200" y="2578608"/>
            <a:ext cx="502920" cy="0"/>
          </a:xfrm>
          <a:prstGeom prst="line">
            <a:avLst/>
          </a:prstGeom>
          <a:noFill/>
          <a:ln w="25400">
            <a:solidFill>
              <a:srgbClr val="10B981"/>
            </a:solidFill>
            <a:prstDash val="solid"/>
            <a:headEnd type="triangle"/>
            <a:tailEnd type="triangle"/>
          </a:ln>
        </p:spPr>
      </p:sp>
      <p:sp>
        <p:nvSpPr>
          <p:cNvPr id="20" name="Shape 15"/>
          <p:cNvSpPr/>
          <p:nvPr/>
        </p:nvSpPr>
        <p:spPr>
          <a:xfrm>
            <a:off x="7772400" y="2578608"/>
            <a:ext cx="502920" cy="0"/>
          </a:xfrm>
          <a:prstGeom prst="line">
            <a:avLst/>
          </a:prstGeom>
          <a:noFill/>
          <a:ln w="25400">
            <a:solidFill>
              <a:srgbClr val="10B981"/>
            </a:solidFill>
            <a:prstDash val="solid"/>
            <a:headEnd type="triangle"/>
            <a:tailEnd type="triangle"/>
          </a:ln>
        </p:spPr>
      </p:sp>
      <p:sp>
        <p:nvSpPr>
          <p:cNvPr id="21" name="Shape 16"/>
          <p:cNvSpPr/>
          <p:nvPr/>
        </p:nvSpPr>
        <p:spPr>
          <a:xfrm>
            <a:off x="548640" y="3611880"/>
            <a:ext cx="2606040" cy="1188720"/>
          </a:xfrm>
          <a:prstGeom prst="roundRect">
            <a:avLst>
              <a:gd name="adj" fmla="val 9231"/>
            </a:avLst>
          </a:prstGeom>
          <a:solidFill>
            <a:srgbClr val="1E2B45"/>
          </a:solidFill>
          <a:ln w="12700">
            <a:solidFill>
              <a:srgbClr val="1E2B45"/>
            </a:solidFill>
            <a:prstDash val="solid"/>
          </a:ln>
        </p:spPr>
      </p:sp>
      <p:sp>
        <p:nvSpPr>
          <p:cNvPr id="22" name="Shape 17"/>
          <p:cNvSpPr/>
          <p:nvPr/>
        </p:nvSpPr>
        <p:spPr>
          <a:xfrm>
            <a:off x="731520" y="3767328"/>
            <a:ext cx="512064" cy="512064"/>
          </a:xfrm>
          <a:prstGeom prst="ellipse">
            <a:avLst/>
          </a:prstGeom>
          <a:solidFill>
            <a:srgbClr val="1E2B45"/>
          </a:solidFill>
          <a:ln w="19050">
            <a:solidFill>
              <a:srgbClr val="10B981"/>
            </a:solidFill>
            <a:prstDash val="solid"/>
          </a:ln>
        </p:spPr>
      </p:sp>
      <p:pic>
        <p:nvPicPr>
          <p:cNvPr id="23" name="Image 3" descr="preencoded.png">    </p:cNvPr>
          <p:cNvPicPr>
            <a:picLocks noChangeAspect="1"/>
          </p:cNvPicPr>
          <p:nvPr/>
        </p:nvPicPr>
        <p:blipFill>
          <a:blip r:embed="rId4"/>
          <a:stretch>
            <a:fillRect/>
          </a:stretch>
        </p:blipFill>
        <p:spPr>
          <a:xfrm>
            <a:off x="854415" y="3890223"/>
            <a:ext cx="266273" cy="266273"/>
          </a:xfrm>
          <a:prstGeom prst="rect">
            <a:avLst/>
          </a:prstGeom>
        </p:spPr>
      </p:pic>
      <p:sp>
        <p:nvSpPr>
          <p:cNvPr id="24" name="Text 18"/>
          <p:cNvSpPr txBox="1"/>
          <p:nvPr/>
        </p:nvSpPr>
        <p:spPr>
          <a:xfrm>
            <a:off x="1371600" y="3794760"/>
            <a:ext cx="1737360" cy="36576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Digital payments</a:t>
            </a:r>
            <a:endParaRPr lang="en-US" sz="1300" dirty="0"/>
          </a:p>
        </p:txBody>
      </p:sp>
      <p:sp>
        <p:nvSpPr>
          <p:cNvPr id="25" name="Text 19"/>
          <p:cNvSpPr txBox="1"/>
          <p:nvPr/>
        </p:nvSpPr>
        <p:spPr>
          <a:xfrm>
            <a:off x="1371600" y="4160520"/>
            <a:ext cx="1737360" cy="548640"/>
          </a:xfrm>
          <a:prstGeom prst="rect">
            <a:avLst/>
          </a:prstGeom>
          <a:noFill/>
          <a:ln/>
        </p:spPr>
        <p:txBody>
          <a:bodyPr wrap="square" lIns="0" tIns="0" rIns="0" bIns="0" rtlCol="0" anchor="t"/>
          <a:lstStyle/>
          <a:p>
            <a:pPr indent="0" marL="0">
              <a:buNone/>
            </a:pPr>
            <a:r>
              <a:rPr lang="en-US" sz="1200" dirty="0">
                <a:solidFill>
                  <a:srgbClr val="A3B3C9"/>
                </a:solidFill>
                <a:latin typeface="Calibri" pitchFamily="34" charset="0"/>
                <a:ea typeface="Calibri" pitchFamily="34" charset="-122"/>
                <a:cs typeface="Calibri" pitchFamily="34" charset="-120"/>
              </a:rPr>
              <a:t>PayFast, confirmed by 4 checks</a:t>
            </a:r>
            <a:endParaRPr lang="en-US" sz="1200" dirty="0"/>
          </a:p>
        </p:txBody>
      </p:sp>
      <p:sp>
        <p:nvSpPr>
          <p:cNvPr id="26" name="Shape 20"/>
          <p:cNvSpPr/>
          <p:nvPr/>
        </p:nvSpPr>
        <p:spPr>
          <a:xfrm>
            <a:off x="3364992" y="3611880"/>
            <a:ext cx="2606040" cy="1188720"/>
          </a:xfrm>
          <a:prstGeom prst="roundRect">
            <a:avLst>
              <a:gd name="adj" fmla="val 9231"/>
            </a:avLst>
          </a:prstGeom>
          <a:solidFill>
            <a:srgbClr val="1E2B45"/>
          </a:solidFill>
          <a:ln w="12700">
            <a:solidFill>
              <a:srgbClr val="1E2B45"/>
            </a:solidFill>
            <a:prstDash val="solid"/>
          </a:ln>
        </p:spPr>
      </p:sp>
      <p:sp>
        <p:nvSpPr>
          <p:cNvPr id="27" name="Shape 21"/>
          <p:cNvSpPr/>
          <p:nvPr/>
        </p:nvSpPr>
        <p:spPr>
          <a:xfrm>
            <a:off x="3547872" y="3767328"/>
            <a:ext cx="512064" cy="512064"/>
          </a:xfrm>
          <a:prstGeom prst="ellipse">
            <a:avLst/>
          </a:prstGeom>
          <a:solidFill>
            <a:srgbClr val="1E2B45"/>
          </a:solidFill>
          <a:ln w="19050">
            <a:solidFill>
              <a:srgbClr val="10B981"/>
            </a:solidFill>
            <a:prstDash val="solid"/>
          </a:ln>
        </p:spPr>
      </p:sp>
      <p:pic>
        <p:nvPicPr>
          <p:cNvPr id="28" name="Image 4" descr="preencoded.png">    </p:cNvPr>
          <p:cNvPicPr>
            <a:picLocks noChangeAspect="1"/>
          </p:cNvPicPr>
          <p:nvPr/>
        </p:nvPicPr>
        <p:blipFill>
          <a:blip r:embed="rId5"/>
          <a:stretch>
            <a:fillRect/>
          </a:stretch>
        </p:blipFill>
        <p:spPr>
          <a:xfrm>
            <a:off x="3670767" y="3890223"/>
            <a:ext cx="266273" cy="266273"/>
          </a:xfrm>
          <a:prstGeom prst="rect">
            <a:avLst/>
          </a:prstGeom>
        </p:spPr>
      </p:pic>
      <p:sp>
        <p:nvSpPr>
          <p:cNvPr id="29" name="Text 22"/>
          <p:cNvSpPr txBox="1"/>
          <p:nvPr/>
        </p:nvSpPr>
        <p:spPr>
          <a:xfrm>
            <a:off x="4187952" y="3794760"/>
            <a:ext cx="1737360" cy="36576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Media</a:t>
            </a:r>
            <a:endParaRPr lang="en-US" sz="1300" dirty="0"/>
          </a:p>
        </p:txBody>
      </p:sp>
      <p:sp>
        <p:nvSpPr>
          <p:cNvPr id="30" name="Text 23"/>
          <p:cNvSpPr txBox="1"/>
          <p:nvPr/>
        </p:nvSpPr>
        <p:spPr>
          <a:xfrm>
            <a:off x="4187952" y="4160520"/>
            <a:ext cx="1737360" cy="548640"/>
          </a:xfrm>
          <a:prstGeom prst="rect">
            <a:avLst/>
          </a:prstGeom>
          <a:noFill/>
          <a:ln/>
        </p:spPr>
        <p:txBody>
          <a:bodyPr wrap="square" lIns="0" tIns="0" rIns="0" bIns="0" rtlCol="0" anchor="t"/>
          <a:lstStyle/>
          <a:p>
            <a:pPr indent="0" marL="0">
              <a:buNone/>
            </a:pPr>
            <a:r>
              <a:rPr lang="en-US" sz="1200" dirty="0">
                <a:solidFill>
                  <a:srgbClr val="A3B3C9"/>
                </a:solidFill>
                <a:latin typeface="Calibri" pitchFamily="34" charset="0"/>
                <a:ea typeface="Calibri" pitchFamily="34" charset="-122"/>
                <a:cs typeface="Calibri" pitchFamily="34" charset="-120"/>
              </a:rPr>
              <a:t>Cloudinary: private photos stay private, public ones signed</a:t>
            </a:r>
            <a:endParaRPr lang="en-US" sz="1200" dirty="0"/>
          </a:p>
        </p:txBody>
      </p:sp>
      <p:sp>
        <p:nvSpPr>
          <p:cNvPr id="31" name="Shape 24"/>
          <p:cNvSpPr/>
          <p:nvPr/>
        </p:nvSpPr>
        <p:spPr>
          <a:xfrm>
            <a:off x="6181344" y="3611880"/>
            <a:ext cx="2606040" cy="1188720"/>
          </a:xfrm>
          <a:prstGeom prst="roundRect">
            <a:avLst>
              <a:gd name="adj" fmla="val 9231"/>
            </a:avLst>
          </a:prstGeom>
          <a:solidFill>
            <a:srgbClr val="1E2B45"/>
          </a:solidFill>
          <a:ln w="12700">
            <a:solidFill>
              <a:srgbClr val="1E2B45"/>
            </a:solidFill>
            <a:prstDash val="solid"/>
          </a:ln>
        </p:spPr>
      </p:sp>
      <p:sp>
        <p:nvSpPr>
          <p:cNvPr id="32" name="Shape 25"/>
          <p:cNvSpPr/>
          <p:nvPr/>
        </p:nvSpPr>
        <p:spPr>
          <a:xfrm>
            <a:off x="6364224" y="3767328"/>
            <a:ext cx="512064" cy="512064"/>
          </a:xfrm>
          <a:prstGeom prst="ellipse">
            <a:avLst/>
          </a:prstGeom>
          <a:solidFill>
            <a:srgbClr val="1E2B45"/>
          </a:solidFill>
          <a:ln w="19050">
            <a:solidFill>
              <a:srgbClr val="10B981"/>
            </a:solidFill>
            <a:prstDash val="solid"/>
          </a:ln>
        </p:spPr>
      </p:sp>
      <p:pic>
        <p:nvPicPr>
          <p:cNvPr id="33" name="Image 5" descr="preencoded.png">    </p:cNvPr>
          <p:cNvPicPr>
            <a:picLocks noChangeAspect="1"/>
          </p:cNvPicPr>
          <p:nvPr/>
        </p:nvPicPr>
        <p:blipFill>
          <a:blip r:embed="rId6"/>
          <a:stretch>
            <a:fillRect/>
          </a:stretch>
        </p:blipFill>
        <p:spPr>
          <a:xfrm>
            <a:off x="6487119" y="3890223"/>
            <a:ext cx="266273" cy="266273"/>
          </a:xfrm>
          <a:prstGeom prst="rect">
            <a:avLst/>
          </a:prstGeom>
        </p:spPr>
      </p:pic>
      <p:sp>
        <p:nvSpPr>
          <p:cNvPr id="34" name="Text 26"/>
          <p:cNvSpPr txBox="1"/>
          <p:nvPr/>
        </p:nvSpPr>
        <p:spPr>
          <a:xfrm>
            <a:off x="7004304" y="3794760"/>
            <a:ext cx="1737360" cy="36576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Mapbox</a:t>
            </a:r>
            <a:endParaRPr lang="en-US" sz="1300" dirty="0"/>
          </a:p>
        </p:txBody>
      </p:sp>
      <p:sp>
        <p:nvSpPr>
          <p:cNvPr id="35" name="Text 27"/>
          <p:cNvSpPr txBox="1"/>
          <p:nvPr/>
        </p:nvSpPr>
        <p:spPr>
          <a:xfrm>
            <a:off x="7004304" y="4160520"/>
            <a:ext cx="1737360" cy="548640"/>
          </a:xfrm>
          <a:prstGeom prst="rect">
            <a:avLst/>
          </a:prstGeom>
          <a:noFill/>
          <a:ln/>
        </p:spPr>
        <p:txBody>
          <a:bodyPr wrap="square" lIns="0" tIns="0" rIns="0" bIns="0" rtlCol="0" anchor="t"/>
          <a:lstStyle/>
          <a:p>
            <a:pPr indent="0" marL="0">
              <a:buNone/>
            </a:pPr>
            <a:r>
              <a:rPr lang="en-US" sz="1200" dirty="0">
                <a:solidFill>
                  <a:srgbClr val="A3B3C9"/>
                </a:solidFill>
                <a:latin typeface="Calibri" pitchFamily="34" charset="0"/>
                <a:ea typeface="Calibri" pitchFamily="34" charset="-122"/>
                <a:cs typeface="Calibri" pitchFamily="34" charset="-120"/>
              </a:rPr>
              <a:t>addresses and distance</a:t>
            </a:r>
            <a:endParaRPr lang="en-US" sz="1200" dirty="0"/>
          </a:p>
        </p:txBody>
      </p:sp>
      <p:sp>
        <p:nvSpPr>
          <p:cNvPr id="36" name="Shape 28"/>
          <p:cNvSpPr/>
          <p:nvPr/>
        </p:nvSpPr>
        <p:spPr>
          <a:xfrm>
            <a:off x="8997696" y="3611880"/>
            <a:ext cx="2606040" cy="1188720"/>
          </a:xfrm>
          <a:prstGeom prst="roundRect">
            <a:avLst>
              <a:gd name="adj" fmla="val 9231"/>
            </a:avLst>
          </a:prstGeom>
          <a:solidFill>
            <a:srgbClr val="1E2B45"/>
          </a:solidFill>
          <a:ln w="12700">
            <a:solidFill>
              <a:srgbClr val="1E2B45"/>
            </a:solidFill>
            <a:prstDash val="solid"/>
          </a:ln>
        </p:spPr>
      </p:sp>
      <p:sp>
        <p:nvSpPr>
          <p:cNvPr id="37" name="Shape 29"/>
          <p:cNvSpPr/>
          <p:nvPr/>
        </p:nvSpPr>
        <p:spPr>
          <a:xfrm>
            <a:off x="9180576" y="3767328"/>
            <a:ext cx="512064" cy="512064"/>
          </a:xfrm>
          <a:prstGeom prst="ellipse">
            <a:avLst/>
          </a:prstGeom>
          <a:solidFill>
            <a:srgbClr val="1E2B45"/>
          </a:solidFill>
          <a:ln w="19050">
            <a:solidFill>
              <a:srgbClr val="10B981"/>
            </a:solidFill>
            <a:prstDash val="solid"/>
          </a:ln>
        </p:spPr>
      </p:sp>
      <p:pic>
        <p:nvPicPr>
          <p:cNvPr id="38" name="Image 6" descr="preencoded.png">    </p:cNvPr>
          <p:cNvPicPr>
            <a:picLocks noChangeAspect="1"/>
          </p:cNvPicPr>
          <p:nvPr/>
        </p:nvPicPr>
        <p:blipFill>
          <a:blip r:embed="rId7"/>
          <a:stretch>
            <a:fillRect/>
          </a:stretch>
        </p:blipFill>
        <p:spPr>
          <a:xfrm>
            <a:off x="9303471" y="3890223"/>
            <a:ext cx="266273" cy="266273"/>
          </a:xfrm>
          <a:prstGeom prst="rect">
            <a:avLst/>
          </a:prstGeom>
        </p:spPr>
      </p:pic>
      <p:sp>
        <p:nvSpPr>
          <p:cNvPr id="39" name="Text 30"/>
          <p:cNvSpPr txBox="1"/>
          <p:nvPr/>
        </p:nvSpPr>
        <p:spPr>
          <a:xfrm>
            <a:off x="9820656" y="3794760"/>
            <a:ext cx="1737360" cy="365760"/>
          </a:xfrm>
          <a:prstGeom prst="rect">
            <a:avLst/>
          </a:prstGeom>
          <a:noFill/>
          <a:ln/>
        </p:spPr>
        <p:txBody>
          <a:bodyPr wrap="square" lIns="0" tIns="0" rIns="0" bIns="0" rtlCol="0" anchor="t"/>
          <a:lstStyle/>
          <a:p>
            <a:pPr indent="0" marL="0">
              <a:buNone/>
            </a:pPr>
            <a:r>
              <a:rPr lang="en-US" sz="1300" b="1" dirty="0">
                <a:solidFill>
                  <a:srgbClr val="F8FAFC"/>
                </a:solidFill>
                <a:latin typeface="Calibri" pitchFamily="34" charset="0"/>
                <a:ea typeface="Calibri" pitchFamily="34" charset="-122"/>
                <a:cs typeface="Calibri" pitchFamily="34" charset="-120"/>
              </a:rPr>
              <a:t>Supplier engine</a:t>
            </a:r>
            <a:endParaRPr lang="en-US" sz="1300" dirty="0"/>
          </a:p>
        </p:txBody>
      </p:sp>
      <p:sp>
        <p:nvSpPr>
          <p:cNvPr id="40" name="Text 31"/>
          <p:cNvSpPr txBox="1"/>
          <p:nvPr/>
        </p:nvSpPr>
        <p:spPr>
          <a:xfrm>
            <a:off x="9820656" y="4160520"/>
            <a:ext cx="1737360" cy="548640"/>
          </a:xfrm>
          <a:prstGeom prst="rect">
            <a:avLst/>
          </a:prstGeom>
          <a:noFill/>
          <a:ln/>
        </p:spPr>
        <p:txBody>
          <a:bodyPr wrap="square" lIns="0" tIns="0" rIns="0" bIns="0" rtlCol="0" anchor="t"/>
          <a:lstStyle/>
          <a:p>
            <a:pPr indent="0" marL="0">
              <a:buNone/>
            </a:pPr>
            <a:r>
              <a:rPr lang="en-US" sz="1200" dirty="0">
                <a:solidFill>
                  <a:srgbClr val="A3B3C9"/>
                </a:solidFill>
                <a:latin typeface="Calibri" pitchFamily="34" charset="0"/>
                <a:ea typeface="Calibri" pitchFamily="34" charset="-122"/>
                <a:cs typeface="Calibri" pitchFamily="34" charset="-120"/>
              </a:rPr>
              <a:t>rule-based, with reasons</a:t>
            </a:r>
            <a:endParaRPr lang="en-US" sz="1200" dirty="0"/>
          </a:p>
        </p:txBody>
      </p:sp>
      <p:sp>
        <p:nvSpPr>
          <p:cNvPr id="41" name="Text 32"/>
          <p:cNvSpPr txBox="1"/>
          <p:nvPr/>
        </p:nvSpPr>
        <p:spPr>
          <a:xfrm>
            <a:off x="548640" y="5029200"/>
            <a:ext cx="2606040" cy="548640"/>
          </a:xfrm>
          <a:prstGeom prst="rect">
            <a:avLst/>
          </a:prstGeom>
          <a:noFill/>
          <a:ln/>
        </p:spPr>
        <p:txBody>
          <a:bodyPr wrap="square" lIns="0" tIns="0" rIns="0" bIns="0" rtlCol="0" anchor="t"/>
          <a:lstStyle/>
          <a:p>
            <a:pPr indent="0" marL="0">
              <a:buNone/>
            </a:pPr>
            <a:r>
              <a:rPr lang="en-US" sz="2600" b="1" dirty="0">
                <a:solidFill>
                  <a:srgbClr val="34D399"/>
                </a:solidFill>
                <a:latin typeface="Georgia" pitchFamily="34" charset="0"/>
                <a:ea typeface="Georgia" pitchFamily="34" charset="-122"/>
                <a:cs typeface="Georgia" pitchFamily="34" charset="-120"/>
              </a:rPr>
              <a:t>1,281</a:t>
            </a:r>
            <a:endParaRPr lang="en-US" sz="2600" dirty="0"/>
          </a:p>
        </p:txBody>
      </p:sp>
      <p:sp>
        <p:nvSpPr>
          <p:cNvPr id="42" name="Text 33"/>
          <p:cNvSpPr txBox="1"/>
          <p:nvPr/>
        </p:nvSpPr>
        <p:spPr>
          <a:xfrm>
            <a:off x="548640" y="5577840"/>
            <a:ext cx="2606040" cy="36576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system tests</a:t>
            </a:r>
            <a:endParaRPr lang="en-US" sz="1300" dirty="0"/>
          </a:p>
        </p:txBody>
      </p:sp>
      <p:sp>
        <p:nvSpPr>
          <p:cNvPr id="43" name="Text 34"/>
          <p:cNvSpPr txBox="1"/>
          <p:nvPr/>
        </p:nvSpPr>
        <p:spPr>
          <a:xfrm>
            <a:off x="3364992" y="5029200"/>
            <a:ext cx="2606040" cy="548640"/>
          </a:xfrm>
          <a:prstGeom prst="rect">
            <a:avLst/>
          </a:prstGeom>
          <a:noFill/>
          <a:ln/>
        </p:spPr>
        <p:txBody>
          <a:bodyPr wrap="square" lIns="0" tIns="0" rIns="0" bIns="0" rtlCol="0" anchor="t"/>
          <a:lstStyle/>
          <a:p>
            <a:pPr indent="0" marL="0">
              <a:buNone/>
            </a:pPr>
            <a:r>
              <a:rPr lang="en-US" sz="2600" b="1" dirty="0">
                <a:solidFill>
                  <a:srgbClr val="34D399"/>
                </a:solidFill>
                <a:latin typeface="Georgia" pitchFamily="34" charset="0"/>
                <a:ea typeface="Georgia" pitchFamily="34" charset="-122"/>
                <a:cs typeface="Georgia" pitchFamily="34" charset="-120"/>
              </a:rPr>
              <a:t>214</a:t>
            </a:r>
            <a:endParaRPr lang="en-US" sz="2600" dirty="0"/>
          </a:p>
        </p:txBody>
      </p:sp>
      <p:sp>
        <p:nvSpPr>
          <p:cNvPr id="44" name="Text 35"/>
          <p:cNvSpPr txBox="1"/>
          <p:nvPr/>
        </p:nvSpPr>
        <p:spPr>
          <a:xfrm>
            <a:off x="3364992" y="5577840"/>
            <a:ext cx="2606040" cy="36576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app tests</a:t>
            </a:r>
            <a:endParaRPr lang="en-US" sz="1300" dirty="0"/>
          </a:p>
        </p:txBody>
      </p:sp>
      <p:sp>
        <p:nvSpPr>
          <p:cNvPr id="45" name="Text 36"/>
          <p:cNvSpPr txBox="1"/>
          <p:nvPr/>
        </p:nvSpPr>
        <p:spPr>
          <a:xfrm>
            <a:off x="6181344" y="5029200"/>
            <a:ext cx="2606040" cy="548640"/>
          </a:xfrm>
          <a:prstGeom prst="rect">
            <a:avLst/>
          </a:prstGeom>
          <a:noFill/>
          <a:ln/>
        </p:spPr>
        <p:txBody>
          <a:bodyPr wrap="square" lIns="0" tIns="0" rIns="0" bIns="0" rtlCol="0" anchor="t"/>
          <a:lstStyle/>
          <a:p>
            <a:pPr indent="0" marL="0">
              <a:buNone/>
            </a:pPr>
            <a:r>
              <a:rPr lang="en-US" sz="2600" b="1" dirty="0">
                <a:solidFill>
                  <a:srgbClr val="34D399"/>
                </a:solidFill>
                <a:latin typeface="Georgia" pitchFamily="34" charset="0"/>
                <a:ea typeface="Georgia" pitchFamily="34" charset="-122"/>
                <a:cs typeface="Georgia" pitchFamily="34" charset="-120"/>
              </a:rPr>
              <a:t>TRL 4</a:t>
            </a:r>
            <a:endParaRPr lang="en-US" sz="2600" dirty="0"/>
          </a:p>
        </p:txBody>
      </p:sp>
      <p:sp>
        <p:nvSpPr>
          <p:cNvPr id="46" name="Text 37"/>
          <p:cNvSpPr txBox="1"/>
          <p:nvPr/>
        </p:nvSpPr>
        <p:spPr>
          <a:xfrm>
            <a:off x="6181344" y="5577840"/>
            <a:ext cx="2606040" cy="36576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today; pilot → TRL 6</a:t>
            </a:r>
            <a:endParaRPr lang="en-US" sz="1300" dirty="0"/>
          </a:p>
        </p:txBody>
      </p:sp>
      <p:sp>
        <p:nvSpPr>
          <p:cNvPr id="47" name="Text 38"/>
          <p:cNvSpPr txBox="1"/>
          <p:nvPr/>
        </p:nvSpPr>
        <p:spPr>
          <a:xfrm>
            <a:off x="8997696" y="5029200"/>
            <a:ext cx="2606040" cy="548640"/>
          </a:xfrm>
          <a:prstGeom prst="rect">
            <a:avLst/>
          </a:prstGeom>
          <a:noFill/>
          <a:ln/>
        </p:spPr>
        <p:txBody>
          <a:bodyPr wrap="square" lIns="0" tIns="0" rIns="0" bIns="0" rtlCol="0" anchor="t"/>
          <a:lstStyle/>
          <a:p>
            <a:pPr indent="0" marL="0">
              <a:buNone/>
            </a:pPr>
            <a:r>
              <a:rPr lang="en-US" sz="2600" b="1" dirty="0">
                <a:solidFill>
                  <a:srgbClr val="FBBF24"/>
                </a:solidFill>
                <a:latin typeface="Georgia" pitchFamily="34" charset="0"/>
                <a:ea typeface="Georgia" pitchFamily="34" charset="-122"/>
                <a:cs typeface="Georgia" pitchFamily="34" charset="-120"/>
              </a:rPr>
              <a:t>ML-DSA-65</a:t>
            </a:r>
            <a:endParaRPr lang="en-US" sz="2600" dirty="0"/>
          </a:p>
        </p:txBody>
      </p:sp>
      <p:sp>
        <p:nvSpPr>
          <p:cNvPr id="48" name="Text 39"/>
          <p:cNvSpPr txBox="1"/>
          <p:nvPr/>
        </p:nvSpPr>
        <p:spPr>
          <a:xfrm>
            <a:off x="8997696" y="5577840"/>
            <a:ext cx="2606040" cy="365760"/>
          </a:xfrm>
          <a:prstGeom prst="rect">
            <a:avLst/>
          </a:prstGeom>
          <a:noFill/>
          <a:ln/>
        </p:spPr>
        <p:txBody>
          <a:bodyPr wrap="square" lIns="0" tIns="0" rIns="0" bIns="0" rtlCol="0" anchor="t"/>
          <a:lstStyle/>
          <a:p>
            <a:pPr indent="0" marL="0">
              <a:buNone/>
            </a:pPr>
            <a:r>
              <a:rPr lang="en-US" sz="1300" dirty="0">
                <a:solidFill>
                  <a:srgbClr val="A3B3C9"/>
                </a:solidFill>
                <a:latin typeface="Calibri" pitchFamily="34" charset="0"/>
                <a:ea typeface="Calibri" pitchFamily="34" charset="-122"/>
                <a:cs typeface="Calibri" pitchFamily="34" charset="-120"/>
              </a:rPr>
              <a:t>post-quantum sealed records</a:t>
            </a:r>
            <a:endParaRPr lang="en-US" sz="1300" dirty="0"/>
          </a:p>
        </p:txBody>
      </p:sp>
      <p:pic>
        <p:nvPicPr>
          <p:cNvPr id="49" name="Image 7" descr="preencoded.png">    </p:cNvPr>
          <p:cNvPicPr>
            <a:picLocks noChangeAspect="1"/>
          </p:cNvPicPr>
          <p:nvPr/>
        </p:nvPicPr>
        <p:blipFill>
          <a:blip r:embed="rId8"/>
          <a:stretch>
            <a:fillRect/>
          </a:stretch>
        </p:blipFill>
        <p:spPr>
          <a:xfrm>
            <a:off x="11231575" y="6291072"/>
            <a:ext cx="384048" cy="384048"/>
          </a:xfrm>
          <a:prstGeom prst="rect">
            <a:avLst/>
          </a:prstGeom>
        </p:spPr>
      </p:pic>
      <p:sp>
        <p:nvSpPr>
          <p:cNvPr id="50" name="Text 40"/>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DATA PRIVACY</a:t>
            </a:r>
            <a:endParaRPr lang="en-US" sz="1300" dirty="0"/>
          </a:p>
        </p:txBody>
      </p:sp>
      <p:sp>
        <p:nvSpPr>
          <p:cNvPr id="3" name="Text 1"/>
          <p:cNvSpPr txBox="1"/>
          <p:nvPr/>
        </p:nvSpPr>
        <p:spPr>
          <a:xfrm>
            <a:off x="548640" y="731520"/>
            <a:ext cx="11094415" cy="868680"/>
          </a:xfrm>
          <a:prstGeom prst="rect">
            <a:avLst/>
          </a:prstGeom>
          <a:noFill/>
          <a:ln/>
        </p:spPr>
        <p:txBody>
          <a:bodyPr wrap="square" lIns="0" tIns="0" rIns="0" bIns="0" rtlCol="0" anchor="t"/>
          <a:lstStyle/>
          <a:p>
            <a:pPr indent="0" marL="0">
              <a:buNone/>
            </a:pPr>
            <a:r>
              <a:rPr lang="en-US" sz="3200" b="1" dirty="0">
                <a:solidFill>
                  <a:srgbClr val="F8FAFC"/>
                </a:solidFill>
                <a:latin typeface="Georgia" pitchFamily="34" charset="0"/>
                <a:ea typeface="Georgia" pitchFamily="34" charset="-122"/>
                <a:cs typeface="Georgia" pitchFamily="34" charset="-120"/>
              </a:rPr>
              <a:t>Complying with the law, by design</a:t>
            </a:r>
            <a:endParaRPr lang="en-US" sz="3200" dirty="0"/>
          </a:p>
        </p:txBody>
      </p:sp>
      <p:sp>
        <p:nvSpPr>
          <p:cNvPr id="4" name="Text 2"/>
          <p:cNvSpPr txBox="1"/>
          <p:nvPr/>
        </p:nvSpPr>
        <p:spPr>
          <a:xfrm>
            <a:off x="548640" y="1298448"/>
            <a:ext cx="11064240" cy="365760"/>
          </a:xfrm>
          <a:prstGeom prst="rect">
            <a:avLst/>
          </a:prstGeom>
          <a:noFill/>
          <a:ln/>
        </p:spPr>
        <p:txBody>
          <a:bodyPr wrap="square" lIns="0" tIns="0" rIns="0" bIns="0" rtlCol="0" anchor="t"/>
          <a:lstStyle/>
          <a:p>
            <a:pPr indent="0" marL="0">
              <a:buNone/>
            </a:pPr>
            <a:r>
              <a:rPr lang="en-US" sz="1500" dirty="0">
                <a:solidFill>
                  <a:srgbClr val="A3B3C9"/>
                </a:solidFill>
                <a:latin typeface="Calibri" pitchFamily="34" charset="0"/>
                <a:ea typeface="Calibri" pitchFamily="34" charset="-122"/>
                <a:cs typeface="Calibri" pitchFamily="34" charset="-120"/>
              </a:rPr>
              <a:t>For example POPIA, South Africa's privacy law, and PCI DSS for card payments. Their data stays theirs.</a:t>
            </a:r>
            <a:endParaRPr lang="en-US" sz="1500" dirty="0"/>
          </a:p>
        </p:txBody>
      </p:sp>
      <p:sp>
        <p:nvSpPr>
          <p:cNvPr id="5" name="Shape 3"/>
          <p:cNvSpPr/>
          <p:nvPr/>
        </p:nvSpPr>
        <p:spPr>
          <a:xfrm>
            <a:off x="548640" y="1737360"/>
            <a:ext cx="3474720" cy="1737360"/>
          </a:xfrm>
          <a:prstGeom prst="roundRect">
            <a:avLst>
              <a:gd name="adj" fmla="val 6316"/>
            </a:avLst>
          </a:prstGeom>
          <a:solidFill>
            <a:srgbClr val="17223A"/>
          </a:solidFill>
          <a:ln w="12700">
            <a:solidFill>
              <a:srgbClr val="17223A"/>
            </a:solidFill>
            <a:prstDash val="solid"/>
          </a:ln>
        </p:spPr>
      </p:sp>
      <p:sp>
        <p:nvSpPr>
          <p:cNvPr id="6" name="Shape 4"/>
          <p:cNvSpPr/>
          <p:nvPr/>
        </p:nvSpPr>
        <p:spPr>
          <a:xfrm>
            <a:off x="822960" y="1993392"/>
            <a:ext cx="603504" cy="603504"/>
          </a:xfrm>
          <a:prstGeom prst="ellipse">
            <a:avLst/>
          </a:prstGeom>
          <a:solidFill>
            <a:srgbClr val="1E2B45"/>
          </a:solidFill>
          <a:ln w="19050">
            <a:solidFill>
              <a:srgbClr val="10B981"/>
            </a:solidFill>
            <a:prstDash val="solid"/>
          </a:ln>
        </p:spPr>
      </p:sp>
      <p:pic>
        <p:nvPicPr>
          <p:cNvPr id="7" name="Image 0" descr="preencoded.png">    </p:cNvPr>
          <p:cNvPicPr>
            <a:picLocks noChangeAspect="1"/>
          </p:cNvPicPr>
          <p:nvPr/>
        </p:nvPicPr>
        <p:blipFill>
          <a:blip r:embed="rId1"/>
          <a:stretch>
            <a:fillRect/>
          </a:stretch>
        </p:blipFill>
        <p:spPr>
          <a:xfrm>
            <a:off x="967801" y="2138233"/>
            <a:ext cx="313822" cy="313822"/>
          </a:xfrm>
          <a:prstGeom prst="rect">
            <a:avLst/>
          </a:prstGeom>
        </p:spPr>
      </p:pic>
      <p:sp>
        <p:nvSpPr>
          <p:cNvPr id="8" name="Text 5"/>
          <p:cNvSpPr txBox="1"/>
          <p:nvPr/>
        </p:nvSpPr>
        <p:spPr>
          <a:xfrm>
            <a:off x="1572768" y="2011680"/>
            <a:ext cx="2331720" cy="566928"/>
          </a:xfrm>
          <a:prstGeom prst="rect">
            <a:avLst/>
          </a:prstGeom>
          <a:noFill/>
          <a:ln/>
        </p:spPr>
        <p:txBody>
          <a:bodyPr wrap="square" lIns="0" tIns="0" rIns="0" bIns="0" rtlCol="0" anchor="ctr"/>
          <a:lstStyle/>
          <a:p>
            <a:pPr indent="0" marL="0">
              <a:buNone/>
            </a:pPr>
            <a:r>
              <a:rPr lang="en-US" sz="1500" b="1" dirty="0">
                <a:solidFill>
                  <a:srgbClr val="F8FAFC"/>
                </a:solidFill>
                <a:latin typeface="Calibri" pitchFamily="34" charset="0"/>
                <a:ea typeface="Calibri" pitchFamily="34" charset="-122"/>
                <a:cs typeface="Calibri" pitchFamily="34" charset="-120"/>
              </a:rPr>
              <a:t>Collect only what's needed</a:t>
            </a:r>
            <a:endParaRPr lang="en-US" sz="1500" dirty="0"/>
          </a:p>
        </p:txBody>
      </p:sp>
      <p:sp>
        <p:nvSpPr>
          <p:cNvPr id="9" name="Text 6"/>
          <p:cNvSpPr txBox="1"/>
          <p:nvPr/>
        </p:nvSpPr>
        <p:spPr>
          <a:xfrm>
            <a:off x="822960" y="2697480"/>
            <a:ext cx="2971800" cy="731520"/>
          </a:xfrm>
          <a:prstGeom prst="rect">
            <a:avLst/>
          </a:prstGeom>
          <a:noFill/>
          <a:ln/>
        </p:spPr>
        <p:txBody>
          <a:bodyPr wrap="square" lIns="0" tIns="0" rIns="0" bIns="0" rtlCol="0" anchor="t"/>
          <a:lstStyle/>
          <a:p>
            <a:pPr indent="0" marL="0">
              <a:buNone/>
            </a:pPr>
            <a:r>
              <a:rPr lang="en-US" sz="1250" dirty="0">
                <a:solidFill>
                  <a:srgbClr val="A3B3C9"/>
                </a:solidFill>
                <a:latin typeface="Calibri" pitchFamily="34" charset="0"/>
                <a:ea typeface="Calibri" pitchFamily="34" charset="-122"/>
                <a:cs typeface="Calibri" pitchFamily="34" charset="-120"/>
              </a:rPr>
              <a:t>Only what a feature needs or what can be officially checked. Consent recorded at sign-up.</a:t>
            </a:r>
            <a:endParaRPr lang="en-US" sz="1250" dirty="0"/>
          </a:p>
        </p:txBody>
      </p:sp>
      <p:sp>
        <p:nvSpPr>
          <p:cNvPr id="10" name="Shape 7"/>
          <p:cNvSpPr/>
          <p:nvPr/>
        </p:nvSpPr>
        <p:spPr>
          <a:xfrm>
            <a:off x="4297680" y="1737360"/>
            <a:ext cx="3474720" cy="1737360"/>
          </a:xfrm>
          <a:prstGeom prst="roundRect">
            <a:avLst>
              <a:gd name="adj" fmla="val 6316"/>
            </a:avLst>
          </a:prstGeom>
          <a:solidFill>
            <a:srgbClr val="17223A"/>
          </a:solidFill>
          <a:ln w="12700">
            <a:solidFill>
              <a:srgbClr val="17223A"/>
            </a:solidFill>
            <a:prstDash val="solid"/>
          </a:ln>
        </p:spPr>
      </p:sp>
      <p:sp>
        <p:nvSpPr>
          <p:cNvPr id="11" name="Shape 8"/>
          <p:cNvSpPr/>
          <p:nvPr/>
        </p:nvSpPr>
        <p:spPr>
          <a:xfrm>
            <a:off x="4572000" y="1993392"/>
            <a:ext cx="603504" cy="603504"/>
          </a:xfrm>
          <a:prstGeom prst="ellipse">
            <a:avLst/>
          </a:prstGeom>
          <a:solidFill>
            <a:srgbClr val="1E2B45"/>
          </a:solidFill>
          <a:ln w="19050">
            <a:solidFill>
              <a:srgbClr val="10B981"/>
            </a:solidFill>
            <a:prstDash val="solid"/>
          </a:ln>
        </p:spPr>
      </p:sp>
      <p:pic>
        <p:nvPicPr>
          <p:cNvPr id="12" name="Image 1" descr="preencoded.png">    </p:cNvPr>
          <p:cNvPicPr>
            <a:picLocks noChangeAspect="1"/>
          </p:cNvPicPr>
          <p:nvPr/>
        </p:nvPicPr>
        <p:blipFill>
          <a:blip r:embed="rId2"/>
          <a:stretch>
            <a:fillRect/>
          </a:stretch>
        </p:blipFill>
        <p:spPr>
          <a:xfrm>
            <a:off x="4716841" y="2138233"/>
            <a:ext cx="313822" cy="313822"/>
          </a:xfrm>
          <a:prstGeom prst="rect">
            <a:avLst/>
          </a:prstGeom>
        </p:spPr>
      </p:pic>
      <p:sp>
        <p:nvSpPr>
          <p:cNvPr id="13" name="Text 9"/>
          <p:cNvSpPr txBox="1"/>
          <p:nvPr/>
        </p:nvSpPr>
        <p:spPr>
          <a:xfrm>
            <a:off x="5321808" y="2011680"/>
            <a:ext cx="2331720" cy="566928"/>
          </a:xfrm>
          <a:prstGeom prst="rect">
            <a:avLst/>
          </a:prstGeom>
          <a:noFill/>
          <a:ln/>
        </p:spPr>
        <p:txBody>
          <a:bodyPr wrap="square" lIns="0" tIns="0" rIns="0" bIns="0" rtlCol="0" anchor="ctr"/>
          <a:lstStyle/>
          <a:p>
            <a:pPr indent="0" marL="0">
              <a:buNone/>
            </a:pPr>
            <a:r>
              <a:rPr lang="en-US" sz="1500" b="1" dirty="0">
                <a:solidFill>
                  <a:srgbClr val="F8FAFC"/>
                </a:solidFill>
                <a:latin typeface="Calibri" pitchFamily="34" charset="0"/>
                <a:ea typeface="Calibri" pitchFamily="34" charset="-122"/>
                <a:cs typeface="Calibri" pitchFamily="34" charset="-120"/>
              </a:rPr>
              <a:t>Only the owner sees it</a:t>
            </a:r>
            <a:endParaRPr lang="en-US" sz="1500" dirty="0"/>
          </a:p>
        </p:txBody>
      </p:sp>
      <p:sp>
        <p:nvSpPr>
          <p:cNvPr id="14" name="Text 10"/>
          <p:cNvSpPr txBox="1"/>
          <p:nvPr/>
        </p:nvSpPr>
        <p:spPr>
          <a:xfrm>
            <a:off x="4572000" y="2697480"/>
            <a:ext cx="2971800" cy="731520"/>
          </a:xfrm>
          <a:prstGeom prst="rect">
            <a:avLst/>
          </a:prstGeom>
          <a:noFill/>
          <a:ln/>
        </p:spPr>
        <p:txBody>
          <a:bodyPr wrap="square" lIns="0" tIns="0" rIns="0" bIns="0" rtlCol="0" anchor="t"/>
          <a:lstStyle/>
          <a:p>
            <a:pPr indent="0" marL="0">
              <a:buNone/>
            </a:pPr>
            <a:r>
              <a:rPr lang="en-US" sz="1250" dirty="0">
                <a:solidFill>
                  <a:srgbClr val="A3B3C9"/>
                </a:solidFill>
                <a:latin typeface="Calibri" pitchFamily="34" charset="0"/>
                <a:ea typeface="Calibri" pitchFamily="34" charset="-122"/>
                <a:cs typeface="Calibri" pitchFamily="34" charset="-120"/>
              </a:rPr>
              <a:t>Every request is scoped to the signed-in owner. Anyone else's record answers 'not found'.</a:t>
            </a:r>
            <a:endParaRPr lang="en-US" sz="1250" dirty="0"/>
          </a:p>
        </p:txBody>
      </p:sp>
      <p:sp>
        <p:nvSpPr>
          <p:cNvPr id="15" name="Shape 11"/>
          <p:cNvSpPr/>
          <p:nvPr/>
        </p:nvSpPr>
        <p:spPr>
          <a:xfrm>
            <a:off x="8046720" y="1737360"/>
            <a:ext cx="3474720" cy="1737360"/>
          </a:xfrm>
          <a:prstGeom prst="roundRect">
            <a:avLst>
              <a:gd name="adj" fmla="val 6316"/>
            </a:avLst>
          </a:prstGeom>
          <a:solidFill>
            <a:srgbClr val="17223A"/>
          </a:solidFill>
          <a:ln w="12700">
            <a:solidFill>
              <a:srgbClr val="17223A"/>
            </a:solidFill>
            <a:prstDash val="solid"/>
          </a:ln>
        </p:spPr>
      </p:sp>
      <p:sp>
        <p:nvSpPr>
          <p:cNvPr id="16" name="Shape 12"/>
          <p:cNvSpPr/>
          <p:nvPr/>
        </p:nvSpPr>
        <p:spPr>
          <a:xfrm>
            <a:off x="8321040" y="1993392"/>
            <a:ext cx="603504" cy="603504"/>
          </a:xfrm>
          <a:prstGeom prst="ellipse">
            <a:avLst/>
          </a:prstGeom>
          <a:solidFill>
            <a:srgbClr val="1E2B45"/>
          </a:solidFill>
          <a:ln w="19050">
            <a:solidFill>
              <a:srgbClr val="FBBF24"/>
            </a:solidFill>
            <a:prstDash val="solid"/>
          </a:ln>
        </p:spPr>
      </p:sp>
      <p:pic>
        <p:nvPicPr>
          <p:cNvPr id="17" name="Image 2" descr="preencoded.png">    </p:cNvPr>
          <p:cNvPicPr>
            <a:picLocks noChangeAspect="1"/>
          </p:cNvPicPr>
          <p:nvPr/>
        </p:nvPicPr>
        <p:blipFill>
          <a:blip r:embed="rId3"/>
          <a:stretch>
            <a:fillRect/>
          </a:stretch>
        </p:blipFill>
        <p:spPr>
          <a:xfrm>
            <a:off x="8465881" y="2138233"/>
            <a:ext cx="313822" cy="313822"/>
          </a:xfrm>
          <a:prstGeom prst="rect">
            <a:avLst/>
          </a:prstGeom>
        </p:spPr>
      </p:pic>
      <p:sp>
        <p:nvSpPr>
          <p:cNvPr id="18" name="Text 13"/>
          <p:cNvSpPr txBox="1"/>
          <p:nvPr/>
        </p:nvSpPr>
        <p:spPr>
          <a:xfrm>
            <a:off x="9070848" y="2011680"/>
            <a:ext cx="2331720" cy="566928"/>
          </a:xfrm>
          <a:prstGeom prst="rect">
            <a:avLst/>
          </a:prstGeom>
          <a:noFill/>
          <a:ln/>
        </p:spPr>
        <p:txBody>
          <a:bodyPr wrap="square" lIns="0" tIns="0" rIns="0" bIns="0" rtlCol="0" anchor="ctr"/>
          <a:lstStyle/>
          <a:p>
            <a:pPr indent="0" marL="0">
              <a:buNone/>
            </a:pPr>
            <a:r>
              <a:rPr lang="en-US" sz="1500" b="1" dirty="0">
                <a:solidFill>
                  <a:srgbClr val="F8FAFC"/>
                </a:solidFill>
                <a:latin typeface="Calibri" pitchFamily="34" charset="0"/>
                <a:ea typeface="Calibri" pitchFamily="34" charset="-122"/>
                <a:cs typeface="Calibri" pitchFamily="34" charset="-120"/>
              </a:rPr>
              <a:t>No card data, no money held</a:t>
            </a:r>
            <a:endParaRPr lang="en-US" sz="1500" dirty="0"/>
          </a:p>
        </p:txBody>
      </p:sp>
      <p:sp>
        <p:nvSpPr>
          <p:cNvPr id="19" name="Text 14"/>
          <p:cNvSpPr txBox="1"/>
          <p:nvPr/>
        </p:nvSpPr>
        <p:spPr>
          <a:xfrm>
            <a:off x="8321040" y="2697480"/>
            <a:ext cx="2971800" cy="731520"/>
          </a:xfrm>
          <a:prstGeom prst="rect">
            <a:avLst/>
          </a:prstGeom>
          <a:noFill/>
          <a:ln/>
        </p:spPr>
        <p:txBody>
          <a:bodyPr wrap="square" lIns="0" tIns="0" rIns="0" bIns="0" rtlCol="0" anchor="t"/>
          <a:lstStyle/>
          <a:p>
            <a:pPr indent="0" marL="0">
              <a:buNone/>
            </a:pPr>
            <a:r>
              <a:rPr lang="en-US" sz="1250" dirty="0">
                <a:solidFill>
                  <a:srgbClr val="A3B3C9"/>
                </a:solidFill>
                <a:latin typeface="Calibri" pitchFamily="34" charset="0"/>
                <a:ea typeface="Calibri" pitchFamily="34" charset="-122"/>
                <a:cs typeface="Calibri" pitchFamily="34" charset="-120"/>
              </a:rPr>
              <a:t>Cards go to the payment provider's own page. We never hold money.</a:t>
            </a:r>
            <a:endParaRPr lang="en-US" sz="1250" dirty="0"/>
          </a:p>
        </p:txBody>
      </p:sp>
      <p:sp>
        <p:nvSpPr>
          <p:cNvPr id="20" name="Shape 15"/>
          <p:cNvSpPr/>
          <p:nvPr/>
        </p:nvSpPr>
        <p:spPr>
          <a:xfrm>
            <a:off x="548640" y="3657600"/>
            <a:ext cx="3474720" cy="1737360"/>
          </a:xfrm>
          <a:prstGeom prst="roundRect">
            <a:avLst>
              <a:gd name="adj" fmla="val 6316"/>
            </a:avLst>
          </a:prstGeom>
          <a:solidFill>
            <a:srgbClr val="17223A"/>
          </a:solidFill>
          <a:ln w="12700">
            <a:solidFill>
              <a:srgbClr val="17223A"/>
            </a:solidFill>
            <a:prstDash val="solid"/>
          </a:ln>
        </p:spPr>
      </p:sp>
      <p:sp>
        <p:nvSpPr>
          <p:cNvPr id="21" name="Shape 16"/>
          <p:cNvSpPr/>
          <p:nvPr/>
        </p:nvSpPr>
        <p:spPr>
          <a:xfrm>
            <a:off x="822960" y="3913632"/>
            <a:ext cx="603504" cy="603504"/>
          </a:xfrm>
          <a:prstGeom prst="ellipse">
            <a:avLst/>
          </a:prstGeom>
          <a:solidFill>
            <a:srgbClr val="1E2B45"/>
          </a:solidFill>
          <a:ln w="19050">
            <a:solidFill>
              <a:srgbClr val="10B981"/>
            </a:solidFill>
            <a:prstDash val="solid"/>
          </a:ln>
        </p:spPr>
      </p:sp>
      <p:pic>
        <p:nvPicPr>
          <p:cNvPr id="22" name="Image 3" descr="preencoded.png">    </p:cNvPr>
          <p:cNvPicPr>
            <a:picLocks noChangeAspect="1"/>
          </p:cNvPicPr>
          <p:nvPr/>
        </p:nvPicPr>
        <p:blipFill>
          <a:blip r:embed="rId4"/>
          <a:stretch>
            <a:fillRect/>
          </a:stretch>
        </p:blipFill>
        <p:spPr>
          <a:xfrm>
            <a:off x="967801" y="4058473"/>
            <a:ext cx="313822" cy="313822"/>
          </a:xfrm>
          <a:prstGeom prst="rect">
            <a:avLst/>
          </a:prstGeom>
        </p:spPr>
      </p:pic>
      <p:sp>
        <p:nvSpPr>
          <p:cNvPr id="23" name="Text 17"/>
          <p:cNvSpPr txBox="1"/>
          <p:nvPr/>
        </p:nvSpPr>
        <p:spPr>
          <a:xfrm>
            <a:off x="1572768" y="3931920"/>
            <a:ext cx="2331720" cy="566928"/>
          </a:xfrm>
          <a:prstGeom prst="rect">
            <a:avLst/>
          </a:prstGeom>
          <a:noFill/>
          <a:ln/>
        </p:spPr>
        <p:txBody>
          <a:bodyPr wrap="square" lIns="0" tIns="0" rIns="0" bIns="0" rtlCol="0" anchor="ctr"/>
          <a:lstStyle/>
          <a:p>
            <a:pPr indent="0" marL="0">
              <a:buNone/>
            </a:pPr>
            <a:r>
              <a:rPr lang="en-US" sz="1500" b="1" dirty="0">
                <a:solidFill>
                  <a:srgbClr val="F8FAFC"/>
                </a:solidFill>
                <a:latin typeface="Calibri" pitchFamily="34" charset="0"/>
                <a:ea typeface="Calibri" pitchFamily="34" charset="-122"/>
                <a:cs typeface="Calibri" pitchFamily="34" charset="-120"/>
              </a:rPr>
              <a:t>Nothing personal in logs</a:t>
            </a:r>
            <a:endParaRPr lang="en-US" sz="1500" dirty="0"/>
          </a:p>
        </p:txBody>
      </p:sp>
      <p:sp>
        <p:nvSpPr>
          <p:cNvPr id="24" name="Text 18"/>
          <p:cNvSpPr txBox="1"/>
          <p:nvPr/>
        </p:nvSpPr>
        <p:spPr>
          <a:xfrm>
            <a:off x="822960" y="4617720"/>
            <a:ext cx="2971800" cy="731520"/>
          </a:xfrm>
          <a:prstGeom prst="rect">
            <a:avLst/>
          </a:prstGeom>
          <a:noFill/>
          <a:ln/>
        </p:spPr>
        <p:txBody>
          <a:bodyPr wrap="square" lIns="0" tIns="0" rIns="0" bIns="0" rtlCol="0" anchor="t"/>
          <a:lstStyle/>
          <a:p>
            <a:pPr indent="0" marL="0">
              <a:buNone/>
            </a:pPr>
            <a:r>
              <a:rPr lang="en-US" sz="1250" dirty="0">
                <a:solidFill>
                  <a:srgbClr val="A3B3C9"/>
                </a:solidFill>
                <a:latin typeface="Calibri" pitchFamily="34" charset="0"/>
                <a:ea typeface="Calibri" pitchFamily="34" charset="-122"/>
                <a:cs typeface="Calibri" pitchFamily="34" charset="-120"/>
              </a:rPr>
              <a:t>No names, phones or codes in logs or audits. The engine sees totals only.</a:t>
            </a:r>
            <a:endParaRPr lang="en-US" sz="1250" dirty="0"/>
          </a:p>
        </p:txBody>
      </p:sp>
      <p:sp>
        <p:nvSpPr>
          <p:cNvPr id="25" name="Shape 19"/>
          <p:cNvSpPr/>
          <p:nvPr/>
        </p:nvSpPr>
        <p:spPr>
          <a:xfrm>
            <a:off x="4297680" y="3657600"/>
            <a:ext cx="3474720" cy="1737360"/>
          </a:xfrm>
          <a:prstGeom prst="roundRect">
            <a:avLst>
              <a:gd name="adj" fmla="val 6316"/>
            </a:avLst>
          </a:prstGeom>
          <a:solidFill>
            <a:srgbClr val="17223A"/>
          </a:solidFill>
          <a:ln w="12700">
            <a:solidFill>
              <a:srgbClr val="17223A"/>
            </a:solidFill>
            <a:prstDash val="solid"/>
          </a:ln>
        </p:spPr>
      </p:sp>
      <p:sp>
        <p:nvSpPr>
          <p:cNvPr id="26" name="Shape 20"/>
          <p:cNvSpPr/>
          <p:nvPr/>
        </p:nvSpPr>
        <p:spPr>
          <a:xfrm>
            <a:off x="4572000" y="3913632"/>
            <a:ext cx="603504" cy="603504"/>
          </a:xfrm>
          <a:prstGeom prst="ellipse">
            <a:avLst/>
          </a:prstGeom>
          <a:solidFill>
            <a:srgbClr val="1E2B45"/>
          </a:solidFill>
          <a:ln w="19050">
            <a:solidFill>
              <a:srgbClr val="10B981"/>
            </a:solidFill>
            <a:prstDash val="solid"/>
          </a:ln>
        </p:spPr>
      </p:sp>
      <p:pic>
        <p:nvPicPr>
          <p:cNvPr id="27" name="Image 4" descr="preencoded.png">    </p:cNvPr>
          <p:cNvPicPr>
            <a:picLocks noChangeAspect="1"/>
          </p:cNvPicPr>
          <p:nvPr/>
        </p:nvPicPr>
        <p:blipFill>
          <a:blip r:embed="rId5"/>
          <a:stretch>
            <a:fillRect/>
          </a:stretch>
        </p:blipFill>
        <p:spPr>
          <a:xfrm>
            <a:off x="4716841" y="4058473"/>
            <a:ext cx="313822" cy="313822"/>
          </a:xfrm>
          <a:prstGeom prst="rect">
            <a:avLst/>
          </a:prstGeom>
        </p:spPr>
      </p:pic>
      <p:sp>
        <p:nvSpPr>
          <p:cNvPr id="28" name="Text 21"/>
          <p:cNvSpPr txBox="1"/>
          <p:nvPr/>
        </p:nvSpPr>
        <p:spPr>
          <a:xfrm>
            <a:off x="5321808" y="3931920"/>
            <a:ext cx="2331720" cy="566928"/>
          </a:xfrm>
          <a:prstGeom prst="rect">
            <a:avLst/>
          </a:prstGeom>
          <a:noFill/>
          <a:ln/>
        </p:spPr>
        <p:txBody>
          <a:bodyPr wrap="square" lIns="0" tIns="0" rIns="0" bIns="0" rtlCol="0" anchor="ctr"/>
          <a:lstStyle/>
          <a:p>
            <a:pPr indent="0" marL="0">
              <a:buNone/>
            </a:pPr>
            <a:r>
              <a:rPr lang="en-US" sz="1500" b="1" dirty="0">
                <a:solidFill>
                  <a:srgbClr val="F8FAFC"/>
                </a:solidFill>
                <a:latin typeface="Calibri" pitchFamily="34" charset="0"/>
                <a:ea typeface="Calibri" pitchFamily="34" charset="-122"/>
                <a:cs typeface="Calibri" pitchFamily="34" charset="-120"/>
              </a:rPr>
              <a:t>Shared only by consent</a:t>
            </a:r>
            <a:endParaRPr lang="en-US" sz="1500" dirty="0"/>
          </a:p>
        </p:txBody>
      </p:sp>
      <p:sp>
        <p:nvSpPr>
          <p:cNvPr id="29" name="Text 22"/>
          <p:cNvSpPr txBox="1"/>
          <p:nvPr/>
        </p:nvSpPr>
        <p:spPr>
          <a:xfrm>
            <a:off x="4572000" y="4617720"/>
            <a:ext cx="2971800" cy="731520"/>
          </a:xfrm>
          <a:prstGeom prst="rect">
            <a:avLst/>
          </a:prstGeom>
          <a:noFill/>
          <a:ln/>
        </p:spPr>
        <p:txBody>
          <a:bodyPr wrap="square" lIns="0" tIns="0" rIns="0" bIns="0" rtlCol="0" anchor="t"/>
          <a:lstStyle/>
          <a:p>
            <a:pPr indent="0" marL="0">
              <a:buNone/>
            </a:pPr>
            <a:r>
              <a:rPr lang="en-US" sz="1250" dirty="0">
                <a:solidFill>
                  <a:srgbClr val="A3B3C9"/>
                </a:solidFill>
                <a:latin typeface="Calibri" pitchFamily="34" charset="0"/>
                <a:ea typeface="Calibri" pitchFamily="34" charset="-122"/>
                <a:cs typeface="Calibri" pitchFamily="34" charset="-120"/>
              </a:rPr>
              <a:t>Suppliers see only their own orders. Banks and funds only if the owner says yes.</a:t>
            </a:r>
            <a:endParaRPr lang="en-US" sz="1250" dirty="0"/>
          </a:p>
        </p:txBody>
      </p:sp>
      <p:sp>
        <p:nvSpPr>
          <p:cNvPr id="30" name="Shape 23"/>
          <p:cNvSpPr/>
          <p:nvPr/>
        </p:nvSpPr>
        <p:spPr>
          <a:xfrm>
            <a:off x="8046720" y="3657600"/>
            <a:ext cx="3474720" cy="1737360"/>
          </a:xfrm>
          <a:prstGeom prst="roundRect">
            <a:avLst>
              <a:gd name="adj" fmla="val 6316"/>
            </a:avLst>
          </a:prstGeom>
          <a:solidFill>
            <a:srgbClr val="17223A"/>
          </a:solidFill>
          <a:ln w="12700">
            <a:solidFill>
              <a:srgbClr val="17223A"/>
            </a:solidFill>
            <a:prstDash val="solid"/>
          </a:ln>
        </p:spPr>
      </p:sp>
      <p:sp>
        <p:nvSpPr>
          <p:cNvPr id="31" name="Shape 24"/>
          <p:cNvSpPr/>
          <p:nvPr/>
        </p:nvSpPr>
        <p:spPr>
          <a:xfrm>
            <a:off x="8321040" y="3913632"/>
            <a:ext cx="603504" cy="603504"/>
          </a:xfrm>
          <a:prstGeom prst="ellipse">
            <a:avLst/>
          </a:prstGeom>
          <a:solidFill>
            <a:srgbClr val="1E2B45"/>
          </a:solidFill>
          <a:ln w="19050">
            <a:solidFill>
              <a:srgbClr val="10B981"/>
            </a:solidFill>
            <a:prstDash val="solid"/>
          </a:ln>
        </p:spPr>
      </p:sp>
      <p:pic>
        <p:nvPicPr>
          <p:cNvPr id="32" name="Image 5" descr="preencoded.png">    </p:cNvPr>
          <p:cNvPicPr>
            <a:picLocks noChangeAspect="1"/>
          </p:cNvPicPr>
          <p:nvPr/>
        </p:nvPicPr>
        <p:blipFill>
          <a:blip r:embed="rId6"/>
          <a:stretch>
            <a:fillRect/>
          </a:stretch>
        </p:blipFill>
        <p:spPr>
          <a:xfrm>
            <a:off x="8465881" y="4058473"/>
            <a:ext cx="313822" cy="313822"/>
          </a:xfrm>
          <a:prstGeom prst="rect">
            <a:avLst/>
          </a:prstGeom>
        </p:spPr>
      </p:pic>
      <p:sp>
        <p:nvSpPr>
          <p:cNvPr id="33" name="Text 25"/>
          <p:cNvSpPr txBox="1"/>
          <p:nvPr/>
        </p:nvSpPr>
        <p:spPr>
          <a:xfrm>
            <a:off x="9070848" y="3931920"/>
            <a:ext cx="2331720" cy="566928"/>
          </a:xfrm>
          <a:prstGeom prst="rect">
            <a:avLst/>
          </a:prstGeom>
          <a:noFill/>
          <a:ln/>
        </p:spPr>
        <p:txBody>
          <a:bodyPr wrap="square" lIns="0" tIns="0" rIns="0" bIns="0" rtlCol="0" anchor="ctr"/>
          <a:lstStyle/>
          <a:p>
            <a:pPr indent="0" marL="0">
              <a:buNone/>
            </a:pPr>
            <a:r>
              <a:rPr lang="en-US" sz="1500" b="1" dirty="0">
                <a:solidFill>
                  <a:srgbClr val="F8FAFC"/>
                </a:solidFill>
                <a:latin typeface="Calibri" pitchFamily="34" charset="0"/>
                <a:ea typeface="Calibri" pitchFamily="34" charset="-122"/>
                <a:cs typeface="Calibri" pitchFamily="34" charset="-120"/>
              </a:rPr>
              <a:t>Kept only as long as needed</a:t>
            </a:r>
            <a:endParaRPr lang="en-US" sz="1500" dirty="0"/>
          </a:p>
        </p:txBody>
      </p:sp>
      <p:sp>
        <p:nvSpPr>
          <p:cNvPr id="34" name="Text 26"/>
          <p:cNvSpPr txBox="1"/>
          <p:nvPr/>
        </p:nvSpPr>
        <p:spPr>
          <a:xfrm>
            <a:off x="8321040" y="4617720"/>
            <a:ext cx="2971800" cy="731520"/>
          </a:xfrm>
          <a:prstGeom prst="rect">
            <a:avLst/>
          </a:prstGeom>
          <a:noFill/>
          <a:ln/>
        </p:spPr>
        <p:txBody>
          <a:bodyPr wrap="square" lIns="0" tIns="0" rIns="0" bIns="0" rtlCol="0" anchor="t"/>
          <a:lstStyle/>
          <a:p>
            <a:pPr indent="0" marL="0">
              <a:buNone/>
            </a:pPr>
            <a:r>
              <a:rPr lang="en-US" sz="1250" dirty="0">
                <a:solidFill>
                  <a:srgbClr val="A3B3C9"/>
                </a:solidFill>
                <a:latin typeface="Calibri" pitchFamily="34" charset="0"/>
                <a:ea typeface="Calibri" pitchFamily="34" charset="-122"/>
                <a:cs typeface="Calibri" pitchFamily="34" charset="-120"/>
              </a:rPr>
              <a:t>Unconfirmed sign-ups deleted after 7 days; records kept 5 years (tax law), then deleted.</a:t>
            </a:r>
            <a:endParaRPr lang="en-US" sz="1250" dirty="0"/>
          </a:p>
        </p:txBody>
      </p:sp>
      <p:sp>
        <p:nvSpPr>
          <p:cNvPr id="35" name="Shape 27"/>
          <p:cNvSpPr/>
          <p:nvPr/>
        </p:nvSpPr>
        <p:spPr>
          <a:xfrm>
            <a:off x="548640" y="5623560"/>
            <a:ext cx="11064240" cy="566928"/>
          </a:xfrm>
          <a:prstGeom prst="roundRect">
            <a:avLst>
              <a:gd name="adj" fmla="val 19355"/>
            </a:avLst>
          </a:prstGeom>
          <a:solidFill>
            <a:srgbClr val="1E2B45"/>
          </a:solidFill>
          <a:ln w="12700">
            <a:solidFill>
              <a:srgbClr val="1E2B45"/>
            </a:solidFill>
            <a:prstDash val="solid"/>
          </a:ln>
        </p:spPr>
      </p:sp>
      <p:sp>
        <p:nvSpPr>
          <p:cNvPr id="36" name="Text 28"/>
          <p:cNvSpPr txBox="1"/>
          <p:nvPr/>
        </p:nvSpPr>
        <p:spPr>
          <a:xfrm>
            <a:off x="777240" y="5669280"/>
            <a:ext cx="10607040" cy="475488"/>
          </a:xfrm>
          <a:prstGeom prst="rect">
            <a:avLst/>
          </a:prstGeom>
          <a:noFill/>
          <a:ln/>
        </p:spPr>
        <p:txBody>
          <a:bodyPr wrap="square" lIns="0" tIns="0" rIns="0" bIns="0" rtlCol="0" anchor="ctr"/>
          <a:lstStyle/>
          <a:p>
            <a:pPr indent="0" marL="0">
              <a:buNone/>
            </a:pPr>
            <a:r>
              <a:rPr lang="en-US" sz="1300" b="1" dirty="0">
                <a:solidFill>
                  <a:srgbClr val="FBBF24"/>
                </a:solidFill>
                <a:latin typeface="Calibri" pitchFamily="34" charset="0"/>
                <a:ea typeface="Calibri" pitchFamily="34" charset="-122"/>
                <a:cs typeface="Calibri" pitchFamily="34" charset="-120"/>
              </a:rPr>
              <a:t>Honest proof  </a:t>
            </a:r>
            <a:pPr indent="0" marL="0">
              <a:buNone/>
            </a:pPr>
            <a:r>
              <a:rPr lang="en-US" sz="1300" dirty="0">
                <a:solidFill>
                  <a:srgbClr val="F8FAFC"/>
                </a:solidFill>
                <a:latin typeface="Calibri" pitchFamily="34" charset="0"/>
                <a:ea typeface="Calibri" pitchFamily="34" charset="-122"/>
                <a:cs typeface="Calibri" pitchFamily="34" charset="-120"/>
              </a:rPr>
              <a:t>Only digital payments verified by the payment provider count as proof. Everything else is the owner's own record, and is never added to it.</a:t>
            </a:r>
            <a:endParaRPr lang="en-US" sz="1300" dirty="0"/>
          </a:p>
        </p:txBody>
      </p:sp>
      <p:pic>
        <p:nvPicPr>
          <p:cNvPr id="37" name="Image 6" descr="preencoded.png">    </p:cNvPr>
          <p:cNvPicPr>
            <a:picLocks noChangeAspect="1"/>
          </p:cNvPicPr>
          <p:nvPr/>
        </p:nvPicPr>
        <p:blipFill>
          <a:blip r:embed="rId7"/>
          <a:stretch>
            <a:fillRect/>
          </a:stretch>
        </p:blipFill>
        <p:spPr>
          <a:xfrm>
            <a:off x="11231575" y="6291072"/>
            <a:ext cx="384048" cy="384048"/>
          </a:xfrm>
          <a:prstGeom prst="rect">
            <a:avLst/>
          </a:prstGeom>
        </p:spPr>
      </p:pic>
      <p:sp>
        <p:nvSpPr>
          <p:cNvPr id="38" name="Text 29"/>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320040"/>
          </a:xfrm>
          <a:prstGeom prst="rect">
            <a:avLst/>
          </a:prstGeom>
          <a:noFill/>
          <a:ln/>
        </p:spPr>
        <p:txBody>
          <a:bodyPr wrap="square" lIns="0" tIns="0" rIns="0" bIns="0" rtlCol="0" anchor="t"/>
          <a:lstStyle/>
          <a:p>
            <a:pPr indent="0" marL="0">
              <a:buNone/>
            </a:pPr>
            <a:r>
              <a:rPr lang="en-US" sz="1300" b="1" spc="300" kern="0" dirty="0">
                <a:solidFill>
                  <a:srgbClr val="10B981"/>
                </a:solidFill>
                <a:latin typeface="Calibri" pitchFamily="34" charset="0"/>
                <a:ea typeface="Calibri" pitchFamily="34" charset="-122"/>
                <a:cs typeface="Calibri" pitchFamily="34" charset="-120"/>
              </a:rPr>
              <a:t>SEE IT WORKING</a:t>
            </a:r>
            <a:endParaRPr lang="en-US" sz="1300" dirty="0"/>
          </a:p>
        </p:txBody>
      </p:sp>
      <p:sp>
        <p:nvSpPr>
          <p:cNvPr id="3" name="Shape 1"/>
          <p:cNvSpPr/>
          <p:nvPr/>
        </p:nvSpPr>
        <p:spPr>
          <a:xfrm>
            <a:off x="475488" y="841248"/>
            <a:ext cx="6364224" cy="3653028"/>
          </a:xfrm>
          <a:prstGeom prst="roundRect">
            <a:avLst>
              <a:gd name="adj" fmla="val 3004"/>
            </a:avLst>
          </a:prstGeom>
          <a:solidFill>
            <a:srgbClr val="1E2B45"/>
          </a:solidFill>
          <a:ln w="12700">
            <a:solidFill>
              <a:srgbClr val="1E2B45"/>
            </a:solidFill>
            <a:prstDash val="solid"/>
          </a:ln>
        </p:spPr>
      </p:sp>
      <p:pic>
        <p:nvPicPr>
          <p:cNvPr id="3" name="Demo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914400"/>
            <a:ext cx="6217920" cy="3497580"/>
          </a:xfrm>
          <a:prstGeom prst="rect">
            <a:avLst/>
          </a:prstGeom>
        </p:spPr>
      </p:pic>
      <p:sp>
        <p:nvSpPr>
          <p:cNvPr id="5" name="Text 2"/>
          <p:cNvSpPr txBox="1"/>
          <p:nvPr/>
        </p:nvSpPr>
        <p:spPr>
          <a:xfrm>
            <a:off x="548640" y="4617720"/>
            <a:ext cx="6217920" cy="365760"/>
          </a:xfrm>
          <a:prstGeom prst="rect">
            <a:avLst/>
          </a:prstGeom>
          <a:noFill/>
          <a:ln/>
        </p:spPr>
        <p:txBody>
          <a:bodyPr wrap="square" lIns="0" tIns="0" rIns="0" bIns="0" rtlCol="0" anchor="t"/>
          <a:lstStyle/>
          <a:p>
            <a:pPr algn="ctr" indent="0" marL="0">
              <a:buNone/>
            </a:pPr>
            <a:r>
              <a:rPr lang="en-US" sz="1400" b="1" dirty="0">
                <a:solidFill>
                  <a:srgbClr val="F8FAFC"/>
                </a:solidFill>
                <a:latin typeface="Calibri" pitchFamily="34" charset="0"/>
                <a:ea typeface="Calibri" pitchFamily="34" charset="-122"/>
                <a:cs typeface="Calibri" pitchFamily="34" charset="-120"/>
              </a:rPr>
              <a:t>Meet Sipho and Thabo, on a real phone</a:t>
            </a:r>
            <a:endParaRPr lang="en-US" sz="1400" dirty="0"/>
          </a:p>
        </p:txBody>
      </p:sp>
      <p:sp>
        <p:nvSpPr>
          <p:cNvPr id="6" name="Text 3"/>
          <p:cNvSpPr txBox="1"/>
          <p:nvPr/>
        </p:nvSpPr>
        <p:spPr>
          <a:xfrm>
            <a:off x="548640" y="5029200"/>
            <a:ext cx="6217920" cy="320040"/>
          </a:xfrm>
          <a:prstGeom prst="rect">
            <a:avLst/>
          </a:prstGeom>
          <a:noFill/>
          <a:ln/>
        </p:spPr>
        <p:txBody>
          <a:bodyPr wrap="square" lIns="0" tIns="0" rIns="0" bIns="0" rtlCol="0" anchor="t"/>
          <a:lstStyle/>
          <a:p>
            <a:pPr algn="ctr" indent="0" marL="0">
              <a:buNone/>
            </a:pPr>
            <a:r>
              <a:rPr lang="en-US" sz="1300" b="1" u="sng" dirty="0">
                <a:solidFill>
                  <a:srgbClr val="FBBF24"/>
                </a:solidFill>
                <a:latin typeface="Calibri" pitchFamily="34" charset="0"/>
                <a:ea typeface="Calibri" pitchFamily="34" charset="-122"/>
                <a:cs typeface="Calibri" pitchFamily="34" charset="-120"/>
                <a:hlinkClick r:id="rId4" invalidUrl="" action="" tgtFrame="" tooltip="Watch the full demo" history="1" highlightClick="0" endSnd="0">
                  <a:extLst>
                    <a:ext uri="{A12FA001-AC4F-418D-AE19-62706E023703}">
                      <ahyp:hlinkClr xmlns:ahyp="http://schemas.microsoft.com/office/drawing/2018/hyperlinkcolor" val="tx"/>
                    </a:ext>
                  </a:extLst>
                </a:hlinkClick>
              </a:rPr>
              <a:t>Also on Google Drive (81 s)</a:t>
            </a:r>
            <a:endParaRPr lang="en-US" sz="1300" dirty="0"/>
          </a:p>
        </p:txBody>
      </p:sp>
      <p:sp>
        <p:nvSpPr>
          <p:cNvPr id="7" name="Text 4"/>
          <p:cNvSpPr txBox="1"/>
          <p:nvPr/>
        </p:nvSpPr>
        <p:spPr>
          <a:xfrm>
            <a:off x="548640" y="5394960"/>
            <a:ext cx="6217920" cy="274320"/>
          </a:xfrm>
          <a:prstGeom prst="rect">
            <a:avLst/>
          </a:prstGeom>
          <a:noFill/>
          <a:ln/>
        </p:spPr>
        <p:txBody>
          <a:bodyPr wrap="square" lIns="0" tIns="0" rIns="0" bIns="0" rtlCol="0" anchor="t"/>
          <a:lstStyle/>
          <a:p>
            <a:pPr algn="ctr" indent="0" marL="0">
              <a:buNone/>
            </a:pPr>
            <a:r>
              <a:rPr lang="en-US" sz="900" u="sng" dirty="0">
                <a:solidFill>
                  <a:srgbClr val="64748B"/>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https://drive.google.com/file/d/1yYQfVBEG-dnn-hxgRRtD5xDVw8vZV8Es/view</a:t>
            </a:r>
            <a:endParaRPr lang="en-US" sz="900" dirty="0"/>
          </a:p>
        </p:txBody>
      </p:sp>
      <p:pic>
        <p:nvPicPr>
          <p:cNvPr id="8" name="Image 0" descr="preencoded.png">    </p:cNvPr>
          <p:cNvPicPr>
            <a:picLocks noChangeAspect="1"/>
          </p:cNvPicPr>
          <p:nvPr/>
        </p:nvPicPr>
        <p:blipFill>
          <a:blip r:embed="rId6"/>
          <a:stretch>
            <a:fillRect/>
          </a:stretch>
        </p:blipFill>
        <p:spPr>
          <a:xfrm>
            <a:off x="7086600" y="914400"/>
            <a:ext cx="1005840" cy="1005840"/>
          </a:xfrm>
          <a:prstGeom prst="rect">
            <a:avLst/>
          </a:prstGeom>
        </p:spPr>
      </p:pic>
      <p:sp>
        <p:nvSpPr>
          <p:cNvPr id="9" name="Text 5"/>
          <p:cNvSpPr txBox="1"/>
          <p:nvPr/>
        </p:nvSpPr>
        <p:spPr>
          <a:xfrm>
            <a:off x="7040880" y="2103120"/>
            <a:ext cx="4754880" cy="914400"/>
          </a:xfrm>
          <a:prstGeom prst="rect">
            <a:avLst/>
          </a:prstGeom>
          <a:noFill/>
          <a:ln/>
        </p:spPr>
        <p:txBody>
          <a:bodyPr wrap="square" lIns="0" tIns="0" rIns="0" bIns="0" rtlCol="0" anchor="t"/>
          <a:lstStyle/>
          <a:p>
            <a:pPr indent="0" marL="0">
              <a:buNone/>
            </a:pPr>
            <a:r>
              <a:rPr lang="en-US" sz="5000" b="1" dirty="0">
                <a:solidFill>
                  <a:srgbClr val="F8FAFC"/>
                </a:solidFill>
                <a:latin typeface="Georgia" pitchFamily="34" charset="0"/>
                <a:ea typeface="Georgia" pitchFamily="34" charset="-122"/>
                <a:cs typeface="Georgia" pitchFamily="34" charset="-120"/>
              </a:rPr>
              <a:t>Thank you</a:t>
            </a:r>
            <a:endParaRPr lang="en-US" sz="5000" dirty="0"/>
          </a:p>
        </p:txBody>
      </p:sp>
      <p:sp>
        <p:nvSpPr>
          <p:cNvPr id="10" name="Text 6"/>
          <p:cNvSpPr txBox="1"/>
          <p:nvPr/>
        </p:nvSpPr>
        <p:spPr>
          <a:xfrm>
            <a:off x="7086600" y="3063240"/>
            <a:ext cx="4754880" cy="548640"/>
          </a:xfrm>
          <a:prstGeom prst="rect">
            <a:avLst/>
          </a:prstGeom>
          <a:noFill/>
          <a:ln/>
        </p:spPr>
        <p:txBody>
          <a:bodyPr wrap="square" lIns="0" tIns="0" rIns="0" bIns="0" rtlCol="0" anchor="t"/>
          <a:lstStyle/>
          <a:p>
            <a:pPr indent="0" marL="0">
              <a:buNone/>
            </a:pPr>
            <a:r>
              <a:rPr lang="en-US" sz="2400" i="1" dirty="0">
                <a:solidFill>
                  <a:srgbClr val="FBBF24"/>
                </a:solidFill>
                <a:latin typeface="Georgia" pitchFamily="34" charset="0"/>
                <a:ea typeface="Georgia" pitchFamily="34" charset="-122"/>
                <a:cs typeface="Georgia" pitchFamily="34" charset="-120"/>
              </a:rPr>
              <a:t>Keep it in the kasi.</a:t>
            </a:r>
            <a:endParaRPr lang="en-US" sz="2400" dirty="0"/>
          </a:p>
        </p:txBody>
      </p:sp>
      <p:sp>
        <p:nvSpPr>
          <p:cNvPr id="11" name="Text 7"/>
          <p:cNvSpPr txBox="1"/>
          <p:nvPr/>
        </p:nvSpPr>
        <p:spPr>
          <a:xfrm>
            <a:off x="7086600" y="3840480"/>
            <a:ext cx="4754880" cy="411480"/>
          </a:xfrm>
          <a:prstGeom prst="rect">
            <a:avLst/>
          </a:prstGeom>
          <a:noFill/>
          <a:ln/>
        </p:spPr>
        <p:txBody>
          <a:bodyPr wrap="square" lIns="0" tIns="0" rIns="0" bIns="0" rtlCol="0" anchor="t"/>
          <a:lstStyle/>
          <a:p>
            <a:pPr indent="0" marL="0">
              <a:buNone/>
            </a:pPr>
            <a:r>
              <a:rPr lang="en-US" sz="1800" b="1" dirty="0">
                <a:solidFill>
                  <a:srgbClr val="34D399"/>
                </a:solidFill>
                <a:latin typeface="Calibri" pitchFamily="34" charset="0"/>
                <a:ea typeface="Calibri" pitchFamily="34" charset="-122"/>
                <a:cs typeface="Calibri" pitchFamily="34" charset="-120"/>
              </a:rPr>
              <a:t>R300,000  ·  6-month pilot</a:t>
            </a:r>
            <a:endParaRPr lang="en-US" sz="1800" dirty="0"/>
          </a:p>
        </p:txBody>
      </p:sp>
      <p:sp>
        <p:nvSpPr>
          <p:cNvPr id="12" name="Text 8"/>
          <p:cNvSpPr txBox="1"/>
          <p:nvPr/>
        </p:nvSpPr>
        <p:spPr>
          <a:xfrm>
            <a:off x="7086600" y="4297680"/>
            <a:ext cx="4754880" cy="411480"/>
          </a:xfrm>
          <a:prstGeom prst="rect">
            <a:avLst/>
          </a:prstGeom>
          <a:noFill/>
          <a:ln/>
        </p:spPr>
        <p:txBody>
          <a:bodyPr wrap="square" lIns="0" tIns="0" rIns="0" bIns="0" rtlCol="0" anchor="t"/>
          <a:lstStyle/>
          <a:p>
            <a:pPr indent="0" marL="0">
              <a:buNone/>
            </a:pPr>
            <a:r>
              <a:rPr lang="en-US" sz="1500" dirty="0">
                <a:solidFill>
                  <a:srgbClr val="A3B3C9"/>
                </a:solidFill>
                <a:latin typeface="Calibri" pitchFamily="34" charset="0"/>
                <a:ea typeface="Calibri" pitchFamily="34" charset="-122"/>
                <a:cs typeface="Calibri" pitchFamily="34" charset="-120"/>
              </a:rPr>
              <a:t>Making informal and small businesses visible, and ready for tomorrow.</a:t>
            </a:r>
            <a:endParaRPr lang="en-US" sz="1500" dirty="0"/>
          </a:p>
        </p:txBody>
      </p:sp>
      <p:sp>
        <p:nvSpPr>
          <p:cNvPr id="13" name="Text 9"/>
          <p:cNvSpPr txBox="1"/>
          <p:nvPr/>
        </p:nvSpPr>
        <p:spPr>
          <a:xfrm>
            <a:off x="7086600" y="5394960"/>
            <a:ext cx="4754880" cy="365760"/>
          </a:xfrm>
          <a:prstGeom prst="rect">
            <a:avLst/>
          </a:prstGeom>
          <a:noFill/>
          <a:ln/>
        </p:spPr>
        <p:txBody>
          <a:bodyPr wrap="square" lIns="0" tIns="0" rIns="0" bIns="0" rtlCol="0" anchor="t"/>
          <a:lstStyle/>
          <a:p>
            <a:pPr indent="0" marL="0">
              <a:buNone/>
            </a:pPr>
            <a:r>
              <a:rPr lang="en-US" sz="1400" dirty="0">
                <a:solidFill>
                  <a:srgbClr val="F8FAFC"/>
                </a:solidFill>
                <a:latin typeface="Calibri" pitchFamily="34" charset="0"/>
                <a:ea typeface="Calibri" pitchFamily="34" charset="-122"/>
                <a:cs typeface="Calibri" pitchFamily="34" charset="-120"/>
              </a:rPr>
              <a:t>Prepared by Team PR</a:t>
            </a:r>
            <a:endParaRPr lang="en-US" sz="1400" dirty="0"/>
          </a:p>
        </p:txBody>
      </p:sp>
      <p:pic>
        <p:nvPicPr>
          <p:cNvPr id="14" name="Image 1" descr="preencoded.png">    </p:cNvPr>
          <p:cNvPicPr>
            <a:picLocks noChangeAspect="1"/>
          </p:cNvPicPr>
          <p:nvPr/>
        </p:nvPicPr>
        <p:blipFill>
          <a:blip r:embed="rId7"/>
          <a:stretch>
            <a:fillRect/>
          </a:stretch>
        </p:blipFill>
        <p:spPr>
          <a:xfrm>
            <a:off x="11231575" y="6291072"/>
            <a:ext cx="384048" cy="384048"/>
          </a:xfrm>
          <a:prstGeom prst="rect">
            <a:avLst/>
          </a:prstGeom>
        </p:spPr>
      </p:pic>
      <p:sp>
        <p:nvSpPr>
          <p:cNvPr id="15" name="Text 10"/>
          <p:cNvSpPr txBox="1"/>
          <p:nvPr/>
        </p:nvSpPr>
        <p:spPr>
          <a:xfrm>
            <a:off x="10682935" y="6355080"/>
            <a:ext cx="457200" cy="274320"/>
          </a:xfrm>
          <a:prstGeom prst="rect">
            <a:avLst/>
          </a:prstGeom>
          <a:noFill/>
          <a:ln/>
        </p:spPr>
        <p:txBody>
          <a:bodyPr wrap="square" lIns="0" tIns="0" rIns="0" bIns="0" rtlCol="0" anchor="t"/>
          <a:lstStyle/>
          <a:p>
            <a:pPr algn="r" indent="0" marL="0">
              <a:buNone/>
            </a:pPr>
            <a:r>
              <a:rPr lang="en-US" sz="1000" dirty="0">
                <a:solidFill>
                  <a:srgbClr val="64748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Akayza - prepared by Team PR</dc:title>
  <dc:subject>PptxGenJS Presentation</dc:subject>
  <dc:creator>Team PR</dc:creator>
  <cp:lastModifiedBy>Team PR</cp:lastModifiedBy>
  <cp:revision>1</cp:revision>
  <dcterms:created xsi:type="dcterms:W3CDTF">2026-09-27T06:02:52Z</dcterms:created>
  <dcterms:modified xsi:type="dcterms:W3CDTF">2026-09-27T06:02:52Z</dcterms:modified>
</cp:coreProperties>
</file>