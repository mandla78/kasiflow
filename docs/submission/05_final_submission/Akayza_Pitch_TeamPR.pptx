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F4F7FB"/>
                </a:solidFill>
                <a:latin typeface="Calibri"/>
              </a:defRPr>
            </a:pPr>
            <a:r>
              <a:rPr sz="1500" b="0" i="0" u="none" strike="noStrike">
                <a:solidFill>
                  <a:srgbClr val="F4F7FB"/>
                </a:solidFill>
                <a:latin typeface="Calibri"/>
              </a:rPr>
              <a:t>Township businesses (%)</a:t>
            </a:r>
          </a:p>
        </c:rich>
      </c:tx>
      <c:layout/>
      <c:overlay val="0"/>
    </c:title>
    <c:autoTitleDeleted val="0"/>
    <c:plotArea>
      <c:layout/>
      <c:barChart>
        <c:barDir val="bar"/>
        <c:grouping val="clustered"/>
        <c:varyColors val="0"/>
        <c:ser>
          <c:idx val="0"/>
          <c:order val="0"/>
          <c:tx>
            <c:strRef>
              <c:f>Sheet1!$B$1</c:f>
              <c:strCache>
                <c:ptCount val="1"/>
                <c:pt idx="0">
                  <c:v>Township businesses</c:v>
                </c:pt>
              </c:strCache>
            </c:strRef>
          </c:tx>
          <c:spPr>
            <a:solidFill>
              <a:srgbClr val="22C3E6"/>
            </a:solidFill>
            <a:effectLst/>
          </c:spPr>
          <c:invertIfNegative val="0"/>
          <c:dLbls>
            <c:numFmt formatCode="0&quot;%&quot;" sourceLinked="0"/>
            <c:txPr>
              <a:bodyPr/>
              <a:lstStyle/>
              <a:p>
                <a:pPr>
                  <a:defRPr b="0" i="0" strike="noStrike" sz="1300" u="none">
                    <a:solidFill>
                      <a:srgbClr val="F4F7FB"/>
                    </a:solidFill>
                    <a:latin typeface="Arial"/>
                  </a:defRPr>
                </a:pPr>
              </a:p>
            </c:txPr>
            <c:showLegendKey val="0"/>
            <c:showVal val="1"/>
            <c:showCatName val="0"/>
            <c:showSerName val="0"/>
            <c:showPercent val="0"/>
            <c:showBubbleSize val="0"/>
            <c:showLeaderLines val="0"/>
          </c:dLbls>
          <c:cat>
            <c:multiLvlStrRef>
              <c:f>Sheet1!$A$2:$A$5</c:f>
              <c:multiLvlStrCache>
                <c:ptCount val="4"/>
                <c:lvl>
                  <c:pt idx="0">
                    <c:v>Unregistered</c:v>
                  </c:pt>
                  <c:pt idx="1">
                    <c:v>Self-funded (savings, family)</c:v>
                  </c:pt>
                  <c:pt idx="2">
                    <c:v>Prefer EFT or bank transfer</c:v>
                  </c:pt>
                  <c:pt idx="3">
                    <c:v>Can get a bank loan</c:v>
                  </c:pt>
                </c:lvl>
              </c:multiLvlStrCache>
            </c:multiLvlStrRef>
          </c:cat>
          <c:val>
            <c:numRef>
              <c:f>Sheet1!$B$2:$B$5</c:f>
              <c:numCache>
                <c:formatCode>General</c:formatCode>
                <c:ptCount val="4"/>
                <c:pt idx="0">
                  <c:v>80</c:v>
                </c:pt>
                <c:pt idx="1">
                  <c:v>57</c:v>
                </c:pt>
                <c:pt idx="2">
                  <c:v>56</c:v>
                </c:pt>
                <c:pt idx="3">
                  <c:v>9</c:v>
                </c:pt>
              </c:numCache>
            </c:numRef>
          </c:val>
        </c:ser>
        <c:dLbls>
          <c:numFmt formatCode="0&quot;%&quot;" sourceLinked="0"/>
          <c:txPr>
            <a:bodyPr/>
            <a:lstStyle/>
            <a:p>
              <a:pPr>
                <a:defRPr b="0" i="0" strike="noStrike" sz="1300" u="none">
                  <a:solidFill>
                    <a:srgbClr val="F4F7FB"/>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4F7FB"/>
                </a:solidFill>
                <a:latin typeface="Arial"/>
              </a:defRPr>
            </a:pPr>
            <a:endParaRPr lang="en-US"/>
          </a:p>
        </c:txPr>
        <c:crossAx val="2094734552"/>
        <c:crosses val="autoZero"/>
        <c:auto val="1"/>
        <c:lblAlgn val="ctr"/>
        <c:noMultiLvlLbl val="1"/>
      </c:catAx>
      <c:valAx>
        <c:axId val="2094734552"/>
        <c:scaling>
          <c:orientation val="minMax"/>
          <c:max val="1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4F7FB"/>
                </a:solidFill>
                <a:latin typeface="Calibri"/>
              </a:defRPr>
            </a:pPr>
            <a:r>
              <a:rPr sz="1300" b="0" i="0" u="none" strike="noStrike">
                <a:solidFill>
                  <a:srgbClr val="F4F7FB"/>
                </a:solidFill>
                <a:latin typeface="Calibri"/>
              </a:rPr>
              <a:t>Monthly revenue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22C3E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2A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4F7FB"/>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4F7F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4F7FB"/>
                </a:solidFill>
                <a:latin typeface="Calibri"/>
              </a:defRPr>
            </a:pPr>
            <a:r>
              <a:rPr sz="1400" b="0" i="0" u="none" strike="noStrike">
                <a:solidFill>
                  <a:srgbClr val="F4F7FB"/>
                </a:solidFill>
                <a:latin typeface="Calibri"/>
              </a:rPr>
              <a:t>Use of the R300,000 (R thousand)</a:t>
            </a:r>
          </a:p>
        </c:rich>
      </c:tx>
      <c:layout/>
      <c:overlay val="0"/>
    </c:title>
    <c:autoTitleDeleted val="0"/>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22C3E6"/>
              </a:solidFill>
              <a:effectLst/>
            </c:spPr>
          </c:dPt>
          <c:dPt>
            <c:idx val="1"/>
            <c:bubble3D val="0"/>
            <c:spPr>
              <a:solidFill>
                <a:srgbClr val="F2A93B"/>
              </a:solidFill>
              <a:effectLst/>
            </c:spPr>
          </c:dPt>
          <c:dPt>
            <c:idx val="2"/>
            <c:bubble3D val="0"/>
            <c:spPr>
              <a:solidFill>
                <a:srgbClr val="34D399"/>
              </a:solidFill>
              <a:effectLst/>
            </c:spPr>
          </c:dPt>
          <c:dPt>
            <c:idx val="3"/>
            <c:bubble3D val="0"/>
            <c:spPr>
              <a:solidFill>
                <a:srgbClr val="7C9CBF"/>
              </a:solidFill>
              <a:effectLst/>
            </c:spPr>
          </c:dPt>
          <c:dPt>
            <c:idx val="4"/>
            <c:bubble3D val="0"/>
            <c:spPr>
              <a:solidFill>
                <a:srgbClr val="F87171"/>
              </a:solidFill>
              <a:effectLst/>
            </c:spPr>
          </c:dPt>
          <c:dPt>
            <c:idx val="5"/>
            <c:bubble3D val="0"/>
            <c:spPr>
              <a:solidFill>
                <a:srgbClr val="C4B5FD"/>
              </a:solidFill>
              <a:effectLst/>
            </c:spPr>
          </c:dPt>
          <c:dLbls>
            <c:dLbl>
              <c:idx val="0"/>
              <c:numFmt formatCode="General" sourceLinked="0"/>
              <c:spPr/>
              <c:txPr>
                <a:bodyPr/>
                <a:lstStyle/>
                <a:p>
                  <a:pPr>
                    <a:defRPr sz="1200" b="1" i="0" u="none" strike="noStrike">
                      <a:solidFill>
                        <a:srgbClr val="0D1B2A"/>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1" i="0" u="none" strike="noStrike">
                      <a:solidFill>
                        <a:srgbClr val="0D1B2A"/>
                      </a:solidFill>
                      <a:latin typeface="Arial"/>
                    </a:defRPr>
                  </a:pPr>
                </a:p>
              </c:txPr>
              <c:showLegendKey val="0"/>
              <c:showVal val="1"/>
              <c:showCatName val="0"/>
              <c:showSerName val="0"/>
              <c:showPercent val="0"/>
              <c:showBubbleSize val="0"/>
            </c:dLbl>
            <c:dLbl>
              <c:idx val="2"/>
              <c:numFmt formatCode="General" sourceLinked="0"/>
              <c:spPr/>
              <c:txPr>
                <a:bodyPr/>
                <a:lstStyle/>
                <a:p>
                  <a:pPr>
                    <a:defRPr sz="1200" b="1" i="0" u="none" strike="noStrike">
                      <a:solidFill>
                        <a:srgbClr val="0D1B2A"/>
                      </a:solidFill>
                      <a:latin typeface="Arial"/>
                    </a:defRPr>
                  </a:pPr>
                </a:p>
              </c:txPr>
              <c:showLegendKey val="0"/>
              <c:showVal val="1"/>
              <c:showCatName val="0"/>
              <c:showSerName val="0"/>
              <c:showPercent val="0"/>
              <c:showBubbleSize val="0"/>
            </c:dLbl>
            <c:dLbl>
              <c:idx val="3"/>
              <c:numFmt formatCode="General" sourceLinked="0"/>
              <c:spPr/>
              <c:txPr>
                <a:bodyPr/>
                <a:lstStyle/>
                <a:p>
                  <a:pPr>
                    <a:defRPr sz="1200" b="1" i="0" u="none" strike="noStrike">
                      <a:solidFill>
                        <a:srgbClr val="0D1B2A"/>
                      </a:solidFill>
                      <a:latin typeface="Arial"/>
                    </a:defRPr>
                  </a:pPr>
                </a:p>
              </c:txPr>
              <c:showLegendKey val="0"/>
              <c:showVal val="1"/>
              <c:showCatName val="0"/>
              <c:showSerName val="0"/>
              <c:showPercent val="0"/>
              <c:showBubbleSize val="0"/>
            </c:dLbl>
            <c:dLbl>
              <c:idx val="4"/>
              <c:numFmt formatCode="General" sourceLinked="0"/>
              <c:spPr/>
              <c:txPr>
                <a:bodyPr/>
                <a:lstStyle/>
                <a:p>
                  <a:pPr>
                    <a:defRPr sz="1200" b="1" i="0" u="none" strike="noStrike">
                      <a:solidFill>
                        <a:srgbClr val="0D1B2A"/>
                      </a:solidFill>
                      <a:latin typeface="Arial"/>
                    </a:defRPr>
                  </a:pPr>
                </a:p>
              </c:txPr>
              <c:showLegendKey val="0"/>
              <c:showVal val="1"/>
              <c:showCatName val="0"/>
              <c:showSerName val="0"/>
              <c:showPercent val="0"/>
              <c:showBubbleSize val="0"/>
            </c:dLbl>
            <c:dLbl>
              <c:idx val="5"/>
              <c:numFmt formatCode="General" sourceLinked="0"/>
              <c:spPr/>
              <c:txPr>
                <a:bodyPr/>
                <a:lstStyle/>
                <a:p>
                  <a:pPr>
                    <a:defRPr sz="1200" b="1" i="0" u="none" strike="noStrike">
                      <a:solidFill>
                        <a:srgbClr val="0D1B2A"/>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Stipends for pilot businesses</c:v>
                </c:pt>
                <c:pt idx="1">
                  <c:v>Field agent</c:v>
                </c:pt>
                <c:pt idx="2">
                  <c:v>Data bundles</c:v>
                </c:pt>
                <c:pt idx="3">
                  <c:v>Running costs</c:v>
                </c:pt>
                <c:pt idx="4">
                  <c:v>POPIA review + security test</c:v>
                </c:pt>
                <c:pt idx="5">
                  <c:v>Devices + contingency</c:v>
                </c:pt>
              </c:strCache>
            </c:strRef>
          </c:cat>
          <c:val>
            <c:numRef>
              <c:f>Sheet1!$B$2:$B$7</c:f>
              <c:numCache>
                <c:ptCount val="6"/>
                <c:pt idx="0">
                  <c:v>96</c:v>
                </c:pt>
                <c:pt idx="1">
                  <c:v>60</c:v>
                </c:pt>
                <c:pt idx="2">
                  <c:v>60</c:v>
                </c:pt>
                <c:pt idx="3">
                  <c:v>24</c:v>
                </c:pt>
                <c:pt idx="4">
                  <c:v>30</c:v>
                </c:pt>
                <c:pt idx="5">
                  <c:v>30</c:v>
                </c:pt>
              </c:numCache>
            </c:numRef>
          </c:val>
        </c:ser>
        <c:firstSliceAng val="0"/>
        <c:holeSize val="55"/>
      </c:doughnutChart>
      <c:spPr>
        <a:noFill/>
        <a:ln>
          <a:noFill/>
        </a:ln>
        <a:effectLst/>
      </c:spPr>
    </c:plotArea>
    <c:legend>
      <c:legendPos val="r"/>
      <c:overlay val="0"/>
      <c:txPr>
        <a:bodyPr/>
        <a:lstStyle/>
        <a:p>
          <a:pPr>
            <a:defRPr sz="1150">
              <a:solidFill>
                <a:srgbClr val="F4F7FB"/>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(10 s). 'Good morning. We are Team PR, and this is Akayza. Keep it in the kasi.' Pause. Then straight to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(30 s). Say it like a person, not a report. 'Think of a spaza owner. She restocks every week, pays the driver cash, and keeps who-owes-me in a notebook. A builder next door gets paid by his client in stages, in cash. None of it leaves a record both sides agree on. So when the cash doesn't add up, it's word against word. And when she applies for help, she can't prove her shop is real.' These are informal businesses: spaza shops, builders and trades, food sellers.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(25 s). Only say three: 'Standard Bank's 2025 township report puts this economy at about R900 BILLION a year (not 800). About 80% of these businesses are unregistered, fewer than 9% can get a bank loan. And when government opened a R500 million Spaza Support Fund, 354 applications failed verification.' IF ASKED where the R900 bn comes from: Standard Bank's first Township Informal Economy Report, October 2025, research by Foshizi, over 250 businesses in Gauteng, KZN, Western Cape, Limpopo and North West. The key point: 56% already prefer EFT: they're ready for digital, they just need a tool built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SA (20 s, answer this even if they don't ask). 'We start here because we know this market from the inside, it's large and dense, it's ready for digital payments, and the rules are clear. Once the model works here, the same problem exists across Africa: Nigeria and Kenya have B2B apps for shops, but none that also run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(30 s). 'Akayza is one free app. It helps an informal business run day to day: a credit book, an order book, jobs for builders. And it lets them order stock from the suppliers they already trust, pay digitally or cash, and get a proper invoice. We are not a marketplace: we recommend suppliers, never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JOURNEY (20 s, or skip to the video in the 3-minute version). Walk it left to right in one breath each. The builder line at the bottom: 'a builder does the same with jobs, and the client signs each stage off from his own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 (25 s). This is what makes us different. 'The tools aren't just record-keeping. What a builder's open jobs need, or what a shop sold this week, becomes a private signal. It lifts the suppliers that sell exactly that, and tells the owner why: your open jobs need plumbing. Every supplier is still ranked, nobody is hidden, and no personal data ever leaves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demo live on the phone. Before you go on stage: phone charged, backend + ngrok running, health check green. Replace the link text on this slide with the real link (Insert &gt; Link on the play button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vs CUSTOMERS (20 s). 'The businesses use it free. Suppliers pay us, because we bring them more orders from the shops and builders they already serve, and we end the cash disputes with their drivers.' Most small businesses already have suppliers they trust: we make that relationship work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MONEY (25 s). 'Businesses never pay for the core tools. Suppliers pay R299 or R1,499 a month, and we take about 1% only on digital orders, never on cash. By the end of year one, 15 suppliers and 1,000 businesses give about R56,000 a month; year three about R1.1 million a month.' IF ASKED how you got the numbers: subscriptions = supplier mix x price; commission = active businesses x ~R4,000 digital orders a month x 1%. They're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(20 s). The panel asked about e-commerce: 'Shoprite Cash &amp; Carry has a buying app for spaza shops. It's one wholesaler selling its own range. We work with whichever suppliers a business already uses, we cover builders too, and we run the business, not just the order. Payments apps like iKhokha and Yoco take card payments; we complement them.' Don't attack competitors; show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GO-TO-MARKET (20 s). 'We don't buy ads to reach 150,000 spaza shops one by one. We sign a supplier, and the supplier brings the shops and builders it already delivers to. The pilot is two suppliers and their customers, with a field agent at the 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(20 s). The organisers asked for the sum of costs, so say the number clearly: 'Running Akayza costs about R460 a month in the pilot. Two suppliers on our Starter plan cover that. We're asking for R300,000 for a six-month pilot: stipends and data for the pilot businesses, a field agent, a POPIA review and an external security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TRL (15 s). 'This isn't a mock-up. Over a thousand automated tests run before every change. Payments work end to end in PayFast's sandbox. We're TRL 4 today; the pilot takes us to 5 and 6.' If a mentor rated us higher or lower in the war room, change this slide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(only if asked or in the 5-minute finale). App -&gt; API -&gt; database; PayFast, Cloudinary, Mapbox and email behind the API. Each feature is its own module, and an automated test stops one module reaching into another's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(15 s). Answer the war-room worry about complexity: 'Security is invisible for the owner: email and password, and a code only on a new phone. Everything else happens on our server.' Then: 'and we're honest about proof: only a payment confirmed by the provider counts as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 ROADMAP (15 s). One line each on impact. The last roadmap point is the quantum bonus outline: 'Records and invoices are meant to prove things for years, so the next step is post-quantum signatures, ML-DSA, the NIST standard, so today's proof still holds when quantum computers can break today's signatures.' That's the 2 bonus points for an outline; don't claim it's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(10 s). Edit the roles to how you want to be introduced; add the DataQuest 2026 win here if you want it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(10 s). Look at the panel: 'It's built, it works, and suppliers pay for it. We're asking for R300,000 to put it in real shops and on real sites.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1280160"/>
          </a:xfrm>
          <a:prstGeom prst="rect">
            <a:avLst/>
          </a:prstGeom>
          <a:noFill/>
          <a:ln/>
        </p:spPr>
        <p:txBody>
          <a:bodyPr wrap="square" lIns="0" tIns="0" rIns="0" bIns="0" rtlCol="0" anchor="ctr"/>
          <a:lstStyle/>
          <a:p>
            <a:pPr indent="0" marL="0">
              <a:buNone/>
            </a:pPr>
            <a:r>
              <a:rPr lang="en-US" sz="8000" b="1" dirty="0">
                <a:solidFill>
                  <a:srgbClr val="F4F7FB"/>
                </a:solidFill>
                <a:latin typeface="Georgia" pitchFamily="34" charset="0"/>
                <a:ea typeface="Georgia" pitchFamily="34" charset="-122"/>
                <a:cs typeface="Georgia" pitchFamily="34" charset="-120"/>
              </a:rPr>
              <a:t>Akayza</a:t>
            </a:r>
            <a:endParaRPr lang="en-US" sz="8000" dirty="0"/>
          </a:p>
        </p:txBody>
      </p:sp>
      <p:sp>
        <p:nvSpPr>
          <p:cNvPr id="3" name="Text 1"/>
          <p:cNvSpPr txBox="1"/>
          <p:nvPr/>
        </p:nvSpPr>
        <p:spPr>
          <a:xfrm>
            <a:off x="731520" y="2697480"/>
            <a:ext cx="7315200" cy="731520"/>
          </a:xfrm>
          <a:prstGeom prst="rect">
            <a:avLst/>
          </a:prstGeom>
          <a:noFill/>
          <a:ln/>
        </p:spPr>
        <p:txBody>
          <a:bodyPr wrap="square" lIns="0" tIns="0" rIns="0" bIns="0" rtlCol="0" anchor="ctr"/>
          <a:lstStyle/>
          <a:p>
            <a:pPr indent="0" marL="0">
              <a:buNone/>
            </a:pPr>
            <a:r>
              <a:rPr lang="en-US" sz="3200" i="1" dirty="0">
                <a:solidFill>
                  <a:srgbClr val="22C3E6"/>
                </a:solidFill>
                <a:latin typeface="Georgia" pitchFamily="34" charset="0"/>
                <a:ea typeface="Georgia" pitchFamily="34" charset="-122"/>
                <a:cs typeface="Georgia" pitchFamily="34" charset="-120"/>
              </a:rPr>
              <a:t>Keep it in the kasi.</a:t>
            </a:r>
            <a:endParaRPr lang="en-US" sz="3200" dirty="0"/>
          </a:p>
        </p:txBody>
      </p:sp>
      <p:sp>
        <p:nvSpPr>
          <p:cNvPr id="4" name="Text 2"/>
          <p:cNvSpPr txBox="1"/>
          <p:nvPr/>
        </p:nvSpPr>
        <p:spPr>
          <a:xfrm>
            <a:off x="731520" y="3611880"/>
            <a:ext cx="6583680" cy="914400"/>
          </a:xfrm>
          <a:prstGeom prst="rect">
            <a:avLst/>
          </a:prstGeom>
          <a:noFill/>
          <a:ln/>
        </p:spPr>
        <p:txBody>
          <a:bodyPr wrap="square" lIns="0" tIns="0" rIns="0" bIns="0" rtlCol="0" anchor="t"/>
          <a:lstStyle/>
          <a:p>
            <a:pPr indent="0" marL="0">
              <a:buNone/>
            </a:pPr>
            <a:r>
              <a:rPr lang="en-US" sz="1800" dirty="0">
                <a:solidFill>
                  <a:srgbClr val="9FB3C8"/>
                </a:solidFill>
                <a:latin typeface="Calibri" pitchFamily="34" charset="0"/>
                <a:ea typeface="Calibri" pitchFamily="34" charset="-122"/>
                <a:cs typeface="Calibri" pitchFamily="34" charset="-120"/>
              </a:rPr>
              <a:t>One free app for South Africa's informal businesses: run the business, and order stock from the suppliers you already trust.</a:t>
            </a:r>
            <a:endParaRPr lang="en-US" sz="1800" dirty="0"/>
          </a:p>
        </p:txBody>
      </p:sp>
      <p:sp>
        <p:nvSpPr>
          <p:cNvPr id="5" name="Text 3"/>
          <p:cNvSpPr txBox="1"/>
          <p:nvPr/>
        </p:nvSpPr>
        <p:spPr>
          <a:xfrm>
            <a:off x="731520" y="5120640"/>
            <a:ext cx="7315200" cy="365760"/>
          </a:xfrm>
          <a:prstGeom prst="rect">
            <a:avLst/>
          </a:prstGeom>
          <a:noFill/>
          <a:ln/>
        </p:spPr>
        <p:txBody>
          <a:bodyPr wrap="square" lIns="0" tIns="0" rIns="0" bIns="0" rtlCol="0" anchor="t"/>
          <a:lstStyle/>
          <a:p>
            <a:pPr indent="0" marL="0">
              <a:buNone/>
            </a:pPr>
            <a:r>
              <a:rPr lang="en-US" sz="1400" dirty="0">
                <a:solidFill>
                  <a:srgbClr val="5E7891"/>
                </a:solidFill>
                <a:latin typeface="Calibri" pitchFamily="34" charset="0"/>
                <a:ea typeface="Calibri" pitchFamily="34" charset="-122"/>
                <a:cs typeface="Calibri" pitchFamily="34" charset="-120"/>
              </a:rPr>
              <a:t>Prepared by Team PR  ·  GKHack26  ·  27 September 2026</a:t>
            </a:r>
            <a:endParaRPr lang="en-US" sz="1400" dirty="0"/>
          </a:p>
        </p:txBody>
      </p:sp>
      <p:sp>
        <p:nvSpPr>
          <p:cNvPr id="6" name="Shape 4"/>
          <p:cNvSpPr/>
          <p:nvPr/>
        </p:nvSpPr>
        <p:spPr>
          <a:xfrm>
            <a:off x="8778240" y="1554480"/>
            <a:ext cx="1371600" cy="1371600"/>
          </a:xfrm>
          <a:prstGeom prst="ellipse">
            <a:avLst/>
          </a:prstGeom>
          <a:solidFill>
            <a:srgbClr val="183452"/>
          </a:solidFill>
          <a:ln w="19050">
            <a:solidFill>
              <a:srgbClr val="22C3E6"/>
            </a:solidFill>
            <a:prstDash val="solid"/>
          </a:ln>
        </p:spPr>
      </p:sp>
      <p:pic>
        <p:nvPicPr>
          <p:cNvPr id="7" name="Image 0" descr="preencoded.png">    </p:cNvPr>
          <p:cNvPicPr>
            <a:picLocks noChangeAspect="1"/>
          </p:cNvPicPr>
          <p:nvPr/>
        </p:nvPicPr>
        <p:blipFill>
          <a:blip r:embed="rId1"/>
          <a:stretch>
            <a:fillRect/>
          </a:stretch>
        </p:blipFill>
        <p:spPr>
          <a:xfrm>
            <a:off x="9107424" y="1883664"/>
            <a:ext cx="713232" cy="713232"/>
          </a:xfrm>
          <a:prstGeom prst="rect">
            <a:avLst/>
          </a:prstGeom>
        </p:spPr>
      </p:pic>
      <p:sp>
        <p:nvSpPr>
          <p:cNvPr id="8" name="Shape 5"/>
          <p:cNvSpPr/>
          <p:nvPr/>
        </p:nvSpPr>
        <p:spPr>
          <a:xfrm>
            <a:off x="10241280" y="2651760"/>
            <a:ext cx="1188720" cy="1188720"/>
          </a:xfrm>
          <a:prstGeom prst="ellipse">
            <a:avLst/>
          </a:prstGeom>
          <a:solidFill>
            <a:srgbClr val="183452"/>
          </a:solidFill>
          <a:ln w="19050">
            <a:solidFill>
              <a:srgbClr val="F2A93B"/>
            </a:solidFill>
            <a:prstDash val="solid"/>
          </a:ln>
        </p:spPr>
      </p:sp>
      <p:pic>
        <p:nvPicPr>
          <p:cNvPr id="9" name="Image 1" descr="preencoded.png">    </p:cNvPr>
          <p:cNvPicPr>
            <a:picLocks noChangeAspect="1"/>
          </p:cNvPicPr>
          <p:nvPr/>
        </p:nvPicPr>
        <p:blipFill>
          <a:blip r:embed="rId2"/>
          <a:stretch>
            <a:fillRect/>
          </a:stretch>
        </p:blipFill>
        <p:spPr>
          <a:xfrm>
            <a:off x="10526573" y="2937053"/>
            <a:ext cx="618134" cy="618134"/>
          </a:xfrm>
          <a:prstGeom prst="rect">
            <a:avLst/>
          </a:prstGeom>
        </p:spPr>
      </p:pic>
      <p:sp>
        <p:nvSpPr>
          <p:cNvPr id="10" name="Shape 6"/>
          <p:cNvSpPr/>
          <p:nvPr/>
        </p:nvSpPr>
        <p:spPr>
          <a:xfrm>
            <a:off x="8869680" y="3566160"/>
            <a:ext cx="1097280" cy="1097280"/>
          </a:xfrm>
          <a:prstGeom prst="ellipse">
            <a:avLst/>
          </a:prstGeom>
          <a:solidFill>
            <a:srgbClr val="183452"/>
          </a:solidFill>
          <a:ln w="19050">
            <a:solidFill>
              <a:srgbClr val="34D399"/>
            </a:solidFill>
            <a:prstDash val="solid"/>
          </a:ln>
        </p:spPr>
      </p:sp>
      <p:pic>
        <p:nvPicPr>
          <p:cNvPr id="11" name="Image 2" descr="preencoded.png">    </p:cNvPr>
          <p:cNvPicPr>
            <a:picLocks noChangeAspect="1"/>
          </p:cNvPicPr>
          <p:nvPr/>
        </p:nvPicPr>
        <p:blipFill>
          <a:blip r:embed="rId3"/>
          <a:stretch>
            <a:fillRect/>
          </a:stretch>
        </p:blipFill>
        <p:spPr>
          <a:xfrm>
            <a:off x="9133027" y="3829507"/>
            <a:ext cx="570586" cy="570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Run on cash, WhatsApp and a notebook</a:t>
            </a:r>
            <a:endParaRPr lang="en-US" sz="3600" dirty="0"/>
          </a:p>
        </p:txBody>
      </p:sp>
      <p:sp>
        <p:nvSpPr>
          <p:cNvPr id="3" name="Text 1"/>
          <p:cNvSpPr txBox="1"/>
          <p:nvPr/>
        </p:nvSpPr>
        <p:spPr>
          <a:xfrm>
            <a:off x="548640" y="1234440"/>
            <a:ext cx="10972800" cy="457200"/>
          </a:xfrm>
          <a:prstGeom prst="rect">
            <a:avLst/>
          </a:prstGeom>
          <a:noFill/>
          <a:ln/>
        </p:spPr>
        <p:txBody>
          <a:bodyPr wrap="square" lIns="0" tIns="0" rIns="0" bIns="0" rtlCol="0" anchor="t"/>
          <a:lstStyle/>
          <a:p>
            <a:pPr indent="0" marL="0">
              <a:buNone/>
            </a:pPr>
            <a:r>
              <a:rPr lang="en-US" sz="1800" i="1" dirty="0">
                <a:solidFill>
                  <a:srgbClr val="22C3E6"/>
                </a:solidFill>
                <a:latin typeface="Calibri" pitchFamily="34" charset="0"/>
                <a:ea typeface="Calibri" pitchFamily="34" charset="-122"/>
                <a:cs typeface="Calibri" pitchFamily="34" charset="-120"/>
              </a:rPr>
              <a:t>Spaza shops, builders, food sellers: real businesses, with no record anyone can trust.</a:t>
            </a:r>
            <a:endParaRPr lang="en-US" sz="1800" dirty="0"/>
          </a:p>
        </p:txBody>
      </p:sp>
      <p:sp>
        <p:nvSpPr>
          <p:cNvPr id="4" name="Shape 2"/>
          <p:cNvSpPr/>
          <p:nvPr/>
        </p:nvSpPr>
        <p:spPr>
          <a:xfrm>
            <a:off x="548640" y="2148840"/>
            <a:ext cx="3474720" cy="3291840"/>
          </a:xfrm>
          <a:prstGeom prst="roundRect">
            <a:avLst>
              <a:gd name="adj" fmla="val 3333"/>
            </a:avLst>
          </a:prstGeom>
          <a:solidFill>
            <a:srgbClr val="132A40"/>
          </a:solidFill>
          <a:ln w="12700">
            <a:solidFill>
              <a:srgbClr val="132A40"/>
            </a:solidFill>
            <a:prstDash val="solid"/>
          </a:ln>
        </p:spPr>
      </p:sp>
      <p:sp>
        <p:nvSpPr>
          <p:cNvPr id="5" name="Shape 3"/>
          <p:cNvSpPr/>
          <p:nvPr/>
        </p:nvSpPr>
        <p:spPr>
          <a:xfrm>
            <a:off x="868680" y="2423160"/>
            <a:ext cx="777240" cy="777240"/>
          </a:xfrm>
          <a:prstGeom prst="ellipse">
            <a:avLst/>
          </a:prstGeom>
          <a:solidFill>
            <a:srgbClr val="183452"/>
          </a:solidFill>
          <a:ln w="19050">
            <a:solidFill>
              <a:srgbClr val="F2A93B"/>
            </a:solidFill>
            <a:prstDash val="solid"/>
          </a:ln>
        </p:spPr>
      </p:sp>
      <p:pic>
        <p:nvPicPr>
          <p:cNvPr id="6" name="Image 0" descr="preencoded.png">    </p:cNvPr>
          <p:cNvPicPr>
            <a:picLocks noChangeAspect="1"/>
          </p:cNvPicPr>
          <p:nvPr/>
        </p:nvPicPr>
        <p:blipFill>
          <a:blip r:embed="rId1"/>
          <a:stretch>
            <a:fillRect/>
          </a:stretch>
        </p:blipFill>
        <p:spPr>
          <a:xfrm>
            <a:off x="1055218" y="2609698"/>
            <a:ext cx="404165" cy="404165"/>
          </a:xfrm>
          <a:prstGeom prst="rect">
            <a:avLst/>
          </a:prstGeom>
        </p:spPr>
      </p:pic>
      <p:sp>
        <p:nvSpPr>
          <p:cNvPr id="7" name="Text 4"/>
          <p:cNvSpPr txBox="1"/>
          <p:nvPr/>
        </p:nvSpPr>
        <p:spPr>
          <a:xfrm>
            <a:off x="868680" y="3337560"/>
            <a:ext cx="2926080" cy="457200"/>
          </a:xfrm>
          <a:prstGeom prst="rect">
            <a:avLst/>
          </a:prstGeom>
          <a:noFill/>
          <a:ln/>
        </p:spPr>
        <p:txBody>
          <a:bodyPr wrap="square" lIns="0" tIns="0" rIns="0" bIns="0" rtlCol="0" anchor="t"/>
          <a:lstStyle/>
          <a:p>
            <a:pPr indent="0" marL="0">
              <a:buNone/>
            </a:pPr>
            <a:r>
              <a:rPr lang="en-US" sz="1900" b="1" dirty="0">
                <a:solidFill>
                  <a:srgbClr val="F4F7FB"/>
                </a:solidFill>
                <a:latin typeface="Calibri" pitchFamily="34" charset="0"/>
                <a:ea typeface="Calibri" pitchFamily="34" charset="-122"/>
                <a:cs typeface="Calibri" pitchFamily="34" charset="-120"/>
              </a:rPr>
              <a:t>No record of cash</a:t>
            </a:r>
            <a:endParaRPr lang="en-US" sz="1900" dirty="0"/>
          </a:p>
        </p:txBody>
      </p:sp>
      <p:sp>
        <p:nvSpPr>
          <p:cNvPr id="8" name="Text 5"/>
          <p:cNvSpPr txBox="1"/>
          <p:nvPr/>
        </p:nvSpPr>
        <p:spPr>
          <a:xfrm>
            <a:off x="868680" y="3931920"/>
            <a:ext cx="2834640" cy="1371600"/>
          </a:xfrm>
          <a:prstGeom prst="rect">
            <a:avLst/>
          </a:prstGeom>
          <a:noFill/>
          <a:ln/>
        </p:spPr>
        <p:txBody>
          <a:bodyPr wrap="square" lIns="0" tIns="0" rIns="0" bIns="0" rtlCol="0" anchor="t"/>
          <a:lstStyle/>
          <a:p>
            <a:pPr indent="0" marL="0">
              <a:buNone/>
            </a:pPr>
            <a:r>
              <a:rPr lang="en-US" sz="1500" dirty="0">
                <a:solidFill>
                  <a:srgbClr val="9FB3C8"/>
                </a:solidFill>
                <a:latin typeface="Calibri" pitchFamily="34" charset="0"/>
                <a:ea typeface="Calibri" pitchFamily="34" charset="-122"/>
                <a:cs typeface="Calibri" pitchFamily="34" charset="-120"/>
              </a:rPr>
              <a:t>The driver takes cash for the stock. When it doesn't add up, it's her word against his.</a:t>
            </a:r>
            <a:endParaRPr lang="en-US" sz="1500" dirty="0"/>
          </a:p>
        </p:txBody>
      </p:sp>
      <p:sp>
        <p:nvSpPr>
          <p:cNvPr id="9" name="Shape 6"/>
          <p:cNvSpPr/>
          <p:nvPr/>
        </p:nvSpPr>
        <p:spPr>
          <a:xfrm>
            <a:off x="4297680" y="2148840"/>
            <a:ext cx="3474720" cy="3291840"/>
          </a:xfrm>
          <a:prstGeom prst="roundRect">
            <a:avLst>
              <a:gd name="adj" fmla="val 3333"/>
            </a:avLst>
          </a:prstGeom>
          <a:solidFill>
            <a:srgbClr val="132A40"/>
          </a:solidFill>
          <a:ln w="12700">
            <a:solidFill>
              <a:srgbClr val="132A40"/>
            </a:solidFill>
            <a:prstDash val="solid"/>
          </a:ln>
        </p:spPr>
      </p:sp>
      <p:sp>
        <p:nvSpPr>
          <p:cNvPr id="10" name="Shape 7"/>
          <p:cNvSpPr/>
          <p:nvPr/>
        </p:nvSpPr>
        <p:spPr>
          <a:xfrm>
            <a:off x="4617720" y="2423160"/>
            <a:ext cx="777240" cy="777240"/>
          </a:xfrm>
          <a:prstGeom prst="ellipse">
            <a:avLst/>
          </a:prstGeom>
          <a:solidFill>
            <a:srgbClr val="183452"/>
          </a:solidFill>
          <a:ln w="19050">
            <a:solidFill>
              <a:srgbClr val="22C3E6"/>
            </a:solidFill>
            <a:prstDash val="solid"/>
          </a:ln>
        </p:spPr>
      </p:sp>
      <p:pic>
        <p:nvPicPr>
          <p:cNvPr id="11" name="Image 1" descr="preencoded.png">    </p:cNvPr>
          <p:cNvPicPr>
            <a:picLocks noChangeAspect="1"/>
          </p:cNvPicPr>
          <p:nvPr/>
        </p:nvPicPr>
        <p:blipFill>
          <a:blip r:embed="rId2"/>
          <a:stretch>
            <a:fillRect/>
          </a:stretch>
        </p:blipFill>
        <p:spPr>
          <a:xfrm>
            <a:off x="4804258" y="2609698"/>
            <a:ext cx="404165" cy="404165"/>
          </a:xfrm>
          <a:prstGeom prst="rect">
            <a:avLst/>
          </a:prstGeom>
        </p:spPr>
      </p:pic>
      <p:sp>
        <p:nvSpPr>
          <p:cNvPr id="12" name="Text 8"/>
          <p:cNvSpPr txBox="1"/>
          <p:nvPr/>
        </p:nvSpPr>
        <p:spPr>
          <a:xfrm>
            <a:off x="4617720" y="3337560"/>
            <a:ext cx="2926080" cy="457200"/>
          </a:xfrm>
          <a:prstGeom prst="rect">
            <a:avLst/>
          </a:prstGeom>
          <a:noFill/>
          <a:ln/>
        </p:spPr>
        <p:txBody>
          <a:bodyPr wrap="square" lIns="0" tIns="0" rIns="0" bIns="0" rtlCol="0" anchor="t"/>
          <a:lstStyle/>
          <a:p>
            <a:pPr indent="0" marL="0">
              <a:buNone/>
            </a:pPr>
            <a:r>
              <a:rPr lang="en-US" sz="1900" b="1" dirty="0">
                <a:solidFill>
                  <a:srgbClr val="F4F7FB"/>
                </a:solidFill>
                <a:latin typeface="Calibri" pitchFamily="34" charset="0"/>
                <a:ea typeface="Calibri" pitchFamily="34" charset="-122"/>
                <a:cs typeface="Calibri" pitchFamily="34" charset="-120"/>
              </a:rPr>
              <a:t>Credit in memory</a:t>
            </a:r>
            <a:endParaRPr lang="en-US" sz="1900" dirty="0"/>
          </a:p>
        </p:txBody>
      </p:sp>
      <p:sp>
        <p:nvSpPr>
          <p:cNvPr id="13" name="Text 9"/>
          <p:cNvSpPr txBox="1"/>
          <p:nvPr/>
        </p:nvSpPr>
        <p:spPr>
          <a:xfrm>
            <a:off x="4617720" y="3931920"/>
            <a:ext cx="2834640" cy="1371600"/>
          </a:xfrm>
          <a:prstGeom prst="rect">
            <a:avLst/>
          </a:prstGeom>
          <a:noFill/>
          <a:ln/>
        </p:spPr>
        <p:txBody>
          <a:bodyPr wrap="square" lIns="0" tIns="0" rIns="0" bIns="0" rtlCol="0" anchor="t"/>
          <a:lstStyle/>
          <a:p>
            <a:pPr indent="0" marL="0">
              <a:buNone/>
            </a:pPr>
            <a:r>
              <a:rPr lang="en-US" sz="1500" dirty="0">
                <a:solidFill>
                  <a:srgbClr val="9FB3C8"/>
                </a:solidFill>
                <a:latin typeface="Calibri" pitchFamily="34" charset="0"/>
                <a:ea typeface="Calibri" pitchFamily="34" charset="-122"/>
                <a:cs typeface="Calibri" pitchFamily="34" charset="-120"/>
              </a:rPr>
              <a:t>Customers buy on the book. Who owes what is in a notebook, or in her head.</a:t>
            </a:r>
            <a:endParaRPr lang="en-US" sz="1500" dirty="0"/>
          </a:p>
        </p:txBody>
      </p:sp>
      <p:sp>
        <p:nvSpPr>
          <p:cNvPr id="14" name="Shape 10"/>
          <p:cNvSpPr/>
          <p:nvPr/>
        </p:nvSpPr>
        <p:spPr>
          <a:xfrm>
            <a:off x="8046720" y="2148840"/>
            <a:ext cx="3474720" cy="3291840"/>
          </a:xfrm>
          <a:prstGeom prst="roundRect">
            <a:avLst>
              <a:gd name="adj" fmla="val 3333"/>
            </a:avLst>
          </a:prstGeom>
          <a:solidFill>
            <a:srgbClr val="132A40"/>
          </a:solidFill>
          <a:ln w="12700">
            <a:solidFill>
              <a:srgbClr val="132A40"/>
            </a:solidFill>
            <a:prstDash val="solid"/>
          </a:ln>
        </p:spPr>
      </p:sp>
      <p:sp>
        <p:nvSpPr>
          <p:cNvPr id="15" name="Shape 11"/>
          <p:cNvSpPr/>
          <p:nvPr/>
        </p:nvSpPr>
        <p:spPr>
          <a:xfrm>
            <a:off x="8366760" y="2423160"/>
            <a:ext cx="777240" cy="777240"/>
          </a:xfrm>
          <a:prstGeom prst="ellipse">
            <a:avLst/>
          </a:prstGeom>
          <a:solidFill>
            <a:srgbClr val="183452"/>
          </a:solidFill>
          <a:ln w="19050">
            <a:solidFill>
              <a:srgbClr val="22C3E6"/>
            </a:solidFill>
            <a:prstDash val="solid"/>
          </a:ln>
        </p:spPr>
      </p:sp>
      <p:pic>
        <p:nvPicPr>
          <p:cNvPr id="16" name="Image 2" descr="preencoded.png">    </p:cNvPr>
          <p:cNvPicPr>
            <a:picLocks noChangeAspect="1"/>
          </p:cNvPicPr>
          <p:nvPr/>
        </p:nvPicPr>
        <p:blipFill>
          <a:blip r:embed="rId3"/>
          <a:stretch>
            <a:fillRect/>
          </a:stretch>
        </p:blipFill>
        <p:spPr>
          <a:xfrm>
            <a:off x="8553298" y="2609698"/>
            <a:ext cx="404165" cy="404165"/>
          </a:xfrm>
          <a:prstGeom prst="rect">
            <a:avLst/>
          </a:prstGeom>
        </p:spPr>
      </p:pic>
      <p:sp>
        <p:nvSpPr>
          <p:cNvPr id="17" name="Text 12"/>
          <p:cNvSpPr txBox="1"/>
          <p:nvPr/>
        </p:nvSpPr>
        <p:spPr>
          <a:xfrm>
            <a:off x="8366760" y="3337560"/>
            <a:ext cx="2926080" cy="457200"/>
          </a:xfrm>
          <a:prstGeom prst="rect">
            <a:avLst/>
          </a:prstGeom>
          <a:noFill/>
          <a:ln/>
        </p:spPr>
        <p:txBody>
          <a:bodyPr wrap="square" lIns="0" tIns="0" rIns="0" bIns="0" rtlCol="0" anchor="t"/>
          <a:lstStyle/>
          <a:p>
            <a:pPr indent="0" marL="0">
              <a:buNone/>
            </a:pPr>
            <a:r>
              <a:rPr lang="en-US" sz="1900" b="1" dirty="0">
                <a:solidFill>
                  <a:srgbClr val="F4F7FB"/>
                </a:solidFill>
                <a:latin typeface="Calibri" pitchFamily="34" charset="0"/>
                <a:ea typeface="Calibri" pitchFamily="34" charset="-122"/>
                <a:cs typeface="Calibri" pitchFamily="34" charset="-120"/>
              </a:rPr>
              <a:t>Orders by WhatsApp</a:t>
            </a:r>
            <a:endParaRPr lang="en-US" sz="1900" dirty="0"/>
          </a:p>
        </p:txBody>
      </p:sp>
      <p:sp>
        <p:nvSpPr>
          <p:cNvPr id="18" name="Text 13"/>
          <p:cNvSpPr txBox="1"/>
          <p:nvPr/>
        </p:nvSpPr>
        <p:spPr>
          <a:xfrm>
            <a:off x="8366760" y="3931920"/>
            <a:ext cx="2834640" cy="1371600"/>
          </a:xfrm>
          <a:prstGeom prst="rect">
            <a:avLst/>
          </a:prstGeom>
          <a:noFill/>
          <a:ln/>
        </p:spPr>
        <p:txBody>
          <a:bodyPr wrap="square" lIns="0" tIns="0" rIns="0" bIns="0" rtlCol="0" anchor="t"/>
          <a:lstStyle/>
          <a:p>
            <a:pPr indent="0" marL="0">
              <a:buNone/>
            </a:pPr>
            <a:r>
              <a:rPr lang="en-US" sz="1500" dirty="0">
                <a:solidFill>
                  <a:srgbClr val="9FB3C8"/>
                </a:solidFill>
                <a:latin typeface="Calibri" pitchFamily="34" charset="0"/>
                <a:ea typeface="Calibri" pitchFamily="34" charset="-122"/>
                <a:cs typeface="Calibri" pitchFamily="34" charset="-120"/>
              </a:rPr>
              <a:t>Stock is ordered by voice note. No prices, no invoice, no proof it was paid.</a:t>
            </a:r>
            <a:endParaRPr lang="en-US" sz="1500" dirty="0"/>
          </a:p>
        </p:txBody>
      </p:sp>
      <p:sp>
        <p:nvSpPr>
          <p:cNvPr id="19" name="Text 14"/>
          <p:cNvSpPr txBox="1"/>
          <p:nvPr/>
        </p:nvSpPr>
        <p:spPr>
          <a:xfrm>
            <a:off x="548640" y="5669280"/>
            <a:ext cx="10972800" cy="457200"/>
          </a:xfrm>
          <a:prstGeom prst="rect">
            <a:avLst/>
          </a:prstGeom>
          <a:noFill/>
          <a:ln/>
        </p:spPr>
        <p:txBody>
          <a:bodyPr wrap="square" lIns="0" tIns="0" rIns="0" bIns="0" rtlCol="0" anchor="t"/>
          <a:lstStyle/>
          <a:p>
            <a:pPr indent="0" marL="0">
              <a:buNone/>
            </a:pPr>
            <a:r>
              <a:rPr lang="en-US" sz="1600" b="1" dirty="0">
                <a:solidFill>
                  <a:srgbClr val="F2A93B"/>
                </a:solidFill>
                <a:latin typeface="Calibri" pitchFamily="34" charset="0"/>
                <a:ea typeface="Calibri" pitchFamily="34" charset="-122"/>
                <a:cs typeface="Calibri" pitchFamily="34" charset="-120"/>
              </a:rPr>
              <a:t>So the owner can't prove the business is real: not to a supplier, not to a bank, not to a support fund.</a:t>
            </a:r>
            <a:endParaRPr lang="en-US" sz="1600" dirty="0"/>
          </a:p>
        </p:txBody>
      </p:sp>
      <p:sp>
        <p:nvSpPr>
          <p:cNvPr id="20" name="Text 15"/>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R900 billion that can't prove itself</a:t>
            </a:r>
            <a:endParaRPr lang="en-US" sz="3600" dirty="0"/>
          </a:p>
        </p:txBody>
      </p:sp>
      <p:sp>
        <p:nvSpPr>
          <p:cNvPr id="3" name="Text 1"/>
          <p:cNvSpPr txBox="1"/>
          <p:nvPr/>
        </p:nvSpPr>
        <p:spPr>
          <a:xfrm>
            <a:off x="548640" y="1463040"/>
            <a:ext cx="4206240" cy="868680"/>
          </a:xfrm>
          <a:prstGeom prst="rect">
            <a:avLst/>
          </a:prstGeom>
          <a:noFill/>
          <a:ln/>
        </p:spPr>
        <p:txBody>
          <a:bodyPr wrap="square" lIns="0" tIns="0" rIns="0" bIns="0" rtlCol="0" anchor="t"/>
          <a:lstStyle/>
          <a:p>
            <a:pPr indent="0" marL="0">
              <a:buNone/>
            </a:pPr>
            <a:r>
              <a:rPr lang="en-US" sz="4600" b="1" dirty="0">
                <a:solidFill>
                  <a:srgbClr val="22C3E6"/>
                </a:solidFill>
                <a:latin typeface="Georgia" pitchFamily="34" charset="0"/>
                <a:ea typeface="Georgia" pitchFamily="34" charset="-122"/>
                <a:cs typeface="Georgia" pitchFamily="34" charset="-120"/>
              </a:rPr>
              <a:t>R900 bn</a:t>
            </a:r>
            <a:endParaRPr lang="en-US" sz="4600" dirty="0"/>
          </a:p>
        </p:txBody>
      </p:sp>
      <p:sp>
        <p:nvSpPr>
          <p:cNvPr id="4" name="Text 2"/>
          <p:cNvSpPr txBox="1"/>
          <p:nvPr/>
        </p:nvSpPr>
        <p:spPr>
          <a:xfrm>
            <a:off x="548640" y="2286000"/>
            <a:ext cx="4389120" cy="457200"/>
          </a:xfrm>
          <a:prstGeom prst="rect">
            <a:avLst/>
          </a:prstGeom>
          <a:noFill/>
          <a:ln/>
        </p:spPr>
        <p:txBody>
          <a:bodyPr wrap="square" lIns="0" tIns="0" rIns="0" bIns="0" rtlCol="0" anchor="t"/>
          <a:lstStyle/>
          <a:p>
            <a:pPr indent="0" marL="0">
              <a:buNone/>
            </a:pPr>
            <a:r>
              <a:rPr lang="en-US" sz="1500" dirty="0">
                <a:solidFill>
                  <a:srgbClr val="9FB3C8"/>
                </a:solidFill>
                <a:latin typeface="Calibri" pitchFamily="34" charset="0"/>
                <a:ea typeface="Calibri" pitchFamily="34" charset="-122"/>
                <a:cs typeface="Calibri" pitchFamily="34" charset="-120"/>
              </a:rPr>
              <a:t>township economy a year</a:t>
            </a:r>
            <a:endParaRPr lang="en-US" sz="1500" dirty="0"/>
          </a:p>
        </p:txBody>
      </p:sp>
      <p:sp>
        <p:nvSpPr>
          <p:cNvPr id="5" name="Text 3"/>
          <p:cNvSpPr txBox="1"/>
          <p:nvPr/>
        </p:nvSpPr>
        <p:spPr>
          <a:xfrm>
            <a:off x="548640" y="2971800"/>
            <a:ext cx="4206240" cy="868680"/>
          </a:xfrm>
          <a:prstGeom prst="rect">
            <a:avLst/>
          </a:prstGeom>
          <a:noFill/>
          <a:ln/>
        </p:spPr>
        <p:txBody>
          <a:bodyPr wrap="square" lIns="0" tIns="0" rIns="0" bIns="0" rtlCol="0" anchor="t"/>
          <a:lstStyle/>
          <a:p>
            <a:pPr indent="0" marL="0">
              <a:buNone/>
            </a:pPr>
            <a:r>
              <a:rPr lang="en-US" sz="4600" b="1" dirty="0">
                <a:solidFill>
                  <a:srgbClr val="22C3E6"/>
                </a:solidFill>
                <a:latin typeface="Georgia" pitchFamily="34" charset="0"/>
                <a:ea typeface="Georgia" pitchFamily="34" charset="-122"/>
                <a:cs typeface="Georgia" pitchFamily="34" charset="-120"/>
              </a:rPr>
              <a:t>R150 bn</a:t>
            </a:r>
            <a:endParaRPr lang="en-US" sz="4600" dirty="0"/>
          </a:p>
        </p:txBody>
      </p:sp>
      <p:sp>
        <p:nvSpPr>
          <p:cNvPr id="6" name="Text 4"/>
          <p:cNvSpPr txBox="1"/>
          <p:nvPr/>
        </p:nvSpPr>
        <p:spPr>
          <a:xfrm>
            <a:off x="548640" y="3794760"/>
            <a:ext cx="4389120" cy="457200"/>
          </a:xfrm>
          <a:prstGeom prst="rect">
            <a:avLst/>
          </a:prstGeom>
          <a:noFill/>
          <a:ln/>
        </p:spPr>
        <p:txBody>
          <a:bodyPr wrap="square" lIns="0" tIns="0" rIns="0" bIns="0" rtlCol="0" anchor="t"/>
          <a:lstStyle/>
          <a:p>
            <a:pPr indent="0" marL="0">
              <a:buNone/>
            </a:pPr>
            <a:r>
              <a:rPr lang="en-US" sz="1500" dirty="0">
                <a:solidFill>
                  <a:srgbClr val="9FB3C8"/>
                </a:solidFill>
                <a:latin typeface="Calibri" pitchFamily="34" charset="0"/>
                <a:ea typeface="Calibri" pitchFamily="34" charset="-122"/>
                <a:cs typeface="Calibri" pitchFamily="34" charset="-120"/>
              </a:rPr>
              <a:t>spent in cash at ~150,000 spaza shops</a:t>
            </a:r>
            <a:endParaRPr lang="en-US" sz="1500" dirty="0"/>
          </a:p>
        </p:txBody>
      </p:sp>
      <p:sp>
        <p:nvSpPr>
          <p:cNvPr id="7" name="Text 5"/>
          <p:cNvSpPr txBox="1"/>
          <p:nvPr/>
        </p:nvSpPr>
        <p:spPr>
          <a:xfrm>
            <a:off x="548640" y="4480560"/>
            <a:ext cx="4206240" cy="868680"/>
          </a:xfrm>
          <a:prstGeom prst="rect">
            <a:avLst/>
          </a:prstGeom>
          <a:noFill/>
          <a:ln/>
        </p:spPr>
        <p:txBody>
          <a:bodyPr wrap="square" lIns="0" tIns="0" rIns="0" bIns="0" rtlCol="0" anchor="t"/>
          <a:lstStyle/>
          <a:p>
            <a:pPr indent="0" marL="0">
              <a:buNone/>
            </a:pPr>
            <a:r>
              <a:rPr lang="en-US" sz="4600" b="1" dirty="0">
                <a:solidFill>
                  <a:srgbClr val="F2A93B"/>
                </a:solidFill>
                <a:latin typeface="Georgia" pitchFamily="34" charset="0"/>
                <a:ea typeface="Georgia" pitchFamily="34" charset="-122"/>
                <a:cs typeface="Georgia" pitchFamily="34" charset="-120"/>
              </a:rPr>
              <a:t>354</a:t>
            </a:r>
            <a:endParaRPr lang="en-US" sz="4600" dirty="0"/>
          </a:p>
        </p:txBody>
      </p:sp>
      <p:sp>
        <p:nvSpPr>
          <p:cNvPr id="8" name="Text 6"/>
          <p:cNvSpPr txBox="1"/>
          <p:nvPr/>
        </p:nvSpPr>
        <p:spPr>
          <a:xfrm>
            <a:off x="548640" y="5303520"/>
            <a:ext cx="4389120" cy="457200"/>
          </a:xfrm>
          <a:prstGeom prst="rect">
            <a:avLst/>
          </a:prstGeom>
          <a:noFill/>
          <a:ln/>
        </p:spPr>
        <p:txBody>
          <a:bodyPr wrap="square" lIns="0" tIns="0" rIns="0" bIns="0" rtlCol="0" anchor="t"/>
          <a:lstStyle/>
          <a:p>
            <a:pPr indent="0" marL="0">
              <a:buNone/>
            </a:pPr>
            <a:r>
              <a:rPr lang="en-US" sz="1500" dirty="0">
                <a:solidFill>
                  <a:srgbClr val="9FB3C8"/>
                </a:solidFill>
                <a:latin typeface="Calibri" pitchFamily="34" charset="0"/>
                <a:ea typeface="Calibri" pitchFamily="34" charset="-122"/>
                <a:cs typeface="Calibri" pitchFamily="34" charset="-120"/>
              </a:rPr>
              <a:t>Spaza Support Fund applications failed verification</a:t>
            </a:r>
            <a:endParaRPr lang="en-US" sz="1500" dirty="0"/>
          </a:p>
        </p:txBody>
      </p:sp>
      <p:sp>
        <p:nvSpPr>
          <p:cNvPr id="9" name="Shape 7"/>
          <p:cNvSpPr/>
          <p:nvPr/>
        </p:nvSpPr>
        <p:spPr>
          <a:xfrm>
            <a:off x="5303520" y="1417320"/>
            <a:ext cx="6355080" cy="4663440"/>
          </a:xfrm>
          <a:prstGeom prst="roundRect">
            <a:avLst>
              <a:gd name="adj" fmla="val 2353"/>
            </a:avLst>
          </a:prstGeom>
          <a:solidFill>
            <a:srgbClr val="132A40"/>
          </a:solidFill>
          <a:ln w="12700">
            <a:solidFill>
              <a:srgbClr val="132A40"/>
            </a:solidFill>
            <a:prstDash val="solid"/>
          </a:ln>
        </p:spPr>
      </p:sp>
      <p:graphicFrame>
        <p:nvGraphicFramePr>
          <p:cNvPr id="10" name="Chart 0" descr=""/>
          <p:cNvGraphicFramePr/>
          <p:nvPr/>
        </p:nvGraphicFramePr>
        <p:xfrm>
          <a:off x="5486400" y="1554480"/>
          <a:ext cx="6035040" cy="443484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548640" y="6355080"/>
            <a:ext cx="9601200" cy="320040"/>
          </a:xfrm>
          <a:prstGeom prst="rect">
            <a:avLst/>
          </a:prstGeom>
          <a:noFill/>
          <a:ln/>
        </p:spPr>
        <p:txBody>
          <a:bodyPr wrap="square" lIns="0" tIns="0" rIns="0" bIns="0" rtlCol="0" anchor="ctr"/>
          <a:lstStyle/>
          <a:p>
            <a:pPr indent="0" marL="0">
              <a:buNone/>
            </a:pPr>
            <a:r>
              <a:rPr lang="en-US" sz="950" dirty="0">
                <a:solidFill>
                  <a:srgbClr val="5E7891"/>
                </a:solidFill>
                <a:latin typeface="Calibri" pitchFamily="34" charset="0"/>
                <a:ea typeface="Calibri" pitchFamily="34" charset="-122"/>
                <a:cs typeface="Calibri" pitchFamily="34" charset="-120"/>
              </a:rPr>
              <a:t>Standard Bank, Township Informal Economy Report 2025 (Foshizi; 250+ businesses, 5 provinces); ~R150 bn cash at spaza shops (reported with the launch); DSBD &amp; dtic, Spaza Shop Support Fund update, May 2026.</a:t>
            </a:r>
            <a:endParaRPr lang="en-US" sz="950" dirty="0"/>
          </a:p>
        </p:txBody>
      </p:sp>
      <p:sp>
        <p:nvSpPr>
          <p:cNvPr id="12" name="Text 9"/>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Why South Africa first</a:t>
            </a:r>
            <a:endParaRPr lang="en-US" sz="3600" dirty="0"/>
          </a:p>
        </p:txBody>
      </p:sp>
      <p:sp>
        <p:nvSpPr>
          <p:cNvPr id="3" name="Text 1"/>
          <p:cNvSpPr txBox="1"/>
          <p:nvPr/>
        </p:nvSpPr>
        <p:spPr>
          <a:xfrm>
            <a:off x="548640" y="1188720"/>
            <a:ext cx="11094415" cy="457200"/>
          </a:xfrm>
          <a:prstGeom prst="rect">
            <a:avLst/>
          </a:prstGeom>
          <a:noFill/>
          <a:ln/>
        </p:spPr>
        <p:txBody>
          <a:bodyPr wrap="square" lIns="0" tIns="0" rIns="0" bIns="0" rtlCol="0" anchor="ctr"/>
          <a:lstStyle/>
          <a:p>
            <a:pPr indent="0" marL="0">
              <a:buNone/>
            </a:pPr>
            <a:r>
              <a:rPr lang="en-US" sz="1600" i="1" dirty="0">
                <a:solidFill>
                  <a:srgbClr val="22C3E6"/>
                </a:solidFill>
                <a:latin typeface="Calibri" pitchFamily="34" charset="0"/>
                <a:ea typeface="Calibri" pitchFamily="34" charset="-122"/>
                <a:cs typeface="Calibri" pitchFamily="34" charset="-120"/>
              </a:rPr>
              <a:t>Then the continent.</a:t>
            </a:r>
            <a:endParaRPr lang="en-US" sz="1600" dirty="0"/>
          </a:p>
        </p:txBody>
      </p:sp>
      <p:sp>
        <p:nvSpPr>
          <p:cNvPr id="4" name="Shape 2"/>
          <p:cNvSpPr/>
          <p:nvPr/>
        </p:nvSpPr>
        <p:spPr>
          <a:xfrm>
            <a:off x="548640" y="1920240"/>
            <a:ext cx="5349240" cy="1828800"/>
          </a:xfrm>
          <a:prstGeom prst="roundRect">
            <a:avLst>
              <a:gd name="adj" fmla="val 6000"/>
            </a:avLst>
          </a:prstGeom>
          <a:solidFill>
            <a:srgbClr val="132A40"/>
          </a:solidFill>
          <a:ln w="12700">
            <a:solidFill>
              <a:srgbClr val="132A40"/>
            </a:solidFill>
            <a:prstDash val="solid"/>
          </a:ln>
        </p:spPr>
      </p:sp>
      <p:sp>
        <p:nvSpPr>
          <p:cNvPr id="5" name="Shape 3"/>
          <p:cNvSpPr/>
          <p:nvPr/>
        </p:nvSpPr>
        <p:spPr>
          <a:xfrm>
            <a:off x="822960" y="2194560"/>
            <a:ext cx="731520" cy="731520"/>
          </a:xfrm>
          <a:prstGeom prst="ellipse">
            <a:avLst/>
          </a:prstGeom>
          <a:solidFill>
            <a:srgbClr val="183452"/>
          </a:solidFill>
          <a:ln w="19050">
            <a:solidFill>
              <a:srgbClr val="22C3E6"/>
            </a:solidFill>
            <a:prstDash val="solid"/>
          </a:ln>
        </p:spPr>
      </p:sp>
      <p:pic>
        <p:nvPicPr>
          <p:cNvPr id="6" name="Image 0" descr="preencoded.png">    </p:cNvPr>
          <p:cNvPicPr>
            <a:picLocks noChangeAspect="1"/>
          </p:cNvPicPr>
          <p:nvPr/>
        </p:nvPicPr>
        <p:blipFill>
          <a:blip r:embed="rId1"/>
          <a:stretch>
            <a:fillRect/>
          </a:stretch>
        </p:blipFill>
        <p:spPr>
          <a:xfrm>
            <a:off x="998525" y="2370125"/>
            <a:ext cx="380390" cy="380390"/>
          </a:xfrm>
          <a:prstGeom prst="rect">
            <a:avLst/>
          </a:prstGeom>
        </p:spPr>
      </p:pic>
      <p:sp>
        <p:nvSpPr>
          <p:cNvPr id="7" name="Text 4"/>
          <p:cNvSpPr txBox="1"/>
          <p:nvPr/>
        </p:nvSpPr>
        <p:spPr>
          <a:xfrm>
            <a:off x="1783080" y="2194560"/>
            <a:ext cx="3840480" cy="411480"/>
          </a:xfrm>
          <a:prstGeom prst="rect">
            <a:avLst/>
          </a:prstGeom>
          <a:noFill/>
          <a:ln/>
        </p:spPr>
        <p:txBody>
          <a:bodyPr wrap="square" lIns="0" tIns="0" rIns="0" bIns="0" rtlCol="0" anchor="t"/>
          <a:lstStyle/>
          <a:p>
            <a:pPr indent="0" marL="0">
              <a:buNone/>
            </a:pPr>
            <a:r>
              <a:rPr lang="en-US" sz="1900" b="1" dirty="0">
                <a:solidFill>
                  <a:srgbClr val="F4F7FB"/>
                </a:solidFill>
                <a:latin typeface="Calibri" pitchFamily="34" charset="0"/>
                <a:ea typeface="Calibri" pitchFamily="34" charset="-122"/>
                <a:cs typeface="Calibri" pitchFamily="34" charset="-120"/>
              </a:rPr>
              <a:t>We live this market</a:t>
            </a:r>
            <a:endParaRPr lang="en-US" sz="1900" dirty="0"/>
          </a:p>
        </p:txBody>
      </p:sp>
      <p:sp>
        <p:nvSpPr>
          <p:cNvPr id="8" name="Text 5"/>
          <p:cNvSpPr txBox="1"/>
          <p:nvPr/>
        </p:nvSpPr>
        <p:spPr>
          <a:xfrm>
            <a:off x="1783080" y="2651760"/>
            <a:ext cx="3886200" cy="100584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We come from these communities. We know how a spaza restocks and how a builder gets paid.</a:t>
            </a:r>
            <a:endParaRPr lang="en-US" sz="1400" dirty="0"/>
          </a:p>
        </p:txBody>
      </p:sp>
      <p:sp>
        <p:nvSpPr>
          <p:cNvPr id="9" name="Shape 6"/>
          <p:cNvSpPr/>
          <p:nvPr/>
        </p:nvSpPr>
        <p:spPr>
          <a:xfrm>
            <a:off x="6172200" y="1920240"/>
            <a:ext cx="5349240" cy="1828800"/>
          </a:xfrm>
          <a:prstGeom prst="roundRect">
            <a:avLst>
              <a:gd name="adj" fmla="val 6000"/>
            </a:avLst>
          </a:prstGeom>
          <a:solidFill>
            <a:srgbClr val="132A40"/>
          </a:solidFill>
          <a:ln w="12700">
            <a:solidFill>
              <a:srgbClr val="132A40"/>
            </a:solidFill>
            <a:prstDash val="solid"/>
          </a:ln>
        </p:spPr>
      </p:sp>
      <p:sp>
        <p:nvSpPr>
          <p:cNvPr id="10" name="Shape 7"/>
          <p:cNvSpPr/>
          <p:nvPr/>
        </p:nvSpPr>
        <p:spPr>
          <a:xfrm>
            <a:off x="6446520" y="2194560"/>
            <a:ext cx="731520" cy="731520"/>
          </a:xfrm>
          <a:prstGeom prst="ellipse">
            <a:avLst/>
          </a:prstGeom>
          <a:solidFill>
            <a:srgbClr val="183452"/>
          </a:solidFill>
          <a:ln w="19050">
            <a:solidFill>
              <a:srgbClr val="22C3E6"/>
            </a:solidFill>
            <a:prstDash val="solid"/>
          </a:ln>
        </p:spPr>
      </p:sp>
      <p:pic>
        <p:nvPicPr>
          <p:cNvPr id="11" name="Image 1" descr="preencoded.png">    </p:cNvPr>
          <p:cNvPicPr>
            <a:picLocks noChangeAspect="1"/>
          </p:cNvPicPr>
          <p:nvPr/>
        </p:nvPicPr>
        <p:blipFill>
          <a:blip r:embed="rId2"/>
          <a:stretch>
            <a:fillRect/>
          </a:stretch>
        </p:blipFill>
        <p:spPr>
          <a:xfrm>
            <a:off x="6622085" y="2370125"/>
            <a:ext cx="380390" cy="380390"/>
          </a:xfrm>
          <a:prstGeom prst="rect">
            <a:avLst/>
          </a:prstGeom>
        </p:spPr>
      </p:pic>
      <p:sp>
        <p:nvSpPr>
          <p:cNvPr id="12" name="Text 8"/>
          <p:cNvSpPr txBox="1"/>
          <p:nvPr/>
        </p:nvSpPr>
        <p:spPr>
          <a:xfrm>
            <a:off x="7406640" y="2194560"/>
            <a:ext cx="3840480" cy="411480"/>
          </a:xfrm>
          <a:prstGeom prst="rect">
            <a:avLst/>
          </a:prstGeom>
          <a:noFill/>
          <a:ln/>
        </p:spPr>
        <p:txBody>
          <a:bodyPr wrap="square" lIns="0" tIns="0" rIns="0" bIns="0" rtlCol="0" anchor="t"/>
          <a:lstStyle/>
          <a:p>
            <a:pPr indent="0" marL="0">
              <a:buNone/>
            </a:pPr>
            <a:r>
              <a:rPr lang="en-US" sz="1900" b="1" dirty="0">
                <a:solidFill>
                  <a:srgbClr val="F4F7FB"/>
                </a:solidFill>
                <a:latin typeface="Calibri" pitchFamily="34" charset="0"/>
                <a:ea typeface="Calibri" pitchFamily="34" charset="-122"/>
                <a:cs typeface="Calibri" pitchFamily="34" charset="-120"/>
              </a:rPr>
              <a:t>Big and dense</a:t>
            </a:r>
            <a:endParaRPr lang="en-US" sz="1900" dirty="0"/>
          </a:p>
        </p:txBody>
      </p:sp>
      <p:sp>
        <p:nvSpPr>
          <p:cNvPr id="13" name="Text 9"/>
          <p:cNvSpPr txBox="1"/>
          <p:nvPr/>
        </p:nvSpPr>
        <p:spPr>
          <a:xfrm>
            <a:off x="7406640" y="2651760"/>
            <a:ext cx="3886200" cy="100584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About 150,000 spaza shops, 1.2 million construction workers (38% informal). One supplier serves hundreds of shops.</a:t>
            </a:r>
            <a:endParaRPr lang="en-US" sz="1400" dirty="0"/>
          </a:p>
        </p:txBody>
      </p:sp>
      <p:sp>
        <p:nvSpPr>
          <p:cNvPr id="14" name="Shape 10"/>
          <p:cNvSpPr/>
          <p:nvPr/>
        </p:nvSpPr>
        <p:spPr>
          <a:xfrm>
            <a:off x="548640" y="4023360"/>
            <a:ext cx="5349240" cy="1828800"/>
          </a:xfrm>
          <a:prstGeom prst="roundRect">
            <a:avLst>
              <a:gd name="adj" fmla="val 6000"/>
            </a:avLst>
          </a:prstGeom>
          <a:solidFill>
            <a:srgbClr val="132A40"/>
          </a:solidFill>
          <a:ln w="12700">
            <a:solidFill>
              <a:srgbClr val="132A40"/>
            </a:solidFill>
            <a:prstDash val="solid"/>
          </a:ln>
        </p:spPr>
      </p:sp>
      <p:sp>
        <p:nvSpPr>
          <p:cNvPr id="15" name="Shape 11"/>
          <p:cNvSpPr/>
          <p:nvPr/>
        </p:nvSpPr>
        <p:spPr>
          <a:xfrm>
            <a:off x="822960" y="4297680"/>
            <a:ext cx="731520" cy="731520"/>
          </a:xfrm>
          <a:prstGeom prst="ellipse">
            <a:avLst/>
          </a:prstGeom>
          <a:solidFill>
            <a:srgbClr val="183452"/>
          </a:solidFill>
          <a:ln w="19050">
            <a:solidFill>
              <a:srgbClr val="22C3E6"/>
            </a:solidFill>
            <a:prstDash val="solid"/>
          </a:ln>
        </p:spPr>
      </p:sp>
      <p:pic>
        <p:nvPicPr>
          <p:cNvPr id="16" name="Image 2" descr="preencoded.png">    </p:cNvPr>
          <p:cNvPicPr>
            <a:picLocks noChangeAspect="1"/>
          </p:cNvPicPr>
          <p:nvPr/>
        </p:nvPicPr>
        <p:blipFill>
          <a:blip r:embed="rId3"/>
          <a:stretch>
            <a:fillRect/>
          </a:stretch>
        </p:blipFill>
        <p:spPr>
          <a:xfrm>
            <a:off x="998525" y="4473245"/>
            <a:ext cx="380390" cy="380390"/>
          </a:xfrm>
          <a:prstGeom prst="rect">
            <a:avLst/>
          </a:prstGeom>
        </p:spPr>
      </p:pic>
      <p:sp>
        <p:nvSpPr>
          <p:cNvPr id="17" name="Text 12"/>
          <p:cNvSpPr txBox="1"/>
          <p:nvPr/>
        </p:nvSpPr>
        <p:spPr>
          <a:xfrm>
            <a:off x="1783080" y="4297680"/>
            <a:ext cx="3840480" cy="411480"/>
          </a:xfrm>
          <a:prstGeom prst="rect">
            <a:avLst/>
          </a:prstGeom>
          <a:noFill/>
          <a:ln/>
        </p:spPr>
        <p:txBody>
          <a:bodyPr wrap="square" lIns="0" tIns="0" rIns="0" bIns="0" rtlCol="0" anchor="t"/>
          <a:lstStyle/>
          <a:p>
            <a:pPr indent="0" marL="0">
              <a:buNone/>
            </a:pPr>
            <a:r>
              <a:rPr lang="en-US" sz="1900" b="1" dirty="0">
                <a:solidFill>
                  <a:srgbClr val="F4F7FB"/>
                </a:solidFill>
                <a:latin typeface="Calibri" pitchFamily="34" charset="0"/>
                <a:ea typeface="Calibri" pitchFamily="34" charset="-122"/>
                <a:cs typeface="Calibri" pitchFamily="34" charset="-120"/>
              </a:rPr>
              <a:t>Ready for digital</a:t>
            </a:r>
            <a:endParaRPr lang="en-US" sz="1900" dirty="0"/>
          </a:p>
        </p:txBody>
      </p:sp>
      <p:sp>
        <p:nvSpPr>
          <p:cNvPr id="18" name="Text 13"/>
          <p:cNvSpPr txBox="1"/>
          <p:nvPr/>
        </p:nvSpPr>
        <p:spPr>
          <a:xfrm>
            <a:off x="1783080" y="4754880"/>
            <a:ext cx="3886200" cy="100584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56% prefer EFT. Local rails (PayFast, instant EFT) and cheap Android phones are already here.</a:t>
            </a:r>
            <a:endParaRPr lang="en-US" sz="1400" dirty="0"/>
          </a:p>
        </p:txBody>
      </p:sp>
      <p:sp>
        <p:nvSpPr>
          <p:cNvPr id="19" name="Shape 14"/>
          <p:cNvSpPr/>
          <p:nvPr/>
        </p:nvSpPr>
        <p:spPr>
          <a:xfrm>
            <a:off x="6172200" y="4023360"/>
            <a:ext cx="5349240" cy="1828800"/>
          </a:xfrm>
          <a:prstGeom prst="roundRect">
            <a:avLst>
              <a:gd name="adj" fmla="val 6000"/>
            </a:avLst>
          </a:prstGeom>
          <a:solidFill>
            <a:srgbClr val="132A40"/>
          </a:solidFill>
          <a:ln w="12700">
            <a:solidFill>
              <a:srgbClr val="132A40"/>
            </a:solidFill>
            <a:prstDash val="solid"/>
          </a:ln>
        </p:spPr>
      </p:sp>
      <p:sp>
        <p:nvSpPr>
          <p:cNvPr id="20" name="Shape 15"/>
          <p:cNvSpPr/>
          <p:nvPr/>
        </p:nvSpPr>
        <p:spPr>
          <a:xfrm>
            <a:off x="6446520" y="4297680"/>
            <a:ext cx="731520" cy="731520"/>
          </a:xfrm>
          <a:prstGeom prst="ellipse">
            <a:avLst/>
          </a:prstGeom>
          <a:solidFill>
            <a:srgbClr val="183452"/>
          </a:solidFill>
          <a:ln w="19050">
            <a:solidFill>
              <a:srgbClr val="22C3E6"/>
            </a:solidFill>
            <a:prstDash val="solid"/>
          </a:ln>
        </p:spPr>
      </p:sp>
      <p:pic>
        <p:nvPicPr>
          <p:cNvPr id="21" name="Image 3" descr="preencoded.png">    </p:cNvPr>
          <p:cNvPicPr>
            <a:picLocks noChangeAspect="1"/>
          </p:cNvPicPr>
          <p:nvPr/>
        </p:nvPicPr>
        <p:blipFill>
          <a:blip r:embed="rId4"/>
          <a:stretch>
            <a:fillRect/>
          </a:stretch>
        </p:blipFill>
        <p:spPr>
          <a:xfrm>
            <a:off x="6622085" y="4473245"/>
            <a:ext cx="380390" cy="380390"/>
          </a:xfrm>
          <a:prstGeom prst="rect">
            <a:avLst/>
          </a:prstGeom>
        </p:spPr>
      </p:pic>
      <p:sp>
        <p:nvSpPr>
          <p:cNvPr id="22" name="Text 16"/>
          <p:cNvSpPr txBox="1"/>
          <p:nvPr/>
        </p:nvSpPr>
        <p:spPr>
          <a:xfrm>
            <a:off x="7406640" y="4297680"/>
            <a:ext cx="3840480" cy="411480"/>
          </a:xfrm>
          <a:prstGeom prst="rect">
            <a:avLst/>
          </a:prstGeom>
          <a:noFill/>
          <a:ln/>
        </p:spPr>
        <p:txBody>
          <a:bodyPr wrap="square" lIns="0" tIns="0" rIns="0" bIns="0" rtlCol="0" anchor="t"/>
          <a:lstStyle/>
          <a:p>
            <a:pPr indent="0" marL="0">
              <a:buNone/>
            </a:pPr>
            <a:r>
              <a:rPr lang="en-US" sz="1900" b="1" dirty="0">
                <a:solidFill>
                  <a:srgbClr val="F4F7FB"/>
                </a:solidFill>
                <a:latin typeface="Calibri" pitchFamily="34" charset="0"/>
                <a:ea typeface="Calibri" pitchFamily="34" charset="-122"/>
                <a:cs typeface="Calibri" pitchFamily="34" charset="-120"/>
              </a:rPr>
              <a:t>Clear rules</a:t>
            </a:r>
            <a:endParaRPr lang="en-US" sz="1900" dirty="0"/>
          </a:p>
        </p:txBody>
      </p:sp>
      <p:sp>
        <p:nvSpPr>
          <p:cNvPr id="23" name="Text 17"/>
          <p:cNvSpPr txBox="1"/>
          <p:nvPr/>
        </p:nvSpPr>
        <p:spPr>
          <a:xfrm>
            <a:off x="7406640" y="4754880"/>
            <a:ext cx="3886200" cy="100584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POPIA for privacy, CIPC for registration, VAT invoices: we built to them from day one.</a:t>
            </a:r>
            <a:endParaRPr lang="en-US" sz="1400" dirty="0"/>
          </a:p>
        </p:txBody>
      </p:sp>
      <p:sp>
        <p:nvSpPr>
          <p:cNvPr id="24" name="Text 18"/>
          <p:cNvSpPr txBox="1"/>
          <p:nvPr/>
        </p:nvSpPr>
        <p:spPr>
          <a:xfrm>
            <a:off x="548640" y="6355080"/>
            <a:ext cx="9601200" cy="320040"/>
          </a:xfrm>
          <a:prstGeom prst="rect">
            <a:avLst/>
          </a:prstGeom>
          <a:noFill/>
          <a:ln/>
        </p:spPr>
        <p:txBody>
          <a:bodyPr wrap="square" lIns="0" tIns="0" rIns="0" bIns="0" rtlCol="0" anchor="ctr"/>
          <a:lstStyle/>
          <a:p>
            <a:pPr indent="0" marL="0">
              <a:buNone/>
            </a:pPr>
            <a:r>
              <a:rPr lang="en-US" sz="950" dirty="0">
                <a:solidFill>
                  <a:srgbClr val="5E7891"/>
                </a:solidFill>
                <a:latin typeface="Calibri" pitchFamily="34" charset="0"/>
                <a:ea typeface="Calibri" pitchFamily="34" charset="-122"/>
                <a:cs typeface="Calibri" pitchFamily="34" charset="-120"/>
              </a:rPr>
              <a:t>ILO 2024 (construction informality); Standard Bank 2025.</a:t>
            </a:r>
            <a:endParaRPr lang="en-US" sz="950" dirty="0"/>
          </a:p>
        </p:txBody>
      </p:sp>
      <p:sp>
        <p:nvSpPr>
          <p:cNvPr id="25" name="Text 19"/>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One free app: run it, restock it</a:t>
            </a:r>
            <a:endParaRPr lang="en-US" sz="3600" dirty="0"/>
          </a:p>
        </p:txBody>
      </p:sp>
      <p:sp>
        <p:nvSpPr>
          <p:cNvPr id="3" name="Shape 1"/>
          <p:cNvSpPr/>
          <p:nvPr/>
        </p:nvSpPr>
        <p:spPr>
          <a:xfrm>
            <a:off x="548640" y="1600200"/>
            <a:ext cx="3474720" cy="4160520"/>
          </a:xfrm>
          <a:prstGeom prst="roundRect">
            <a:avLst>
              <a:gd name="adj" fmla="val 3158"/>
            </a:avLst>
          </a:prstGeom>
          <a:solidFill>
            <a:srgbClr val="132A40"/>
          </a:solidFill>
          <a:ln w="12700">
            <a:solidFill>
              <a:srgbClr val="132A40"/>
            </a:solidFill>
            <a:prstDash val="solid"/>
          </a:ln>
        </p:spPr>
      </p:sp>
      <p:sp>
        <p:nvSpPr>
          <p:cNvPr id="4" name="Shape 2"/>
          <p:cNvSpPr/>
          <p:nvPr/>
        </p:nvSpPr>
        <p:spPr>
          <a:xfrm>
            <a:off x="868680" y="1874520"/>
            <a:ext cx="777240" cy="777240"/>
          </a:xfrm>
          <a:prstGeom prst="ellipse">
            <a:avLst/>
          </a:prstGeom>
          <a:solidFill>
            <a:srgbClr val="183452"/>
          </a:solidFill>
          <a:ln w="19050">
            <a:solidFill>
              <a:srgbClr val="22C3E6"/>
            </a:solidFill>
            <a:prstDash val="solid"/>
          </a:ln>
        </p:spPr>
      </p:sp>
      <p:pic>
        <p:nvPicPr>
          <p:cNvPr id="5" name="Image 0" descr="preencoded.png">    </p:cNvPr>
          <p:cNvPicPr>
            <a:picLocks noChangeAspect="1"/>
          </p:cNvPicPr>
          <p:nvPr/>
        </p:nvPicPr>
        <p:blipFill>
          <a:blip r:embed="rId1"/>
          <a:stretch>
            <a:fillRect/>
          </a:stretch>
        </p:blipFill>
        <p:spPr>
          <a:xfrm>
            <a:off x="1055218" y="2061058"/>
            <a:ext cx="404165" cy="404165"/>
          </a:xfrm>
          <a:prstGeom prst="rect">
            <a:avLst/>
          </a:prstGeom>
        </p:spPr>
      </p:pic>
      <p:sp>
        <p:nvSpPr>
          <p:cNvPr id="6" name="Text 3"/>
          <p:cNvSpPr txBox="1"/>
          <p:nvPr/>
        </p:nvSpPr>
        <p:spPr>
          <a:xfrm>
            <a:off x="868680" y="2788920"/>
            <a:ext cx="2926080" cy="457200"/>
          </a:xfrm>
          <a:prstGeom prst="rect">
            <a:avLst/>
          </a:prstGeom>
          <a:noFill/>
          <a:ln/>
        </p:spPr>
        <p:txBody>
          <a:bodyPr wrap="square" lIns="0" tIns="0" rIns="0" bIns="0" rtlCol="0" anchor="t"/>
          <a:lstStyle/>
          <a:p>
            <a:pPr indent="0" marL="0">
              <a:buNone/>
            </a:pPr>
            <a:r>
              <a:rPr lang="en-US" sz="2000" b="1" dirty="0">
                <a:solidFill>
                  <a:srgbClr val="22C3E6"/>
                </a:solidFill>
                <a:latin typeface="Calibri" pitchFamily="34" charset="0"/>
                <a:ea typeface="Calibri" pitchFamily="34" charset="-122"/>
                <a:cs typeface="Calibri" pitchFamily="34" charset="-120"/>
              </a:rPr>
              <a:t>Run the business</a:t>
            </a:r>
            <a:endParaRPr lang="en-US" sz="2000" dirty="0"/>
          </a:p>
        </p:txBody>
      </p:sp>
      <p:sp>
        <p:nvSpPr>
          <p:cNvPr id="7" name="Text 4"/>
          <p:cNvSpPr txBox="1"/>
          <p:nvPr/>
        </p:nvSpPr>
        <p:spPr>
          <a:xfrm>
            <a:off x="868680" y="3337560"/>
            <a:ext cx="2971800" cy="2286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4F7FB"/>
                </a:solidFill>
                <a:latin typeface="Calibri" pitchFamily="34" charset="0"/>
                <a:ea typeface="Calibri" pitchFamily="34" charset="-122"/>
                <a:cs typeface="Calibri" pitchFamily="34" charset="-120"/>
              </a:rPr>
              <a:t>Credit book: who owes me, when they pay</a:t>
            </a:r>
            <a:endParaRPr lang="en-US" sz="1500" dirty="0"/>
          </a:p>
          <a:p>
            <a:pPr marL="342900" indent="-342900">
              <a:spcAft>
                <a:spcPts val="800"/>
              </a:spcAft>
              <a:buSzPct val="100000"/>
              <a:buChar char="•"/>
            </a:pPr>
            <a:r>
              <a:rPr lang="en-US" sz="1500" dirty="0">
                <a:solidFill>
                  <a:srgbClr val="F4F7FB"/>
                </a:solidFill>
                <a:latin typeface="Calibri" pitchFamily="34" charset="0"/>
                <a:ea typeface="Calibri" pitchFamily="34" charset="-122"/>
                <a:cs typeface="Calibri" pitchFamily="34" charset="-120"/>
              </a:rPr>
              <a:t>Order book for the counter (works offline)</a:t>
            </a:r>
            <a:endParaRPr lang="en-US" sz="1500" dirty="0"/>
          </a:p>
          <a:p>
            <a:pPr marL="342900" indent="-342900">
              <a:spcAft>
                <a:spcPts val="800"/>
              </a:spcAft>
              <a:buSzPct val="100000"/>
              <a:buChar char="•"/>
            </a:pPr>
            <a:r>
              <a:rPr lang="en-US" sz="1500" dirty="0">
                <a:solidFill>
                  <a:srgbClr val="F4F7FB"/>
                </a:solidFill>
                <a:latin typeface="Calibri" pitchFamily="34" charset="0"/>
                <a:ea typeface="Calibri" pitchFamily="34" charset="-122"/>
                <a:cs typeface="Calibri" pitchFamily="34" charset="-120"/>
              </a:rPr>
              <a:t>Jobs for builders: stages, photos, client sign-off</a:t>
            </a:r>
            <a:endParaRPr lang="en-US" sz="1500" dirty="0"/>
          </a:p>
        </p:txBody>
      </p:sp>
      <p:sp>
        <p:nvSpPr>
          <p:cNvPr id="8" name="Shape 5"/>
          <p:cNvSpPr/>
          <p:nvPr/>
        </p:nvSpPr>
        <p:spPr>
          <a:xfrm>
            <a:off x="4297680" y="1600200"/>
            <a:ext cx="3474720" cy="4160520"/>
          </a:xfrm>
          <a:prstGeom prst="roundRect">
            <a:avLst>
              <a:gd name="adj" fmla="val 3158"/>
            </a:avLst>
          </a:prstGeom>
          <a:solidFill>
            <a:srgbClr val="132A40"/>
          </a:solidFill>
          <a:ln w="12700">
            <a:solidFill>
              <a:srgbClr val="132A40"/>
            </a:solidFill>
            <a:prstDash val="solid"/>
          </a:ln>
        </p:spPr>
      </p:sp>
      <p:sp>
        <p:nvSpPr>
          <p:cNvPr id="9" name="Shape 6"/>
          <p:cNvSpPr/>
          <p:nvPr/>
        </p:nvSpPr>
        <p:spPr>
          <a:xfrm>
            <a:off x="4617720" y="1874520"/>
            <a:ext cx="777240" cy="777240"/>
          </a:xfrm>
          <a:prstGeom prst="ellipse">
            <a:avLst/>
          </a:prstGeom>
          <a:solidFill>
            <a:srgbClr val="183452"/>
          </a:solidFill>
          <a:ln w="19050">
            <a:solidFill>
              <a:srgbClr val="F2A93B"/>
            </a:solidFill>
            <a:prstDash val="solid"/>
          </a:ln>
        </p:spPr>
      </p:sp>
      <p:pic>
        <p:nvPicPr>
          <p:cNvPr id="10" name="Image 1" descr="preencoded.png">    </p:cNvPr>
          <p:cNvPicPr>
            <a:picLocks noChangeAspect="1"/>
          </p:cNvPicPr>
          <p:nvPr/>
        </p:nvPicPr>
        <p:blipFill>
          <a:blip r:embed="rId2"/>
          <a:stretch>
            <a:fillRect/>
          </a:stretch>
        </p:blipFill>
        <p:spPr>
          <a:xfrm>
            <a:off x="4804258" y="2061058"/>
            <a:ext cx="404165" cy="404165"/>
          </a:xfrm>
          <a:prstGeom prst="rect">
            <a:avLst/>
          </a:prstGeom>
        </p:spPr>
      </p:pic>
      <p:sp>
        <p:nvSpPr>
          <p:cNvPr id="11" name="Text 7"/>
          <p:cNvSpPr txBox="1"/>
          <p:nvPr/>
        </p:nvSpPr>
        <p:spPr>
          <a:xfrm>
            <a:off x="4617720" y="2788920"/>
            <a:ext cx="2926080" cy="457200"/>
          </a:xfrm>
          <a:prstGeom prst="rect">
            <a:avLst/>
          </a:prstGeom>
          <a:noFill/>
          <a:ln/>
        </p:spPr>
        <p:txBody>
          <a:bodyPr wrap="square" lIns="0" tIns="0" rIns="0" bIns="0" rtlCol="0" anchor="t"/>
          <a:lstStyle/>
          <a:p>
            <a:pPr indent="0" marL="0">
              <a:buNone/>
            </a:pPr>
            <a:r>
              <a:rPr lang="en-US" sz="2000" b="1" dirty="0">
                <a:solidFill>
                  <a:srgbClr val="F2A93B"/>
                </a:solidFill>
                <a:latin typeface="Calibri" pitchFamily="34" charset="0"/>
                <a:ea typeface="Calibri" pitchFamily="34" charset="-122"/>
                <a:cs typeface="Calibri" pitchFamily="34" charset="-120"/>
              </a:rPr>
              <a:t>Order your stock</a:t>
            </a:r>
            <a:endParaRPr lang="en-US" sz="2000" dirty="0"/>
          </a:p>
        </p:txBody>
      </p:sp>
      <p:sp>
        <p:nvSpPr>
          <p:cNvPr id="12" name="Text 8"/>
          <p:cNvSpPr txBox="1"/>
          <p:nvPr/>
        </p:nvSpPr>
        <p:spPr>
          <a:xfrm>
            <a:off x="4617720" y="3337560"/>
            <a:ext cx="2971800" cy="2286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4F7FB"/>
                </a:solidFill>
                <a:latin typeface="Calibri" pitchFamily="34" charset="0"/>
                <a:ea typeface="Calibri" pitchFamily="34" charset="-122"/>
                <a:cs typeface="Calibri" pitchFamily="34" charset="-120"/>
              </a:rPr>
              <a:t>Suppliers recommended, with the reason why</a:t>
            </a:r>
            <a:endParaRPr lang="en-US" sz="1500" dirty="0"/>
          </a:p>
          <a:p>
            <a:pPr marL="342900" indent="-342900">
              <a:spcAft>
                <a:spcPts val="800"/>
              </a:spcAft>
              <a:buSzPct val="100000"/>
              <a:buChar char="•"/>
            </a:pPr>
            <a:r>
              <a:rPr lang="en-US" sz="1500" dirty="0">
                <a:solidFill>
                  <a:srgbClr val="F4F7FB"/>
                </a:solidFill>
                <a:latin typeface="Calibri" pitchFamily="34" charset="0"/>
                <a:ea typeface="Calibri" pitchFamily="34" charset="-122"/>
                <a:cs typeface="Calibri" pitchFamily="34" charset="-120"/>
              </a:rPr>
              <a:t>Their catalogue, their prices, stock checked</a:t>
            </a:r>
            <a:endParaRPr lang="en-US" sz="1500" dirty="0"/>
          </a:p>
          <a:p>
            <a:pPr marL="342900" indent="-342900">
              <a:spcAft>
                <a:spcPts val="800"/>
              </a:spcAft>
              <a:buSzPct val="100000"/>
              <a:buChar char="•"/>
            </a:pPr>
            <a:r>
              <a:rPr lang="en-US" sz="1500" dirty="0">
                <a:solidFill>
                  <a:srgbClr val="F4F7FB"/>
                </a:solidFill>
                <a:latin typeface="Calibri" pitchFamily="34" charset="0"/>
                <a:ea typeface="Calibri" pitchFamily="34" charset="-122"/>
                <a:cs typeface="Calibri" pitchFamily="34" charset="-120"/>
              </a:rPr>
              <a:t>Delivery to the shop or site, or collect</a:t>
            </a:r>
            <a:endParaRPr lang="en-US" sz="1500" dirty="0"/>
          </a:p>
        </p:txBody>
      </p:sp>
      <p:sp>
        <p:nvSpPr>
          <p:cNvPr id="13" name="Shape 9"/>
          <p:cNvSpPr/>
          <p:nvPr/>
        </p:nvSpPr>
        <p:spPr>
          <a:xfrm>
            <a:off x="8046720" y="1600200"/>
            <a:ext cx="3474720" cy="4160520"/>
          </a:xfrm>
          <a:prstGeom prst="roundRect">
            <a:avLst>
              <a:gd name="adj" fmla="val 3158"/>
            </a:avLst>
          </a:prstGeom>
          <a:solidFill>
            <a:srgbClr val="132A40"/>
          </a:solidFill>
          <a:ln w="12700">
            <a:solidFill>
              <a:srgbClr val="132A40"/>
            </a:solidFill>
            <a:prstDash val="solid"/>
          </a:ln>
        </p:spPr>
      </p:sp>
      <p:sp>
        <p:nvSpPr>
          <p:cNvPr id="14" name="Shape 10"/>
          <p:cNvSpPr/>
          <p:nvPr/>
        </p:nvSpPr>
        <p:spPr>
          <a:xfrm>
            <a:off x="8366760" y="1874520"/>
            <a:ext cx="777240" cy="777240"/>
          </a:xfrm>
          <a:prstGeom prst="ellipse">
            <a:avLst/>
          </a:prstGeom>
          <a:solidFill>
            <a:srgbClr val="183452"/>
          </a:solidFill>
          <a:ln w="19050">
            <a:solidFill>
              <a:srgbClr val="34D399"/>
            </a:solidFill>
            <a:prstDash val="solid"/>
          </a:ln>
        </p:spPr>
      </p:sp>
      <p:pic>
        <p:nvPicPr>
          <p:cNvPr id="15" name="Image 2" descr="preencoded.png">    </p:cNvPr>
          <p:cNvPicPr>
            <a:picLocks noChangeAspect="1"/>
          </p:cNvPicPr>
          <p:nvPr/>
        </p:nvPicPr>
        <p:blipFill>
          <a:blip r:embed="rId3"/>
          <a:stretch>
            <a:fillRect/>
          </a:stretch>
        </p:blipFill>
        <p:spPr>
          <a:xfrm>
            <a:off x="8553298" y="2061058"/>
            <a:ext cx="404165" cy="404165"/>
          </a:xfrm>
          <a:prstGeom prst="rect">
            <a:avLst/>
          </a:prstGeom>
        </p:spPr>
      </p:pic>
      <p:sp>
        <p:nvSpPr>
          <p:cNvPr id="16" name="Text 11"/>
          <p:cNvSpPr txBox="1"/>
          <p:nvPr/>
        </p:nvSpPr>
        <p:spPr>
          <a:xfrm>
            <a:off x="8366760" y="2788920"/>
            <a:ext cx="2926080" cy="457200"/>
          </a:xfrm>
          <a:prstGeom prst="rect">
            <a:avLst/>
          </a:prstGeom>
          <a:noFill/>
          <a:ln/>
        </p:spPr>
        <p:txBody>
          <a:bodyPr wrap="square" lIns="0" tIns="0" rIns="0" bIns="0" rtlCol="0" anchor="t"/>
          <a:lstStyle/>
          <a:p>
            <a:pPr indent="0" marL="0">
              <a:buNone/>
            </a:pPr>
            <a:r>
              <a:rPr lang="en-US" sz="2000" b="1" dirty="0">
                <a:solidFill>
                  <a:srgbClr val="34D399"/>
                </a:solidFill>
                <a:latin typeface="Calibri" pitchFamily="34" charset="0"/>
                <a:ea typeface="Calibri" pitchFamily="34" charset="-122"/>
                <a:cs typeface="Calibri" pitchFamily="34" charset="-120"/>
              </a:rPr>
              <a:t>Pay and prove it</a:t>
            </a:r>
            <a:endParaRPr lang="en-US" sz="2000" dirty="0"/>
          </a:p>
        </p:txBody>
      </p:sp>
      <p:sp>
        <p:nvSpPr>
          <p:cNvPr id="17" name="Text 12"/>
          <p:cNvSpPr txBox="1"/>
          <p:nvPr/>
        </p:nvSpPr>
        <p:spPr>
          <a:xfrm>
            <a:off x="8366760" y="3337560"/>
            <a:ext cx="2971800" cy="2286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4F7FB"/>
                </a:solidFill>
                <a:latin typeface="Calibri" pitchFamily="34" charset="0"/>
                <a:ea typeface="Calibri" pitchFamily="34" charset="-122"/>
                <a:cs typeface="Calibri" pitchFamily="34" charset="-120"/>
              </a:rPr>
              <a:t>Pay digitally (PayFast) or cash on delivery</a:t>
            </a:r>
            <a:endParaRPr lang="en-US" sz="1500" dirty="0"/>
          </a:p>
          <a:p>
            <a:pPr marL="342900" indent="-342900">
              <a:spcAft>
                <a:spcPts val="800"/>
              </a:spcAft>
              <a:buSzPct val="100000"/>
              <a:buChar char="•"/>
            </a:pPr>
            <a:r>
              <a:rPr lang="en-US" sz="1500" dirty="0">
                <a:solidFill>
                  <a:srgbClr val="F4F7FB"/>
                </a:solidFill>
                <a:latin typeface="Calibri" pitchFamily="34" charset="0"/>
                <a:ea typeface="Calibri" pitchFamily="34" charset="-122"/>
                <a:cs typeface="Calibri" pitchFamily="34" charset="-120"/>
              </a:rPr>
              <a:t>Payment confirmed by the provider</a:t>
            </a:r>
            <a:endParaRPr lang="en-US" sz="1500" dirty="0"/>
          </a:p>
          <a:p>
            <a:pPr marL="342900" indent="-342900">
              <a:spcAft>
                <a:spcPts val="800"/>
              </a:spcAft>
              <a:buSzPct val="100000"/>
              <a:buChar char="•"/>
            </a:pPr>
            <a:r>
              <a:rPr lang="en-US" sz="1500" dirty="0">
                <a:solidFill>
                  <a:srgbClr val="F4F7FB"/>
                </a:solidFill>
                <a:latin typeface="Calibri" pitchFamily="34" charset="0"/>
                <a:ea typeface="Calibri" pitchFamily="34" charset="-122"/>
                <a:cs typeface="Calibri" pitchFamily="34" charset="-120"/>
              </a:rPr>
              <a:t>Invoice and receipt with a QR check</a:t>
            </a:r>
            <a:endParaRPr lang="en-US" sz="1500" dirty="0"/>
          </a:p>
        </p:txBody>
      </p:sp>
      <p:sp>
        <p:nvSpPr>
          <p:cNvPr id="18" name="Text 13"/>
          <p:cNvSpPr txBox="1"/>
          <p:nvPr/>
        </p:nvSpPr>
        <p:spPr>
          <a:xfrm>
            <a:off x="548640" y="5897880"/>
            <a:ext cx="10972800" cy="365760"/>
          </a:xfrm>
          <a:prstGeom prst="rect">
            <a:avLst/>
          </a:prstGeom>
          <a:noFill/>
          <a:ln/>
        </p:spPr>
        <p:txBody>
          <a:bodyPr wrap="square" lIns="0" tIns="0" rIns="0" bIns="0" rtlCol="0" anchor="t"/>
          <a:lstStyle/>
          <a:p>
            <a:pPr indent="0" marL="0">
              <a:buNone/>
            </a:pPr>
            <a:r>
              <a:rPr lang="en-US" sz="1500" i="1" dirty="0">
                <a:solidFill>
                  <a:srgbClr val="9FB3C8"/>
                </a:solidFill>
                <a:latin typeface="Calibri" pitchFamily="34" charset="0"/>
                <a:ea typeface="Calibri" pitchFamily="34" charset="-122"/>
                <a:cs typeface="Calibri" pitchFamily="34" charset="-120"/>
              </a:rPr>
              <a:t>Not a marketplace: we recommend suppliers, never products.</a:t>
            </a:r>
            <a:endParaRPr lang="en-US" sz="1500" dirty="0"/>
          </a:p>
        </p:txBody>
      </p:sp>
      <p:sp>
        <p:nvSpPr>
          <p:cNvPr id="19" name="Text 14"/>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A day with Akayza</a:t>
            </a:r>
            <a:endParaRPr lang="en-US" sz="3600" dirty="0"/>
          </a:p>
        </p:txBody>
      </p:sp>
      <p:sp>
        <p:nvSpPr>
          <p:cNvPr id="3" name="Text 1"/>
          <p:cNvSpPr txBox="1"/>
          <p:nvPr/>
        </p:nvSpPr>
        <p:spPr>
          <a:xfrm>
            <a:off x="548640" y="1188720"/>
            <a:ext cx="11094415" cy="457200"/>
          </a:xfrm>
          <a:prstGeom prst="rect">
            <a:avLst/>
          </a:prstGeom>
          <a:noFill/>
          <a:ln/>
        </p:spPr>
        <p:txBody>
          <a:bodyPr wrap="square" lIns="0" tIns="0" rIns="0" bIns="0" rtlCol="0" anchor="ctr"/>
          <a:lstStyle/>
          <a:p>
            <a:pPr indent="0" marL="0">
              <a:buNone/>
            </a:pPr>
            <a:r>
              <a:rPr lang="en-US" sz="1600" i="1" dirty="0">
                <a:solidFill>
                  <a:srgbClr val="22C3E6"/>
                </a:solidFill>
                <a:latin typeface="Calibri" pitchFamily="34" charset="0"/>
                <a:ea typeface="Calibri" pitchFamily="34" charset="-122"/>
                <a:cs typeface="Calibri" pitchFamily="34" charset="-120"/>
              </a:rPr>
              <a:t>A spaza owner, from sign-up to a paid, invoiced order.</a:t>
            </a:r>
            <a:endParaRPr lang="en-US" sz="1600" dirty="0"/>
          </a:p>
        </p:txBody>
      </p:sp>
      <p:sp>
        <p:nvSpPr>
          <p:cNvPr id="4" name="Shape 2"/>
          <p:cNvSpPr/>
          <p:nvPr/>
        </p:nvSpPr>
        <p:spPr>
          <a:xfrm>
            <a:off x="1005840" y="2148840"/>
            <a:ext cx="822960" cy="822960"/>
          </a:xfrm>
          <a:prstGeom prst="ellipse">
            <a:avLst/>
          </a:prstGeom>
          <a:solidFill>
            <a:srgbClr val="183452"/>
          </a:solidFill>
          <a:ln w="19050">
            <a:solidFill>
              <a:srgbClr val="22C3E6"/>
            </a:solidFill>
            <a:prstDash val="solid"/>
          </a:ln>
        </p:spPr>
      </p:sp>
      <p:pic>
        <p:nvPicPr>
          <p:cNvPr id="5" name="Image 0" descr="preencoded.png">    </p:cNvPr>
          <p:cNvPicPr>
            <a:picLocks noChangeAspect="1"/>
          </p:cNvPicPr>
          <p:nvPr/>
        </p:nvPicPr>
        <p:blipFill>
          <a:blip r:embed="rId1"/>
          <a:stretch>
            <a:fillRect/>
          </a:stretch>
        </p:blipFill>
        <p:spPr>
          <a:xfrm>
            <a:off x="1203350" y="2346350"/>
            <a:ext cx="427939" cy="427939"/>
          </a:xfrm>
          <a:prstGeom prst="rect">
            <a:avLst/>
          </a:prstGeom>
        </p:spPr>
      </p:pic>
      <p:sp>
        <p:nvSpPr>
          <p:cNvPr id="6" name="Shape 3"/>
          <p:cNvSpPr/>
          <p:nvPr/>
        </p:nvSpPr>
        <p:spPr>
          <a:xfrm>
            <a:off x="1874520" y="2560320"/>
            <a:ext cx="1051560" cy="0"/>
          </a:xfrm>
          <a:prstGeom prst="line">
            <a:avLst/>
          </a:prstGeom>
          <a:noFill/>
          <a:ln w="19050">
            <a:solidFill>
              <a:srgbClr val="5E7891"/>
            </a:solidFill>
            <a:prstDash val="dash"/>
            <a:tailEnd type="triangle"/>
          </a:ln>
        </p:spPr>
      </p:sp>
      <p:sp>
        <p:nvSpPr>
          <p:cNvPr id="7" name="Text 4"/>
          <p:cNvSpPr txBox="1"/>
          <p:nvPr/>
        </p:nvSpPr>
        <p:spPr>
          <a:xfrm>
            <a:off x="502920" y="3154680"/>
            <a:ext cx="1828800" cy="731520"/>
          </a:xfrm>
          <a:prstGeom prst="rect">
            <a:avLst/>
          </a:prstGeom>
          <a:noFill/>
          <a:ln/>
        </p:spPr>
        <p:txBody>
          <a:bodyPr wrap="square" lIns="0" tIns="0" rIns="0" bIns="0" rtlCol="0" anchor="t"/>
          <a:lstStyle/>
          <a:p>
            <a:pPr algn="ctr" indent="0" marL="0">
              <a:buNone/>
            </a:pPr>
            <a:r>
              <a:rPr lang="en-US" sz="1600" b="1" dirty="0">
                <a:solidFill>
                  <a:srgbClr val="F4F7FB"/>
                </a:solidFill>
                <a:latin typeface="Calibri" pitchFamily="34" charset="0"/>
                <a:ea typeface="Calibri" pitchFamily="34" charset="-122"/>
                <a:cs typeface="Calibri" pitchFamily="34" charset="-120"/>
              </a:rPr>
              <a:t>1. Sign up</a:t>
            </a:r>
            <a:endParaRPr lang="en-US" sz="1600" dirty="0"/>
          </a:p>
        </p:txBody>
      </p:sp>
      <p:sp>
        <p:nvSpPr>
          <p:cNvPr id="8" name="Text 5"/>
          <p:cNvSpPr txBox="1"/>
          <p:nvPr/>
        </p:nvSpPr>
        <p:spPr>
          <a:xfrm>
            <a:off x="548640" y="3931920"/>
            <a:ext cx="1737360" cy="1371600"/>
          </a:xfrm>
          <a:prstGeom prst="rect">
            <a:avLst/>
          </a:prstGeom>
          <a:noFill/>
          <a:ln/>
        </p:spPr>
        <p:txBody>
          <a:bodyPr wrap="square" lIns="0" tIns="0" rIns="0" bIns="0" rtlCol="0" anchor="t"/>
          <a:lstStyle/>
          <a:p>
            <a:pPr algn="ctr" indent="0" marL="0">
              <a:buNone/>
            </a:pPr>
            <a:r>
              <a:rPr lang="en-US" sz="1250" dirty="0">
                <a:solidFill>
                  <a:srgbClr val="9FB3C8"/>
                </a:solidFill>
                <a:latin typeface="Calibri" pitchFamily="34" charset="0"/>
                <a:ea typeface="Calibri" pitchFamily="34" charset="-122"/>
                <a:cs typeface="Calibri" pitchFamily="34" charset="-120"/>
              </a:rPr>
              <a:t>Email, then 4 short steps: the business, where it is, what it buys</a:t>
            </a:r>
            <a:endParaRPr lang="en-US" sz="1250" dirty="0"/>
          </a:p>
        </p:txBody>
      </p:sp>
      <p:sp>
        <p:nvSpPr>
          <p:cNvPr id="9" name="Shape 6"/>
          <p:cNvSpPr/>
          <p:nvPr/>
        </p:nvSpPr>
        <p:spPr>
          <a:xfrm>
            <a:off x="2926080" y="2148840"/>
            <a:ext cx="822960" cy="822960"/>
          </a:xfrm>
          <a:prstGeom prst="ellipse">
            <a:avLst/>
          </a:prstGeom>
          <a:solidFill>
            <a:srgbClr val="183452"/>
          </a:solidFill>
          <a:ln w="19050">
            <a:solidFill>
              <a:srgbClr val="22C3E6"/>
            </a:solidFill>
            <a:prstDash val="solid"/>
          </a:ln>
        </p:spPr>
      </p:sp>
      <p:pic>
        <p:nvPicPr>
          <p:cNvPr id="10" name="Image 1" descr="preencoded.png">    </p:cNvPr>
          <p:cNvPicPr>
            <a:picLocks noChangeAspect="1"/>
          </p:cNvPicPr>
          <p:nvPr/>
        </p:nvPicPr>
        <p:blipFill>
          <a:blip r:embed="rId2"/>
          <a:stretch>
            <a:fillRect/>
          </a:stretch>
        </p:blipFill>
        <p:spPr>
          <a:xfrm>
            <a:off x="3123590" y="2346350"/>
            <a:ext cx="427939" cy="427939"/>
          </a:xfrm>
          <a:prstGeom prst="rect">
            <a:avLst/>
          </a:prstGeom>
        </p:spPr>
      </p:pic>
      <p:sp>
        <p:nvSpPr>
          <p:cNvPr id="11" name="Shape 7"/>
          <p:cNvSpPr/>
          <p:nvPr/>
        </p:nvSpPr>
        <p:spPr>
          <a:xfrm>
            <a:off x="3794760" y="2560320"/>
            <a:ext cx="1051560" cy="0"/>
          </a:xfrm>
          <a:prstGeom prst="line">
            <a:avLst/>
          </a:prstGeom>
          <a:noFill/>
          <a:ln w="19050">
            <a:solidFill>
              <a:srgbClr val="5E7891"/>
            </a:solidFill>
            <a:prstDash val="dash"/>
            <a:tailEnd type="triangle"/>
          </a:ln>
        </p:spPr>
      </p:sp>
      <p:sp>
        <p:nvSpPr>
          <p:cNvPr id="12" name="Text 8"/>
          <p:cNvSpPr txBox="1"/>
          <p:nvPr/>
        </p:nvSpPr>
        <p:spPr>
          <a:xfrm>
            <a:off x="2423160" y="3154680"/>
            <a:ext cx="1828800" cy="731520"/>
          </a:xfrm>
          <a:prstGeom prst="rect">
            <a:avLst/>
          </a:prstGeom>
          <a:noFill/>
          <a:ln/>
        </p:spPr>
        <p:txBody>
          <a:bodyPr wrap="square" lIns="0" tIns="0" rIns="0" bIns="0" rtlCol="0" anchor="t"/>
          <a:lstStyle/>
          <a:p>
            <a:pPr algn="ctr" indent="0" marL="0">
              <a:buNone/>
            </a:pPr>
            <a:r>
              <a:rPr lang="en-US" sz="1600" b="1" dirty="0">
                <a:solidFill>
                  <a:srgbClr val="F4F7FB"/>
                </a:solidFill>
                <a:latin typeface="Calibri" pitchFamily="34" charset="0"/>
                <a:ea typeface="Calibri" pitchFamily="34" charset="-122"/>
                <a:cs typeface="Calibri" pitchFamily="34" charset="-120"/>
              </a:rPr>
              <a:t>2. See suppliers</a:t>
            </a:r>
            <a:endParaRPr lang="en-US" sz="1600" dirty="0"/>
          </a:p>
        </p:txBody>
      </p:sp>
      <p:sp>
        <p:nvSpPr>
          <p:cNvPr id="13" name="Text 9"/>
          <p:cNvSpPr txBox="1"/>
          <p:nvPr/>
        </p:nvSpPr>
        <p:spPr>
          <a:xfrm>
            <a:off x="2468880" y="3931920"/>
            <a:ext cx="1737360" cy="1371600"/>
          </a:xfrm>
          <a:prstGeom prst="rect">
            <a:avLst/>
          </a:prstGeom>
          <a:noFill/>
          <a:ln/>
        </p:spPr>
        <p:txBody>
          <a:bodyPr wrap="square" lIns="0" tIns="0" rIns="0" bIns="0" rtlCol="0" anchor="t"/>
          <a:lstStyle/>
          <a:p>
            <a:pPr algn="ctr" indent="0" marL="0">
              <a:buNone/>
            </a:pPr>
            <a:r>
              <a:rPr lang="en-US" sz="1250" dirty="0">
                <a:solidFill>
                  <a:srgbClr val="9FB3C8"/>
                </a:solidFill>
                <a:latin typeface="Calibri" pitchFamily="34" charset="0"/>
                <a:ea typeface="Calibri" pitchFamily="34" charset="-122"/>
                <a:cs typeface="Calibri" pitchFamily="34" charset="-120"/>
              </a:rPr>
              <a:t>Ranked for her, with reasons: 'delivers to you', 'sells what you buy'</a:t>
            </a:r>
            <a:endParaRPr lang="en-US" sz="1250" dirty="0"/>
          </a:p>
        </p:txBody>
      </p:sp>
      <p:sp>
        <p:nvSpPr>
          <p:cNvPr id="14" name="Shape 10"/>
          <p:cNvSpPr/>
          <p:nvPr/>
        </p:nvSpPr>
        <p:spPr>
          <a:xfrm>
            <a:off x="4846320" y="2148840"/>
            <a:ext cx="822960" cy="822960"/>
          </a:xfrm>
          <a:prstGeom prst="ellipse">
            <a:avLst/>
          </a:prstGeom>
          <a:solidFill>
            <a:srgbClr val="183452"/>
          </a:solidFill>
          <a:ln w="19050">
            <a:solidFill>
              <a:srgbClr val="22C3E6"/>
            </a:solidFill>
            <a:prstDash val="solid"/>
          </a:ln>
        </p:spPr>
      </p:sp>
      <p:pic>
        <p:nvPicPr>
          <p:cNvPr id="15" name="Image 2" descr="preencoded.png">    </p:cNvPr>
          <p:cNvPicPr>
            <a:picLocks noChangeAspect="1"/>
          </p:cNvPicPr>
          <p:nvPr/>
        </p:nvPicPr>
        <p:blipFill>
          <a:blip r:embed="rId3"/>
          <a:stretch>
            <a:fillRect/>
          </a:stretch>
        </p:blipFill>
        <p:spPr>
          <a:xfrm>
            <a:off x="5043830" y="2346350"/>
            <a:ext cx="427939" cy="427939"/>
          </a:xfrm>
          <a:prstGeom prst="rect">
            <a:avLst/>
          </a:prstGeom>
        </p:spPr>
      </p:pic>
      <p:sp>
        <p:nvSpPr>
          <p:cNvPr id="16" name="Shape 11"/>
          <p:cNvSpPr/>
          <p:nvPr/>
        </p:nvSpPr>
        <p:spPr>
          <a:xfrm>
            <a:off x="5715000" y="2560320"/>
            <a:ext cx="1051560" cy="0"/>
          </a:xfrm>
          <a:prstGeom prst="line">
            <a:avLst/>
          </a:prstGeom>
          <a:noFill/>
          <a:ln w="19050">
            <a:solidFill>
              <a:srgbClr val="5E7891"/>
            </a:solidFill>
            <a:prstDash val="dash"/>
            <a:tailEnd type="triangle"/>
          </a:ln>
        </p:spPr>
      </p:sp>
      <p:sp>
        <p:nvSpPr>
          <p:cNvPr id="17" name="Text 12"/>
          <p:cNvSpPr txBox="1"/>
          <p:nvPr/>
        </p:nvSpPr>
        <p:spPr>
          <a:xfrm>
            <a:off x="4343400" y="3154680"/>
            <a:ext cx="1828800" cy="731520"/>
          </a:xfrm>
          <a:prstGeom prst="rect">
            <a:avLst/>
          </a:prstGeom>
          <a:noFill/>
          <a:ln/>
        </p:spPr>
        <p:txBody>
          <a:bodyPr wrap="square" lIns="0" tIns="0" rIns="0" bIns="0" rtlCol="0" anchor="t"/>
          <a:lstStyle/>
          <a:p>
            <a:pPr algn="ctr" indent="0" marL="0">
              <a:buNone/>
            </a:pPr>
            <a:r>
              <a:rPr lang="en-US" sz="1600" b="1" dirty="0">
                <a:solidFill>
                  <a:srgbClr val="F4F7FB"/>
                </a:solidFill>
                <a:latin typeface="Calibri" pitchFamily="34" charset="0"/>
                <a:ea typeface="Calibri" pitchFamily="34" charset="-122"/>
                <a:cs typeface="Calibri" pitchFamily="34" charset="-120"/>
              </a:rPr>
              <a:t>3. Order</a:t>
            </a:r>
            <a:endParaRPr lang="en-US" sz="1600" dirty="0"/>
          </a:p>
        </p:txBody>
      </p:sp>
      <p:sp>
        <p:nvSpPr>
          <p:cNvPr id="18" name="Text 13"/>
          <p:cNvSpPr txBox="1"/>
          <p:nvPr/>
        </p:nvSpPr>
        <p:spPr>
          <a:xfrm>
            <a:off x="4389120" y="3931920"/>
            <a:ext cx="1737360" cy="1371600"/>
          </a:xfrm>
          <a:prstGeom prst="rect">
            <a:avLst/>
          </a:prstGeom>
          <a:noFill/>
          <a:ln/>
        </p:spPr>
        <p:txBody>
          <a:bodyPr wrap="square" lIns="0" tIns="0" rIns="0" bIns="0" rtlCol="0" anchor="t"/>
          <a:lstStyle/>
          <a:p>
            <a:pPr algn="ctr" indent="0" marL="0">
              <a:buNone/>
            </a:pPr>
            <a:r>
              <a:rPr lang="en-US" sz="1250" dirty="0">
                <a:solidFill>
                  <a:srgbClr val="9FB3C8"/>
                </a:solidFill>
                <a:latin typeface="Calibri" pitchFamily="34" charset="0"/>
                <a:ea typeface="Calibri" pitchFamily="34" charset="-122"/>
                <a:cs typeface="Calibri" pitchFamily="34" charset="-120"/>
              </a:rPr>
              <a:t>Their catalogue and prices. The server prices every order</a:t>
            </a:r>
            <a:endParaRPr lang="en-US" sz="1250" dirty="0"/>
          </a:p>
        </p:txBody>
      </p:sp>
      <p:sp>
        <p:nvSpPr>
          <p:cNvPr id="19" name="Shape 14"/>
          <p:cNvSpPr/>
          <p:nvPr/>
        </p:nvSpPr>
        <p:spPr>
          <a:xfrm>
            <a:off x="6766560" y="2148840"/>
            <a:ext cx="822960" cy="822960"/>
          </a:xfrm>
          <a:prstGeom prst="ellipse">
            <a:avLst/>
          </a:prstGeom>
          <a:solidFill>
            <a:srgbClr val="183452"/>
          </a:solidFill>
          <a:ln w="19050">
            <a:solidFill>
              <a:srgbClr val="F2A93B"/>
            </a:solidFill>
            <a:prstDash val="solid"/>
          </a:ln>
        </p:spPr>
      </p:sp>
      <p:pic>
        <p:nvPicPr>
          <p:cNvPr id="20" name="Image 3" descr="preencoded.png">    </p:cNvPr>
          <p:cNvPicPr>
            <a:picLocks noChangeAspect="1"/>
          </p:cNvPicPr>
          <p:nvPr/>
        </p:nvPicPr>
        <p:blipFill>
          <a:blip r:embed="rId4"/>
          <a:stretch>
            <a:fillRect/>
          </a:stretch>
        </p:blipFill>
        <p:spPr>
          <a:xfrm>
            <a:off x="6964070" y="2346350"/>
            <a:ext cx="427939" cy="427939"/>
          </a:xfrm>
          <a:prstGeom prst="rect">
            <a:avLst/>
          </a:prstGeom>
        </p:spPr>
      </p:pic>
      <p:sp>
        <p:nvSpPr>
          <p:cNvPr id="21" name="Shape 15"/>
          <p:cNvSpPr/>
          <p:nvPr/>
        </p:nvSpPr>
        <p:spPr>
          <a:xfrm>
            <a:off x="7635240" y="2560320"/>
            <a:ext cx="1051560" cy="0"/>
          </a:xfrm>
          <a:prstGeom prst="line">
            <a:avLst/>
          </a:prstGeom>
          <a:noFill/>
          <a:ln w="19050">
            <a:solidFill>
              <a:srgbClr val="5E7891"/>
            </a:solidFill>
            <a:prstDash val="dash"/>
            <a:tailEnd type="triangle"/>
          </a:ln>
        </p:spPr>
      </p:sp>
      <p:sp>
        <p:nvSpPr>
          <p:cNvPr id="22" name="Text 16"/>
          <p:cNvSpPr txBox="1"/>
          <p:nvPr/>
        </p:nvSpPr>
        <p:spPr>
          <a:xfrm>
            <a:off x="6263640" y="3154680"/>
            <a:ext cx="1828800" cy="731520"/>
          </a:xfrm>
          <a:prstGeom prst="rect">
            <a:avLst/>
          </a:prstGeom>
          <a:noFill/>
          <a:ln/>
        </p:spPr>
        <p:txBody>
          <a:bodyPr wrap="square" lIns="0" tIns="0" rIns="0" bIns="0" rtlCol="0" anchor="t"/>
          <a:lstStyle/>
          <a:p>
            <a:pPr algn="ctr" indent="0" marL="0">
              <a:buNone/>
            </a:pPr>
            <a:r>
              <a:rPr lang="en-US" sz="1600" b="1" dirty="0">
                <a:solidFill>
                  <a:srgbClr val="F4F7FB"/>
                </a:solidFill>
                <a:latin typeface="Calibri" pitchFamily="34" charset="0"/>
                <a:ea typeface="Calibri" pitchFamily="34" charset="-122"/>
                <a:cs typeface="Calibri" pitchFamily="34" charset="-120"/>
              </a:rPr>
              <a:t>4. Pay</a:t>
            </a:r>
            <a:endParaRPr lang="en-US" sz="1600" dirty="0"/>
          </a:p>
        </p:txBody>
      </p:sp>
      <p:sp>
        <p:nvSpPr>
          <p:cNvPr id="23" name="Text 17"/>
          <p:cNvSpPr txBox="1"/>
          <p:nvPr/>
        </p:nvSpPr>
        <p:spPr>
          <a:xfrm>
            <a:off x="6309360" y="3931920"/>
            <a:ext cx="1737360" cy="1371600"/>
          </a:xfrm>
          <a:prstGeom prst="rect">
            <a:avLst/>
          </a:prstGeom>
          <a:noFill/>
          <a:ln/>
        </p:spPr>
        <p:txBody>
          <a:bodyPr wrap="square" lIns="0" tIns="0" rIns="0" bIns="0" rtlCol="0" anchor="t"/>
          <a:lstStyle/>
          <a:p>
            <a:pPr algn="ctr" indent="0" marL="0">
              <a:buNone/>
            </a:pPr>
            <a:r>
              <a:rPr lang="en-US" sz="1250" dirty="0">
                <a:solidFill>
                  <a:srgbClr val="9FB3C8"/>
                </a:solidFill>
                <a:latin typeface="Calibri" pitchFamily="34" charset="0"/>
                <a:ea typeface="Calibri" pitchFamily="34" charset="-122"/>
                <a:cs typeface="Calibri" pitchFamily="34" charset="-120"/>
              </a:rPr>
              <a:t>PayFast, or cash on delivery (capped for safety)</a:t>
            </a:r>
            <a:endParaRPr lang="en-US" sz="1250" dirty="0"/>
          </a:p>
        </p:txBody>
      </p:sp>
      <p:sp>
        <p:nvSpPr>
          <p:cNvPr id="24" name="Shape 18"/>
          <p:cNvSpPr/>
          <p:nvPr/>
        </p:nvSpPr>
        <p:spPr>
          <a:xfrm>
            <a:off x="8686800" y="2148840"/>
            <a:ext cx="822960" cy="822960"/>
          </a:xfrm>
          <a:prstGeom prst="ellipse">
            <a:avLst/>
          </a:prstGeom>
          <a:solidFill>
            <a:srgbClr val="183452"/>
          </a:solidFill>
          <a:ln w="19050">
            <a:solidFill>
              <a:srgbClr val="22C3E6"/>
            </a:solidFill>
            <a:prstDash val="solid"/>
          </a:ln>
        </p:spPr>
      </p:sp>
      <p:pic>
        <p:nvPicPr>
          <p:cNvPr id="25" name="Image 4" descr="preencoded.png">    </p:cNvPr>
          <p:cNvPicPr>
            <a:picLocks noChangeAspect="1"/>
          </p:cNvPicPr>
          <p:nvPr/>
        </p:nvPicPr>
        <p:blipFill>
          <a:blip r:embed="rId5"/>
          <a:stretch>
            <a:fillRect/>
          </a:stretch>
        </p:blipFill>
        <p:spPr>
          <a:xfrm>
            <a:off x="8884310" y="2346350"/>
            <a:ext cx="427939" cy="427939"/>
          </a:xfrm>
          <a:prstGeom prst="rect">
            <a:avLst/>
          </a:prstGeom>
        </p:spPr>
      </p:pic>
      <p:sp>
        <p:nvSpPr>
          <p:cNvPr id="26" name="Shape 19"/>
          <p:cNvSpPr/>
          <p:nvPr/>
        </p:nvSpPr>
        <p:spPr>
          <a:xfrm>
            <a:off x="9555480" y="2560320"/>
            <a:ext cx="1051560" cy="0"/>
          </a:xfrm>
          <a:prstGeom prst="line">
            <a:avLst/>
          </a:prstGeom>
          <a:noFill/>
          <a:ln w="19050">
            <a:solidFill>
              <a:srgbClr val="5E7891"/>
            </a:solidFill>
            <a:prstDash val="dash"/>
            <a:tailEnd type="triangle"/>
          </a:ln>
        </p:spPr>
      </p:sp>
      <p:sp>
        <p:nvSpPr>
          <p:cNvPr id="27" name="Text 20"/>
          <p:cNvSpPr txBox="1"/>
          <p:nvPr/>
        </p:nvSpPr>
        <p:spPr>
          <a:xfrm>
            <a:off x="8183880" y="3154680"/>
            <a:ext cx="1828800" cy="731520"/>
          </a:xfrm>
          <a:prstGeom prst="rect">
            <a:avLst/>
          </a:prstGeom>
          <a:noFill/>
          <a:ln/>
        </p:spPr>
        <p:txBody>
          <a:bodyPr wrap="square" lIns="0" tIns="0" rIns="0" bIns="0" rtlCol="0" anchor="t"/>
          <a:lstStyle/>
          <a:p>
            <a:pPr algn="ctr" indent="0" marL="0">
              <a:buNone/>
            </a:pPr>
            <a:r>
              <a:rPr lang="en-US" sz="1600" b="1" dirty="0">
                <a:solidFill>
                  <a:srgbClr val="F4F7FB"/>
                </a:solidFill>
                <a:latin typeface="Calibri" pitchFamily="34" charset="0"/>
                <a:ea typeface="Calibri" pitchFamily="34" charset="-122"/>
                <a:cs typeface="Calibri" pitchFamily="34" charset="-120"/>
              </a:rPr>
              <a:t>5. Get proof</a:t>
            </a:r>
            <a:endParaRPr lang="en-US" sz="1600" dirty="0"/>
          </a:p>
        </p:txBody>
      </p:sp>
      <p:sp>
        <p:nvSpPr>
          <p:cNvPr id="28" name="Text 21"/>
          <p:cNvSpPr txBox="1"/>
          <p:nvPr/>
        </p:nvSpPr>
        <p:spPr>
          <a:xfrm>
            <a:off x="8229600" y="3931920"/>
            <a:ext cx="1737360" cy="1371600"/>
          </a:xfrm>
          <a:prstGeom prst="rect">
            <a:avLst/>
          </a:prstGeom>
          <a:noFill/>
          <a:ln/>
        </p:spPr>
        <p:txBody>
          <a:bodyPr wrap="square" lIns="0" tIns="0" rIns="0" bIns="0" rtlCol="0" anchor="t"/>
          <a:lstStyle/>
          <a:p>
            <a:pPr algn="ctr" indent="0" marL="0">
              <a:buNone/>
            </a:pPr>
            <a:r>
              <a:rPr lang="en-US" sz="1250" dirty="0">
                <a:solidFill>
                  <a:srgbClr val="9FB3C8"/>
                </a:solidFill>
                <a:latin typeface="Calibri" pitchFamily="34" charset="0"/>
                <a:ea typeface="Calibri" pitchFamily="34" charset="-122"/>
                <a:cs typeface="Calibri" pitchFamily="34" charset="-120"/>
              </a:rPr>
              <a:t>Invoice + receipt, QR to a public check page</a:t>
            </a:r>
            <a:endParaRPr lang="en-US" sz="1250" dirty="0"/>
          </a:p>
        </p:txBody>
      </p:sp>
      <p:sp>
        <p:nvSpPr>
          <p:cNvPr id="29" name="Shape 22"/>
          <p:cNvSpPr/>
          <p:nvPr/>
        </p:nvSpPr>
        <p:spPr>
          <a:xfrm>
            <a:off x="10607040" y="2148840"/>
            <a:ext cx="822960" cy="822960"/>
          </a:xfrm>
          <a:prstGeom prst="ellipse">
            <a:avLst/>
          </a:prstGeom>
          <a:solidFill>
            <a:srgbClr val="183452"/>
          </a:solidFill>
          <a:ln w="19050">
            <a:solidFill>
              <a:srgbClr val="22C3E6"/>
            </a:solidFill>
            <a:prstDash val="solid"/>
          </a:ln>
        </p:spPr>
      </p:sp>
      <p:pic>
        <p:nvPicPr>
          <p:cNvPr id="30" name="Image 5" descr="preencoded.png">    </p:cNvPr>
          <p:cNvPicPr>
            <a:picLocks noChangeAspect="1"/>
          </p:cNvPicPr>
          <p:nvPr/>
        </p:nvPicPr>
        <p:blipFill>
          <a:blip r:embed="rId6"/>
          <a:stretch>
            <a:fillRect/>
          </a:stretch>
        </p:blipFill>
        <p:spPr>
          <a:xfrm>
            <a:off x="10804550" y="2346350"/>
            <a:ext cx="427939" cy="427939"/>
          </a:xfrm>
          <a:prstGeom prst="rect">
            <a:avLst/>
          </a:prstGeom>
        </p:spPr>
      </p:pic>
      <p:sp>
        <p:nvSpPr>
          <p:cNvPr id="31" name="Text 23"/>
          <p:cNvSpPr txBox="1"/>
          <p:nvPr/>
        </p:nvSpPr>
        <p:spPr>
          <a:xfrm>
            <a:off x="10104120" y="3154680"/>
            <a:ext cx="1828800" cy="731520"/>
          </a:xfrm>
          <a:prstGeom prst="rect">
            <a:avLst/>
          </a:prstGeom>
          <a:noFill/>
          <a:ln/>
        </p:spPr>
        <p:txBody>
          <a:bodyPr wrap="square" lIns="0" tIns="0" rIns="0" bIns="0" rtlCol="0" anchor="t"/>
          <a:lstStyle/>
          <a:p>
            <a:pPr algn="ctr" indent="0" marL="0">
              <a:buNone/>
            </a:pPr>
            <a:r>
              <a:rPr lang="en-US" sz="1600" b="1" dirty="0">
                <a:solidFill>
                  <a:srgbClr val="F4F7FB"/>
                </a:solidFill>
                <a:latin typeface="Calibri" pitchFamily="34" charset="0"/>
                <a:ea typeface="Calibri" pitchFamily="34" charset="-122"/>
                <a:cs typeface="Calibri" pitchFamily="34" charset="-120"/>
              </a:rPr>
              <a:t>6. Run the shop</a:t>
            </a:r>
            <a:endParaRPr lang="en-US" sz="1600" dirty="0"/>
          </a:p>
        </p:txBody>
      </p:sp>
      <p:sp>
        <p:nvSpPr>
          <p:cNvPr id="32" name="Text 24"/>
          <p:cNvSpPr txBox="1"/>
          <p:nvPr/>
        </p:nvSpPr>
        <p:spPr>
          <a:xfrm>
            <a:off x="10149840" y="3931920"/>
            <a:ext cx="1737360" cy="1371600"/>
          </a:xfrm>
          <a:prstGeom prst="rect">
            <a:avLst/>
          </a:prstGeom>
          <a:noFill/>
          <a:ln/>
        </p:spPr>
        <p:txBody>
          <a:bodyPr wrap="square" lIns="0" tIns="0" rIns="0" bIns="0" rtlCol="0" anchor="t"/>
          <a:lstStyle/>
          <a:p>
            <a:pPr algn="ctr" indent="0" marL="0">
              <a:buNone/>
            </a:pPr>
            <a:r>
              <a:rPr lang="en-US" sz="1250" dirty="0">
                <a:solidFill>
                  <a:srgbClr val="9FB3C8"/>
                </a:solidFill>
                <a:latin typeface="Calibri" pitchFamily="34" charset="0"/>
                <a:ea typeface="Calibri" pitchFamily="34" charset="-122"/>
                <a:cs typeface="Calibri" pitchFamily="34" charset="-120"/>
              </a:rPr>
              <a:t>Credit book, order book; what she sells shapes her next recommendations</a:t>
            </a:r>
            <a:endParaRPr lang="en-US" sz="1250" dirty="0"/>
          </a:p>
        </p:txBody>
      </p:sp>
      <p:sp>
        <p:nvSpPr>
          <p:cNvPr id="33" name="Shape 25"/>
          <p:cNvSpPr/>
          <p:nvPr/>
        </p:nvSpPr>
        <p:spPr>
          <a:xfrm>
            <a:off x="548640" y="5349240"/>
            <a:ext cx="11064240" cy="777240"/>
          </a:xfrm>
          <a:prstGeom prst="roundRect">
            <a:avLst>
              <a:gd name="adj" fmla="val 14118"/>
            </a:avLst>
          </a:prstGeom>
          <a:solidFill>
            <a:srgbClr val="183452"/>
          </a:solidFill>
          <a:ln w="12700">
            <a:solidFill>
              <a:srgbClr val="183452"/>
            </a:solidFill>
            <a:prstDash val="solid"/>
          </a:ln>
        </p:spPr>
      </p:sp>
      <p:sp>
        <p:nvSpPr>
          <p:cNvPr id="34" name="Text 26"/>
          <p:cNvSpPr txBox="1"/>
          <p:nvPr/>
        </p:nvSpPr>
        <p:spPr>
          <a:xfrm>
            <a:off x="822960" y="5532120"/>
            <a:ext cx="10607040" cy="457200"/>
          </a:xfrm>
          <a:prstGeom prst="rect">
            <a:avLst/>
          </a:prstGeom>
          <a:noFill/>
          <a:ln/>
        </p:spPr>
        <p:txBody>
          <a:bodyPr wrap="square" lIns="0" tIns="0" rIns="0" bIns="0" rtlCol="0" anchor="ctr"/>
          <a:lstStyle/>
          <a:p>
            <a:pPr indent="0" marL="0">
              <a:buNone/>
            </a:pPr>
            <a:r>
              <a:rPr lang="en-US" sz="1500" dirty="0">
                <a:solidFill>
                  <a:srgbClr val="F4F7FB"/>
                </a:solidFill>
                <a:latin typeface="Calibri" pitchFamily="34" charset="0"/>
                <a:ea typeface="Calibri" pitchFamily="34" charset="-122"/>
                <a:cs typeface="Calibri" pitchFamily="34" charset="-120"/>
              </a:rPr>
              <a:t>A builder does the same with jobs: stages, a camera-only photo, and the client signs each stage off by link.</a:t>
            </a:r>
            <a:endParaRPr lang="en-US" sz="1500" dirty="0"/>
          </a:p>
        </p:txBody>
      </p:sp>
      <p:sp>
        <p:nvSpPr>
          <p:cNvPr id="35" name="Text 27"/>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The engine: tools that find suppliers</a:t>
            </a:r>
            <a:endParaRPr lang="en-US" sz="3600" dirty="0"/>
          </a:p>
        </p:txBody>
      </p:sp>
      <p:sp>
        <p:nvSpPr>
          <p:cNvPr id="3" name="Text 1"/>
          <p:cNvSpPr txBox="1"/>
          <p:nvPr/>
        </p:nvSpPr>
        <p:spPr>
          <a:xfrm>
            <a:off x="548640" y="1188720"/>
            <a:ext cx="11094415" cy="457200"/>
          </a:xfrm>
          <a:prstGeom prst="rect">
            <a:avLst/>
          </a:prstGeom>
          <a:noFill/>
          <a:ln/>
        </p:spPr>
        <p:txBody>
          <a:bodyPr wrap="square" lIns="0" tIns="0" rIns="0" bIns="0" rtlCol="0" anchor="ctr"/>
          <a:lstStyle/>
          <a:p>
            <a:pPr indent="0" marL="0">
              <a:buNone/>
            </a:pPr>
            <a:r>
              <a:rPr lang="en-US" sz="1600" i="1" dirty="0">
                <a:solidFill>
                  <a:srgbClr val="22C3E6"/>
                </a:solidFill>
                <a:latin typeface="Calibri" pitchFamily="34" charset="0"/>
                <a:ea typeface="Calibri" pitchFamily="34" charset="-122"/>
                <a:cs typeface="Calibri" pitchFamily="34" charset="-120"/>
              </a:rPr>
              <a:t>Private demand signals lift the right suppliers, with a reason anyone can read.</a:t>
            </a:r>
            <a:endParaRPr lang="en-US" sz="1600" dirty="0"/>
          </a:p>
        </p:txBody>
      </p:sp>
      <p:sp>
        <p:nvSpPr>
          <p:cNvPr id="4" name="Shape 2"/>
          <p:cNvSpPr/>
          <p:nvPr/>
        </p:nvSpPr>
        <p:spPr>
          <a:xfrm>
            <a:off x="548640" y="1874520"/>
            <a:ext cx="3291840" cy="2148840"/>
          </a:xfrm>
          <a:prstGeom prst="roundRect">
            <a:avLst>
              <a:gd name="adj" fmla="val 5106"/>
            </a:avLst>
          </a:prstGeom>
          <a:solidFill>
            <a:srgbClr val="132A40"/>
          </a:solidFill>
          <a:ln w="12700">
            <a:solidFill>
              <a:srgbClr val="132A40"/>
            </a:solidFill>
            <a:prstDash val="solid"/>
          </a:ln>
        </p:spPr>
      </p:sp>
      <p:sp>
        <p:nvSpPr>
          <p:cNvPr id="5" name="Shape 3"/>
          <p:cNvSpPr/>
          <p:nvPr/>
        </p:nvSpPr>
        <p:spPr>
          <a:xfrm>
            <a:off x="822960" y="2103120"/>
            <a:ext cx="731520" cy="731520"/>
          </a:xfrm>
          <a:prstGeom prst="ellipse">
            <a:avLst/>
          </a:prstGeom>
          <a:solidFill>
            <a:srgbClr val="183452"/>
          </a:solidFill>
          <a:ln w="19050">
            <a:solidFill>
              <a:srgbClr val="22C3E6"/>
            </a:solidFill>
            <a:prstDash val="solid"/>
          </a:ln>
        </p:spPr>
      </p:sp>
      <p:pic>
        <p:nvPicPr>
          <p:cNvPr id="6" name="Image 0" descr="preencoded.png">    </p:cNvPr>
          <p:cNvPicPr>
            <a:picLocks noChangeAspect="1"/>
          </p:cNvPicPr>
          <p:nvPr/>
        </p:nvPicPr>
        <p:blipFill>
          <a:blip r:embed="rId1"/>
          <a:stretch>
            <a:fillRect/>
          </a:stretch>
        </p:blipFill>
        <p:spPr>
          <a:xfrm>
            <a:off x="998525" y="2278685"/>
            <a:ext cx="380390" cy="380390"/>
          </a:xfrm>
          <a:prstGeom prst="rect">
            <a:avLst/>
          </a:prstGeom>
        </p:spPr>
      </p:pic>
      <p:sp>
        <p:nvSpPr>
          <p:cNvPr id="7" name="Text 4"/>
          <p:cNvSpPr txBox="1"/>
          <p:nvPr/>
        </p:nvSpPr>
        <p:spPr>
          <a:xfrm>
            <a:off x="1691640" y="2194560"/>
            <a:ext cx="2057400" cy="548640"/>
          </a:xfrm>
          <a:prstGeom prst="rect">
            <a:avLst/>
          </a:prstGeom>
          <a:noFill/>
          <a:ln/>
        </p:spPr>
        <p:txBody>
          <a:bodyPr wrap="square" lIns="0" tIns="0" rIns="0" bIns="0" rtlCol="0" anchor="t"/>
          <a:lstStyle/>
          <a:p>
            <a:pPr indent="0" marL="0">
              <a:buNone/>
            </a:pPr>
            <a:r>
              <a:rPr lang="en-US" sz="1800" b="1" dirty="0">
                <a:solidFill>
                  <a:srgbClr val="F4F7FB"/>
                </a:solidFill>
                <a:latin typeface="Calibri" pitchFamily="34" charset="0"/>
                <a:ea typeface="Calibri" pitchFamily="34" charset="-122"/>
                <a:cs typeface="Calibri" pitchFamily="34" charset="-120"/>
              </a:rPr>
              <a:t>Everyday tools</a:t>
            </a:r>
            <a:endParaRPr lang="en-US" sz="1800" dirty="0"/>
          </a:p>
        </p:txBody>
      </p:sp>
      <p:sp>
        <p:nvSpPr>
          <p:cNvPr id="8" name="Text 5"/>
          <p:cNvSpPr txBox="1"/>
          <p:nvPr/>
        </p:nvSpPr>
        <p:spPr>
          <a:xfrm>
            <a:off x="822960" y="2971800"/>
            <a:ext cx="2834640" cy="100584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Open job stages, counter sales, what you buy</a:t>
            </a:r>
            <a:endParaRPr lang="en-US" sz="1400" dirty="0"/>
          </a:p>
        </p:txBody>
      </p:sp>
      <p:sp>
        <p:nvSpPr>
          <p:cNvPr id="9" name="Shape 6"/>
          <p:cNvSpPr/>
          <p:nvPr/>
        </p:nvSpPr>
        <p:spPr>
          <a:xfrm>
            <a:off x="3886200" y="2926080"/>
            <a:ext cx="365760" cy="0"/>
          </a:xfrm>
          <a:prstGeom prst="line">
            <a:avLst/>
          </a:prstGeom>
          <a:noFill/>
          <a:ln w="25400">
            <a:solidFill>
              <a:srgbClr val="22C3E6"/>
            </a:solidFill>
            <a:prstDash val="solid"/>
            <a:tailEnd type="triangle"/>
          </a:ln>
        </p:spPr>
      </p:sp>
      <p:sp>
        <p:nvSpPr>
          <p:cNvPr id="10" name="Shape 7"/>
          <p:cNvSpPr/>
          <p:nvPr/>
        </p:nvSpPr>
        <p:spPr>
          <a:xfrm>
            <a:off x="4297680" y="1874520"/>
            <a:ext cx="3291840" cy="2148840"/>
          </a:xfrm>
          <a:prstGeom prst="roundRect">
            <a:avLst>
              <a:gd name="adj" fmla="val 5106"/>
            </a:avLst>
          </a:prstGeom>
          <a:solidFill>
            <a:srgbClr val="132A40"/>
          </a:solidFill>
          <a:ln w="12700">
            <a:solidFill>
              <a:srgbClr val="132A40"/>
            </a:solidFill>
            <a:prstDash val="solid"/>
          </a:ln>
        </p:spPr>
      </p:sp>
      <p:sp>
        <p:nvSpPr>
          <p:cNvPr id="11" name="Shape 8"/>
          <p:cNvSpPr/>
          <p:nvPr/>
        </p:nvSpPr>
        <p:spPr>
          <a:xfrm>
            <a:off x="4572000" y="2103120"/>
            <a:ext cx="731520" cy="731520"/>
          </a:xfrm>
          <a:prstGeom prst="ellipse">
            <a:avLst/>
          </a:prstGeom>
          <a:solidFill>
            <a:srgbClr val="183452"/>
          </a:solidFill>
          <a:ln w="19050">
            <a:solidFill>
              <a:srgbClr val="F2A93B"/>
            </a:solidFill>
            <a:prstDash val="solid"/>
          </a:ln>
        </p:spPr>
      </p:sp>
      <p:pic>
        <p:nvPicPr>
          <p:cNvPr id="12" name="Image 1" descr="preencoded.png">    </p:cNvPr>
          <p:cNvPicPr>
            <a:picLocks noChangeAspect="1"/>
          </p:cNvPicPr>
          <p:nvPr/>
        </p:nvPicPr>
        <p:blipFill>
          <a:blip r:embed="rId2"/>
          <a:stretch>
            <a:fillRect/>
          </a:stretch>
        </p:blipFill>
        <p:spPr>
          <a:xfrm>
            <a:off x="4747565" y="2278685"/>
            <a:ext cx="380390" cy="380390"/>
          </a:xfrm>
          <a:prstGeom prst="rect">
            <a:avLst/>
          </a:prstGeom>
        </p:spPr>
      </p:pic>
      <p:sp>
        <p:nvSpPr>
          <p:cNvPr id="13" name="Text 9"/>
          <p:cNvSpPr txBox="1"/>
          <p:nvPr/>
        </p:nvSpPr>
        <p:spPr>
          <a:xfrm>
            <a:off x="5440680" y="2194560"/>
            <a:ext cx="2057400" cy="548640"/>
          </a:xfrm>
          <a:prstGeom prst="rect">
            <a:avLst/>
          </a:prstGeom>
          <a:noFill/>
          <a:ln/>
        </p:spPr>
        <p:txBody>
          <a:bodyPr wrap="square" lIns="0" tIns="0" rIns="0" bIns="0" rtlCol="0" anchor="t"/>
          <a:lstStyle/>
          <a:p>
            <a:pPr indent="0" marL="0">
              <a:buNone/>
            </a:pPr>
            <a:r>
              <a:rPr lang="en-US" sz="1800" b="1" dirty="0">
                <a:solidFill>
                  <a:srgbClr val="F4F7FB"/>
                </a:solidFill>
                <a:latin typeface="Calibri" pitchFamily="34" charset="0"/>
                <a:ea typeface="Calibri" pitchFamily="34" charset="-122"/>
                <a:cs typeface="Calibri" pitchFamily="34" charset="-120"/>
              </a:rPr>
              <a:t>Private signals</a:t>
            </a:r>
            <a:endParaRPr lang="en-US" sz="1800" dirty="0"/>
          </a:p>
        </p:txBody>
      </p:sp>
      <p:sp>
        <p:nvSpPr>
          <p:cNvPr id="14" name="Text 10"/>
          <p:cNvSpPr txBox="1"/>
          <p:nvPr/>
        </p:nvSpPr>
        <p:spPr>
          <a:xfrm>
            <a:off x="4572000" y="2971800"/>
            <a:ext cx="2834640" cy="100584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Aggregates only: 'plumbing 40%'. Never names, amounts or clients</a:t>
            </a:r>
            <a:endParaRPr lang="en-US" sz="1400" dirty="0"/>
          </a:p>
        </p:txBody>
      </p:sp>
      <p:sp>
        <p:nvSpPr>
          <p:cNvPr id="15" name="Shape 11"/>
          <p:cNvSpPr/>
          <p:nvPr/>
        </p:nvSpPr>
        <p:spPr>
          <a:xfrm>
            <a:off x="7635240" y="2926080"/>
            <a:ext cx="365760" cy="0"/>
          </a:xfrm>
          <a:prstGeom prst="line">
            <a:avLst/>
          </a:prstGeom>
          <a:noFill/>
          <a:ln w="25400">
            <a:solidFill>
              <a:srgbClr val="22C3E6"/>
            </a:solidFill>
            <a:prstDash val="solid"/>
            <a:tailEnd type="triangle"/>
          </a:ln>
        </p:spPr>
      </p:sp>
      <p:sp>
        <p:nvSpPr>
          <p:cNvPr id="16" name="Shape 12"/>
          <p:cNvSpPr/>
          <p:nvPr/>
        </p:nvSpPr>
        <p:spPr>
          <a:xfrm>
            <a:off x="8046720" y="1874520"/>
            <a:ext cx="3291840" cy="2148840"/>
          </a:xfrm>
          <a:prstGeom prst="roundRect">
            <a:avLst>
              <a:gd name="adj" fmla="val 5106"/>
            </a:avLst>
          </a:prstGeom>
          <a:solidFill>
            <a:srgbClr val="132A40"/>
          </a:solidFill>
          <a:ln w="12700">
            <a:solidFill>
              <a:srgbClr val="132A40"/>
            </a:solidFill>
            <a:prstDash val="solid"/>
          </a:ln>
        </p:spPr>
      </p:sp>
      <p:sp>
        <p:nvSpPr>
          <p:cNvPr id="17" name="Shape 13"/>
          <p:cNvSpPr/>
          <p:nvPr/>
        </p:nvSpPr>
        <p:spPr>
          <a:xfrm>
            <a:off x="8321040" y="2103120"/>
            <a:ext cx="731520" cy="731520"/>
          </a:xfrm>
          <a:prstGeom prst="ellipse">
            <a:avLst/>
          </a:prstGeom>
          <a:solidFill>
            <a:srgbClr val="183452"/>
          </a:solidFill>
          <a:ln w="19050">
            <a:solidFill>
              <a:srgbClr val="34D399"/>
            </a:solidFill>
            <a:prstDash val="solid"/>
          </a:ln>
        </p:spPr>
      </p:sp>
      <p:pic>
        <p:nvPicPr>
          <p:cNvPr id="18" name="Image 2" descr="preencoded.png">    </p:cNvPr>
          <p:cNvPicPr>
            <a:picLocks noChangeAspect="1"/>
          </p:cNvPicPr>
          <p:nvPr/>
        </p:nvPicPr>
        <p:blipFill>
          <a:blip r:embed="rId3"/>
          <a:stretch>
            <a:fillRect/>
          </a:stretch>
        </p:blipFill>
        <p:spPr>
          <a:xfrm>
            <a:off x="8496605" y="2278685"/>
            <a:ext cx="380390" cy="380390"/>
          </a:xfrm>
          <a:prstGeom prst="rect">
            <a:avLst/>
          </a:prstGeom>
        </p:spPr>
      </p:pic>
      <p:sp>
        <p:nvSpPr>
          <p:cNvPr id="19" name="Text 14"/>
          <p:cNvSpPr txBox="1"/>
          <p:nvPr/>
        </p:nvSpPr>
        <p:spPr>
          <a:xfrm>
            <a:off x="9189720" y="2194560"/>
            <a:ext cx="2057400" cy="548640"/>
          </a:xfrm>
          <a:prstGeom prst="rect">
            <a:avLst/>
          </a:prstGeom>
          <a:noFill/>
          <a:ln/>
        </p:spPr>
        <p:txBody>
          <a:bodyPr wrap="square" lIns="0" tIns="0" rIns="0" bIns="0" rtlCol="0" anchor="t"/>
          <a:lstStyle/>
          <a:p>
            <a:pPr indent="0" marL="0">
              <a:buNone/>
            </a:pPr>
            <a:r>
              <a:rPr lang="en-US" sz="1800" b="1" dirty="0">
                <a:solidFill>
                  <a:srgbClr val="F4F7FB"/>
                </a:solidFill>
                <a:latin typeface="Calibri" pitchFamily="34" charset="0"/>
                <a:ea typeface="Calibri" pitchFamily="34" charset="-122"/>
                <a:cs typeface="Calibri" pitchFamily="34" charset="-120"/>
              </a:rPr>
              <a:t>Every supplier ranked</a:t>
            </a:r>
            <a:endParaRPr lang="en-US" sz="1800" dirty="0"/>
          </a:p>
        </p:txBody>
      </p:sp>
      <p:sp>
        <p:nvSpPr>
          <p:cNvPr id="20" name="Text 15"/>
          <p:cNvSpPr txBox="1"/>
          <p:nvPr/>
        </p:nvSpPr>
        <p:spPr>
          <a:xfrm>
            <a:off x="8321040" y="2971800"/>
            <a:ext cx="2834640" cy="100584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Distance, delivery, what they sell, how you pay: nobody hidden</a:t>
            </a:r>
            <a:endParaRPr lang="en-US" sz="1400" dirty="0"/>
          </a:p>
        </p:txBody>
      </p:sp>
      <p:sp>
        <p:nvSpPr>
          <p:cNvPr id="21" name="Shape 16"/>
          <p:cNvSpPr/>
          <p:nvPr/>
        </p:nvSpPr>
        <p:spPr>
          <a:xfrm>
            <a:off x="548640" y="4343400"/>
            <a:ext cx="11064240" cy="1554480"/>
          </a:xfrm>
          <a:prstGeom prst="roundRect">
            <a:avLst>
              <a:gd name="adj" fmla="val 7059"/>
            </a:avLst>
          </a:prstGeom>
          <a:solidFill>
            <a:srgbClr val="183452"/>
          </a:solidFill>
          <a:ln w="12700">
            <a:solidFill>
              <a:srgbClr val="183452"/>
            </a:solidFill>
            <a:prstDash val="solid"/>
          </a:ln>
        </p:spPr>
      </p:sp>
      <p:sp>
        <p:nvSpPr>
          <p:cNvPr id="22" name="Text 17"/>
          <p:cNvSpPr txBox="1"/>
          <p:nvPr/>
        </p:nvSpPr>
        <p:spPr>
          <a:xfrm>
            <a:off x="868680" y="4526280"/>
            <a:ext cx="4572000" cy="36576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What a builder sees</a:t>
            </a:r>
            <a:endParaRPr lang="en-US" sz="1400" dirty="0"/>
          </a:p>
        </p:txBody>
      </p:sp>
      <p:sp>
        <p:nvSpPr>
          <p:cNvPr id="23" name="Text 18"/>
          <p:cNvSpPr txBox="1"/>
          <p:nvPr/>
        </p:nvSpPr>
        <p:spPr>
          <a:xfrm>
            <a:off x="868680" y="4846320"/>
            <a:ext cx="10424160" cy="457200"/>
          </a:xfrm>
          <a:prstGeom prst="rect">
            <a:avLst/>
          </a:prstGeom>
          <a:noFill/>
          <a:ln/>
        </p:spPr>
        <p:txBody>
          <a:bodyPr wrap="square" lIns="0" tIns="0" rIns="0" bIns="0" rtlCol="0" anchor="t"/>
          <a:lstStyle/>
          <a:p>
            <a:pPr indent="0" marL="0">
              <a:buNone/>
            </a:pPr>
            <a:r>
              <a:rPr lang="en-US" sz="2000" b="1" dirty="0">
                <a:solidFill>
                  <a:srgbClr val="F4F7FB"/>
                </a:solidFill>
                <a:latin typeface="Calibri" pitchFamily="34" charset="0"/>
                <a:ea typeface="Calibri" pitchFamily="34" charset="-122"/>
                <a:cs typeface="Calibri" pitchFamily="34" charset="-120"/>
              </a:rPr>
              <a:t>Midrand Build &amp; Plumb  ·  Your open jobs need plumbing</a:t>
            </a:r>
            <a:endParaRPr lang="en-US" sz="2000" dirty="0"/>
          </a:p>
        </p:txBody>
      </p:sp>
      <p:sp>
        <p:nvSpPr>
          <p:cNvPr id="24" name="Text 19"/>
          <p:cNvSpPr txBox="1"/>
          <p:nvPr/>
        </p:nvSpPr>
        <p:spPr>
          <a:xfrm>
            <a:off x="868680" y="5394960"/>
            <a:ext cx="10424160" cy="365760"/>
          </a:xfrm>
          <a:prstGeom prst="rect">
            <a:avLst/>
          </a:prstGeom>
          <a:noFill/>
          <a:ln/>
        </p:spPr>
        <p:txBody>
          <a:bodyPr wrap="square" lIns="0" tIns="0" rIns="0" bIns="0" rtlCol="0" anchor="t"/>
          <a:lstStyle/>
          <a:p>
            <a:pPr indent="0" marL="0">
              <a:buNone/>
            </a:pPr>
            <a:r>
              <a:rPr lang="en-US" sz="1400" i="1" dirty="0">
                <a:solidFill>
                  <a:srgbClr val="22C3E6"/>
                </a:solidFill>
                <a:latin typeface="Calibri" pitchFamily="34" charset="0"/>
                <a:ea typeface="Calibri" pitchFamily="34" charset="-122"/>
                <a:cs typeface="Calibri" pitchFamily="34" charset="-120"/>
              </a:rPr>
              <a:t>Rule-based and explainable, no AI black box. A supplier can see why it ranks where it does.</a:t>
            </a:r>
            <a:endParaRPr lang="en-US" sz="1400" dirty="0"/>
          </a:p>
        </p:txBody>
      </p:sp>
      <p:sp>
        <p:nvSpPr>
          <p:cNvPr id="25" name="Text 20"/>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See it working</a:t>
            </a:r>
            <a:endParaRPr lang="en-US" sz="3600" dirty="0"/>
          </a:p>
        </p:txBody>
      </p:sp>
      <p:sp>
        <p:nvSpPr>
          <p:cNvPr id="3" name="Text 1"/>
          <p:cNvSpPr txBox="1"/>
          <p:nvPr/>
        </p:nvSpPr>
        <p:spPr>
          <a:xfrm>
            <a:off x="548640" y="1188720"/>
            <a:ext cx="11094415" cy="457200"/>
          </a:xfrm>
          <a:prstGeom prst="rect">
            <a:avLst/>
          </a:prstGeom>
          <a:noFill/>
          <a:ln/>
        </p:spPr>
        <p:txBody>
          <a:bodyPr wrap="square" lIns="0" tIns="0" rIns="0" bIns="0" rtlCol="0" anchor="ctr"/>
          <a:lstStyle/>
          <a:p>
            <a:pPr indent="0" marL="0">
              <a:buNone/>
            </a:pPr>
            <a:r>
              <a:rPr lang="en-US" sz="1600" i="1" dirty="0">
                <a:solidFill>
                  <a:srgbClr val="22C3E6"/>
                </a:solidFill>
                <a:latin typeface="Calibri" pitchFamily="34" charset="0"/>
                <a:ea typeface="Calibri" pitchFamily="34" charset="-122"/>
                <a:cs typeface="Calibri" pitchFamily="34" charset="-120"/>
              </a:rPr>
              <a:t>90 seconds, filmed on a real phone against our real backend.</a:t>
            </a:r>
            <a:endParaRPr lang="en-US" sz="1600" dirty="0"/>
          </a:p>
        </p:txBody>
      </p:sp>
      <p:sp>
        <p:nvSpPr>
          <p:cNvPr id="4" name="Shape 2"/>
          <p:cNvSpPr/>
          <p:nvPr/>
        </p:nvSpPr>
        <p:spPr>
          <a:xfrm>
            <a:off x="548640" y="1737360"/>
            <a:ext cx="6949440" cy="3931920"/>
          </a:xfrm>
          <a:prstGeom prst="roundRect">
            <a:avLst>
              <a:gd name="adj" fmla="val 2791"/>
            </a:avLst>
          </a:prstGeom>
          <a:solidFill>
            <a:srgbClr val="183452"/>
          </a:solidFill>
          <a:ln w="12700">
            <a:solidFill>
              <a:srgbClr val="183452"/>
            </a:solidFill>
            <a:prstDash val="solid"/>
          </a:ln>
        </p:spPr>
      </p:sp>
      <p:sp>
        <p:nvSpPr>
          <p:cNvPr id="5" name="Shape 3"/>
          <p:cNvSpPr/>
          <p:nvPr/>
        </p:nvSpPr>
        <p:spPr>
          <a:xfrm>
            <a:off x="3337560" y="3017520"/>
            <a:ext cx="1371600" cy="1371600"/>
          </a:xfrm>
          <a:prstGeom prst="ellipse">
            <a:avLst/>
          </a:prstGeom>
          <a:solidFill>
            <a:srgbClr val="183452"/>
          </a:solidFill>
          <a:ln w="19050">
            <a:solidFill>
              <a:srgbClr val="F2A93B"/>
            </a:solidFill>
            <a:prstDash val="solid"/>
          </a:ln>
        </p:spPr>
      </p:sp>
      <p:pic>
        <p:nvPicPr>
          <p:cNvPr id="6" name="Image 0" descr="preencoded.png">    </p:cNvPr>
          <p:cNvPicPr>
            <a:picLocks noChangeAspect="1"/>
          </p:cNvPicPr>
          <p:nvPr/>
        </p:nvPicPr>
        <p:blipFill>
          <a:blip r:embed="rId1"/>
          <a:stretch>
            <a:fillRect/>
          </a:stretch>
        </p:blipFill>
        <p:spPr>
          <a:xfrm>
            <a:off x="3666744" y="3346704"/>
            <a:ext cx="713232" cy="713232"/>
          </a:xfrm>
          <a:prstGeom prst="rect">
            <a:avLst/>
          </a:prstGeom>
        </p:spPr>
      </p:pic>
      <p:sp>
        <p:nvSpPr>
          <p:cNvPr id="7" name="Text 4"/>
          <p:cNvSpPr txBox="1"/>
          <p:nvPr/>
        </p:nvSpPr>
        <p:spPr>
          <a:xfrm>
            <a:off x="548640" y="4526280"/>
            <a:ext cx="6949440" cy="457200"/>
          </a:xfrm>
          <a:prstGeom prst="rect">
            <a:avLst/>
          </a:prstGeom>
          <a:noFill/>
          <a:ln/>
        </p:spPr>
        <p:txBody>
          <a:bodyPr wrap="square" lIns="0" tIns="0" rIns="0" bIns="0" rtlCol="0" anchor="t"/>
          <a:lstStyle/>
          <a:p>
            <a:pPr algn="ctr" indent="0" marL="0">
              <a:buNone/>
            </a:pPr>
            <a:r>
              <a:rPr lang="en-US" sz="1800" b="1" dirty="0">
                <a:solidFill>
                  <a:srgbClr val="F4F7FB"/>
                </a:solidFill>
                <a:latin typeface="Calibri" pitchFamily="34" charset="0"/>
                <a:ea typeface="Calibri" pitchFamily="34" charset="-122"/>
                <a:cs typeface="Calibri" pitchFamily="34" charset="-120"/>
              </a:rPr>
              <a:t>Demo video</a:t>
            </a:r>
            <a:endParaRPr lang="en-US" sz="1800" dirty="0"/>
          </a:p>
        </p:txBody>
      </p:sp>
      <p:sp>
        <p:nvSpPr>
          <p:cNvPr id="8" name="Text 5"/>
          <p:cNvSpPr txBox="1"/>
          <p:nvPr/>
        </p:nvSpPr>
        <p:spPr>
          <a:xfrm>
            <a:off x="548640" y="4983480"/>
            <a:ext cx="6949440" cy="411480"/>
          </a:xfrm>
          <a:prstGeom prst="rect">
            <a:avLst/>
          </a:prstGeom>
          <a:noFill/>
          <a:ln/>
        </p:spPr>
        <p:txBody>
          <a:bodyPr wrap="square" lIns="0" tIns="0" rIns="0" bIns="0" rtlCol="0" anchor="t"/>
          <a:lstStyle/>
          <a:p>
            <a:pPr algn="ctr" indent="0" marL="0">
              <a:buNone/>
            </a:pPr>
            <a:r>
              <a:rPr lang="en-US" sz="1300" dirty="0">
                <a:solidFill>
                  <a:srgbClr val="9FB3C8"/>
                </a:solidFill>
                <a:latin typeface="Calibri" pitchFamily="34" charset="0"/>
                <a:ea typeface="Calibri" pitchFamily="34" charset="-122"/>
                <a:cs typeface="Calibri" pitchFamily="34" charset="-120"/>
              </a:rPr>
              <a:t>Link: add the unlisted YouTube / Google Drive link here</a:t>
            </a:r>
            <a:endParaRPr lang="en-US" sz="1300" dirty="0"/>
          </a:p>
        </p:txBody>
      </p:sp>
      <p:sp>
        <p:nvSpPr>
          <p:cNvPr id="9" name="Text 6"/>
          <p:cNvSpPr txBox="1"/>
          <p:nvPr/>
        </p:nvSpPr>
        <p:spPr>
          <a:xfrm>
            <a:off x="7863840" y="1783080"/>
            <a:ext cx="3840480" cy="411480"/>
          </a:xfrm>
          <a:prstGeom prst="rect">
            <a:avLst/>
          </a:prstGeom>
          <a:noFill/>
          <a:ln/>
        </p:spPr>
        <p:txBody>
          <a:bodyPr wrap="square" lIns="0" tIns="0" rIns="0" bIns="0" rtlCol="0" anchor="t"/>
          <a:lstStyle/>
          <a:p>
            <a:pPr indent="0" marL="0">
              <a:buNone/>
            </a:pPr>
            <a:r>
              <a:rPr lang="en-US" sz="1800" b="1" dirty="0">
                <a:solidFill>
                  <a:srgbClr val="22C3E6"/>
                </a:solidFill>
                <a:latin typeface="Calibri" pitchFamily="34" charset="0"/>
                <a:ea typeface="Calibri" pitchFamily="34" charset="-122"/>
                <a:cs typeface="Calibri" pitchFamily="34" charset="-120"/>
              </a:rPr>
              <a:t>In the video</a:t>
            </a:r>
            <a:endParaRPr lang="en-US" sz="1800" dirty="0"/>
          </a:p>
        </p:txBody>
      </p:sp>
      <p:sp>
        <p:nvSpPr>
          <p:cNvPr id="10" name="Text 7"/>
          <p:cNvSpPr txBox="1"/>
          <p:nvPr/>
        </p:nvSpPr>
        <p:spPr>
          <a:xfrm>
            <a:off x="7863840" y="2286000"/>
            <a:ext cx="3840480" cy="32918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F4F7FB"/>
                </a:solidFill>
                <a:latin typeface="Calibri" pitchFamily="34" charset="0"/>
                <a:ea typeface="Calibri" pitchFamily="34" charset="-122"/>
                <a:cs typeface="Calibri" pitchFamily="34" charset="-120"/>
              </a:rPr>
              <a:t>Sign-up in 4 steps</a:t>
            </a:r>
            <a:endParaRPr lang="en-US" sz="1600" dirty="0"/>
          </a:p>
          <a:p>
            <a:pPr marL="342900" indent="-342900">
              <a:spcAft>
                <a:spcPts val="1000"/>
              </a:spcAft>
              <a:buSzPct val="100000"/>
              <a:buChar char="•"/>
            </a:pPr>
            <a:r>
              <a:rPr lang="en-US" sz="1600" dirty="0">
                <a:solidFill>
                  <a:srgbClr val="F4F7FB"/>
                </a:solidFill>
                <a:latin typeface="Calibri" pitchFamily="34" charset="0"/>
                <a:ea typeface="Calibri" pitchFamily="34" charset="-122"/>
                <a:cs typeface="Calibri" pitchFamily="34" charset="-120"/>
              </a:rPr>
              <a:t>Suppliers ranked with reasons</a:t>
            </a:r>
            <a:endParaRPr lang="en-US" sz="1600" dirty="0"/>
          </a:p>
          <a:p>
            <a:pPr marL="342900" indent="-342900">
              <a:spcAft>
                <a:spcPts val="1000"/>
              </a:spcAft>
              <a:buSzPct val="100000"/>
              <a:buChar char="•"/>
            </a:pPr>
            <a:r>
              <a:rPr lang="en-US" sz="1600" dirty="0">
                <a:solidFill>
                  <a:srgbClr val="F4F7FB"/>
                </a:solidFill>
                <a:latin typeface="Calibri" pitchFamily="34" charset="0"/>
                <a:ea typeface="Calibri" pitchFamily="34" charset="-122"/>
                <a:cs typeface="Calibri" pitchFamily="34" charset="-120"/>
              </a:rPr>
              <a:t>Order, pay with PayFast (sandbox)</a:t>
            </a:r>
            <a:endParaRPr lang="en-US" sz="1600" dirty="0"/>
          </a:p>
          <a:p>
            <a:pPr marL="342900" indent="-342900">
              <a:spcAft>
                <a:spcPts val="1000"/>
              </a:spcAft>
              <a:buSzPct val="100000"/>
              <a:buChar char="•"/>
            </a:pPr>
            <a:r>
              <a:rPr lang="en-US" sz="1600" dirty="0">
                <a:solidFill>
                  <a:srgbClr val="F4F7FB"/>
                </a:solidFill>
                <a:latin typeface="Calibri" pitchFamily="34" charset="0"/>
                <a:ea typeface="Calibri" pitchFamily="34" charset="-122"/>
                <a:cs typeface="Calibri" pitchFamily="34" charset="-120"/>
              </a:rPr>
              <a:t>Invoice with a QR check page</a:t>
            </a:r>
            <a:endParaRPr lang="en-US" sz="1600" dirty="0"/>
          </a:p>
          <a:p>
            <a:pPr marL="342900" indent="-342900">
              <a:spcAft>
                <a:spcPts val="1000"/>
              </a:spcAft>
              <a:buSzPct val="100000"/>
              <a:buChar char="•"/>
            </a:pPr>
            <a:r>
              <a:rPr lang="en-US" sz="1600" dirty="0">
                <a:solidFill>
                  <a:srgbClr val="F4F7FB"/>
                </a:solidFill>
                <a:latin typeface="Calibri" pitchFamily="34" charset="0"/>
                <a:ea typeface="Calibri" pitchFamily="34" charset="-122"/>
                <a:cs typeface="Calibri" pitchFamily="34" charset="-120"/>
              </a:rPr>
              <a:t>A builder's stage signed off by the client</a:t>
            </a:r>
            <a:endParaRPr lang="en-US" sz="1600" dirty="0"/>
          </a:p>
        </p:txBody>
      </p:sp>
      <p:sp>
        <p:nvSpPr>
          <p:cNvPr id="11" name="Text 8"/>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Who uses it, who pays for it</a:t>
            </a:r>
            <a:endParaRPr lang="en-US" sz="3600" dirty="0"/>
          </a:p>
        </p:txBody>
      </p:sp>
      <p:sp>
        <p:nvSpPr>
          <p:cNvPr id="3" name="Shape 1"/>
          <p:cNvSpPr/>
          <p:nvPr/>
        </p:nvSpPr>
        <p:spPr>
          <a:xfrm>
            <a:off x="548640" y="1463040"/>
            <a:ext cx="5440680" cy="4480560"/>
          </a:xfrm>
          <a:prstGeom prst="roundRect">
            <a:avLst>
              <a:gd name="adj" fmla="val 2449"/>
            </a:avLst>
          </a:prstGeom>
          <a:solidFill>
            <a:srgbClr val="132A40"/>
          </a:solidFill>
          <a:ln w="12700">
            <a:solidFill>
              <a:srgbClr val="132A40"/>
            </a:solidFill>
            <a:prstDash val="solid"/>
          </a:ln>
        </p:spPr>
      </p:sp>
      <p:sp>
        <p:nvSpPr>
          <p:cNvPr id="4" name="Shape 2"/>
          <p:cNvSpPr/>
          <p:nvPr/>
        </p:nvSpPr>
        <p:spPr>
          <a:xfrm>
            <a:off x="868680" y="1737360"/>
            <a:ext cx="822960" cy="822960"/>
          </a:xfrm>
          <a:prstGeom prst="ellipse">
            <a:avLst/>
          </a:prstGeom>
          <a:solidFill>
            <a:srgbClr val="183452"/>
          </a:solidFill>
          <a:ln w="19050">
            <a:solidFill>
              <a:srgbClr val="22C3E6"/>
            </a:solidFill>
            <a:prstDash val="solid"/>
          </a:ln>
        </p:spPr>
      </p:sp>
      <p:pic>
        <p:nvPicPr>
          <p:cNvPr id="5" name="Image 0" descr="preencoded.png">    </p:cNvPr>
          <p:cNvPicPr>
            <a:picLocks noChangeAspect="1"/>
          </p:cNvPicPr>
          <p:nvPr/>
        </p:nvPicPr>
        <p:blipFill>
          <a:blip r:embed="rId1"/>
          <a:stretch>
            <a:fillRect/>
          </a:stretch>
        </p:blipFill>
        <p:spPr>
          <a:xfrm>
            <a:off x="1066190" y="1934870"/>
            <a:ext cx="427939" cy="427939"/>
          </a:xfrm>
          <a:prstGeom prst="rect">
            <a:avLst/>
          </a:prstGeom>
        </p:spPr>
      </p:pic>
      <p:sp>
        <p:nvSpPr>
          <p:cNvPr id="6" name="Text 3"/>
          <p:cNvSpPr txBox="1"/>
          <p:nvPr/>
        </p:nvSpPr>
        <p:spPr>
          <a:xfrm>
            <a:off x="1874520" y="1874520"/>
            <a:ext cx="3931920" cy="457200"/>
          </a:xfrm>
          <a:prstGeom prst="rect">
            <a:avLst/>
          </a:prstGeom>
          <a:noFill/>
          <a:ln/>
        </p:spPr>
        <p:txBody>
          <a:bodyPr wrap="square" lIns="0" tIns="0" rIns="0" bIns="0" rtlCol="0" anchor="t"/>
          <a:lstStyle/>
          <a:p>
            <a:pPr indent="0" marL="0">
              <a:buNone/>
            </a:pPr>
            <a:r>
              <a:rPr lang="en-US" sz="2000" b="1" dirty="0">
                <a:solidFill>
                  <a:srgbClr val="22C3E6"/>
                </a:solidFill>
                <a:latin typeface="Calibri" pitchFamily="34" charset="0"/>
                <a:ea typeface="Calibri" pitchFamily="34" charset="-122"/>
                <a:cs typeface="Calibri" pitchFamily="34" charset="-120"/>
              </a:rPr>
              <a:t>USERS  ·  free, always</a:t>
            </a:r>
            <a:endParaRPr lang="en-US" sz="2000" dirty="0"/>
          </a:p>
        </p:txBody>
      </p:sp>
      <p:sp>
        <p:nvSpPr>
          <p:cNvPr id="7" name="Text 4"/>
          <p:cNvSpPr txBox="1"/>
          <p:nvPr/>
        </p:nvSpPr>
        <p:spPr>
          <a:xfrm>
            <a:off x="868680" y="2788920"/>
            <a:ext cx="4846320" cy="29260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4F7FB"/>
                </a:solidFill>
                <a:latin typeface="Calibri" pitchFamily="34" charset="0"/>
                <a:ea typeface="Calibri" pitchFamily="34" charset="-122"/>
                <a:cs typeface="Calibri" pitchFamily="34" charset="-120"/>
              </a:rPr>
              <a:t>Spaza shops and small shops</a:t>
            </a:r>
            <a:endParaRPr lang="en-US" sz="1600" dirty="0"/>
          </a:p>
          <a:p>
            <a:pPr marL="342900" indent="-342900">
              <a:spcAft>
                <a:spcPts val="900"/>
              </a:spcAft>
              <a:buSzPct val="100000"/>
              <a:buChar char="•"/>
            </a:pPr>
            <a:r>
              <a:rPr lang="en-US" sz="1600" dirty="0">
                <a:solidFill>
                  <a:srgbClr val="F4F7FB"/>
                </a:solidFill>
                <a:latin typeface="Calibri" pitchFamily="34" charset="0"/>
                <a:ea typeface="Calibri" pitchFamily="34" charset="-122"/>
                <a:cs typeface="Calibri" pitchFamily="34" charset="-120"/>
              </a:rPr>
              <a:t>Builders and 11 trades (plumbers, electricians, tilers...)</a:t>
            </a:r>
            <a:endParaRPr lang="en-US" sz="1600" dirty="0"/>
          </a:p>
          <a:p>
            <a:pPr marL="342900" indent="-342900">
              <a:spcAft>
                <a:spcPts val="900"/>
              </a:spcAft>
              <a:buSzPct val="100000"/>
              <a:buChar char="•"/>
            </a:pPr>
            <a:r>
              <a:rPr lang="en-US" sz="1600" dirty="0">
                <a:solidFill>
                  <a:srgbClr val="F4F7FB"/>
                </a:solidFill>
                <a:latin typeface="Calibri" pitchFamily="34" charset="0"/>
                <a:ea typeface="Calibri" pitchFamily="34" charset="-122"/>
                <a:cs typeface="Calibri" pitchFamily="34" charset="-120"/>
              </a:rPr>
              <a:t>Food sellers and other informal businesses</a:t>
            </a:r>
            <a:endParaRPr lang="en-US" sz="1600" dirty="0"/>
          </a:p>
          <a:p>
            <a:pPr marL="342900" indent="-342900">
              <a:spcAft>
                <a:spcPts val="900"/>
              </a:spcAft>
              <a:buSzPct val="100000"/>
              <a:buChar char="•"/>
            </a:pPr>
            <a:r>
              <a:rPr lang="en-US" sz="1600" dirty="0">
                <a:solidFill>
                  <a:srgbClr val="F4F7FB"/>
                </a:solidFill>
                <a:latin typeface="Calibri" pitchFamily="34" charset="0"/>
                <a:ea typeface="Calibri" pitchFamily="34" charset="-122"/>
                <a:cs typeface="Calibri" pitchFamily="34" charset="-120"/>
              </a:rPr>
              <a:t>Android phone, mostly cash, 2 to 5 regular suppliers</a:t>
            </a:r>
            <a:endParaRPr lang="en-US" sz="1600" dirty="0"/>
          </a:p>
          <a:p>
            <a:pPr marL="342900" indent="-342900">
              <a:spcAft>
                <a:spcPts val="900"/>
              </a:spcAft>
              <a:buSzPct val="100000"/>
              <a:buChar char="•"/>
            </a:pPr>
            <a:r>
              <a:rPr lang="en-US" sz="1600" dirty="0">
                <a:solidFill>
                  <a:srgbClr val="F4F7FB"/>
                </a:solidFill>
                <a:latin typeface="Calibri" pitchFamily="34" charset="0"/>
                <a:ea typeface="Calibri" pitchFamily="34" charset="-122"/>
                <a:cs typeface="Calibri" pitchFamily="34" charset="-120"/>
              </a:rPr>
              <a:t>All nine provinces</a:t>
            </a:r>
            <a:endParaRPr lang="en-US" sz="1600" dirty="0"/>
          </a:p>
        </p:txBody>
      </p:sp>
      <p:sp>
        <p:nvSpPr>
          <p:cNvPr id="8" name="Shape 5"/>
          <p:cNvSpPr/>
          <p:nvPr/>
        </p:nvSpPr>
        <p:spPr>
          <a:xfrm>
            <a:off x="6172200" y="1463040"/>
            <a:ext cx="5440680" cy="4480560"/>
          </a:xfrm>
          <a:prstGeom prst="roundRect">
            <a:avLst>
              <a:gd name="adj" fmla="val 2449"/>
            </a:avLst>
          </a:prstGeom>
          <a:solidFill>
            <a:srgbClr val="132A40"/>
          </a:solidFill>
          <a:ln w="12700">
            <a:solidFill>
              <a:srgbClr val="132A40"/>
            </a:solidFill>
            <a:prstDash val="solid"/>
          </a:ln>
        </p:spPr>
      </p:sp>
      <p:sp>
        <p:nvSpPr>
          <p:cNvPr id="9" name="Shape 6"/>
          <p:cNvSpPr/>
          <p:nvPr/>
        </p:nvSpPr>
        <p:spPr>
          <a:xfrm>
            <a:off x="6492240" y="1737360"/>
            <a:ext cx="822960" cy="822960"/>
          </a:xfrm>
          <a:prstGeom prst="ellipse">
            <a:avLst/>
          </a:prstGeom>
          <a:solidFill>
            <a:srgbClr val="183452"/>
          </a:solidFill>
          <a:ln w="19050">
            <a:solidFill>
              <a:srgbClr val="F2A93B"/>
            </a:solidFill>
            <a:prstDash val="solid"/>
          </a:ln>
        </p:spPr>
      </p:sp>
      <p:pic>
        <p:nvPicPr>
          <p:cNvPr id="10" name="Image 1" descr="preencoded.png">    </p:cNvPr>
          <p:cNvPicPr>
            <a:picLocks noChangeAspect="1"/>
          </p:cNvPicPr>
          <p:nvPr/>
        </p:nvPicPr>
        <p:blipFill>
          <a:blip r:embed="rId2"/>
          <a:stretch>
            <a:fillRect/>
          </a:stretch>
        </p:blipFill>
        <p:spPr>
          <a:xfrm>
            <a:off x="6689750" y="1934870"/>
            <a:ext cx="427939" cy="427939"/>
          </a:xfrm>
          <a:prstGeom prst="rect">
            <a:avLst/>
          </a:prstGeom>
        </p:spPr>
      </p:pic>
      <p:sp>
        <p:nvSpPr>
          <p:cNvPr id="11" name="Text 7"/>
          <p:cNvSpPr txBox="1"/>
          <p:nvPr/>
        </p:nvSpPr>
        <p:spPr>
          <a:xfrm>
            <a:off x="7498080" y="1874520"/>
            <a:ext cx="3931920" cy="457200"/>
          </a:xfrm>
          <a:prstGeom prst="rect">
            <a:avLst/>
          </a:prstGeom>
          <a:noFill/>
          <a:ln/>
        </p:spPr>
        <p:txBody>
          <a:bodyPr wrap="square" lIns="0" tIns="0" rIns="0" bIns="0" rtlCol="0" anchor="t"/>
          <a:lstStyle/>
          <a:p>
            <a:pPr indent="0" marL="0">
              <a:buNone/>
            </a:pPr>
            <a:r>
              <a:rPr lang="en-US" sz="2000" b="1" dirty="0">
                <a:solidFill>
                  <a:srgbClr val="F2A93B"/>
                </a:solidFill>
                <a:latin typeface="Calibri" pitchFamily="34" charset="0"/>
                <a:ea typeface="Calibri" pitchFamily="34" charset="-122"/>
                <a:cs typeface="Calibri" pitchFamily="34" charset="-120"/>
              </a:rPr>
              <a:t>CUSTOMERS  ·  they pay</a:t>
            </a:r>
            <a:endParaRPr lang="en-US" sz="2000" dirty="0"/>
          </a:p>
        </p:txBody>
      </p:sp>
      <p:sp>
        <p:nvSpPr>
          <p:cNvPr id="12" name="Text 8"/>
          <p:cNvSpPr txBox="1"/>
          <p:nvPr/>
        </p:nvSpPr>
        <p:spPr>
          <a:xfrm>
            <a:off x="6492240" y="2788920"/>
            <a:ext cx="4846320" cy="29260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4F7FB"/>
                </a:solidFill>
                <a:latin typeface="Calibri" pitchFamily="34" charset="0"/>
                <a:ea typeface="Calibri" pitchFamily="34" charset="-122"/>
                <a:cs typeface="Calibri" pitchFamily="34" charset="-120"/>
              </a:rPr>
              <a:t>Wholesalers and cash-and-carries</a:t>
            </a:r>
            <a:endParaRPr lang="en-US" sz="1600" dirty="0"/>
          </a:p>
          <a:p>
            <a:pPr marL="342900" indent="-342900">
              <a:spcAft>
                <a:spcPts val="900"/>
              </a:spcAft>
              <a:buSzPct val="100000"/>
              <a:buChar char="•"/>
            </a:pPr>
            <a:r>
              <a:rPr lang="en-US" sz="1600" dirty="0">
                <a:solidFill>
                  <a:srgbClr val="F4F7FB"/>
                </a:solidFill>
                <a:latin typeface="Calibri" pitchFamily="34" charset="0"/>
                <a:ea typeface="Calibri" pitchFamily="34" charset="-122"/>
                <a:cs typeface="Calibri" pitchFamily="34" charset="-120"/>
              </a:rPr>
              <a:t>Hardware and building suppliers</a:t>
            </a:r>
            <a:endParaRPr lang="en-US" sz="1600" dirty="0"/>
          </a:p>
          <a:p>
            <a:pPr marL="342900" indent="-342900">
              <a:spcAft>
                <a:spcPts val="900"/>
              </a:spcAft>
              <a:buSzPct val="100000"/>
              <a:buChar char="•"/>
            </a:pPr>
            <a:r>
              <a:rPr lang="en-US" sz="1600" dirty="0">
                <a:solidFill>
                  <a:srgbClr val="F4F7FB"/>
                </a:solidFill>
                <a:latin typeface="Calibri" pitchFamily="34" charset="0"/>
                <a:ea typeface="Calibri" pitchFamily="34" charset="-122"/>
                <a:cs typeface="Calibri" pitchFamily="34" charset="-120"/>
              </a:rPr>
              <a:t>Why they pay: more orders from the shops they already serve, no cash disputes with drivers, and a view of what their customers will need</a:t>
            </a:r>
            <a:endParaRPr lang="en-US" sz="1600" dirty="0"/>
          </a:p>
        </p:txBody>
      </p:sp>
      <p:sp>
        <p:nvSpPr>
          <p:cNvPr id="13" name="Text 9"/>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How we make money</a:t>
            </a:r>
            <a:endParaRPr lang="en-US" sz="3600" dirty="0"/>
          </a:p>
        </p:txBody>
      </p:sp>
      <p:sp>
        <p:nvSpPr>
          <p:cNvPr id="3" name="Shape 1"/>
          <p:cNvSpPr/>
          <p:nvPr/>
        </p:nvSpPr>
        <p:spPr>
          <a:xfrm>
            <a:off x="548640" y="1371600"/>
            <a:ext cx="4846320" cy="1024128"/>
          </a:xfrm>
          <a:prstGeom prst="roundRect">
            <a:avLst>
              <a:gd name="adj" fmla="val 10714"/>
            </a:avLst>
          </a:prstGeom>
          <a:solidFill>
            <a:srgbClr val="132A40"/>
          </a:solidFill>
          <a:ln w="12700">
            <a:solidFill>
              <a:srgbClr val="132A40"/>
            </a:solidFill>
            <a:prstDash val="solid"/>
          </a:ln>
        </p:spPr>
      </p:sp>
      <p:sp>
        <p:nvSpPr>
          <p:cNvPr id="4" name="Text 2"/>
          <p:cNvSpPr txBox="1"/>
          <p:nvPr/>
        </p:nvSpPr>
        <p:spPr>
          <a:xfrm>
            <a:off x="777240" y="1499616"/>
            <a:ext cx="2011680" cy="365760"/>
          </a:xfrm>
          <a:prstGeom prst="rect">
            <a:avLst/>
          </a:prstGeom>
          <a:noFill/>
          <a:ln/>
        </p:spPr>
        <p:txBody>
          <a:bodyPr wrap="square" lIns="0" tIns="0" rIns="0" bIns="0" rtlCol="0" anchor="t"/>
          <a:lstStyle/>
          <a:p>
            <a:pPr indent="0" marL="0">
              <a:buNone/>
            </a:pPr>
            <a:r>
              <a:rPr lang="en-US" sz="1500" b="1" dirty="0">
                <a:solidFill>
                  <a:srgbClr val="9FB3C8"/>
                </a:solidFill>
                <a:latin typeface="Calibri" pitchFamily="34" charset="0"/>
                <a:ea typeface="Calibri" pitchFamily="34" charset="-122"/>
                <a:cs typeface="Calibri" pitchFamily="34" charset="-120"/>
              </a:rPr>
              <a:t>Starter</a:t>
            </a:r>
            <a:endParaRPr lang="en-US" sz="1500" dirty="0"/>
          </a:p>
        </p:txBody>
      </p:sp>
      <p:sp>
        <p:nvSpPr>
          <p:cNvPr id="5" name="Text 3"/>
          <p:cNvSpPr txBox="1"/>
          <p:nvPr/>
        </p:nvSpPr>
        <p:spPr>
          <a:xfrm>
            <a:off x="777240" y="1874520"/>
            <a:ext cx="2377440" cy="45720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Catalogue, orders, invoices</a:t>
            </a:r>
            <a:endParaRPr lang="en-US" sz="1250" dirty="0"/>
          </a:p>
        </p:txBody>
      </p:sp>
      <p:sp>
        <p:nvSpPr>
          <p:cNvPr id="6" name="Text 4"/>
          <p:cNvSpPr txBox="1"/>
          <p:nvPr/>
        </p:nvSpPr>
        <p:spPr>
          <a:xfrm>
            <a:off x="2834640" y="1463040"/>
            <a:ext cx="2377440" cy="548640"/>
          </a:xfrm>
          <a:prstGeom prst="rect">
            <a:avLst/>
          </a:prstGeom>
          <a:noFill/>
          <a:ln/>
        </p:spPr>
        <p:txBody>
          <a:bodyPr wrap="square" lIns="0" tIns="0" rIns="0" bIns="0" rtlCol="0" anchor="t"/>
          <a:lstStyle/>
          <a:p>
            <a:pPr algn="r" indent="0" marL="0">
              <a:buNone/>
            </a:pPr>
            <a:r>
              <a:rPr lang="en-US" sz="2800" b="1" dirty="0">
                <a:solidFill>
                  <a:srgbClr val="22C3E6"/>
                </a:solidFill>
                <a:latin typeface="Georgia" pitchFamily="34" charset="0"/>
                <a:ea typeface="Georgia" pitchFamily="34" charset="-122"/>
                <a:cs typeface="Georgia" pitchFamily="34" charset="-120"/>
              </a:rPr>
              <a:t>R299</a:t>
            </a:r>
            <a:endParaRPr lang="en-US" sz="2800" dirty="0"/>
          </a:p>
        </p:txBody>
      </p:sp>
      <p:sp>
        <p:nvSpPr>
          <p:cNvPr id="7" name="Text 5"/>
          <p:cNvSpPr txBox="1"/>
          <p:nvPr/>
        </p:nvSpPr>
        <p:spPr>
          <a:xfrm>
            <a:off x="2834640" y="1993392"/>
            <a:ext cx="2377440" cy="320040"/>
          </a:xfrm>
          <a:prstGeom prst="rect">
            <a:avLst/>
          </a:prstGeom>
          <a:noFill/>
          <a:ln/>
        </p:spPr>
        <p:txBody>
          <a:bodyPr wrap="square" lIns="0" tIns="0" rIns="0" bIns="0" rtlCol="0" anchor="t"/>
          <a:lstStyle/>
          <a:p>
            <a:pPr algn="r" indent="0" marL="0">
              <a:buNone/>
            </a:pPr>
            <a:r>
              <a:rPr lang="en-US" sz="1150" dirty="0">
                <a:solidFill>
                  <a:srgbClr val="5E7891"/>
                </a:solidFill>
                <a:latin typeface="Calibri" pitchFamily="34" charset="0"/>
                <a:ea typeface="Calibri" pitchFamily="34" charset="-122"/>
                <a:cs typeface="Calibri" pitchFamily="34" charset="-120"/>
              </a:rPr>
              <a:t>/month</a:t>
            </a:r>
            <a:endParaRPr lang="en-US" sz="1150" dirty="0"/>
          </a:p>
        </p:txBody>
      </p:sp>
      <p:sp>
        <p:nvSpPr>
          <p:cNvPr id="8" name="Shape 6"/>
          <p:cNvSpPr/>
          <p:nvPr/>
        </p:nvSpPr>
        <p:spPr>
          <a:xfrm>
            <a:off x="548640" y="2560320"/>
            <a:ext cx="4846320" cy="1024128"/>
          </a:xfrm>
          <a:prstGeom prst="roundRect">
            <a:avLst>
              <a:gd name="adj" fmla="val 10714"/>
            </a:avLst>
          </a:prstGeom>
          <a:solidFill>
            <a:srgbClr val="132A40"/>
          </a:solidFill>
          <a:ln w="12700">
            <a:solidFill>
              <a:srgbClr val="132A40"/>
            </a:solidFill>
            <a:prstDash val="solid"/>
          </a:ln>
        </p:spPr>
      </p:sp>
      <p:sp>
        <p:nvSpPr>
          <p:cNvPr id="9" name="Text 7"/>
          <p:cNvSpPr txBox="1"/>
          <p:nvPr/>
        </p:nvSpPr>
        <p:spPr>
          <a:xfrm>
            <a:off x="777240" y="2688336"/>
            <a:ext cx="2011680" cy="365760"/>
          </a:xfrm>
          <a:prstGeom prst="rect">
            <a:avLst/>
          </a:prstGeom>
          <a:noFill/>
          <a:ln/>
        </p:spPr>
        <p:txBody>
          <a:bodyPr wrap="square" lIns="0" tIns="0" rIns="0" bIns="0" rtlCol="0" anchor="t"/>
          <a:lstStyle/>
          <a:p>
            <a:pPr indent="0" marL="0">
              <a:buNone/>
            </a:pPr>
            <a:r>
              <a:rPr lang="en-US" sz="1500" b="1" dirty="0">
                <a:solidFill>
                  <a:srgbClr val="9FB3C8"/>
                </a:solidFill>
                <a:latin typeface="Calibri" pitchFamily="34" charset="0"/>
                <a:ea typeface="Calibri" pitchFamily="34" charset="-122"/>
                <a:cs typeface="Calibri" pitchFamily="34" charset="-120"/>
              </a:rPr>
              <a:t>Pro</a:t>
            </a:r>
            <a:endParaRPr lang="en-US" sz="1500" dirty="0"/>
          </a:p>
        </p:txBody>
      </p:sp>
      <p:sp>
        <p:nvSpPr>
          <p:cNvPr id="10" name="Text 8"/>
          <p:cNvSpPr txBox="1"/>
          <p:nvPr/>
        </p:nvSpPr>
        <p:spPr>
          <a:xfrm>
            <a:off x="777240" y="3063240"/>
            <a:ext cx="2377440" cy="45720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Demand insights, priority support</a:t>
            </a:r>
            <a:endParaRPr lang="en-US" sz="1250" dirty="0"/>
          </a:p>
        </p:txBody>
      </p:sp>
      <p:sp>
        <p:nvSpPr>
          <p:cNvPr id="11" name="Text 9"/>
          <p:cNvSpPr txBox="1"/>
          <p:nvPr/>
        </p:nvSpPr>
        <p:spPr>
          <a:xfrm>
            <a:off x="2834640" y="2651760"/>
            <a:ext cx="2377440" cy="548640"/>
          </a:xfrm>
          <a:prstGeom prst="rect">
            <a:avLst/>
          </a:prstGeom>
          <a:noFill/>
          <a:ln/>
        </p:spPr>
        <p:txBody>
          <a:bodyPr wrap="square" lIns="0" tIns="0" rIns="0" bIns="0" rtlCol="0" anchor="t"/>
          <a:lstStyle/>
          <a:p>
            <a:pPr algn="r" indent="0" marL="0">
              <a:buNone/>
            </a:pPr>
            <a:r>
              <a:rPr lang="en-US" sz="2800" b="1" dirty="0">
                <a:solidFill>
                  <a:srgbClr val="22C3E6"/>
                </a:solidFill>
                <a:latin typeface="Georgia" pitchFamily="34" charset="0"/>
                <a:ea typeface="Georgia" pitchFamily="34" charset="-122"/>
                <a:cs typeface="Georgia" pitchFamily="34" charset="-120"/>
              </a:rPr>
              <a:t>R1,499</a:t>
            </a:r>
            <a:endParaRPr lang="en-US" sz="2800" dirty="0"/>
          </a:p>
        </p:txBody>
      </p:sp>
      <p:sp>
        <p:nvSpPr>
          <p:cNvPr id="12" name="Text 10"/>
          <p:cNvSpPr txBox="1"/>
          <p:nvPr/>
        </p:nvSpPr>
        <p:spPr>
          <a:xfrm>
            <a:off x="2834640" y="3182112"/>
            <a:ext cx="2377440" cy="320040"/>
          </a:xfrm>
          <a:prstGeom prst="rect">
            <a:avLst/>
          </a:prstGeom>
          <a:noFill/>
          <a:ln/>
        </p:spPr>
        <p:txBody>
          <a:bodyPr wrap="square" lIns="0" tIns="0" rIns="0" bIns="0" rtlCol="0" anchor="t"/>
          <a:lstStyle/>
          <a:p>
            <a:pPr algn="r" indent="0" marL="0">
              <a:buNone/>
            </a:pPr>
            <a:r>
              <a:rPr lang="en-US" sz="1150" dirty="0">
                <a:solidFill>
                  <a:srgbClr val="5E7891"/>
                </a:solidFill>
                <a:latin typeface="Calibri" pitchFamily="34" charset="0"/>
                <a:ea typeface="Calibri" pitchFamily="34" charset="-122"/>
                <a:cs typeface="Calibri" pitchFamily="34" charset="-120"/>
              </a:rPr>
              <a:t>/month</a:t>
            </a:r>
            <a:endParaRPr lang="en-US" sz="1150" dirty="0"/>
          </a:p>
        </p:txBody>
      </p:sp>
      <p:sp>
        <p:nvSpPr>
          <p:cNvPr id="13" name="Shape 11"/>
          <p:cNvSpPr/>
          <p:nvPr/>
        </p:nvSpPr>
        <p:spPr>
          <a:xfrm>
            <a:off x="548640" y="3749040"/>
            <a:ext cx="4846320" cy="1024128"/>
          </a:xfrm>
          <a:prstGeom prst="roundRect">
            <a:avLst>
              <a:gd name="adj" fmla="val 10714"/>
            </a:avLst>
          </a:prstGeom>
          <a:solidFill>
            <a:srgbClr val="132A40"/>
          </a:solidFill>
          <a:ln w="12700">
            <a:solidFill>
              <a:srgbClr val="132A40"/>
            </a:solidFill>
            <a:prstDash val="solid"/>
          </a:ln>
        </p:spPr>
      </p:sp>
      <p:sp>
        <p:nvSpPr>
          <p:cNvPr id="14" name="Text 12"/>
          <p:cNvSpPr txBox="1"/>
          <p:nvPr/>
        </p:nvSpPr>
        <p:spPr>
          <a:xfrm>
            <a:off x="777240" y="3877056"/>
            <a:ext cx="2011680" cy="365760"/>
          </a:xfrm>
          <a:prstGeom prst="rect">
            <a:avLst/>
          </a:prstGeom>
          <a:noFill/>
          <a:ln/>
        </p:spPr>
        <p:txBody>
          <a:bodyPr wrap="square" lIns="0" tIns="0" rIns="0" bIns="0" rtlCol="0" anchor="t"/>
          <a:lstStyle/>
          <a:p>
            <a:pPr indent="0" marL="0">
              <a:buNone/>
            </a:pPr>
            <a:r>
              <a:rPr lang="en-US" sz="1500" b="1" dirty="0">
                <a:solidFill>
                  <a:srgbClr val="9FB3C8"/>
                </a:solidFill>
                <a:latin typeface="Calibri" pitchFamily="34" charset="0"/>
                <a:ea typeface="Calibri" pitchFamily="34" charset="-122"/>
                <a:cs typeface="Calibri" pitchFamily="34" charset="-120"/>
              </a:rPr>
              <a:t>ERP link</a:t>
            </a:r>
            <a:endParaRPr lang="en-US" sz="1500" dirty="0"/>
          </a:p>
        </p:txBody>
      </p:sp>
      <p:sp>
        <p:nvSpPr>
          <p:cNvPr id="15" name="Text 13"/>
          <p:cNvSpPr txBox="1"/>
          <p:nvPr/>
        </p:nvSpPr>
        <p:spPr>
          <a:xfrm>
            <a:off x="777240" y="4251960"/>
            <a:ext cx="2377440" cy="45720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Direct stock-system connection (later)</a:t>
            </a:r>
            <a:endParaRPr lang="en-US" sz="1250" dirty="0"/>
          </a:p>
        </p:txBody>
      </p:sp>
      <p:sp>
        <p:nvSpPr>
          <p:cNvPr id="16" name="Text 14"/>
          <p:cNvSpPr txBox="1"/>
          <p:nvPr/>
        </p:nvSpPr>
        <p:spPr>
          <a:xfrm>
            <a:off x="2834640" y="3840480"/>
            <a:ext cx="2377440" cy="548640"/>
          </a:xfrm>
          <a:prstGeom prst="rect">
            <a:avLst/>
          </a:prstGeom>
          <a:noFill/>
          <a:ln/>
        </p:spPr>
        <p:txBody>
          <a:bodyPr wrap="square" lIns="0" tIns="0" rIns="0" bIns="0" rtlCol="0" anchor="t"/>
          <a:lstStyle/>
          <a:p>
            <a:pPr algn="r" indent="0" marL="0">
              <a:buNone/>
            </a:pPr>
            <a:r>
              <a:rPr lang="en-US" sz="2800" b="1" dirty="0">
                <a:solidFill>
                  <a:srgbClr val="22C3E6"/>
                </a:solidFill>
                <a:latin typeface="Georgia" pitchFamily="34" charset="0"/>
                <a:ea typeface="Georgia" pitchFamily="34" charset="-122"/>
                <a:cs typeface="Georgia" pitchFamily="34" charset="-120"/>
              </a:rPr>
              <a:t>R4,999</a:t>
            </a:r>
            <a:endParaRPr lang="en-US" sz="2800" dirty="0"/>
          </a:p>
        </p:txBody>
      </p:sp>
      <p:sp>
        <p:nvSpPr>
          <p:cNvPr id="17" name="Text 15"/>
          <p:cNvSpPr txBox="1"/>
          <p:nvPr/>
        </p:nvSpPr>
        <p:spPr>
          <a:xfrm>
            <a:off x="2834640" y="4370832"/>
            <a:ext cx="2377440" cy="320040"/>
          </a:xfrm>
          <a:prstGeom prst="rect">
            <a:avLst/>
          </a:prstGeom>
          <a:noFill/>
          <a:ln/>
        </p:spPr>
        <p:txBody>
          <a:bodyPr wrap="square" lIns="0" tIns="0" rIns="0" bIns="0" rtlCol="0" anchor="t"/>
          <a:lstStyle/>
          <a:p>
            <a:pPr algn="r" indent="0" marL="0">
              <a:buNone/>
            </a:pPr>
            <a:r>
              <a:rPr lang="en-US" sz="1150" dirty="0">
                <a:solidFill>
                  <a:srgbClr val="5E7891"/>
                </a:solidFill>
                <a:latin typeface="Calibri" pitchFamily="34" charset="0"/>
                <a:ea typeface="Calibri" pitchFamily="34" charset="-122"/>
                <a:cs typeface="Calibri" pitchFamily="34" charset="-120"/>
              </a:rPr>
              <a:t>/month + R15k setup</a:t>
            </a:r>
            <a:endParaRPr lang="en-US" sz="1150" dirty="0"/>
          </a:p>
        </p:txBody>
      </p:sp>
      <p:sp>
        <p:nvSpPr>
          <p:cNvPr id="18" name="Shape 16"/>
          <p:cNvSpPr/>
          <p:nvPr/>
        </p:nvSpPr>
        <p:spPr>
          <a:xfrm>
            <a:off x="548640" y="4937760"/>
            <a:ext cx="4846320" cy="1024128"/>
          </a:xfrm>
          <a:prstGeom prst="roundRect">
            <a:avLst>
              <a:gd name="adj" fmla="val 10714"/>
            </a:avLst>
          </a:prstGeom>
          <a:solidFill>
            <a:srgbClr val="132A40"/>
          </a:solidFill>
          <a:ln w="12700">
            <a:solidFill>
              <a:srgbClr val="132A40"/>
            </a:solidFill>
            <a:prstDash val="solid"/>
          </a:ln>
        </p:spPr>
      </p:sp>
      <p:sp>
        <p:nvSpPr>
          <p:cNvPr id="19" name="Text 17"/>
          <p:cNvSpPr txBox="1"/>
          <p:nvPr/>
        </p:nvSpPr>
        <p:spPr>
          <a:xfrm>
            <a:off x="777240" y="5065776"/>
            <a:ext cx="2011680" cy="365760"/>
          </a:xfrm>
          <a:prstGeom prst="rect">
            <a:avLst/>
          </a:prstGeom>
          <a:noFill/>
          <a:ln/>
        </p:spPr>
        <p:txBody>
          <a:bodyPr wrap="square" lIns="0" tIns="0" rIns="0" bIns="0" rtlCol="0" anchor="t"/>
          <a:lstStyle/>
          <a:p>
            <a:pPr indent="0" marL="0">
              <a:buNone/>
            </a:pPr>
            <a:r>
              <a:rPr lang="en-US" sz="1500" b="1" dirty="0">
                <a:solidFill>
                  <a:srgbClr val="9FB3C8"/>
                </a:solidFill>
                <a:latin typeface="Calibri" pitchFamily="34" charset="0"/>
                <a:ea typeface="Calibri" pitchFamily="34" charset="-122"/>
                <a:cs typeface="Calibri" pitchFamily="34" charset="-120"/>
              </a:rPr>
              <a:t>Digital orders</a:t>
            </a:r>
            <a:endParaRPr lang="en-US" sz="1500" dirty="0"/>
          </a:p>
        </p:txBody>
      </p:sp>
      <p:sp>
        <p:nvSpPr>
          <p:cNvPr id="20" name="Text 18"/>
          <p:cNvSpPr txBox="1"/>
          <p:nvPr/>
        </p:nvSpPr>
        <p:spPr>
          <a:xfrm>
            <a:off x="777240" y="5440680"/>
            <a:ext cx="2377440" cy="45720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Only on PayFast orders. Cash stays free</a:t>
            </a:r>
            <a:endParaRPr lang="en-US" sz="1250" dirty="0"/>
          </a:p>
        </p:txBody>
      </p:sp>
      <p:sp>
        <p:nvSpPr>
          <p:cNvPr id="21" name="Text 19"/>
          <p:cNvSpPr txBox="1"/>
          <p:nvPr/>
        </p:nvSpPr>
        <p:spPr>
          <a:xfrm>
            <a:off x="2834640" y="5029200"/>
            <a:ext cx="2377440" cy="548640"/>
          </a:xfrm>
          <a:prstGeom prst="rect">
            <a:avLst/>
          </a:prstGeom>
          <a:noFill/>
          <a:ln/>
        </p:spPr>
        <p:txBody>
          <a:bodyPr wrap="square" lIns="0" tIns="0" rIns="0" bIns="0" rtlCol="0" anchor="t"/>
          <a:lstStyle/>
          <a:p>
            <a:pPr algn="r" indent="0" marL="0">
              <a:buNone/>
            </a:pPr>
            <a:r>
              <a:rPr lang="en-US" sz="2800" b="1" dirty="0">
                <a:solidFill>
                  <a:srgbClr val="F2A93B"/>
                </a:solidFill>
                <a:latin typeface="Georgia" pitchFamily="34" charset="0"/>
                <a:ea typeface="Georgia" pitchFamily="34" charset="-122"/>
                <a:cs typeface="Georgia" pitchFamily="34" charset="-120"/>
              </a:rPr>
              <a:t>~1%</a:t>
            </a:r>
            <a:endParaRPr lang="en-US" sz="2800" dirty="0"/>
          </a:p>
        </p:txBody>
      </p:sp>
      <p:sp>
        <p:nvSpPr>
          <p:cNvPr id="22" name="Text 20"/>
          <p:cNvSpPr txBox="1"/>
          <p:nvPr/>
        </p:nvSpPr>
        <p:spPr>
          <a:xfrm>
            <a:off x="2834640" y="5559552"/>
            <a:ext cx="2377440" cy="320040"/>
          </a:xfrm>
          <a:prstGeom prst="rect">
            <a:avLst/>
          </a:prstGeom>
          <a:noFill/>
          <a:ln/>
        </p:spPr>
        <p:txBody>
          <a:bodyPr wrap="square" lIns="0" tIns="0" rIns="0" bIns="0" rtlCol="0" anchor="t"/>
          <a:lstStyle/>
          <a:p>
            <a:pPr algn="r" indent="0" marL="0">
              <a:buNone/>
            </a:pPr>
            <a:r>
              <a:rPr lang="en-US" sz="1150" dirty="0">
                <a:solidFill>
                  <a:srgbClr val="5E7891"/>
                </a:solidFill>
                <a:latin typeface="Calibri" pitchFamily="34" charset="0"/>
                <a:ea typeface="Calibri" pitchFamily="34" charset="-122"/>
                <a:cs typeface="Calibri" pitchFamily="34" charset="-120"/>
              </a:rPr>
              <a:t>per order</a:t>
            </a:r>
            <a:endParaRPr lang="en-US" sz="1150" dirty="0"/>
          </a:p>
        </p:txBody>
      </p:sp>
      <p:sp>
        <p:nvSpPr>
          <p:cNvPr id="23" name="Shape 21"/>
          <p:cNvSpPr/>
          <p:nvPr/>
        </p:nvSpPr>
        <p:spPr>
          <a:xfrm>
            <a:off x="5669280" y="1371600"/>
            <a:ext cx="5943600" cy="4590288"/>
          </a:xfrm>
          <a:prstGeom prst="roundRect">
            <a:avLst>
              <a:gd name="adj" fmla="val 2390"/>
            </a:avLst>
          </a:prstGeom>
          <a:solidFill>
            <a:srgbClr val="132A40"/>
          </a:solidFill>
          <a:ln w="12700">
            <a:solidFill>
              <a:srgbClr val="132A40"/>
            </a:solidFill>
            <a:prstDash val="solid"/>
          </a:ln>
        </p:spPr>
      </p:sp>
      <p:graphicFrame>
        <p:nvGraphicFramePr>
          <p:cNvPr id="24" name="Chart 0" descr=""/>
          <p:cNvGraphicFramePr/>
          <p:nvPr/>
        </p:nvGraphicFramePr>
        <p:xfrm>
          <a:off x="5806440" y="1463040"/>
          <a:ext cx="5669280" cy="3886200"/>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txBox="1"/>
          <p:nvPr/>
        </p:nvSpPr>
        <p:spPr>
          <a:xfrm>
            <a:off x="5852160" y="5349240"/>
            <a:ext cx="5577840" cy="320040"/>
          </a:xfrm>
          <a:prstGeom prst="rect">
            <a:avLst/>
          </a:prstGeom>
          <a:noFill/>
          <a:ln/>
        </p:spPr>
        <p:txBody>
          <a:bodyPr wrap="square" lIns="0" tIns="0" rIns="0" bIns="0" rtlCol="0" anchor="t"/>
          <a:lstStyle/>
          <a:p>
            <a:pPr algn="ctr" indent="0" marL="0">
              <a:buNone/>
            </a:pPr>
            <a:r>
              <a:rPr lang="en-US" sz="1350" b="1" dirty="0">
                <a:solidFill>
                  <a:srgbClr val="F4F7FB"/>
                </a:solidFill>
                <a:latin typeface="Calibri" pitchFamily="34" charset="0"/>
                <a:ea typeface="Calibri" pitchFamily="34" charset="-122"/>
                <a:cs typeface="Calibri" pitchFamily="34" charset="-120"/>
              </a:rPr>
              <a:t>Y1 ≈ R56k  ·  Y2 ≈ R283k  ·  Y3 ≈ R1.1m a month</a:t>
            </a:r>
            <a:endParaRPr lang="en-US" sz="1350" dirty="0"/>
          </a:p>
        </p:txBody>
      </p:sp>
      <p:sp>
        <p:nvSpPr>
          <p:cNvPr id="26" name="Text 23"/>
          <p:cNvSpPr txBox="1"/>
          <p:nvPr/>
        </p:nvSpPr>
        <p:spPr>
          <a:xfrm>
            <a:off x="5852160" y="5669280"/>
            <a:ext cx="5577840" cy="274320"/>
          </a:xfrm>
          <a:prstGeom prst="rect">
            <a:avLst/>
          </a:prstGeom>
          <a:noFill/>
          <a:ln/>
        </p:spPr>
        <p:txBody>
          <a:bodyPr wrap="square" lIns="0" tIns="0" rIns="0" bIns="0" rtlCol="0" anchor="t"/>
          <a:lstStyle/>
          <a:p>
            <a:pPr algn="ctr" indent="0" marL="0">
              <a:buNone/>
            </a:pPr>
            <a:r>
              <a:rPr lang="en-US" sz="1150" dirty="0">
                <a:solidFill>
                  <a:srgbClr val="9FB3C8"/>
                </a:solidFill>
                <a:latin typeface="Calibri" pitchFamily="34" charset="0"/>
                <a:ea typeface="Calibri" pitchFamily="34" charset="-122"/>
                <a:cs typeface="Calibri" pitchFamily="34" charset="-120"/>
              </a:rPr>
              <a:t>Y1: 15 suppliers, 1,000 businesses  ·  Y2: 60 / 5,000  ·  Y3: 200 / 20,000</a:t>
            </a:r>
            <a:endParaRPr lang="en-US" sz="1150" dirty="0"/>
          </a:p>
        </p:txBody>
      </p:sp>
      <p:sp>
        <p:nvSpPr>
          <p:cNvPr id="27" name="Text 24"/>
          <p:cNvSpPr txBox="1"/>
          <p:nvPr/>
        </p:nvSpPr>
        <p:spPr>
          <a:xfrm>
            <a:off x="548640" y="6355080"/>
            <a:ext cx="9601200" cy="320040"/>
          </a:xfrm>
          <a:prstGeom prst="rect">
            <a:avLst/>
          </a:prstGeom>
          <a:noFill/>
          <a:ln/>
        </p:spPr>
        <p:txBody>
          <a:bodyPr wrap="square" lIns="0" tIns="0" rIns="0" bIns="0" rtlCol="0" anchor="ctr"/>
          <a:lstStyle/>
          <a:p>
            <a:pPr indent="0" marL="0">
              <a:buNone/>
            </a:pPr>
            <a:r>
              <a:rPr lang="en-US" sz="950" dirty="0">
                <a:solidFill>
                  <a:srgbClr val="5E7891"/>
                </a:solidFill>
                <a:latin typeface="Calibri" pitchFamily="34" charset="0"/>
                <a:ea typeface="Calibri" pitchFamily="34" charset="-122"/>
                <a:cs typeface="Calibri" pitchFamily="34" charset="-120"/>
              </a:rPr>
              <a:t>Estimates. Commission assumes ~R4,000 of digital orders per business per month.</a:t>
            </a:r>
            <a:endParaRPr lang="en-US" sz="950" dirty="0"/>
          </a:p>
        </p:txBody>
      </p:sp>
      <p:sp>
        <p:nvSpPr>
          <p:cNvPr id="28" name="Text 25"/>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Who else is here, and why we're different</a:t>
            </a:r>
            <a:endParaRPr lang="en-US" sz="3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566160"/>
                <a:gridCol w="1874520"/>
                <a:gridCol w="2057400"/>
                <a:gridCol w="1508760"/>
                <a:gridCol w="2057400"/>
              </a:tblGrid>
              <a:tr h="658368">
                <a:tc>
                  <a:txBody>
                    <a:bodyPr/>
                    <a:lstStyle/>
                    <a:p>
                      <a:pPr algn="l"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c>
                  <a:txBody>
                    <a:bodyPr/>
                    <a:lstStyle/>
                    <a:p>
                      <a:pPr algn="ctr" indent="0" marL="0">
                        <a:buNone/>
                      </a:pPr>
                      <a:r>
                        <a:rPr lang="en-US" sz="1300" b="1" dirty="0">
                          <a:solidFill>
                            <a:srgbClr val="22C3E6"/>
                          </a:solidFill>
                          <a:latin typeface="Calibri" pitchFamily="34" charset="0"/>
                          <a:ea typeface="Calibri" pitchFamily="34" charset="-122"/>
                          <a:cs typeface="Calibri" pitchFamily="34" charset="-120"/>
                        </a:rPr>
                        <a:t>Runs the business</a:t>
                      </a:r>
                      <a:endParaRPr lang="en-US" sz="130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c>
                  <a:txBody>
                    <a:bodyPr/>
                    <a:lstStyle/>
                    <a:p>
                      <a:pPr algn="ctr" indent="0" marL="0">
                        <a:buNone/>
                      </a:pPr>
                      <a:r>
                        <a:rPr lang="en-US" sz="1300" b="1" dirty="0">
                          <a:solidFill>
                            <a:srgbClr val="22C3E6"/>
                          </a:solidFill>
                          <a:latin typeface="Calibri" pitchFamily="34" charset="0"/>
                          <a:ea typeface="Calibri" pitchFamily="34" charset="-122"/>
                          <a:cs typeface="Calibri" pitchFamily="34" charset="-120"/>
                        </a:rPr>
                        <a:t>Orders from YOUR suppliers</a:t>
                      </a:r>
                      <a:endParaRPr lang="en-US" sz="130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c>
                  <a:txBody>
                    <a:bodyPr/>
                    <a:lstStyle/>
                    <a:p>
                      <a:pPr algn="ctr" indent="0" marL="0">
                        <a:buNone/>
                      </a:pPr>
                      <a:r>
                        <a:rPr lang="en-US" sz="1300" b="1" dirty="0">
                          <a:solidFill>
                            <a:srgbClr val="22C3E6"/>
                          </a:solidFill>
                          <a:latin typeface="Calibri" pitchFamily="34" charset="0"/>
                          <a:ea typeface="Calibri" pitchFamily="34" charset="-122"/>
                          <a:cs typeface="Calibri" pitchFamily="34" charset="-120"/>
                        </a:rPr>
                        <a:t>Builders too</a:t>
                      </a:r>
                      <a:endParaRPr lang="en-US" sz="130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c>
                  <a:txBody>
                    <a:bodyPr/>
                    <a:lstStyle/>
                    <a:p>
                      <a:pPr algn="ctr" indent="0" marL="0">
                        <a:buNone/>
                      </a:pPr>
                      <a:r>
                        <a:rPr lang="en-US" sz="1300" b="1" dirty="0">
                          <a:solidFill>
                            <a:srgbClr val="22C3E6"/>
                          </a:solidFill>
                          <a:latin typeface="Calibri" pitchFamily="34" charset="0"/>
                          <a:ea typeface="Calibri" pitchFamily="34" charset="-122"/>
                          <a:cs typeface="Calibri" pitchFamily="34" charset="-120"/>
                        </a:rPr>
                        <a:t>Verified payment + invoice</a:t>
                      </a:r>
                      <a:endParaRPr lang="en-US" sz="130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r>
              <a:tr h="658368">
                <a:tc>
                  <a:txBody>
                    <a:bodyPr/>
                    <a:lstStyle/>
                    <a:p>
                      <a:pPr algn="l" indent="0" marL="0">
                        <a:buNone/>
                      </a:pPr>
                      <a:r>
                        <a:rPr lang="en-US" sz="1350" b="1" dirty="0">
                          <a:solidFill>
                            <a:srgbClr val="F4F7FB"/>
                          </a:solidFill>
                          <a:latin typeface="Calibri" pitchFamily="34" charset="0"/>
                          <a:ea typeface="Calibri" pitchFamily="34" charset="-122"/>
                          <a:cs typeface="Calibri" pitchFamily="34" charset="-120"/>
                        </a:rPr>
                        <a:t>WhatsApp + notebook (today)</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132A40"/>
                    </a:solidFill>
                  </a:tcPr>
                </a:tc>
                <a:tc>
                  <a:txBody>
                    <a:bodyPr/>
                    <a:lstStyle/>
                    <a:p>
                      <a:pPr algn="ctr" indent="0" marL="0">
                        <a:buNone/>
                      </a:pPr>
                      <a:r>
                        <a:rPr lang="en-US" sz="1350" dirty="0">
                          <a:solidFill>
                            <a:srgbClr val="5E7891"/>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132A40"/>
                    </a:solidFill>
                  </a:tcPr>
                </a:tc>
                <a:tc>
                  <a:txBody>
                    <a:bodyPr/>
                    <a:lstStyle/>
                    <a:p>
                      <a:pPr algn="ctr" indent="0" marL="0">
                        <a:buNone/>
                      </a:pPr>
                      <a:r>
                        <a:rPr lang="en-US" sz="1350" dirty="0">
                          <a:solidFill>
                            <a:srgbClr val="F4F7FB"/>
                          </a:solidFill>
                          <a:latin typeface="Calibri" pitchFamily="34" charset="0"/>
                          <a:ea typeface="Calibri" pitchFamily="34" charset="-122"/>
                          <a:cs typeface="Calibri" pitchFamily="34" charset="-120"/>
                        </a:rPr>
                        <a:t>by voice note</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132A40"/>
                    </a:solidFill>
                  </a:tcPr>
                </a:tc>
                <a:tc>
                  <a:txBody>
                    <a:bodyPr/>
                    <a:lstStyle/>
                    <a:p>
                      <a:pPr algn="ctr" indent="0" marL="0">
                        <a:buNone/>
                      </a:pPr>
                      <a:r>
                        <a:rPr lang="en-US" sz="1350" dirty="0">
                          <a:solidFill>
                            <a:srgbClr val="5E7891"/>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132A40"/>
                    </a:solidFill>
                  </a:tcPr>
                </a:tc>
                <a:tc>
                  <a:txBody>
                    <a:bodyPr/>
                    <a:lstStyle/>
                    <a:p>
                      <a:pPr algn="ctr" indent="0" marL="0">
                        <a:buNone/>
                      </a:pPr>
                      <a:r>
                        <a:rPr lang="en-US" sz="1350" dirty="0">
                          <a:solidFill>
                            <a:srgbClr val="5E7891"/>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132A40"/>
                    </a:solidFill>
                  </a:tcPr>
                </a:tc>
              </a:tr>
              <a:tr h="658368">
                <a:tc>
                  <a:txBody>
                    <a:bodyPr/>
                    <a:lstStyle/>
                    <a:p>
                      <a:pPr algn="l" indent="0" marL="0">
                        <a:buNone/>
                      </a:pPr>
                      <a:r>
                        <a:rPr lang="en-US" sz="1350" b="1" dirty="0">
                          <a:solidFill>
                            <a:srgbClr val="F4F7FB"/>
                          </a:solidFill>
                          <a:latin typeface="Calibri" pitchFamily="34" charset="0"/>
                          <a:ea typeface="Calibri" pitchFamily="34" charset="-122"/>
                          <a:cs typeface="Calibri" pitchFamily="34" charset="-120"/>
                        </a:rPr>
                        <a:t>A wholesaler's own app (e.g. Shoprite Cash &amp; Carry)</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c>
                  <a:txBody>
                    <a:bodyPr/>
                    <a:lstStyle/>
                    <a:p>
                      <a:pPr algn="ctr" indent="0" marL="0">
                        <a:buNone/>
                      </a:pPr>
                      <a:r>
                        <a:rPr lang="en-US" sz="1350" dirty="0">
                          <a:solidFill>
                            <a:srgbClr val="5E7891"/>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c>
                  <a:txBody>
                    <a:bodyPr/>
                    <a:lstStyle/>
                    <a:p>
                      <a:pPr algn="ctr" indent="0" marL="0">
                        <a:buNone/>
                      </a:pPr>
                      <a:r>
                        <a:rPr lang="en-US" sz="1350" dirty="0">
                          <a:solidFill>
                            <a:srgbClr val="F4F7FB"/>
                          </a:solidFill>
                          <a:latin typeface="Calibri" pitchFamily="34" charset="0"/>
                          <a:ea typeface="Calibri" pitchFamily="34" charset="-122"/>
                          <a:cs typeface="Calibri" pitchFamily="34" charset="-120"/>
                        </a:rPr>
                        <a:t>one wholesaler</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c>
                  <a:txBody>
                    <a:bodyPr/>
                    <a:lstStyle/>
                    <a:p>
                      <a:pPr algn="ctr" indent="0" marL="0">
                        <a:buNone/>
                      </a:pPr>
                      <a:r>
                        <a:rPr lang="en-US" sz="1350" dirty="0">
                          <a:solidFill>
                            <a:srgbClr val="5E7891"/>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c>
                  <a:txBody>
                    <a:bodyPr/>
                    <a:lstStyle/>
                    <a:p>
                      <a:pPr algn="ctr" indent="0" marL="0">
                        <a:buNone/>
                      </a:pPr>
                      <a:r>
                        <a:rPr lang="en-US" sz="1350" dirty="0">
                          <a:solidFill>
                            <a:srgbClr val="F4F7FB"/>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r>
              <a:tr h="658368">
                <a:tc>
                  <a:txBody>
                    <a:bodyPr/>
                    <a:lstStyle/>
                    <a:p>
                      <a:pPr algn="l" indent="0" marL="0">
                        <a:buNone/>
                      </a:pPr>
                      <a:r>
                        <a:rPr lang="en-US" sz="1350" b="1" dirty="0">
                          <a:solidFill>
                            <a:srgbClr val="F4F7FB"/>
                          </a:solidFill>
                          <a:latin typeface="Calibri" pitchFamily="34" charset="0"/>
                          <a:ea typeface="Calibri" pitchFamily="34" charset="-122"/>
                          <a:cs typeface="Calibri" pitchFamily="34" charset="-120"/>
                        </a:rPr>
                        <a:t>Payments / POS (iKhokha, Yoco)</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132A40"/>
                    </a:solidFill>
                  </a:tcPr>
                </a:tc>
                <a:tc>
                  <a:txBody>
                    <a:bodyPr/>
                    <a:lstStyle/>
                    <a:p>
                      <a:pPr algn="ctr" indent="0" marL="0">
                        <a:buNone/>
                      </a:pPr>
                      <a:r>
                        <a:rPr lang="en-US" sz="1350" dirty="0">
                          <a:solidFill>
                            <a:srgbClr val="F4F7FB"/>
                          </a:solidFill>
                          <a:latin typeface="Calibri" pitchFamily="34" charset="0"/>
                          <a:ea typeface="Calibri" pitchFamily="34" charset="-122"/>
                          <a:cs typeface="Calibri" pitchFamily="34" charset="-120"/>
                        </a:rPr>
                        <a:t>sales only</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132A40"/>
                    </a:solidFill>
                  </a:tcPr>
                </a:tc>
                <a:tc>
                  <a:txBody>
                    <a:bodyPr/>
                    <a:lstStyle/>
                    <a:p>
                      <a:pPr algn="ctr" indent="0" marL="0">
                        <a:buNone/>
                      </a:pPr>
                      <a:r>
                        <a:rPr lang="en-US" sz="1350" dirty="0">
                          <a:solidFill>
                            <a:srgbClr val="5E7891"/>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132A40"/>
                    </a:solidFill>
                  </a:tcPr>
                </a:tc>
                <a:tc>
                  <a:txBody>
                    <a:bodyPr/>
                    <a:lstStyle/>
                    <a:p>
                      <a:pPr algn="ctr" indent="0" marL="0">
                        <a:buNone/>
                      </a:pPr>
                      <a:r>
                        <a:rPr lang="en-US" sz="1350" dirty="0">
                          <a:solidFill>
                            <a:srgbClr val="5E7891"/>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132A40"/>
                    </a:solidFill>
                  </a:tcPr>
                </a:tc>
                <a:tc>
                  <a:txBody>
                    <a:bodyPr/>
                    <a:lstStyle/>
                    <a:p>
                      <a:pPr algn="ctr" indent="0" marL="0">
                        <a:buNone/>
                      </a:pPr>
                      <a:r>
                        <a:rPr lang="en-US" sz="1350" dirty="0">
                          <a:solidFill>
                            <a:srgbClr val="F4F7FB"/>
                          </a:solidFill>
                          <a:latin typeface="Calibri" pitchFamily="34" charset="0"/>
                          <a:ea typeface="Calibri" pitchFamily="34" charset="-122"/>
                          <a:cs typeface="Calibri" pitchFamily="34" charset="-120"/>
                        </a:rPr>
                        <a:t>card payments</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132A40"/>
                    </a:solidFill>
                  </a:tcPr>
                </a:tc>
              </a:tr>
              <a:tr h="658368">
                <a:tc>
                  <a:txBody>
                    <a:bodyPr/>
                    <a:lstStyle/>
                    <a:p>
                      <a:pPr algn="l" indent="0" marL="0">
                        <a:buNone/>
                      </a:pPr>
                      <a:r>
                        <a:rPr lang="en-US" sz="1350" b="1" dirty="0">
                          <a:solidFill>
                            <a:srgbClr val="F4F7FB"/>
                          </a:solidFill>
                          <a:latin typeface="Calibri" pitchFamily="34" charset="0"/>
                          <a:ea typeface="Calibri" pitchFamily="34" charset="-122"/>
                          <a:cs typeface="Calibri" pitchFamily="34" charset="-120"/>
                        </a:rPr>
                        <a:t>Bulk buying (Spazapp)</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c>
                  <a:txBody>
                    <a:bodyPr/>
                    <a:lstStyle/>
                    <a:p>
                      <a:pPr algn="ctr" indent="0" marL="0">
                        <a:buNone/>
                      </a:pPr>
                      <a:r>
                        <a:rPr lang="en-US" sz="1350" dirty="0">
                          <a:solidFill>
                            <a:srgbClr val="5E7891"/>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c>
                  <a:txBody>
                    <a:bodyPr/>
                    <a:lstStyle/>
                    <a:p>
                      <a:pPr algn="ctr" indent="0" marL="0">
                        <a:buNone/>
                      </a:pPr>
                      <a:r>
                        <a:rPr lang="en-US" sz="1350" dirty="0">
                          <a:solidFill>
                            <a:srgbClr val="F4F7FB"/>
                          </a:solidFill>
                          <a:latin typeface="Calibri" pitchFamily="34" charset="0"/>
                          <a:ea typeface="Calibri" pitchFamily="34" charset="-122"/>
                          <a:cs typeface="Calibri" pitchFamily="34" charset="-120"/>
                        </a:rPr>
                        <a:t>their range</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c>
                  <a:txBody>
                    <a:bodyPr/>
                    <a:lstStyle/>
                    <a:p>
                      <a:pPr algn="ctr" indent="0" marL="0">
                        <a:buNone/>
                      </a:pPr>
                      <a:r>
                        <a:rPr lang="en-US" sz="1350" dirty="0">
                          <a:solidFill>
                            <a:srgbClr val="5E7891"/>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c>
                  <a:txBody>
                    <a:bodyPr/>
                    <a:lstStyle/>
                    <a:p>
                      <a:pPr algn="ctr" indent="0" marL="0">
                        <a:buNone/>
                      </a:pPr>
                      <a:r>
                        <a:rPr lang="en-US" sz="1350" dirty="0">
                          <a:solidFill>
                            <a:srgbClr val="F4F7FB"/>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0D1B2A"/>
                    </a:solidFill>
                  </a:tcPr>
                </a:tc>
              </a:tr>
              <a:tr h="658368">
                <a:tc>
                  <a:txBody>
                    <a:bodyPr/>
                    <a:lstStyle/>
                    <a:p>
                      <a:pPr algn="l" indent="0" marL="0">
                        <a:buNone/>
                      </a:pPr>
                      <a:r>
                        <a:rPr lang="en-US" sz="1350" b="1" dirty="0">
                          <a:solidFill>
                            <a:srgbClr val="0D1B2A"/>
                          </a:solidFill>
                          <a:latin typeface="Calibri" pitchFamily="34" charset="0"/>
                          <a:ea typeface="Calibri" pitchFamily="34" charset="-122"/>
                          <a:cs typeface="Calibri" pitchFamily="34" charset="-120"/>
                        </a:rPr>
                        <a:t>Akayza</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22C3E6"/>
                    </a:solidFill>
                  </a:tcPr>
                </a:tc>
                <a:tc>
                  <a:txBody>
                    <a:bodyPr/>
                    <a:lstStyle/>
                    <a:p>
                      <a:pPr algn="ctr" indent="0" marL="0">
                        <a:buNone/>
                      </a:pPr>
                      <a:r>
                        <a:rPr lang="en-US" sz="1350" b="1" dirty="0">
                          <a:solidFill>
                            <a:srgbClr val="0D1B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22C3E6"/>
                    </a:solidFill>
                  </a:tcPr>
                </a:tc>
                <a:tc>
                  <a:txBody>
                    <a:bodyPr/>
                    <a:lstStyle/>
                    <a:p>
                      <a:pPr algn="ctr" indent="0" marL="0">
                        <a:buNone/>
                      </a:pPr>
                      <a:r>
                        <a:rPr lang="en-US" sz="1350" b="1" dirty="0">
                          <a:solidFill>
                            <a:srgbClr val="0D1B2A"/>
                          </a:solidFill>
                          <a:latin typeface="Calibri" pitchFamily="34" charset="0"/>
                          <a:ea typeface="Calibri" pitchFamily="34" charset="-122"/>
                          <a:cs typeface="Calibri" pitchFamily="34" charset="-120"/>
                        </a:rPr>
                        <a:t>any supplier you use</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22C3E6"/>
                    </a:solidFill>
                  </a:tcPr>
                </a:tc>
                <a:tc>
                  <a:txBody>
                    <a:bodyPr/>
                    <a:lstStyle/>
                    <a:p>
                      <a:pPr algn="ctr" indent="0" marL="0">
                        <a:buNone/>
                      </a:pPr>
                      <a:r>
                        <a:rPr lang="en-US" sz="1350" b="1" dirty="0">
                          <a:solidFill>
                            <a:srgbClr val="0D1B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22C3E6"/>
                    </a:solidFill>
                  </a:tcPr>
                </a:tc>
                <a:tc>
                  <a:txBody>
                    <a:bodyPr/>
                    <a:lstStyle/>
                    <a:p>
                      <a:pPr algn="ctr" indent="0" marL="0">
                        <a:buNone/>
                      </a:pPr>
                      <a:r>
                        <a:rPr lang="en-US" sz="1350" b="1" dirty="0">
                          <a:solidFill>
                            <a:srgbClr val="0D1B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83452"/>
                      </a:solidFill>
                      <a:prstDash val="solid"/>
                      <a:round/>
                      <a:headEnd type="none" w="med" len="med"/>
                      <a:tailEnd type="none" w="med" len="med"/>
                    </a:lnL>
                    <a:lnR w="12700" cap="flat" cmpd="sng" algn="ctr">
                      <a:solidFill>
                        <a:srgbClr val="183452"/>
                      </a:solidFill>
                      <a:prstDash val="solid"/>
                      <a:round/>
                      <a:headEnd type="none" w="med" len="med"/>
                      <a:tailEnd type="none" w="med" len="med"/>
                    </a:lnR>
                    <a:lnT w="12700" cap="flat" cmpd="sng" algn="ctr">
                      <a:solidFill>
                        <a:srgbClr val="183452"/>
                      </a:solidFill>
                      <a:prstDash val="solid"/>
                      <a:round/>
                      <a:headEnd type="none" w="med" len="med"/>
                      <a:tailEnd type="none" w="med" len="med"/>
                    </a:lnT>
                    <a:lnB w="12700" cap="flat" cmpd="sng" algn="ctr">
                      <a:solidFill>
                        <a:srgbClr val="183452"/>
                      </a:solidFill>
                      <a:prstDash val="solid"/>
                      <a:round/>
                      <a:headEnd type="none" w="med" len="med"/>
                      <a:tailEnd type="none" w="med" len="med"/>
                    </a:lnB>
                    <a:solidFill>
                      <a:srgbClr val="22C3E6"/>
                    </a:solidFill>
                  </a:tcPr>
                </a:tc>
              </a:tr>
            </a:tbl>
          </a:graphicData>
        </a:graphic>
      </p:graphicFrame>
      <p:sp>
        <p:nvSpPr>
          <p:cNvPr id="4" name="Text 1"/>
          <p:cNvSpPr txBox="1"/>
          <p:nvPr/>
        </p:nvSpPr>
        <p:spPr>
          <a:xfrm>
            <a:off x="548640" y="5577840"/>
            <a:ext cx="11064240" cy="548640"/>
          </a:xfrm>
          <a:prstGeom prst="rect">
            <a:avLst/>
          </a:prstGeom>
          <a:noFill/>
          <a:ln/>
        </p:spPr>
        <p:txBody>
          <a:bodyPr wrap="square" lIns="0" tIns="0" rIns="0" bIns="0" rtlCol="0" anchor="t"/>
          <a:lstStyle/>
          <a:p>
            <a:pPr indent="0" marL="0">
              <a:buNone/>
            </a:pPr>
            <a:r>
              <a:rPr lang="en-US" sz="1500" i="1" dirty="0">
                <a:solidFill>
                  <a:srgbClr val="F2A93B"/>
                </a:solidFill>
                <a:latin typeface="Calibri" pitchFamily="34" charset="0"/>
                <a:ea typeface="Calibri" pitchFamily="34" charset="-122"/>
                <a:cs typeface="Calibri" pitchFamily="34" charset="-120"/>
              </a:rPr>
              <a:t>Our biggest competitor is the habit of WhatsApp and a notebook. We win by being easier than both, for the suppliers they already use.</a:t>
            </a:r>
            <a:endParaRPr lang="en-US" sz="1500" dirty="0"/>
          </a:p>
        </p:txBody>
      </p:sp>
      <p:sp>
        <p:nvSpPr>
          <p:cNvPr id="5" name="Text 2"/>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We reach users through their suppliers</a:t>
            </a:r>
            <a:endParaRPr lang="en-US" sz="3600" dirty="0"/>
          </a:p>
        </p:txBody>
      </p:sp>
      <p:sp>
        <p:nvSpPr>
          <p:cNvPr id="3" name="Shape 1"/>
          <p:cNvSpPr/>
          <p:nvPr/>
        </p:nvSpPr>
        <p:spPr>
          <a:xfrm>
            <a:off x="548640" y="1508760"/>
            <a:ext cx="3474720" cy="4206240"/>
          </a:xfrm>
          <a:prstGeom prst="roundRect">
            <a:avLst>
              <a:gd name="adj" fmla="val 3158"/>
            </a:avLst>
          </a:prstGeom>
          <a:solidFill>
            <a:srgbClr val="132A40"/>
          </a:solidFill>
          <a:ln w="12700">
            <a:solidFill>
              <a:srgbClr val="132A40"/>
            </a:solidFill>
            <a:prstDash val="solid"/>
          </a:ln>
        </p:spPr>
      </p:sp>
      <p:sp>
        <p:nvSpPr>
          <p:cNvPr id="4" name="Text 2"/>
          <p:cNvSpPr txBox="1"/>
          <p:nvPr/>
        </p:nvSpPr>
        <p:spPr>
          <a:xfrm>
            <a:off x="868680" y="1737360"/>
            <a:ext cx="2834640" cy="36576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0-6 months</a:t>
            </a:r>
            <a:endParaRPr lang="en-US" sz="1400" dirty="0"/>
          </a:p>
        </p:txBody>
      </p:sp>
      <p:sp>
        <p:nvSpPr>
          <p:cNvPr id="5" name="Text 3"/>
          <p:cNvSpPr txBox="1"/>
          <p:nvPr/>
        </p:nvSpPr>
        <p:spPr>
          <a:xfrm>
            <a:off x="868680" y="2103120"/>
            <a:ext cx="2834640" cy="640080"/>
          </a:xfrm>
          <a:prstGeom prst="rect">
            <a:avLst/>
          </a:prstGeom>
          <a:noFill/>
          <a:ln/>
        </p:spPr>
        <p:txBody>
          <a:bodyPr wrap="square" lIns="0" tIns="0" rIns="0" bIns="0" rtlCol="0" anchor="t"/>
          <a:lstStyle/>
          <a:p>
            <a:pPr indent="0" marL="0">
              <a:buNone/>
            </a:pPr>
            <a:r>
              <a:rPr lang="en-US" sz="3000" b="1" dirty="0">
                <a:solidFill>
                  <a:srgbClr val="22C3E6"/>
                </a:solidFill>
                <a:latin typeface="Georgia" pitchFamily="34" charset="0"/>
                <a:ea typeface="Georgia" pitchFamily="34" charset="-122"/>
                <a:cs typeface="Georgia" pitchFamily="34" charset="-120"/>
              </a:rPr>
              <a:t>Pilot</a:t>
            </a:r>
            <a:endParaRPr lang="en-US" sz="3000" dirty="0"/>
          </a:p>
        </p:txBody>
      </p:sp>
      <p:sp>
        <p:nvSpPr>
          <p:cNvPr id="6" name="Text 4"/>
          <p:cNvSpPr txBox="1"/>
          <p:nvPr/>
        </p:nvSpPr>
        <p:spPr>
          <a:xfrm>
            <a:off x="868680" y="2926080"/>
            <a:ext cx="2926080" cy="26517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F4F7FB"/>
                </a:solidFill>
                <a:latin typeface="Calibri" pitchFamily="34" charset="0"/>
                <a:ea typeface="Calibri" pitchFamily="34" charset="-122"/>
                <a:cs typeface="Calibri" pitchFamily="34" charset="-120"/>
              </a:rPr>
              <a:t>2 suppliers (a wholesaler + a hardware store)</a:t>
            </a:r>
            <a:endParaRPr lang="en-US" sz="1500" dirty="0"/>
          </a:p>
          <a:p>
            <a:pPr marL="342900" indent="-342900">
              <a:spcAft>
                <a:spcPts val="900"/>
              </a:spcAft>
              <a:buSzPct val="100000"/>
              <a:buChar char="•"/>
            </a:pPr>
            <a:r>
              <a:rPr lang="en-US" sz="1500" dirty="0">
                <a:solidFill>
                  <a:srgbClr val="F4F7FB"/>
                </a:solidFill>
                <a:latin typeface="Calibri" pitchFamily="34" charset="0"/>
                <a:ea typeface="Calibri" pitchFamily="34" charset="-122"/>
                <a:cs typeface="Calibri" pitchFamily="34" charset="-120"/>
              </a:rPr>
              <a:t>The 50-100 shops and builders they already serve</a:t>
            </a:r>
            <a:endParaRPr lang="en-US" sz="1500" dirty="0"/>
          </a:p>
          <a:p>
            <a:pPr marL="342900" indent="-342900">
              <a:spcAft>
                <a:spcPts val="900"/>
              </a:spcAft>
              <a:buSzPct val="100000"/>
              <a:buChar char="•"/>
            </a:pPr>
            <a:r>
              <a:rPr lang="en-US" sz="1500" dirty="0">
                <a:solidFill>
                  <a:srgbClr val="F4F7FB"/>
                </a:solidFill>
                <a:latin typeface="Calibri" pitchFamily="34" charset="0"/>
                <a:ea typeface="Calibri" pitchFamily="34" charset="-122"/>
                <a:cs typeface="Calibri" pitchFamily="34" charset="-120"/>
              </a:rPr>
              <a:t>A field agent at the counter and on the delivery route</a:t>
            </a:r>
            <a:endParaRPr lang="en-US" sz="1500" dirty="0"/>
          </a:p>
        </p:txBody>
      </p:sp>
      <p:sp>
        <p:nvSpPr>
          <p:cNvPr id="7" name="Shape 5"/>
          <p:cNvSpPr/>
          <p:nvPr/>
        </p:nvSpPr>
        <p:spPr>
          <a:xfrm>
            <a:off x="4041648" y="3566160"/>
            <a:ext cx="237744" cy="0"/>
          </a:xfrm>
          <a:prstGeom prst="line">
            <a:avLst/>
          </a:prstGeom>
          <a:noFill/>
          <a:ln w="19050">
            <a:solidFill>
              <a:srgbClr val="5E7891"/>
            </a:solidFill>
            <a:prstDash val="solid"/>
            <a:tailEnd type="triangle"/>
          </a:ln>
        </p:spPr>
      </p:sp>
      <p:sp>
        <p:nvSpPr>
          <p:cNvPr id="8" name="Shape 6"/>
          <p:cNvSpPr/>
          <p:nvPr/>
        </p:nvSpPr>
        <p:spPr>
          <a:xfrm>
            <a:off x="4297680" y="1508760"/>
            <a:ext cx="3474720" cy="4206240"/>
          </a:xfrm>
          <a:prstGeom prst="roundRect">
            <a:avLst>
              <a:gd name="adj" fmla="val 3158"/>
            </a:avLst>
          </a:prstGeom>
          <a:solidFill>
            <a:srgbClr val="132A40"/>
          </a:solidFill>
          <a:ln w="12700">
            <a:solidFill>
              <a:srgbClr val="132A40"/>
            </a:solidFill>
            <a:prstDash val="solid"/>
          </a:ln>
        </p:spPr>
      </p:sp>
      <p:sp>
        <p:nvSpPr>
          <p:cNvPr id="9" name="Text 7"/>
          <p:cNvSpPr txBox="1"/>
          <p:nvPr/>
        </p:nvSpPr>
        <p:spPr>
          <a:xfrm>
            <a:off x="4617720" y="1737360"/>
            <a:ext cx="2834640" cy="36576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6-18 months</a:t>
            </a:r>
            <a:endParaRPr lang="en-US" sz="1400" dirty="0"/>
          </a:p>
        </p:txBody>
      </p:sp>
      <p:sp>
        <p:nvSpPr>
          <p:cNvPr id="10" name="Text 8"/>
          <p:cNvSpPr txBox="1"/>
          <p:nvPr/>
        </p:nvSpPr>
        <p:spPr>
          <a:xfrm>
            <a:off x="4617720" y="2103120"/>
            <a:ext cx="2834640" cy="640080"/>
          </a:xfrm>
          <a:prstGeom prst="rect">
            <a:avLst/>
          </a:prstGeom>
          <a:noFill/>
          <a:ln/>
        </p:spPr>
        <p:txBody>
          <a:bodyPr wrap="square" lIns="0" tIns="0" rIns="0" bIns="0" rtlCol="0" anchor="t"/>
          <a:lstStyle/>
          <a:p>
            <a:pPr indent="0" marL="0">
              <a:buNone/>
            </a:pPr>
            <a:r>
              <a:rPr lang="en-US" sz="3000" b="1" dirty="0">
                <a:solidFill>
                  <a:srgbClr val="F2A93B"/>
                </a:solidFill>
                <a:latin typeface="Georgia" pitchFamily="34" charset="0"/>
                <a:ea typeface="Georgia" pitchFamily="34" charset="-122"/>
                <a:cs typeface="Georgia" pitchFamily="34" charset="-120"/>
              </a:rPr>
              <a:t>Grow</a:t>
            </a:r>
            <a:endParaRPr lang="en-US" sz="3000" dirty="0"/>
          </a:p>
        </p:txBody>
      </p:sp>
      <p:sp>
        <p:nvSpPr>
          <p:cNvPr id="11" name="Text 9"/>
          <p:cNvSpPr txBox="1"/>
          <p:nvPr/>
        </p:nvSpPr>
        <p:spPr>
          <a:xfrm>
            <a:off x="4617720" y="2926080"/>
            <a:ext cx="2926080" cy="26517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F4F7FB"/>
                </a:solidFill>
                <a:latin typeface="Calibri" pitchFamily="34" charset="0"/>
                <a:ea typeface="Calibri" pitchFamily="34" charset="-122"/>
                <a:cs typeface="Calibri" pitchFamily="34" charset="-120"/>
              </a:rPr>
              <a:t>15 paying suppliers, 1,000 active businesses</a:t>
            </a:r>
            <a:endParaRPr lang="en-US" sz="1500" dirty="0"/>
          </a:p>
          <a:p>
            <a:pPr marL="342900" indent="-342900">
              <a:spcAft>
                <a:spcPts val="900"/>
              </a:spcAft>
              <a:buSzPct val="100000"/>
              <a:buChar char="•"/>
            </a:pPr>
            <a:r>
              <a:rPr lang="en-US" sz="1500" dirty="0">
                <a:solidFill>
                  <a:srgbClr val="F4F7FB"/>
                </a:solidFill>
                <a:latin typeface="Calibri" pitchFamily="34" charset="0"/>
                <a:ea typeface="Calibri" pitchFamily="34" charset="-122"/>
                <a:cs typeface="Calibri" pitchFamily="34" charset="-120"/>
              </a:rPr>
              <a:t>Each supplier onboards its own customers</a:t>
            </a:r>
            <a:endParaRPr lang="en-US" sz="1500" dirty="0"/>
          </a:p>
          <a:p>
            <a:pPr marL="342900" indent="-342900">
              <a:spcAft>
                <a:spcPts val="900"/>
              </a:spcAft>
              <a:buSzPct val="100000"/>
              <a:buChar char="•"/>
            </a:pPr>
            <a:r>
              <a:rPr lang="en-US" sz="1500" dirty="0">
                <a:solidFill>
                  <a:srgbClr val="F4F7FB"/>
                </a:solidFill>
                <a:latin typeface="Calibri" pitchFamily="34" charset="0"/>
                <a:ea typeface="Calibri" pitchFamily="34" charset="-122"/>
                <a:cs typeface="Calibri" pitchFamily="34" charset="-120"/>
              </a:rPr>
              <a:t>Owners invite their suppliers; builders bring partners</a:t>
            </a:r>
            <a:endParaRPr lang="en-US" sz="1500" dirty="0"/>
          </a:p>
        </p:txBody>
      </p:sp>
      <p:sp>
        <p:nvSpPr>
          <p:cNvPr id="12" name="Shape 10"/>
          <p:cNvSpPr/>
          <p:nvPr/>
        </p:nvSpPr>
        <p:spPr>
          <a:xfrm>
            <a:off x="7790688" y="3566160"/>
            <a:ext cx="237744" cy="0"/>
          </a:xfrm>
          <a:prstGeom prst="line">
            <a:avLst/>
          </a:prstGeom>
          <a:noFill/>
          <a:ln w="19050">
            <a:solidFill>
              <a:srgbClr val="5E7891"/>
            </a:solidFill>
            <a:prstDash val="solid"/>
            <a:tailEnd type="triangle"/>
          </a:ln>
        </p:spPr>
      </p:sp>
      <p:sp>
        <p:nvSpPr>
          <p:cNvPr id="13" name="Shape 11"/>
          <p:cNvSpPr/>
          <p:nvPr/>
        </p:nvSpPr>
        <p:spPr>
          <a:xfrm>
            <a:off x="8046720" y="1508760"/>
            <a:ext cx="3474720" cy="4206240"/>
          </a:xfrm>
          <a:prstGeom prst="roundRect">
            <a:avLst>
              <a:gd name="adj" fmla="val 3158"/>
            </a:avLst>
          </a:prstGeom>
          <a:solidFill>
            <a:srgbClr val="132A40"/>
          </a:solidFill>
          <a:ln w="12700">
            <a:solidFill>
              <a:srgbClr val="132A40"/>
            </a:solidFill>
            <a:prstDash val="solid"/>
          </a:ln>
        </p:spPr>
      </p:sp>
      <p:sp>
        <p:nvSpPr>
          <p:cNvPr id="14" name="Text 12"/>
          <p:cNvSpPr txBox="1"/>
          <p:nvPr/>
        </p:nvSpPr>
        <p:spPr>
          <a:xfrm>
            <a:off x="8366760" y="1737360"/>
            <a:ext cx="2834640" cy="36576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18-36 months</a:t>
            </a:r>
            <a:endParaRPr lang="en-US" sz="1400" dirty="0"/>
          </a:p>
        </p:txBody>
      </p:sp>
      <p:sp>
        <p:nvSpPr>
          <p:cNvPr id="15" name="Text 13"/>
          <p:cNvSpPr txBox="1"/>
          <p:nvPr/>
        </p:nvSpPr>
        <p:spPr>
          <a:xfrm>
            <a:off x="8366760" y="2103120"/>
            <a:ext cx="2834640" cy="640080"/>
          </a:xfrm>
          <a:prstGeom prst="rect">
            <a:avLst/>
          </a:prstGeom>
          <a:noFill/>
          <a:ln/>
        </p:spPr>
        <p:txBody>
          <a:bodyPr wrap="square" lIns="0" tIns="0" rIns="0" bIns="0" rtlCol="0" anchor="t"/>
          <a:lstStyle/>
          <a:p>
            <a:pPr indent="0" marL="0">
              <a:buNone/>
            </a:pPr>
            <a:r>
              <a:rPr lang="en-US" sz="3000" b="1" dirty="0">
                <a:solidFill>
                  <a:srgbClr val="34D399"/>
                </a:solidFill>
                <a:latin typeface="Georgia" pitchFamily="34" charset="0"/>
                <a:ea typeface="Georgia" pitchFamily="34" charset="-122"/>
                <a:cs typeface="Georgia" pitchFamily="34" charset="-120"/>
              </a:rPr>
              <a:t>Scale</a:t>
            </a:r>
            <a:endParaRPr lang="en-US" sz="3000" dirty="0"/>
          </a:p>
        </p:txBody>
      </p:sp>
      <p:sp>
        <p:nvSpPr>
          <p:cNvPr id="16" name="Text 14"/>
          <p:cNvSpPr txBox="1"/>
          <p:nvPr/>
        </p:nvSpPr>
        <p:spPr>
          <a:xfrm>
            <a:off x="8366760" y="2926080"/>
            <a:ext cx="2926080" cy="26517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F4F7FB"/>
                </a:solidFill>
                <a:latin typeface="Calibri" pitchFamily="34" charset="0"/>
                <a:ea typeface="Calibri" pitchFamily="34" charset="-122"/>
                <a:cs typeface="Calibri" pitchFamily="34" charset="-120"/>
              </a:rPr>
              <a:t>All nine provinces, ERP connections</a:t>
            </a:r>
            <a:endParaRPr lang="en-US" sz="1500" dirty="0"/>
          </a:p>
          <a:p>
            <a:pPr marL="342900" indent="-342900">
              <a:spcAft>
                <a:spcPts val="900"/>
              </a:spcAft>
              <a:buSzPct val="100000"/>
              <a:buChar char="•"/>
            </a:pPr>
            <a:r>
              <a:rPr lang="en-US" sz="1500" dirty="0">
                <a:solidFill>
                  <a:srgbClr val="F4F7FB"/>
                </a:solidFill>
                <a:latin typeface="Calibri" pitchFamily="34" charset="0"/>
                <a:ea typeface="Calibri" pitchFamily="34" charset="-122"/>
                <a:cs typeface="Calibri" pitchFamily="34" charset="-120"/>
              </a:rPr>
              <a:t>Spaza and builder associations, trade events</a:t>
            </a:r>
            <a:endParaRPr lang="en-US" sz="1500" dirty="0"/>
          </a:p>
          <a:p>
            <a:pPr marL="342900" indent="-342900">
              <a:spcAft>
                <a:spcPts val="900"/>
              </a:spcAft>
              <a:buSzPct val="100000"/>
              <a:buChar char="•"/>
            </a:pPr>
            <a:r>
              <a:rPr lang="en-US" sz="1500" dirty="0">
                <a:solidFill>
                  <a:srgbClr val="F4F7FB"/>
                </a:solidFill>
                <a:latin typeface="Calibri" pitchFamily="34" charset="0"/>
                <a:ea typeface="Calibri" pitchFamily="34" charset="-122"/>
                <a:cs typeface="Calibri" pitchFamily="34" charset="-120"/>
              </a:rPr>
              <a:t>Then the same model in other African markets</a:t>
            </a:r>
            <a:endParaRPr lang="en-US" sz="1500" dirty="0"/>
          </a:p>
        </p:txBody>
      </p:sp>
      <p:sp>
        <p:nvSpPr>
          <p:cNvPr id="17" name="Text 15"/>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500" i="1" dirty="0">
                <a:solidFill>
                  <a:srgbClr val="22C3E6"/>
                </a:solidFill>
                <a:latin typeface="Calibri" pitchFamily="34" charset="0"/>
                <a:ea typeface="Calibri" pitchFamily="34" charset="-122"/>
                <a:cs typeface="Calibri" pitchFamily="34" charset="-120"/>
              </a:rPr>
              <a:t>One supplier brings hundreds of businesses. That's why suppliers are both our customer and our channel.</a:t>
            </a:r>
            <a:endParaRPr lang="en-US" sz="1500" dirty="0"/>
          </a:p>
        </p:txBody>
      </p:sp>
      <p:sp>
        <p:nvSpPr>
          <p:cNvPr id="18" name="Text 16"/>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What it costs, and what we need now</a:t>
            </a:r>
            <a:endParaRPr lang="en-US" sz="3600" dirty="0"/>
          </a:p>
        </p:txBody>
      </p:sp>
      <p:sp>
        <p:nvSpPr>
          <p:cNvPr id="3" name="Text 1"/>
          <p:cNvSpPr txBox="1"/>
          <p:nvPr/>
        </p:nvSpPr>
        <p:spPr>
          <a:xfrm>
            <a:off x="548640" y="1417320"/>
            <a:ext cx="5120640" cy="1097280"/>
          </a:xfrm>
          <a:prstGeom prst="rect">
            <a:avLst/>
          </a:prstGeom>
          <a:noFill/>
          <a:ln/>
        </p:spPr>
        <p:txBody>
          <a:bodyPr wrap="square" lIns="0" tIns="0" rIns="0" bIns="0" rtlCol="0" anchor="t"/>
          <a:lstStyle/>
          <a:p>
            <a:pPr indent="0" marL="0">
              <a:buNone/>
            </a:pPr>
            <a:r>
              <a:rPr lang="en-US" sz="6000" b="1" dirty="0">
                <a:solidFill>
                  <a:srgbClr val="F2A93B"/>
                </a:solidFill>
                <a:latin typeface="Georgia" pitchFamily="34" charset="0"/>
                <a:ea typeface="Georgia" pitchFamily="34" charset="-122"/>
                <a:cs typeface="Georgia" pitchFamily="34" charset="-120"/>
              </a:rPr>
              <a:t>R300,000</a:t>
            </a:r>
            <a:endParaRPr lang="en-US" sz="6000" dirty="0"/>
          </a:p>
        </p:txBody>
      </p:sp>
      <p:sp>
        <p:nvSpPr>
          <p:cNvPr id="4" name="Text 2"/>
          <p:cNvSpPr txBox="1"/>
          <p:nvPr/>
        </p:nvSpPr>
        <p:spPr>
          <a:xfrm>
            <a:off x="548640" y="2514600"/>
            <a:ext cx="4937760" cy="731520"/>
          </a:xfrm>
          <a:prstGeom prst="rect">
            <a:avLst/>
          </a:prstGeom>
          <a:noFill/>
          <a:ln/>
        </p:spPr>
        <p:txBody>
          <a:bodyPr wrap="square" lIns="0" tIns="0" rIns="0" bIns="0" rtlCol="0" anchor="t"/>
          <a:lstStyle/>
          <a:p>
            <a:pPr indent="0" marL="0">
              <a:buNone/>
            </a:pPr>
            <a:r>
              <a:rPr lang="en-US" sz="1600" dirty="0">
                <a:solidFill>
                  <a:srgbClr val="F4F7FB"/>
                </a:solidFill>
                <a:latin typeface="Calibri" pitchFamily="34" charset="0"/>
                <a:ea typeface="Calibri" pitchFamily="34" charset="-122"/>
                <a:cs typeface="Calibri" pitchFamily="34" charset="-120"/>
              </a:rPr>
              <a:t>for a 6-month pilot with 2 suppliers and the 50-100 businesses they serve</a:t>
            </a:r>
            <a:endParaRPr lang="en-US" sz="1600" dirty="0"/>
          </a:p>
        </p:txBody>
      </p:sp>
      <p:sp>
        <p:nvSpPr>
          <p:cNvPr id="5" name="Shape 3"/>
          <p:cNvSpPr/>
          <p:nvPr/>
        </p:nvSpPr>
        <p:spPr>
          <a:xfrm>
            <a:off x="548640" y="3429000"/>
            <a:ext cx="4937760" cy="512064"/>
          </a:xfrm>
          <a:prstGeom prst="roundRect">
            <a:avLst>
              <a:gd name="adj" fmla="val 21429"/>
            </a:avLst>
          </a:prstGeom>
          <a:solidFill>
            <a:srgbClr val="132A40"/>
          </a:solidFill>
          <a:ln w="12700">
            <a:solidFill>
              <a:srgbClr val="132A40"/>
            </a:solidFill>
            <a:prstDash val="solid"/>
          </a:ln>
        </p:spPr>
      </p:sp>
      <p:sp>
        <p:nvSpPr>
          <p:cNvPr id="6" name="Text 4"/>
          <p:cNvSpPr txBox="1"/>
          <p:nvPr/>
        </p:nvSpPr>
        <p:spPr>
          <a:xfrm>
            <a:off x="777240" y="3520440"/>
            <a:ext cx="2743200" cy="347472"/>
          </a:xfrm>
          <a:prstGeom prst="rect">
            <a:avLst/>
          </a:prstGeom>
          <a:noFill/>
          <a:ln/>
        </p:spPr>
        <p:txBody>
          <a:bodyPr wrap="square" lIns="0" tIns="0" rIns="0" bIns="0" rtlCol="0" anchor="ctr"/>
          <a:lstStyle/>
          <a:p>
            <a:pPr indent="0" marL="0">
              <a:buNone/>
            </a:pPr>
            <a:r>
              <a:rPr lang="en-US" sz="1400" dirty="0">
                <a:solidFill>
                  <a:srgbClr val="9FB3C8"/>
                </a:solidFill>
                <a:latin typeface="Calibri" pitchFamily="34" charset="0"/>
                <a:ea typeface="Calibri" pitchFamily="34" charset="-122"/>
                <a:cs typeface="Calibri" pitchFamily="34" charset="-120"/>
              </a:rPr>
              <a:t>Running costs, pilot</a:t>
            </a:r>
            <a:endParaRPr lang="en-US" sz="1400" dirty="0"/>
          </a:p>
        </p:txBody>
      </p:sp>
      <p:sp>
        <p:nvSpPr>
          <p:cNvPr id="7" name="Text 5"/>
          <p:cNvSpPr txBox="1"/>
          <p:nvPr/>
        </p:nvSpPr>
        <p:spPr>
          <a:xfrm>
            <a:off x="3200400" y="3520440"/>
            <a:ext cx="2103120" cy="347472"/>
          </a:xfrm>
          <a:prstGeom prst="rect">
            <a:avLst/>
          </a:prstGeom>
          <a:noFill/>
          <a:ln/>
        </p:spPr>
        <p:txBody>
          <a:bodyPr wrap="square" lIns="0" tIns="0" rIns="0" bIns="0" rtlCol="0" anchor="ctr"/>
          <a:lstStyle/>
          <a:p>
            <a:pPr algn="r" indent="0" marL="0">
              <a:buNone/>
            </a:pPr>
            <a:r>
              <a:rPr lang="en-US" sz="1400" b="1" dirty="0">
                <a:solidFill>
                  <a:srgbClr val="F4F7FB"/>
                </a:solidFill>
                <a:latin typeface="Calibri" pitchFamily="34" charset="0"/>
                <a:ea typeface="Calibri" pitchFamily="34" charset="-122"/>
                <a:cs typeface="Calibri" pitchFamily="34" charset="-120"/>
              </a:rPr>
              <a:t>~R460 / month</a:t>
            </a:r>
            <a:endParaRPr lang="en-US" sz="1400" dirty="0"/>
          </a:p>
        </p:txBody>
      </p:sp>
      <p:sp>
        <p:nvSpPr>
          <p:cNvPr id="8" name="Shape 6"/>
          <p:cNvSpPr/>
          <p:nvPr/>
        </p:nvSpPr>
        <p:spPr>
          <a:xfrm>
            <a:off x="548640" y="4050792"/>
            <a:ext cx="4937760" cy="512064"/>
          </a:xfrm>
          <a:prstGeom prst="roundRect">
            <a:avLst>
              <a:gd name="adj" fmla="val 21429"/>
            </a:avLst>
          </a:prstGeom>
          <a:solidFill>
            <a:srgbClr val="132A40"/>
          </a:solidFill>
          <a:ln w="12700">
            <a:solidFill>
              <a:srgbClr val="132A40"/>
            </a:solidFill>
            <a:prstDash val="solid"/>
          </a:ln>
        </p:spPr>
      </p:sp>
      <p:sp>
        <p:nvSpPr>
          <p:cNvPr id="9" name="Text 7"/>
          <p:cNvSpPr txBox="1"/>
          <p:nvPr/>
        </p:nvSpPr>
        <p:spPr>
          <a:xfrm>
            <a:off x="777240" y="4142232"/>
            <a:ext cx="2743200" cy="347472"/>
          </a:xfrm>
          <a:prstGeom prst="rect">
            <a:avLst/>
          </a:prstGeom>
          <a:noFill/>
          <a:ln/>
        </p:spPr>
        <p:txBody>
          <a:bodyPr wrap="square" lIns="0" tIns="0" rIns="0" bIns="0" rtlCol="0" anchor="ctr"/>
          <a:lstStyle/>
          <a:p>
            <a:pPr indent="0" marL="0">
              <a:buNone/>
            </a:pPr>
            <a:r>
              <a:rPr lang="en-US" sz="1400" dirty="0">
                <a:solidFill>
                  <a:srgbClr val="9FB3C8"/>
                </a:solidFill>
                <a:latin typeface="Calibri" pitchFamily="34" charset="0"/>
                <a:ea typeface="Calibri" pitchFamily="34" charset="-122"/>
                <a:cs typeface="Calibri" pitchFamily="34" charset="-120"/>
              </a:rPr>
              <a:t>Running costs, growth</a:t>
            </a:r>
            <a:endParaRPr lang="en-US" sz="1400" dirty="0"/>
          </a:p>
        </p:txBody>
      </p:sp>
      <p:sp>
        <p:nvSpPr>
          <p:cNvPr id="10" name="Text 8"/>
          <p:cNvSpPr txBox="1"/>
          <p:nvPr/>
        </p:nvSpPr>
        <p:spPr>
          <a:xfrm>
            <a:off x="3200400" y="4142232"/>
            <a:ext cx="2103120" cy="347472"/>
          </a:xfrm>
          <a:prstGeom prst="rect">
            <a:avLst/>
          </a:prstGeom>
          <a:noFill/>
          <a:ln/>
        </p:spPr>
        <p:txBody>
          <a:bodyPr wrap="square" lIns="0" tIns="0" rIns="0" bIns="0" rtlCol="0" anchor="ctr"/>
          <a:lstStyle/>
          <a:p>
            <a:pPr algn="r" indent="0" marL="0">
              <a:buNone/>
            </a:pPr>
            <a:r>
              <a:rPr lang="en-US" sz="1400" b="1" dirty="0">
                <a:solidFill>
                  <a:srgbClr val="F4F7FB"/>
                </a:solidFill>
                <a:latin typeface="Calibri" pitchFamily="34" charset="0"/>
                <a:ea typeface="Calibri" pitchFamily="34" charset="-122"/>
                <a:cs typeface="Calibri" pitchFamily="34" charset="-120"/>
              </a:rPr>
              <a:t>~R4,700 / month</a:t>
            </a:r>
            <a:endParaRPr lang="en-US" sz="1400" dirty="0"/>
          </a:p>
        </p:txBody>
      </p:sp>
      <p:sp>
        <p:nvSpPr>
          <p:cNvPr id="11" name="Shape 9"/>
          <p:cNvSpPr/>
          <p:nvPr/>
        </p:nvSpPr>
        <p:spPr>
          <a:xfrm>
            <a:off x="548640" y="4672584"/>
            <a:ext cx="4937760" cy="512064"/>
          </a:xfrm>
          <a:prstGeom prst="roundRect">
            <a:avLst>
              <a:gd name="adj" fmla="val 21429"/>
            </a:avLst>
          </a:prstGeom>
          <a:solidFill>
            <a:srgbClr val="132A40"/>
          </a:solidFill>
          <a:ln w="12700">
            <a:solidFill>
              <a:srgbClr val="132A40"/>
            </a:solidFill>
            <a:prstDash val="solid"/>
          </a:ln>
        </p:spPr>
      </p:sp>
      <p:sp>
        <p:nvSpPr>
          <p:cNvPr id="12" name="Text 10"/>
          <p:cNvSpPr txBox="1"/>
          <p:nvPr/>
        </p:nvSpPr>
        <p:spPr>
          <a:xfrm>
            <a:off x="777240" y="4764024"/>
            <a:ext cx="2743200" cy="347472"/>
          </a:xfrm>
          <a:prstGeom prst="rect">
            <a:avLst/>
          </a:prstGeom>
          <a:noFill/>
          <a:ln/>
        </p:spPr>
        <p:txBody>
          <a:bodyPr wrap="square" lIns="0" tIns="0" rIns="0" bIns="0" rtlCol="0" anchor="ctr"/>
          <a:lstStyle/>
          <a:p>
            <a:pPr indent="0" marL="0">
              <a:buNone/>
            </a:pPr>
            <a:r>
              <a:rPr lang="en-US" sz="1400" dirty="0">
                <a:solidFill>
                  <a:srgbClr val="9FB3C8"/>
                </a:solidFill>
                <a:latin typeface="Calibri" pitchFamily="34" charset="0"/>
                <a:ea typeface="Calibri" pitchFamily="34" charset="-122"/>
                <a:cs typeface="Calibri" pitchFamily="34" charset="-120"/>
              </a:rPr>
              <a:t>Google Play (once)</a:t>
            </a:r>
            <a:endParaRPr lang="en-US" sz="1400" dirty="0"/>
          </a:p>
        </p:txBody>
      </p:sp>
      <p:sp>
        <p:nvSpPr>
          <p:cNvPr id="13" name="Text 11"/>
          <p:cNvSpPr txBox="1"/>
          <p:nvPr/>
        </p:nvSpPr>
        <p:spPr>
          <a:xfrm>
            <a:off x="3200400" y="4764024"/>
            <a:ext cx="2103120" cy="347472"/>
          </a:xfrm>
          <a:prstGeom prst="rect">
            <a:avLst/>
          </a:prstGeom>
          <a:noFill/>
          <a:ln/>
        </p:spPr>
        <p:txBody>
          <a:bodyPr wrap="square" lIns="0" tIns="0" rIns="0" bIns="0" rtlCol="0" anchor="ctr"/>
          <a:lstStyle/>
          <a:p>
            <a:pPr algn="r" indent="0" marL="0">
              <a:buNone/>
            </a:pPr>
            <a:r>
              <a:rPr lang="en-US" sz="1400" b="1" dirty="0">
                <a:solidFill>
                  <a:srgbClr val="F4F7FB"/>
                </a:solidFill>
                <a:latin typeface="Calibri" pitchFamily="34" charset="0"/>
                <a:ea typeface="Calibri" pitchFamily="34" charset="-122"/>
                <a:cs typeface="Calibri" pitchFamily="34" charset="-120"/>
              </a:rPr>
              <a:t>R415</a:t>
            </a:r>
            <a:endParaRPr lang="en-US" sz="1400" dirty="0"/>
          </a:p>
        </p:txBody>
      </p:sp>
      <p:sp>
        <p:nvSpPr>
          <p:cNvPr id="14" name="Shape 12"/>
          <p:cNvSpPr/>
          <p:nvPr/>
        </p:nvSpPr>
        <p:spPr>
          <a:xfrm>
            <a:off x="548640" y="5294376"/>
            <a:ext cx="4937760" cy="512064"/>
          </a:xfrm>
          <a:prstGeom prst="roundRect">
            <a:avLst>
              <a:gd name="adj" fmla="val 21429"/>
            </a:avLst>
          </a:prstGeom>
          <a:solidFill>
            <a:srgbClr val="132A40"/>
          </a:solidFill>
          <a:ln w="12700">
            <a:solidFill>
              <a:srgbClr val="132A40"/>
            </a:solidFill>
            <a:prstDash val="solid"/>
          </a:ln>
        </p:spPr>
      </p:sp>
      <p:sp>
        <p:nvSpPr>
          <p:cNvPr id="15" name="Text 13"/>
          <p:cNvSpPr txBox="1"/>
          <p:nvPr/>
        </p:nvSpPr>
        <p:spPr>
          <a:xfrm>
            <a:off x="777240" y="5385816"/>
            <a:ext cx="2743200" cy="347472"/>
          </a:xfrm>
          <a:prstGeom prst="rect">
            <a:avLst/>
          </a:prstGeom>
          <a:noFill/>
          <a:ln/>
        </p:spPr>
        <p:txBody>
          <a:bodyPr wrap="square" lIns="0" tIns="0" rIns="0" bIns="0" rtlCol="0" anchor="ctr"/>
          <a:lstStyle/>
          <a:p>
            <a:pPr indent="0" marL="0">
              <a:buNone/>
            </a:pPr>
            <a:r>
              <a:rPr lang="en-US" sz="1400" dirty="0">
                <a:solidFill>
                  <a:srgbClr val="9FB3C8"/>
                </a:solidFill>
                <a:latin typeface="Calibri" pitchFamily="34" charset="0"/>
                <a:ea typeface="Calibri" pitchFamily="34" charset="-122"/>
                <a:cs typeface="Calibri" pitchFamily="34" charset="-120"/>
              </a:rPr>
              <a:t>Break-even</a:t>
            </a:r>
            <a:endParaRPr lang="en-US" sz="1400" dirty="0"/>
          </a:p>
        </p:txBody>
      </p:sp>
      <p:sp>
        <p:nvSpPr>
          <p:cNvPr id="16" name="Text 14"/>
          <p:cNvSpPr txBox="1"/>
          <p:nvPr/>
        </p:nvSpPr>
        <p:spPr>
          <a:xfrm>
            <a:off x="3200400" y="5385816"/>
            <a:ext cx="2103120" cy="347472"/>
          </a:xfrm>
          <a:prstGeom prst="rect">
            <a:avLst/>
          </a:prstGeom>
          <a:noFill/>
          <a:ln/>
        </p:spPr>
        <p:txBody>
          <a:bodyPr wrap="square" lIns="0" tIns="0" rIns="0" bIns="0" rtlCol="0" anchor="ctr"/>
          <a:lstStyle/>
          <a:p>
            <a:pPr algn="r" indent="0" marL="0">
              <a:buNone/>
            </a:pPr>
            <a:r>
              <a:rPr lang="en-US" sz="1400" b="1" dirty="0">
                <a:solidFill>
                  <a:srgbClr val="F4F7FB"/>
                </a:solidFill>
                <a:latin typeface="Calibri" pitchFamily="34" charset="0"/>
                <a:ea typeface="Calibri" pitchFamily="34" charset="-122"/>
                <a:cs typeface="Calibri" pitchFamily="34" charset="-120"/>
              </a:rPr>
              <a:t>2 Starter suppliers</a:t>
            </a:r>
            <a:endParaRPr lang="en-US" sz="1400" dirty="0"/>
          </a:p>
        </p:txBody>
      </p:sp>
      <p:sp>
        <p:nvSpPr>
          <p:cNvPr id="17" name="Shape 15"/>
          <p:cNvSpPr/>
          <p:nvPr/>
        </p:nvSpPr>
        <p:spPr>
          <a:xfrm>
            <a:off x="5760720" y="1417320"/>
            <a:ext cx="5852160" cy="4572000"/>
          </a:xfrm>
          <a:prstGeom prst="roundRect">
            <a:avLst>
              <a:gd name="adj" fmla="val 2400"/>
            </a:avLst>
          </a:prstGeom>
          <a:solidFill>
            <a:srgbClr val="132A40"/>
          </a:solidFill>
          <a:ln w="12700">
            <a:solidFill>
              <a:srgbClr val="132A40"/>
            </a:solidFill>
            <a:prstDash val="solid"/>
          </a:ln>
        </p:spPr>
      </p:sp>
      <p:graphicFrame>
        <p:nvGraphicFramePr>
          <p:cNvPr id="18" name="Chart 0" descr=""/>
          <p:cNvGraphicFramePr/>
          <p:nvPr/>
        </p:nvGraphicFramePr>
        <p:xfrm>
          <a:off x="5897880" y="1508760"/>
          <a:ext cx="5577840" cy="4389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It's built, and it's tested</a:t>
            </a:r>
            <a:endParaRPr lang="en-US" sz="3600" dirty="0"/>
          </a:p>
        </p:txBody>
      </p:sp>
      <p:sp>
        <p:nvSpPr>
          <p:cNvPr id="3" name="Text 1"/>
          <p:cNvSpPr txBox="1"/>
          <p:nvPr/>
        </p:nvSpPr>
        <p:spPr>
          <a:xfrm>
            <a:off x="548640" y="1188720"/>
            <a:ext cx="11094415" cy="457200"/>
          </a:xfrm>
          <a:prstGeom prst="rect">
            <a:avLst/>
          </a:prstGeom>
          <a:noFill/>
          <a:ln/>
        </p:spPr>
        <p:txBody>
          <a:bodyPr wrap="square" lIns="0" tIns="0" rIns="0" bIns="0" rtlCol="0" anchor="ctr"/>
          <a:lstStyle/>
          <a:p>
            <a:pPr indent="0" marL="0">
              <a:buNone/>
            </a:pPr>
            <a:r>
              <a:rPr lang="en-US" sz="1600" i="1" dirty="0">
                <a:solidFill>
                  <a:srgbClr val="22C3E6"/>
                </a:solidFill>
                <a:latin typeface="Calibri" pitchFamily="34" charset="0"/>
                <a:ea typeface="Calibri" pitchFamily="34" charset="-122"/>
                <a:cs typeface="Calibri" pitchFamily="34" charset="-120"/>
              </a:rPr>
              <a:t>Technology Readiness Level 4: validated end to end in our own environment.</a:t>
            </a:r>
            <a:endParaRPr lang="en-US" sz="1600" dirty="0"/>
          </a:p>
        </p:txBody>
      </p:sp>
      <p:sp>
        <p:nvSpPr>
          <p:cNvPr id="4" name="Shape 2"/>
          <p:cNvSpPr/>
          <p:nvPr/>
        </p:nvSpPr>
        <p:spPr>
          <a:xfrm>
            <a:off x="548640" y="1828800"/>
            <a:ext cx="2606040" cy="1737360"/>
          </a:xfrm>
          <a:prstGeom prst="roundRect">
            <a:avLst>
              <a:gd name="adj" fmla="val 6316"/>
            </a:avLst>
          </a:prstGeom>
          <a:solidFill>
            <a:srgbClr val="132A40"/>
          </a:solidFill>
          <a:ln w="12700">
            <a:solidFill>
              <a:srgbClr val="132A40"/>
            </a:solidFill>
            <a:prstDash val="solid"/>
          </a:ln>
        </p:spPr>
      </p:sp>
      <p:sp>
        <p:nvSpPr>
          <p:cNvPr id="5" name="Text 3"/>
          <p:cNvSpPr txBox="1"/>
          <p:nvPr/>
        </p:nvSpPr>
        <p:spPr>
          <a:xfrm>
            <a:off x="731520" y="1965960"/>
            <a:ext cx="2240280" cy="822960"/>
          </a:xfrm>
          <a:prstGeom prst="rect">
            <a:avLst/>
          </a:prstGeom>
          <a:noFill/>
          <a:ln/>
        </p:spPr>
        <p:txBody>
          <a:bodyPr wrap="square" lIns="0" tIns="0" rIns="0" bIns="0" rtlCol="0" anchor="t"/>
          <a:lstStyle/>
          <a:p>
            <a:pPr algn="ctr" indent="0" marL="0">
              <a:buNone/>
            </a:pPr>
            <a:r>
              <a:rPr lang="en-US" sz="4200" b="1" dirty="0">
                <a:solidFill>
                  <a:srgbClr val="22C3E6"/>
                </a:solidFill>
                <a:latin typeface="Georgia" pitchFamily="34" charset="0"/>
                <a:ea typeface="Georgia" pitchFamily="34" charset="-122"/>
                <a:cs typeface="Georgia" pitchFamily="34" charset="-120"/>
              </a:rPr>
              <a:t>1,239</a:t>
            </a:r>
            <a:endParaRPr lang="en-US" sz="4200" dirty="0"/>
          </a:p>
        </p:txBody>
      </p:sp>
      <p:sp>
        <p:nvSpPr>
          <p:cNvPr id="6" name="Text 4"/>
          <p:cNvSpPr txBox="1"/>
          <p:nvPr/>
        </p:nvSpPr>
        <p:spPr>
          <a:xfrm>
            <a:off x="731520" y="2788920"/>
            <a:ext cx="2240280" cy="685800"/>
          </a:xfrm>
          <a:prstGeom prst="rect">
            <a:avLst/>
          </a:prstGeom>
          <a:noFill/>
          <a:ln/>
        </p:spPr>
        <p:txBody>
          <a:bodyPr wrap="square" lIns="0" tIns="0" rIns="0" bIns="0" rtlCol="0" anchor="t"/>
          <a:lstStyle/>
          <a:p>
            <a:pPr algn="ctr" indent="0" marL="0">
              <a:buNone/>
            </a:pPr>
            <a:r>
              <a:rPr lang="en-US" sz="1350" dirty="0">
                <a:solidFill>
                  <a:srgbClr val="9FB3C8"/>
                </a:solidFill>
                <a:latin typeface="Calibri" pitchFamily="34" charset="0"/>
                <a:ea typeface="Calibri" pitchFamily="34" charset="-122"/>
                <a:cs typeface="Calibri" pitchFamily="34" charset="-120"/>
              </a:rPr>
              <a:t>automated backend tests</a:t>
            </a:r>
            <a:endParaRPr lang="en-US" sz="1350" dirty="0"/>
          </a:p>
        </p:txBody>
      </p:sp>
      <p:sp>
        <p:nvSpPr>
          <p:cNvPr id="7" name="Shape 5"/>
          <p:cNvSpPr/>
          <p:nvPr/>
        </p:nvSpPr>
        <p:spPr>
          <a:xfrm>
            <a:off x="3364992" y="1828800"/>
            <a:ext cx="2606040" cy="1737360"/>
          </a:xfrm>
          <a:prstGeom prst="roundRect">
            <a:avLst>
              <a:gd name="adj" fmla="val 6316"/>
            </a:avLst>
          </a:prstGeom>
          <a:solidFill>
            <a:srgbClr val="132A40"/>
          </a:solidFill>
          <a:ln w="12700">
            <a:solidFill>
              <a:srgbClr val="132A40"/>
            </a:solidFill>
            <a:prstDash val="solid"/>
          </a:ln>
        </p:spPr>
      </p:sp>
      <p:sp>
        <p:nvSpPr>
          <p:cNvPr id="8" name="Text 6"/>
          <p:cNvSpPr txBox="1"/>
          <p:nvPr/>
        </p:nvSpPr>
        <p:spPr>
          <a:xfrm>
            <a:off x="3547872" y="1965960"/>
            <a:ext cx="2240280" cy="822960"/>
          </a:xfrm>
          <a:prstGeom prst="rect">
            <a:avLst/>
          </a:prstGeom>
          <a:noFill/>
          <a:ln/>
        </p:spPr>
        <p:txBody>
          <a:bodyPr wrap="square" lIns="0" tIns="0" rIns="0" bIns="0" rtlCol="0" anchor="t"/>
          <a:lstStyle/>
          <a:p>
            <a:pPr algn="ctr" indent="0" marL="0">
              <a:buNone/>
            </a:pPr>
            <a:r>
              <a:rPr lang="en-US" sz="4200" b="1" dirty="0">
                <a:solidFill>
                  <a:srgbClr val="22C3E6"/>
                </a:solidFill>
                <a:latin typeface="Georgia" pitchFamily="34" charset="0"/>
                <a:ea typeface="Georgia" pitchFamily="34" charset="-122"/>
                <a:cs typeface="Georgia" pitchFamily="34" charset="-120"/>
              </a:rPr>
              <a:t>197</a:t>
            </a:r>
            <a:endParaRPr lang="en-US" sz="4200" dirty="0"/>
          </a:p>
        </p:txBody>
      </p:sp>
      <p:sp>
        <p:nvSpPr>
          <p:cNvPr id="9" name="Text 7"/>
          <p:cNvSpPr txBox="1"/>
          <p:nvPr/>
        </p:nvSpPr>
        <p:spPr>
          <a:xfrm>
            <a:off x="3547872" y="2788920"/>
            <a:ext cx="2240280" cy="685800"/>
          </a:xfrm>
          <a:prstGeom prst="rect">
            <a:avLst/>
          </a:prstGeom>
          <a:noFill/>
          <a:ln/>
        </p:spPr>
        <p:txBody>
          <a:bodyPr wrap="square" lIns="0" tIns="0" rIns="0" bIns="0" rtlCol="0" anchor="t"/>
          <a:lstStyle/>
          <a:p>
            <a:pPr algn="ctr" indent="0" marL="0">
              <a:buNone/>
            </a:pPr>
            <a:r>
              <a:rPr lang="en-US" sz="1350" dirty="0">
                <a:solidFill>
                  <a:srgbClr val="9FB3C8"/>
                </a:solidFill>
                <a:latin typeface="Calibri" pitchFamily="34" charset="0"/>
                <a:ea typeface="Calibri" pitchFamily="34" charset="-122"/>
                <a:cs typeface="Calibri" pitchFamily="34" charset="-120"/>
              </a:rPr>
              <a:t>app tests</a:t>
            </a:r>
            <a:endParaRPr lang="en-US" sz="1350" dirty="0"/>
          </a:p>
        </p:txBody>
      </p:sp>
      <p:sp>
        <p:nvSpPr>
          <p:cNvPr id="10" name="Shape 8"/>
          <p:cNvSpPr/>
          <p:nvPr/>
        </p:nvSpPr>
        <p:spPr>
          <a:xfrm>
            <a:off x="6181344" y="1828800"/>
            <a:ext cx="2606040" cy="1737360"/>
          </a:xfrm>
          <a:prstGeom prst="roundRect">
            <a:avLst>
              <a:gd name="adj" fmla="val 6316"/>
            </a:avLst>
          </a:prstGeom>
          <a:solidFill>
            <a:srgbClr val="132A40"/>
          </a:solidFill>
          <a:ln w="12700">
            <a:solidFill>
              <a:srgbClr val="132A40"/>
            </a:solidFill>
            <a:prstDash val="solid"/>
          </a:ln>
        </p:spPr>
      </p:sp>
      <p:sp>
        <p:nvSpPr>
          <p:cNvPr id="11" name="Text 9"/>
          <p:cNvSpPr txBox="1"/>
          <p:nvPr/>
        </p:nvSpPr>
        <p:spPr>
          <a:xfrm>
            <a:off x="6364224" y="1965960"/>
            <a:ext cx="2240280" cy="822960"/>
          </a:xfrm>
          <a:prstGeom prst="rect">
            <a:avLst/>
          </a:prstGeom>
          <a:noFill/>
          <a:ln/>
        </p:spPr>
        <p:txBody>
          <a:bodyPr wrap="square" lIns="0" tIns="0" rIns="0" bIns="0" rtlCol="0" anchor="t"/>
          <a:lstStyle/>
          <a:p>
            <a:pPr algn="ctr" indent="0" marL="0">
              <a:buNone/>
            </a:pPr>
            <a:r>
              <a:rPr lang="en-US" sz="4200" b="1" dirty="0">
                <a:solidFill>
                  <a:srgbClr val="22C3E6"/>
                </a:solidFill>
                <a:latin typeface="Georgia" pitchFamily="34" charset="0"/>
                <a:ea typeface="Georgia" pitchFamily="34" charset="-122"/>
                <a:cs typeface="Georgia" pitchFamily="34" charset="-120"/>
              </a:rPr>
              <a:t>11</a:t>
            </a:r>
            <a:endParaRPr lang="en-US" sz="4200" dirty="0"/>
          </a:p>
        </p:txBody>
      </p:sp>
      <p:sp>
        <p:nvSpPr>
          <p:cNvPr id="12" name="Text 10"/>
          <p:cNvSpPr txBox="1"/>
          <p:nvPr/>
        </p:nvSpPr>
        <p:spPr>
          <a:xfrm>
            <a:off x="6364224" y="2788920"/>
            <a:ext cx="2240280" cy="685800"/>
          </a:xfrm>
          <a:prstGeom prst="rect">
            <a:avLst/>
          </a:prstGeom>
          <a:noFill/>
          <a:ln/>
        </p:spPr>
        <p:txBody>
          <a:bodyPr wrap="square" lIns="0" tIns="0" rIns="0" bIns="0" rtlCol="0" anchor="t"/>
          <a:lstStyle/>
          <a:p>
            <a:pPr algn="ctr" indent="0" marL="0">
              <a:buNone/>
            </a:pPr>
            <a:r>
              <a:rPr lang="en-US" sz="1350" dirty="0">
                <a:solidFill>
                  <a:srgbClr val="9FB3C8"/>
                </a:solidFill>
                <a:latin typeface="Calibri" pitchFamily="34" charset="0"/>
                <a:ea typeface="Calibri" pitchFamily="34" charset="-122"/>
                <a:cs typeface="Calibri" pitchFamily="34" charset="-120"/>
              </a:rPr>
              <a:t>sample suppliers, 1,672 products</a:t>
            </a:r>
            <a:endParaRPr lang="en-US" sz="1350" dirty="0"/>
          </a:p>
        </p:txBody>
      </p:sp>
      <p:sp>
        <p:nvSpPr>
          <p:cNvPr id="13" name="Shape 11"/>
          <p:cNvSpPr/>
          <p:nvPr/>
        </p:nvSpPr>
        <p:spPr>
          <a:xfrm>
            <a:off x="8997696" y="1828800"/>
            <a:ext cx="2606040" cy="1737360"/>
          </a:xfrm>
          <a:prstGeom prst="roundRect">
            <a:avLst>
              <a:gd name="adj" fmla="val 6316"/>
            </a:avLst>
          </a:prstGeom>
          <a:solidFill>
            <a:srgbClr val="132A40"/>
          </a:solidFill>
          <a:ln w="12700">
            <a:solidFill>
              <a:srgbClr val="132A40"/>
            </a:solidFill>
            <a:prstDash val="solid"/>
          </a:ln>
        </p:spPr>
      </p:sp>
      <p:sp>
        <p:nvSpPr>
          <p:cNvPr id="14" name="Text 12"/>
          <p:cNvSpPr txBox="1"/>
          <p:nvPr/>
        </p:nvSpPr>
        <p:spPr>
          <a:xfrm>
            <a:off x="9180576" y="1965960"/>
            <a:ext cx="2240280" cy="822960"/>
          </a:xfrm>
          <a:prstGeom prst="rect">
            <a:avLst/>
          </a:prstGeom>
          <a:noFill/>
          <a:ln/>
        </p:spPr>
        <p:txBody>
          <a:bodyPr wrap="square" lIns="0" tIns="0" rIns="0" bIns="0" rtlCol="0" anchor="t"/>
          <a:lstStyle/>
          <a:p>
            <a:pPr algn="ctr" indent="0" marL="0">
              <a:buNone/>
            </a:pPr>
            <a:r>
              <a:rPr lang="en-US" sz="4200" b="1" dirty="0">
                <a:solidFill>
                  <a:srgbClr val="34D399"/>
                </a:solidFill>
                <a:latin typeface="Georgia" pitchFamily="34" charset="0"/>
                <a:ea typeface="Georgia" pitchFamily="34" charset="-122"/>
                <a:cs typeface="Georgia" pitchFamily="34" charset="-120"/>
              </a:rPr>
              <a:t>0</a:t>
            </a:r>
            <a:endParaRPr lang="en-US" sz="4200" dirty="0"/>
          </a:p>
        </p:txBody>
      </p:sp>
      <p:sp>
        <p:nvSpPr>
          <p:cNvPr id="15" name="Text 13"/>
          <p:cNvSpPr txBox="1"/>
          <p:nvPr/>
        </p:nvSpPr>
        <p:spPr>
          <a:xfrm>
            <a:off x="9180576" y="2788920"/>
            <a:ext cx="2240280" cy="685800"/>
          </a:xfrm>
          <a:prstGeom prst="rect">
            <a:avLst/>
          </a:prstGeom>
          <a:noFill/>
          <a:ln/>
        </p:spPr>
        <p:txBody>
          <a:bodyPr wrap="square" lIns="0" tIns="0" rIns="0" bIns="0" rtlCol="0" anchor="t"/>
          <a:lstStyle/>
          <a:p>
            <a:pPr algn="ctr" indent="0" marL="0">
              <a:buNone/>
            </a:pPr>
            <a:r>
              <a:rPr lang="en-US" sz="1350" dirty="0">
                <a:solidFill>
                  <a:srgbClr val="9FB3C8"/>
                </a:solidFill>
                <a:latin typeface="Calibri" pitchFamily="34" charset="0"/>
                <a:ea typeface="Calibri" pitchFamily="34" charset="-122"/>
                <a:cs typeface="Calibri" pitchFamily="34" charset="-120"/>
              </a:rPr>
              <a:t>card numbers ever touch our servers</a:t>
            </a:r>
            <a:endParaRPr lang="en-US" sz="1350" dirty="0"/>
          </a:p>
        </p:txBody>
      </p:sp>
      <p:sp>
        <p:nvSpPr>
          <p:cNvPr id="16" name="Shape 14"/>
          <p:cNvSpPr/>
          <p:nvPr/>
        </p:nvSpPr>
        <p:spPr>
          <a:xfrm>
            <a:off x="594360" y="3995928"/>
            <a:ext cx="329184" cy="329184"/>
          </a:xfrm>
          <a:prstGeom prst="ellipse">
            <a:avLst/>
          </a:prstGeom>
          <a:solidFill>
            <a:srgbClr val="22C3E6"/>
          </a:solidFill>
          <a:ln w="12700">
            <a:solidFill>
              <a:srgbClr val="22C3E6"/>
            </a:solidFill>
            <a:prstDash val="solid"/>
          </a:ln>
        </p:spPr>
      </p:sp>
      <p:sp>
        <p:nvSpPr>
          <p:cNvPr id="17" name="Text 15"/>
          <p:cNvSpPr txBox="1"/>
          <p:nvPr/>
        </p:nvSpPr>
        <p:spPr>
          <a:xfrm>
            <a:off x="1097280" y="3959352"/>
            <a:ext cx="2377440" cy="411480"/>
          </a:xfrm>
          <a:prstGeom prst="rect">
            <a:avLst/>
          </a:prstGeom>
          <a:noFill/>
          <a:ln/>
        </p:spPr>
        <p:txBody>
          <a:bodyPr wrap="square" lIns="0" tIns="0" rIns="0" bIns="0" rtlCol="0" anchor="t"/>
          <a:lstStyle/>
          <a:p>
            <a:pPr indent="0" marL="0">
              <a:buNone/>
            </a:pPr>
            <a:r>
              <a:rPr lang="en-US" sz="1600" b="1" dirty="0">
                <a:solidFill>
                  <a:srgbClr val="22C3E6"/>
                </a:solidFill>
                <a:latin typeface="Calibri" pitchFamily="34" charset="0"/>
                <a:ea typeface="Calibri" pitchFamily="34" charset="-122"/>
                <a:cs typeface="Calibri" pitchFamily="34" charset="-120"/>
              </a:rPr>
              <a:t>TRL 4 (today)</a:t>
            </a:r>
            <a:endParaRPr lang="en-US" sz="1600" dirty="0"/>
          </a:p>
        </p:txBody>
      </p:sp>
      <p:sp>
        <p:nvSpPr>
          <p:cNvPr id="18" name="Text 16"/>
          <p:cNvSpPr txBox="1"/>
          <p:nvPr/>
        </p:nvSpPr>
        <p:spPr>
          <a:xfrm>
            <a:off x="3474720" y="3959352"/>
            <a:ext cx="8138160" cy="457200"/>
          </a:xfrm>
          <a:prstGeom prst="rect">
            <a:avLst/>
          </a:prstGeom>
          <a:noFill/>
          <a:ln/>
        </p:spPr>
        <p:txBody>
          <a:bodyPr wrap="square" lIns="0" tIns="0" rIns="0" bIns="0" rtlCol="0" anchor="t"/>
          <a:lstStyle/>
          <a:p>
            <a:pPr indent="0" marL="0">
              <a:buNone/>
            </a:pPr>
            <a:r>
              <a:rPr lang="en-US" sz="1500" dirty="0">
                <a:solidFill>
                  <a:srgbClr val="F4F7FB"/>
                </a:solidFill>
                <a:latin typeface="Calibri" pitchFamily="34" charset="0"/>
                <a:ea typeface="Calibri" pitchFamily="34" charset="-122"/>
                <a:cs typeface="Calibri" pitchFamily="34" charset="-120"/>
              </a:rPr>
              <a:t>Every flow works end to end: sign-up, suppliers, orders, PayFast sandbox, invoices, the tools</a:t>
            </a:r>
            <a:endParaRPr lang="en-US" sz="1500" dirty="0"/>
          </a:p>
        </p:txBody>
      </p:sp>
      <p:sp>
        <p:nvSpPr>
          <p:cNvPr id="19" name="Shape 17"/>
          <p:cNvSpPr/>
          <p:nvPr/>
        </p:nvSpPr>
        <p:spPr>
          <a:xfrm>
            <a:off x="594360" y="4727448"/>
            <a:ext cx="329184" cy="329184"/>
          </a:xfrm>
          <a:prstGeom prst="ellipse">
            <a:avLst/>
          </a:prstGeom>
          <a:solidFill>
            <a:srgbClr val="F2A93B"/>
          </a:solidFill>
          <a:ln w="12700">
            <a:solidFill>
              <a:srgbClr val="F2A93B"/>
            </a:solidFill>
            <a:prstDash val="solid"/>
          </a:ln>
        </p:spPr>
      </p:sp>
      <p:sp>
        <p:nvSpPr>
          <p:cNvPr id="20" name="Text 18"/>
          <p:cNvSpPr txBox="1"/>
          <p:nvPr/>
        </p:nvSpPr>
        <p:spPr>
          <a:xfrm>
            <a:off x="1097280" y="4690872"/>
            <a:ext cx="2377440" cy="411480"/>
          </a:xfrm>
          <a:prstGeom prst="rect">
            <a:avLst/>
          </a:prstGeom>
          <a:noFill/>
          <a:ln/>
        </p:spPr>
        <p:txBody>
          <a:bodyPr wrap="square" lIns="0" tIns="0" rIns="0" bIns="0" rtlCol="0" anchor="t"/>
          <a:lstStyle/>
          <a:p>
            <a:pPr indent="0" marL="0">
              <a:buNone/>
            </a:pPr>
            <a:r>
              <a:rPr lang="en-US" sz="1600" b="1" dirty="0">
                <a:solidFill>
                  <a:srgbClr val="F2A93B"/>
                </a:solidFill>
                <a:latin typeface="Calibri" pitchFamily="34" charset="0"/>
                <a:ea typeface="Calibri" pitchFamily="34" charset="-122"/>
                <a:cs typeface="Calibri" pitchFamily="34" charset="-120"/>
              </a:rPr>
              <a:t>TRL 5-6 (pilot)</a:t>
            </a:r>
            <a:endParaRPr lang="en-US" sz="1600" dirty="0"/>
          </a:p>
        </p:txBody>
      </p:sp>
      <p:sp>
        <p:nvSpPr>
          <p:cNvPr id="21" name="Text 19"/>
          <p:cNvSpPr txBox="1"/>
          <p:nvPr/>
        </p:nvSpPr>
        <p:spPr>
          <a:xfrm>
            <a:off x="3474720" y="4690872"/>
            <a:ext cx="8138160" cy="457200"/>
          </a:xfrm>
          <a:prstGeom prst="rect">
            <a:avLst/>
          </a:prstGeom>
          <a:noFill/>
          <a:ln/>
        </p:spPr>
        <p:txBody>
          <a:bodyPr wrap="square" lIns="0" tIns="0" rIns="0" bIns="0" rtlCol="0" anchor="t"/>
          <a:lstStyle/>
          <a:p>
            <a:pPr indent="0" marL="0">
              <a:buNone/>
            </a:pPr>
            <a:r>
              <a:rPr lang="en-US" sz="1500" dirty="0">
                <a:solidFill>
                  <a:srgbClr val="F4F7FB"/>
                </a:solidFill>
                <a:latin typeface="Calibri" pitchFamily="34" charset="0"/>
                <a:ea typeface="Calibri" pitchFamily="34" charset="-122"/>
                <a:cs typeface="Calibri" pitchFamily="34" charset="-120"/>
              </a:rPr>
              <a:t>Real suppliers and businesses, live payments, in their own shops and sites</a:t>
            </a:r>
            <a:endParaRPr lang="en-US" sz="1500" dirty="0"/>
          </a:p>
        </p:txBody>
      </p:sp>
      <p:sp>
        <p:nvSpPr>
          <p:cNvPr id="22" name="Shape 20"/>
          <p:cNvSpPr/>
          <p:nvPr/>
        </p:nvSpPr>
        <p:spPr>
          <a:xfrm>
            <a:off x="594360" y="5458968"/>
            <a:ext cx="329184" cy="329184"/>
          </a:xfrm>
          <a:prstGeom prst="ellipse">
            <a:avLst/>
          </a:prstGeom>
          <a:solidFill>
            <a:srgbClr val="34D399"/>
          </a:solidFill>
          <a:ln w="12700">
            <a:solidFill>
              <a:srgbClr val="34D399"/>
            </a:solidFill>
            <a:prstDash val="solid"/>
          </a:ln>
        </p:spPr>
      </p:sp>
      <p:sp>
        <p:nvSpPr>
          <p:cNvPr id="23" name="Text 21"/>
          <p:cNvSpPr txBox="1"/>
          <p:nvPr/>
        </p:nvSpPr>
        <p:spPr>
          <a:xfrm>
            <a:off x="1097280" y="5422392"/>
            <a:ext cx="2377440" cy="411480"/>
          </a:xfrm>
          <a:prstGeom prst="rect">
            <a:avLst/>
          </a:prstGeom>
          <a:noFill/>
          <a:ln/>
        </p:spPr>
        <p:txBody>
          <a:bodyPr wrap="square" lIns="0" tIns="0" rIns="0" bIns="0" rtlCol="0" anchor="t"/>
          <a:lstStyle/>
          <a:p>
            <a:pPr indent="0" marL="0">
              <a:buNone/>
            </a:pPr>
            <a:r>
              <a:rPr lang="en-US" sz="1600" b="1" dirty="0">
                <a:solidFill>
                  <a:srgbClr val="34D399"/>
                </a:solidFill>
                <a:latin typeface="Calibri" pitchFamily="34" charset="0"/>
                <a:ea typeface="Calibri" pitchFamily="34" charset="-122"/>
                <a:cs typeface="Calibri" pitchFamily="34" charset="-120"/>
              </a:rPr>
              <a:t>TRL 7+ (year 1)</a:t>
            </a:r>
            <a:endParaRPr lang="en-US" sz="1600" dirty="0"/>
          </a:p>
        </p:txBody>
      </p:sp>
      <p:sp>
        <p:nvSpPr>
          <p:cNvPr id="24" name="Text 22"/>
          <p:cNvSpPr txBox="1"/>
          <p:nvPr/>
        </p:nvSpPr>
        <p:spPr>
          <a:xfrm>
            <a:off x="3474720" y="5422392"/>
            <a:ext cx="8138160" cy="457200"/>
          </a:xfrm>
          <a:prstGeom prst="rect">
            <a:avLst/>
          </a:prstGeom>
          <a:noFill/>
          <a:ln/>
        </p:spPr>
        <p:txBody>
          <a:bodyPr wrap="square" lIns="0" tIns="0" rIns="0" bIns="0" rtlCol="0" anchor="t"/>
          <a:lstStyle/>
          <a:p>
            <a:pPr indent="0" marL="0">
              <a:buNone/>
            </a:pPr>
            <a:r>
              <a:rPr lang="en-US" sz="1500" dirty="0">
                <a:solidFill>
                  <a:srgbClr val="F4F7FB"/>
                </a:solidFill>
                <a:latin typeface="Calibri" pitchFamily="34" charset="0"/>
                <a:ea typeface="Calibri" pitchFamily="34" charset="-122"/>
                <a:cs typeface="Calibri" pitchFamily="34" charset="-120"/>
              </a:rPr>
              <a:t>Nine provinces, supplier stock systems connected</a:t>
            </a:r>
            <a:endParaRPr lang="en-US" sz="1500" dirty="0"/>
          </a:p>
        </p:txBody>
      </p:sp>
      <p:sp>
        <p:nvSpPr>
          <p:cNvPr id="25" name="Text 23"/>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How it's built</a:t>
            </a:r>
            <a:endParaRPr lang="en-US" sz="3600" dirty="0"/>
          </a:p>
        </p:txBody>
      </p:sp>
      <p:sp>
        <p:nvSpPr>
          <p:cNvPr id="3" name="Shape 1"/>
          <p:cNvSpPr/>
          <p:nvPr/>
        </p:nvSpPr>
        <p:spPr>
          <a:xfrm>
            <a:off x="548640" y="1508760"/>
            <a:ext cx="3291840" cy="1920240"/>
          </a:xfrm>
          <a:prstGeom prst="roundRect">
            <a:avLst>
              <a:gd name="adj" fmla="val 5714"/>
            </a:avLst>
          </a:prstGeom>
          <a:solidFill>
            <a:srgbClr val="132A40"/>
          </a:solidFill>
          <a:ln w="12700">
            <a:solidFill>
              <a:srgbClr val="132A40"/>
            </a:solidFill>
            <a:prstDash val="solid"/>
          </a:ln>
        </p:spPr>
      </p:sp>
      <p:sp>
        <p:nvSpPr>
          <p:cNvPr id="4" name="Shape 2"/>
          <p:cNvSpPr/>
          <p:nvPr/>
        </p:nvSpPr>
        <p:spPr>
          <a:xfrm>
            <a:off x="777240" y="1737360"/>
            <a:ext cx="640080" cy="640080"/>
          </a:xfrm>
          <a:prstGeom prst="ellipse">
            <a:avLst/>
          </a:prstGeom>
          <a:solidFill>
            <a:srgbClr val="183452"/>
          </a:solidFill>
          <a:ln w="19050">
            <a:solidFill>
              <a:srgbClr val="22C3E6"/>
            </a:solidFill>
            <a:prstDash val="solid"/>
          </a:ln>
        </p:spPr>
      </p:sp>
      <p:pic>
        <p:nvPicPr>
          <p:cNvPr id="5" name="Image 0" descr="preencoded.png">    </p:cNvPr>
          <p:cNvPicPr>
            <a:picLocks noChangeAspect="1"/>
          </p:cNvPicPr>
          <p:nvPr/>
        </p:nvPicPr>
        <p:blipFill>
          <a:blip r:embed="rId1"/>
          <a:stretch>
            <a:fillRect/>
          </a:stretch>
        </p:blipFill>
        <p:spPr>
          <a:xfrm>
            <a:off x="930859" y="1890979"/>
            <a:ext cx="332842" cy="332842"/>
          </a:xfrm>
          <a:prstGeom prst="rect">
            <a:avLst/>
          </a:prstGeom>
        </p:spPr>
      </p:pic>
      <p:sp>
        <p:nvSpPr>
          <p:cNvPr id="6" name="Text 3"/>
          <p:cNvSpPr txBox="1"/>
          <p:nvPr/>
        </p:nvSpPr>
        <p:spPr>
          <a:xfrm>
            <a:off x="1554480" y="1737360"/>
            <a:ext cx="2103120" cy="365760"/>
          </a:xfrm>
          <a:prstGeom prst="rect">
            <a:avLst/>
          </a:prstGeom>
          <a:noFill/>
          <a:ln/>
        </p:spPr>
        <p:txBody>
          <a:bodyPr wrap="square" lIns="0" tIns="0" rIns="0" bIns="0" rtlCol="0" anchor="t"/>
          <a:lstStyle/>
          <a:p>
            <a:pPr indent="0" marL="0">
              <a:buNone/>
            </a:pPr>
            <a:r>
              <a:rPr lang="en-US" sz="1700" b="1" dirty="0">
                <a:solidFill>
                  <a:srgbClr val="22C3E6"/>
                </a:solidFill>
                <a:latin typeface="Calibri" pitchFamily="34" charset="0"/>
                <a:ea typeface="Calibri" pitchFamily="34" charset="-122"/>
                <a:cs typeface="Calibri" pitchFamily="34" charset="-120"/>
              </a:rPr>
              <a:t>Mobile app</a:t>
            </a:r>
            <a:endParaRPr lang="en-US" sz="1700" dirty="0"/>
          </a:p>
        </p:txBody>
      </p:sp>
      <p:sp>
        <p:nvSpPr>
          <p:cNvPr id="7" name="Text 4"/>
          <p:cNvSpPr txBox="1"/>
          <p:nvPr/>
        </p:nvSpPr>
        <p:spPr>
          <a:xfrm>
            <a:off x="1554480" y="2130552"/>
            <a:ext cx="2103120" cy="1188720"/>
          </a:xfrm>
          <a:prstGeom prst="rect">
            <a:avLst/>
          </a:prstGeom>
          <a:noFill/>
          <a:ln/>
        </p:spPr>
        <p:txBody>
          <a:bodyPr wrap="square" lIns="0" tIns="0" rIns="0" bIns="0" rtlCol="0" anchor="t"/>
          <a:lstStyle/>
          <a:p>
            <a:pPr indent="0" marL="0">
              <a:buNone/>
            </a:pPr>
            <a:r>
              <a:rPr lang="en-US" sz="1300" dirty="0">
                <a:solidFill>
                  <a:srgbClr val="9FB3C8"/>
                </a:solidFill>
                <a:latin typeface="Calibri" pitchFamily="34" charset="0"/>
                <a:ea typeface="Calibri" pitchFamily="34" charset="-122"/>
                <a:cs typeface="Calibri" pitchFamily="34" charset="-120"/>
              </a:rPr>
              <a:t>React Native + Expo (TypeScript). Android first. Secure storage for sign-in. Offline counter orders.</a:t>
            </a:r>
            <a:endParaRPr lang="en-US" sz="1300" dirty="0"/>
          </a:p>
        </p:txBody>
      </p:sp>
      <p:sp>
        <p:nvSpPr>
          <p:cNvPr id="8" name="Shape 5"/>
          <p:cNvSpPr/>
          <p:nvPr/>
        </p:nvSpPr>
        <p:spPr>
          <a:xfrm>
            <a:off x="4434840" y="1508760"/>
            <a:ext cx="3291840" cy="1920240"/>
          </a:xfrm>
          <a:prstGeom prst="roundRect">
            <a:avLst>
              <a:gd name="adj" fmla="val 5714"/>
            </a:avLst>
          </a:prstGeom>
          <a:solidFill>
            <a:srgbClr val="132A40"/>
          </a:solidFill>
          <a:ln w="12700">
            <a:solidFill>
              <a:srgbClr val="132A40"/>
            </a:solidFill>
            <a:prstDash val="solid"/>
          </a:ln>
        </p:spPr>
      </p:sp>
      <p:sp>
        <p:nvSpPr>
          <p:cNvPr id="9" name="Shape 6"/>
          <p:cNvSpPr/>
          <p:nvPr/>
        </p:nvSpPr>
        <p:spPr>
          <a:xfrm>
            <a:off x="4663440" y="1737360"/>
            <a:ext cx="640080" cy="640080"/>
          </a:xfrm>
          <a:prstGeom prst="ellipse">
            <a:avLst/>
          </a:prstGeom>
          <a:solidFill>
            <a:srgbClr val="183452"/>
          </a:solidFill>
          <a:ln w="19050">
            <a:solidFill>
              <a:srgbClr val="F2A93B"/>
            </a:solidFill>
            <a:prstDash val="solid"/>
          </a:ln>
        </p:spPr>
      </p:sp>
      <p:pic>
        <p:nvPicPr>
          <p:cNvPr id="10" name="Image 1" descr="preencoded.png">    </p:cNvPr>
          <p:cNvPicPr>
            <a:picLocks noChangeAspect="1"/>
          </p:cNvPicPr>
          <p:nvPr/>
        </p:nvPicPr>
        <p:blipFill>
          <a:blip r:embed="rId2"/>
          <a:stretch>
            <a:fillRect/>
          </a:stretch>
        </p:blipFill>
        <p:spPr>
          <a:xfrm>
            <a:off x="4817059" y="1890979"/>
            <a:ext cx="332842" cy="332842"/>
          </a:xfrm>
          <a:prstGeom prst="rect">
            <a:avLst/>
          </a:prstGeom>
        </p:spPr>
      </p:pic>
      <p:sp>
        <p:nvSpPr>
          <p:cNvPr id="11" name="Text 7"/>
          <p:cNvSpPr txBox="1"/>
          <p:nvPr/>
        </p:nvSpPr>
        <p:spPr>
          <a:xfrm>
            <a:off x="5440680" y="1737360"/>
            <a:ext cx="2103120" cy="365760"/>
          </a:xfrm>
          <a:prstGeom prst="rect">
            <a:avLst/>
          </a:prstGeom>
          <a:noFill/>
          <a:ln/>
        </p:spPr>
        <p:txBody>
          <a:bodyPr wrap="square" lIns="0" tIns="0" rIns="0" bIns="0" rtlCol="0" anchor="t"/>
          <a:lstStyle/>
          <a:p>
            <a:pPr indent="0" marL="0">
              <a:buNone/>
            </a:pPr>
            <a:r>
              <a:rPr lang="en-US" sz="1700" b="1" dirty="0">
                <a:solidFill>
                  <a:srgbClr val="F2A93B"/>
                </a:solidFill>
                <a:latin typeface="Calibri" pitchFamily="34" charset="0"/>
                <a:ea typeface="Calibri" pitchFamily="34" charset="-122"/>
                <a:cs typeface="Calibri" pitchFamily="34" charset="-120"/>
              </a:rPr>
              <a:t>API</a:t>
            </a:r>
            <a:endParaRPr lang="en-US" sz="1700" dirty="0"/>
          </a:p>
        </p:txBody>
      </p:sp>
      <p:sp>
        <p:nvSpPr>
          <p:cNvPr id="12" name="Text 8"/>
          <p:cNvSpPr txBox="1"/>
          <p:nvPr/>
        </p:nvSpPr>
        <p:spPr>
          <a:xfrm>
            <a:off x="5440680" y="2130552"/>
            <a:ext cx="2103120" cy="1188720"/>
          </a:xfrm>
          <a:prstGeom prst="rect">
            <a:avLst/>
          </a:prstGeom>
          <a:noFill/>
          <a:ln/>
        </p:spPr>
        <p:txBody>
          <a:bodyPr wrap="square" lIns="0" tIns="0" rIns="0" bIns="0" rtlCol="0" anchor="t"/>
          <a:lstStyle/>
          <a:p>
            <a:pPr indent="0" marL="0">
              <a:buNone/>
            </a:pPr>
            <a:r>
              <a:rPr lang="en-US" sz="1300" dirty="0">
                <a:solidFill>
                  <a:srgbClr val="9FB3C8"/>
                </a:solidFill>
                <a:latin typeface="Calibri" pitchFamily="34" charset="0"/>
                <a:ea typeface="Calibri" pitchFamily="34" charset="-122"/>
                <a:cs typeface="Calibri" pitchFamily="34" charset="-120"/>
              </a:rPr>
              <a:t>Python + Flask. Strict input checks, rate limits, idempotent orders. Rule-based supplier engine.</a:t>
            </a:r>
            <a:endParaRPr lang="en-US" sz="1300" dirty="0"/>
          </a:p>
        </p:txBody>
      </p:sp>
      <p:sp>
        <p:nvSpPr>
          <p:cNvPr id="13" name="Shape 9"/>
          <p:cNvSpPr/>
          <p:nvPr/>
        </p:nvSpPr>
        <p:spPr>
          <a:xfrm>
            <a:off x="8321040" y="1508760"/>
            <a:ext cx="3291840" cy="1920240"/>
          </a:xfrm>
          <a:prstGeom prst="roundRect">
            <a:avLst>
              <a:gd name="adj" fmla="val 5714"/>
            </a:avLst>
          </a:prstGeom>
          <a:solidFill>
            <a:srgbClr val="132A40"/>
          </a:solidFill>
          <a:ln w="12700">
            <a:solidFill>
              <a:srgbClr val="132A40"/>
            </a:solidFill>
            <a:prstDash val="solid"/>
          </a:ln>
        </p:spPr>
      </p:sp>
      <p:sp>
        <p:nvSpPr>
          <p:cNvPr id="14" name="Shape 10"/>
          <p:cNvSpPr/>
          <p:nvPr/>
        </p:nvSpPr>
        <p:spPr>
          <a:xfrm>
            <a:off x="8549640" y="1737360"/>
            <a:ext cx="640080" cy="640080"/>
          </a:xfrm>
          <a:prstGeom prst="ellipse">
            <a:avLst/>
          </a:prstGeom>
          <a:solidFill>
            <a:srgbClr val="183452"/>
          </a:solidFill>
          <a:ln w="19050">
            <a:solidFill>
              <a:srgbClr val="34D399"/>
            </a:solidFill>
            <a:prstDash val="solid"/>
          </a:ln>
        </p:spPr>
      </p:sp>
      <p:pic>
        <p:nvPicPr>
          <p:cNvPr id="15" name="Image 2" descr="preencoded.png">    </p:cNvPr>
          <p:cNvPicPr>
            <a:picLocks noChangeAspect="1"/>
          </p:cNvPicPr>
          <p:nvPr/>
        </p:nvPicPr>
        <p:blipFill>
          <a:blip r:embed="rId3"/>
          <a:stretch>
            <a:fillRect/>
          </a:stretch>
        </p:blipFill>
        <p:spPr>
          <a:xfrm>
            <a:off x="8703259" y="1890979"/>
            <a:ext cx="332842" cy="332842"/>
          </a:xfrm>
          <a:prstGeom prst="rect">
            <a:avLst/>
          </a:prstGeom>
        </p:spPr>
      </p:pic>
      <p:sp>
        <p:nvSpPr>
          <p:cNvPr id="16" name="Text 11"/>
          <p:cNvSpPr txBox="1"/>
          <p:nvPr/>
        </p:nvSpPr>
        <p:spPr>
          <a:xfrm>
            <a:off x="9326880" y="1737360"/>
            <a:ext cx="210312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Database</a:t>
            </a:r>
            <a:endParaRPr lang="en-US" sz="1700" dirty="0"/>
          </a:p>
        </p:txBody>
      </p:sp>
      <p:sp>
        <p:nvSpPr>
          <p:cNvPr id="17" name="Text 12"/>
          <p:cNvSpPr txBox="1"/>
          <p:nvPr/>
        </p:nvSpPr>
        <p:spPr>
          <a:xfrm>
            <a:off x="9326880" y="2130552"/>
            <a:ext cx="2103120" cy="1188720"/>
          </a:xfrm>
          <a:prstGeom prst="rect">
            <a:avLst/>
          </a:prstGeom>
          <a:noFill/>
          <a:ln/>
        </p:spPr>
        <p:txBody>
          <a:bodyPr wrap="square" lIns="0" tIns="0" rIns="0" bIns="0" rtlCol="0" anchor="t"/>
          <a:lstStyle/>
          <a:p>
            <a:pPr indent="0" marL="0">
              <a:buNone/>
            </a:pPr>
            <a:r>
              <a:rPr lang="en-US" sz="1300" dirty="0">
                <a:solidFill>
                  <a:srgbClr val="9FB3C8"/>
                </a:solidFill>
                <a:latin typeface="Calibri" pitchFamily="34" charset="0"/>
                <a:ea typeface="Calibri" pitchFamily="34" charset="-122"/>
                <a:cs typeface="Calibri" pitchFamily="34" charset="-120"/>
              </a:rPr>
              <a:t>PostgreSQL, separate schemas per area. Versioned migrations. Audit trail without personal data.</a:t>
            </a:r>
            <a:endParaRPr lang="en-US" sz="1300" dirty="0"/>
          </a:p>
        </p:txBody>
      </p:sp>
      <p:sp>
        <p:nvSpPr>
          <p:cNvPr id="18" name="Shape 13"/>
          <p:cNvSpPr/>
          <p:nvPr/>
        </p:nvSpPr>
        <p:spPr>
          <a:xfrm>
            <a:off x="3886200" y="2468880"/>
            <a:ext cx="502920" cy="0"/>
          </a:xfrm>
          <a:prstGeom prst="line">
            <a:avLst/>
          </a:prstGeom>
          <a:noFill/>
          <a:ln w="25400">
            <a:solidFill>
              <a:srgbClr val="22C3E6"/>
            </a:solidFill>
            <a:prstDash val="solid"/>
            <a:headEnd type="triangle"/>
            <a:tailEnd type="triangle"/>
          </a:ln>
        </p:spPr>
      </p:sp>
      <p:sp>
        <p:nvSpPr>
          <p:cNvPr id="19" name="Shape 14"/>
          <p:cNvSpPr/>
          <p:nvPr/>
        </p:nvSpPr>
        <p:spPr>
          <a:xfrm>
            <a:off x="7772400" y="2468880"/>
            <a:ext cx="502920" cy="0"/>
          </a:xfrm>
          <a:prstGeom prst="line">
            <a:avLst/>
          </a:prstGeom>
          <a:noFill/>
          <a:ln w="25400">
            <a:solidFill>
              <a:srgbClr val="22C3E6"/>
            </a:solidFill>
            <a:prstDash val="solid"/>
            <a:headEnd type="triangle"/>
            <a:tailEnd type="triangle"/>
          </a:ln>
        </p:spPr>
      </p:sp>
      <p:sp>
        <p:nvSpPr>
          <p:cNvPr id="20" name="Text 15"/>
          <p:cNvSpPr txBox="1"/>
          <p:nvPr/>
        </p:nvSpPr>
        <p:spPr>
          <a:xfrm>
            <a:off x="548640" y="3840480"/>
            <a:ext cx="5486400" cy="365760"/>
          </a:xfrm>
          <a:prstGeom prst="rect">
            <a:avLst/>
          </a:prstGeom>
          <a:noFill/>
          <a:ln/>
        </p:spPr>
        <p:txBody>
          <a:bodyPr wrap="square" lIns="0" tIns="0" rIns="0" bIns="0" rtlCol="0" anchor="t"/>
          <a:lstStyle/>
          <a:p>
            <a:pPr indent="0" marL="0">
              <a:buNone/>
            </a:pPr>
            <a:r>
              <a:rPr lang="en-US" sz="1600" b="1" dirty="0">
                <a:solidFill>
                  <a:srgbClr val="9FB3C8"/>
                </a:solidFill>
                <a:latin typeface="Calibri" pitchFamily="34" charset="0"/>
                <a:ea typeface="Calibri" pitchFamily="34" charset="-122"/>
                <a:cs typeface="Calibri" pitchFamily="34" charset="-120"/>
              </a:rPr>
              <a:t>Connected services</a:t>
            </a:r>
            <a:endParaRPr lang="en-US" sz="1600" dirty="0"/>
          </a:p>
        </p:txBody>
      </p:sp>
      <p:sp>
        <p:nvSpPr>
          <p:cNvPr id="21" name="Shape 16"/>
          <p:cNvSpPr/>
          <p:nvPr/>
        </p:nvSpPr>
        <p:spPr>
          <a:xfrm>
            <a:off x="548640" y="4297680"/>
            <a:ext cx="2606040" cy="1463040"/>
          </a:xfrm>
          <a:prstGeom prst="roundRect">
            <a:avLst>
              <a:gd name="adj" fmla="val 7500"/>
            </a:avLst>
          </a:prstGeom>
          <a:solidFill>
            <a:srgbClr val="183452"/>
          </a:solidFill>
          <a:ln w="12700">
            <a:solidFill>
              <a:srgbClr val="183452"/>
            </a:solidFill>
            <a:prstDash val="solid"/>
          </a:ln>
        </p:spPr>
      </p:sp>
      <p:sp>
        <p:nvSpPr>
          <p:cNvPr id="22" name="Shape 17"/>
          <p:cNvSpPr/>
          <p:nvPr/>
        </p:nvSpPr>
        <p:spPr>
          <a:xfrm>
            <a:off x="731520" y="4480560"/>
            <a:ext cx="548640" cy="548640"/>
          </a:xfrm>
          <a:prstGeom prst="ellipse">
            <a:avLst/>
          </a:prstGeom>
          <a:solidFill>
            <a:srgbClr val="183452"/>
          </a:solidFill>
          <a:ln w="19050">
            <a:solidFill>
              <a:srgbClr val="22C3E6"/>
            </a:solidFill>
            <a:prstDash val="solid"/>
          </a:ln>
        </p:spPr>
      </p:sp>
      <p:pic>
        <p:nvPicPr>
          <p:cNvPr id="23" name="Image 3" descr="preencoded.png">    </p:cNvPr>
          <p:cNvPicPr>
            <a:picLocks noChangeAspect="1"/>
          </p:cNvPicPr>
          <p:nvPr/>
        </p:nvPicPr>
        <p:blipFill>
          <a:blip r:embed="rId4"/>
          <a:stretch>
            <a:fillRect/>
          </a:stretch>
        </p:blipFill>
        <p:spPr>
          <a:xfrm>
            <a:off x="863194" y="4612234"/>
            <a:ext cx="285293" cy="285293"/>
          </a:xfrm>
          <a:prstGeom prst="rect">
            <a:avLst/>
          </a:prstGeom>
        </p:spPr>
      </p:pic>
      <p:sp>
        <p:nvSpPr>
          <p:cNvPr id="24" name="Text 18"/>
          <p:cNvSpPr txBox="1"/>
          <p:nvPr/>
        </p:nvSpPr>
        <p:spPr>
          <a:xfrm>
            <a:off x="1417320" y="4526280"/>
            <a:ext cx="1645920" cy="365760"/>
          </a:xfrm>
          <a:prstGeom prst="rect">
            <a:avLst/>
          </a:prstGeom>
          <a:noFill/>
          <a:ln/>
        </p:spPr>
        <p:txBody>
          <a:bodyPr wrap="square" lIns="0" tIns="0" rIns="0" bIns="0" rtlCol="0" anchor="t"/>
          <a:lstStyle/>
          <a:p>
            <a:pPr indent="0" marL="0">
              <a:buNone/>
            </a:pPr>
            <a:r>
              <a:rPr lang="en-US" sz="1500" b="1" dirty="0">
                <a:solidFill>
                  <a:srgbClr val="F4F7FB"/>
                </a:solidFill>
                <a:latin typeface="Calibri" pitchFamily="34" charset="0"/>
                <a:ea typeface="Calibri" pitchFamily="34" charset="-122"/>
                <a:cs typeface="Calibri" pitchFamily="34" charset="-120"/>
              </a:rPr>
              <a:t>PayFast</a:t>
            </a:r>
            <a:endParaRPr lang="en-US" sz="1500" dirty="0"/>
          </a:p>
        </p:txBody>
      </p:sp>
      <p:sp>
        <p:nvSpPr>
          <p:cNvPr id="25" name="Text 19"/>
          <p:cNvSpPr txBox="1"/>
          <p:nvPr/>
        </p:nvSpPr>
        <p:spPr>
          <a:xfrm>
            <a:off x="731520" y="5120640"/>
            <a:ext cx="2286000" cy="54864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payments, 4-check confirmation</a:t>
            </a:r>
            <a:endParaRPr lang="en-US" sz="1250" dirty="0"/>
          </a:p>
        </p:txBody>
      </p:sp>
      <p:sp>
        <p:nvSpPr>
          <p:cNvPr id="26" name="Shape 20"/>
          <p:cNvSpPr/>
          <p:nvPr/>
        </p:nvSpPr>
        <p:spPr>
          <a:xfrm>
            <a:off x="3364992" y="4297680"/>
            <a:ext cx="2606040" cy="1463040"/>
          </a:xfrm>
          <a:prstGeom prst="roundRect">
            <a:avLst>
              <a:gd name="adj" fmla="val 7500"/>
            </a:avLst>
          </a:prstGeom>
          <a:solidFill>
            <a:srgbClr val="183452"/>
          </a:solidFill>
          <a:ln w="12700">
            <a:solidFill>
              <a:srgbClr val="183452"/>
            </a:solidFill>
            <a:prstDash val="solid"/>
          </a:ln>
        </p:spPr>
      </p:sp>
      <p:sp>
        <p:nvSpPr>
          <p:cNvPr id="27" name="Shape 21"/>
          <p:cNvSpPr/>
          <p:nvPr/>
        </p:nvSpPr>
        <p:spPr>
          <a:xfrm>
            <a:off x="3547872" y="4480560"/>
            <a:ext cx="548640" cy="548640"/>
          </a:xfrm>
          <a:prstGeom prst="ellipse">
            <a:avLst/>
          </a:prstGeom>
          <a:solidFill>
            <a:srgbClr val="183452"/>
          </a:solidFill>
          <a:ln w="19050">
            <a:solidFill>
              <a:srgbClr val="22C3E6"/>
            </a:solidFill>
            <a:prstDash val="solid"/>
          </a:ln>
        </p:spPr>
      </p:sp>
      <p:pic>
        <p:nvPicPr>
          <p:cNvPr id="28" name="Image 4" descr="preencoded.png">    </p:cNvPr>
          <p:cNvPicPr>
            <a:picLocks noChangeAspect="1"/>
          </p:cNvPicPr>
          <p:nvPr/>
        </p:nvPicPr>
        <p:blipFill>
          <a:blip r:embed="rId5"/>
          <a:stretch>
            <a:fillRect/>
          </a:stretch>
        </p:blipFill>
        <p:spPr>
          <a:xfrm>
            <a:off x="3679546" y="4612234"/>
            <a:ext cx="285293" cy="285293"/>
          </a:xfrm>
          <a:prstGeom prst="rect">
            <a:avLst/>
          </a:prstGeom>
        </p:spPr>
      </p:pic>
      <p:sp>
        <p:nvSpPr>
          <p:cNvPr id="29" name="Text 22"/>
          <p:cNvSpPr txBox="1"/>
          <p:nvPr/>
        </p:nvSpPr>
        <p:spPr>
          <a:xfrm>
            <a:off x="4233672" y="4526280"/>
            <a:ext cx="1645920" cy="365760"/>
          </a:xfrm>
          <a:prstGeom prst="rect">
            <a:avLst/>
          </a:prstGeom>
          <a:noFill/>
          <a:ln/>
        </p:spPr>
        <p:txBody>
          <a:bodyPr wrap="square" lIns="0" tIns="0" rIns="0" bIns="0" rtlCol="0" anchor="t"/>
          <a:lstStyle/>
          <a:p>
            <a:pPr indent="0" marL="0">
              <a:buNone/>
            </a:pPr>
            <a:r>
              <a:rPr lang="en-US" sz="1500" b="1" dirty="0">
                <a:solidFill>
                  <a:srgbClr val="F4F7FB"/>
                </a:solidFill>
                <a:latin typeface="Calibri" pitchFamily="34" charset="0"/>
                <a:ea typeface="Calibri" pitchFamily="34" charset="-122"/>
                <a:cs typeface="Calibri" pitchFamily="34" charset="-120"/>
              </a:rPr>
              <a:t>Cloudinary</a:t>
            </a:r>
            <a:endParaRPr lang="en-US" sz="1500" dirty="0"/>
          </a:p>
        </p:txBody>
      </p:sp>
      <p:sp>
        <p:nvSpPr>
          <p:cNvPr id="30" name="Text 23"/>
          <p:cNvSpPr txBox="1"/>
          <p:nvPr/>
        </p:nvSpPr>
        <p:spPr>
          <a:xfrm>
            <a:off x="3547872" y="5120640"/>
            <a:ext cx="2286000" cy="54864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signed direct photo uploads</a:t>
            </a:r>
            <a:endParaRPr lang="en-US" sz="1250" dirty="0"/>
          </a:p>
        </p:txBody>
      </p:sp>
      <p:sp>
        <p:nvSpPr>
          <p:cNvPr id="31" name="Shape 24"/>
          <p:cNvSpPr/>
          <p:nvPr/>
        </p:nvSpPr>
        <p:spPr>
          <a:xfrm>
            <a:off x="6181344" y="4297680"/>
            <a:ext cx="2606040" cy="1463040"/>
          </a:xfrm>
          <a:prstGeom prst="roundRect">
            <a:avLst>
              <a:gd name="adj" fmla="val 7500"/>
            </a:avLst>
          </a:prstGeom>
          <a:solidFill>
            <a:srgbClr val="183452"/>
          </a:solidFill>
          <a:ln w="12700">
            <a:solidFill>
              <a:srgbClr val="183452"/>
            </a:solidFill>
            <a:prstDash val="solid"/>
          </a:ln>
        </p:spPr>
      </p:sp>
      <p:sp>
        <p:nvSpPr>
          <p:cNvPr id="32" name="Shape 25"/>
          <p:cNvSpPr/>
          <p:nvPr/>
        </p:nvSpPr>
        <p:spPr>
          <a:xfrm>
            <a:off x="6364224" y="4480560"/>
            <a:ext cx="548640" cy="548640"/>
          </a:xfrm>
          <a:prstGeom prst="ellipse">
            <a:avLst/>
          </a:prstGeom>
          <a:solidFill>
            <a:srgbClr val="183452"/>
          </a:solidFill>
          <a:ln w="19050">
            <a:solidFill>
              <a:srgbClr val="22C3E6"/>
            </a:solidFill>
            <a:prstDash val="solid"/>
          </a:ln>
        </p:spPr>
      </p:sp>
      <p:pic>
        <p:nvPicPr>
          <p:cNvPr id="33" name="Image 5" descr="preencoded.png">    </p:cNvPr>
          <p:cNvPicPr>
            <a:picLocks noChangeAspect="1"/>
          </p:cNvPicPr>
          <p:nvPr/>
        </p:nvPicPr>
        <p:blipFill>
          <a:blip r:embed="rId6"/>
          <a:stretch>
            <a:fillRect/>
          </a:stretch>
        </p:blipFill>
        <p:spPr>
          <a:xfrm>
            <a:off x="6495898" y="4612234"/>
            <a:ext cx="285293" cy="285293"/>
          </a:xfrm>
          <a:prstGeom prst="rect">
            <a:avLst/>
          </a:prstGeom>
        </p:spPr>
      </p:pic>
      <p:sp>
        <p:nvSpPr>
          <p:cNvPr id="34" name="Text 26"/>
          <p:cNvSpPr txBox="1"/>
          <p:nvPr/>
        </p:nvSpPr>
        <p:spPr>
          <a:xfrm>
            <a:off x="7050024" y="4526280"/>
            <a:ext cx="1645920" cy="365760"/>
          </a:xfrm>
          <a:prstGeom prst="rect">
            <a:avLst/>
          </a:prstGeom>
          <a:noFill/>
          <a:ln/>
        </p:spPr>
        <p:txBody>
          <a:bodyPr wrap="square" lIns="0" tIns="0" rIns="0" bIns="0" rtlCol="0" anchor="t"/>
          <a:lstStyle/>
          <a:p>
            <a:pPr indent="0" marL="0">
              <a:buNone/>
            </a:pPr>
            <a:r>
              <a:rPr lang="en-US" sz="1500" b="1" dirty="0">
                <a:solidFill>
                  <a:srgbClr val="F4F7FB"/>
                </a:solidFill>
                <a:latin typeface="Calibri" pitchFamily="34" charset="0"/>
                <a:ea typeface="Calibri" pitchFamily="34" charset="-122"/>
                <a:cs typeface="Calibri" pitchFamily="34" charset="-120"/>
              </a:rPr>
              <a:t>Mapbox</a:t>
            </a:r>
            <a:endParaRPr lang="en-US" sz="1500" dirty="0"/>
          </a:p>
        </p:txBody>
      </p:sp>
      <p:sp>
        <p:nvSpPr>
          <p:cNvPr id="35" name="Text 27"/>
          <p:cNvSpPr txBox="1"/>
          <p:nvPr/>
        </p:nvSpPr>
        <p:spPr>
          <a:xfrm>
            <a:off x="6364224" y="5120640"/>
            <a:ext cx="2286000" cy="54864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address search, via our server</a:t>
            </a:r>
            <a:endParaRPr lang="en-US" sz="1250" dirty="0"/>
          </a:p>
        </p:txBody>
      </p:sp>
      <p:sp>
        <p:nvSpPr>
          <p:cNvPr id="36" name="Shape 28"/>
          <p:cNvSpPr/>
          <p:nvPr/>
        </p:nvSpPr>
        <p:spPr>
          <a:xfrm>
            <a:off x="8997696" y="4297680"/>
            <a:ext cx="2606040" cy="1463040"/>
          </a:xfrm>
          <a:prstGeom prst="roundRect">
            <a:avLst>
              <a:gd name="adj" fmla="val 7500"/>
            </a:avLst>
          </a:prstGeom>
          <a:solidFill>
            <a:srgbClr val="183452"/>
          </a:solidFill>
          <a:ln w="12700">
            <a:solidFill>
              <a:srgbClr val="183452"/>
            </a:solidFill>
            <a:prstDash val="solid"/>
          </a:ln>
        </p:spPr>
      </p:sp>
      <p:sp>
        <p:nvSpPr>
          <p:cNvPr id="37" name="Shape 29"/>
          <p:cNvSpPr/>
          <p:nvPr/>
        </p:nvSpPr>
        <p:spPr>
          <a:xfrm>
            <a:off x="9180576" y="4480560"/>
            <a:ext cx="548640" cy="548640"/>
          </a:xfrm>
          <a:prstGeom prst="ellipse">
            <a:avLst/>
          </a:prstGeom>
          <a:solidFill>
            <a:srgbClr val="183452"/>
          </a:solidFill>
          <a:ln w="19050">
            <a:solidFill>
              <a:srgbClr val="22C3E6"/>
            </a:solidFill>
            <a:prstDash val="solid"/>
          </a:ln>
        </p:spPr>
      </p:sp>
      <p:pic>
        <p:nvPicPr>
          <p:cNvPr id="38" name="Image 6" descr="preencoded.png">    </p:cNvPr>
          <p:cNvPicPr>
            <a:picLocks noChangeAspect="1"/>
          </p:cNvPicPr>
          <p:nvPr/>
        </p:nvPicPr>
        <p:blipFill>
          <a:blip r:embed="rId7"/>
          <a:stretch>
            <a:fillRect/>
          </a:stretch>
        </p:blipFill>
        <p:spPr>
          <a:xfrm>
            <a:off x="9312250" y="4612234"/>
            <a:ext cx="285293" cy="285293"/>
          </a:xfrm>
          <a:prstGeom prst="rect">
            <a:avLst/>
          </a:prstGeom>
        </p:spPr>
      </p:pic>
      <p:sp>
        <p:nvSpPr>
          <p:cNvPr id="39" name="Text 30"/>
          <p:cNvSpPr txBox="1"/>
          <p:nvPr/>
        </p:nvSpPr>
        <p:spPr>
          <a:xfrm>
            <a:off x="9866376" y="4526280"/>
            <a:ext cx="1645920" cy="365760"/>
          </a:xfrm>
          <a:prstGeom prst="rect">
            <a:avLst/>
          </a:prstGeom>
          <a:noFill/>
          <a:ln/>
        </p:spPr>
        <p:txBody>
          <a:bodyPr wrap="square" lIns="0" tIns="0" rIns="0" bIns="0" rtlCol="0" anchor="t"/>
          <a:lstStyle/>
          <a:p>
            <a:pPr indent="0" marL="0">
              <a:buNone/>
            </a:pPr>
            <a:r>
              <a:rPr lang="en-US" sz="1500" b="1" dirty="0">
                <a:solidFill>
                  <a:srgbClr val="F4F7FB"/>
                </a:solidFill>
                <a:latin typeface="Calibri" pitchFamily="34" charset="0"/>
                <a:ea typeface="Calibri" pitchFamily="34" charset="-122"/>
                <a:cs typeface="Calibri" pitchFamily="34" charset="-120"/>
              </a:rPr>
              <a:t>Email</a:t>
            </a:r>
            <a:endParaRPr lang="en-US" sz="1500" dirty="0"/>
          </a:p>
        </p:txBody>
      </p:sp>
      <p:sp>
        <p:nvSpPr>
          <p:cNvPr id="40" name="Text 31"/>
          <p:cNvSpPr txBox="1"/>
          <p:nvPr/>
        </p:nvSpPr>
        <p:spPr>
          <a:xfrm>
            <a:off x="9180576" y="5120640"/>
            <a:ext cx="2286000" cy="54864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codes, receipts, alerts</a:t>
            </a:r>
            <a:endParaRPr lang="en-US" sz="1250" dirty="0"/>
          </a:p>
        </p:txBody>
      </p:sp>
      <p:sp>
        <p:nvSpPr>
          <p:cNvPr id="41" name="Text 32"/>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Safe by design, honest about proof</a:t>
            </a:r>
            <a:endParaRPr lang="en-US" sz="3600" dirty="0"/>
          </a:p>
        </p:txBody>
      </p:sp>
      <p:sp>
        <p:nvSpPr>
          <p:cNvPr id="3" name="Shape 1"/>
          <p:cNvSpPr/>
          <p:nvPr/>
        </p:nvSpPr>
        <p:spPr>
          <a:xfrm>
            <a:off x="548640" y="1463040"/>
            <a:ext cx="3474720" cy="2103120"/>
          </a:xfrm>
          <a:prstGeom prst="roundRect">
            <a:avLst>
              <a:gd name="adj" fmla="val 5217"/>
            </a:avLst>
          </a:prstGeom>
          <a:solidFill>
            <a:srgbClr val="132A40"/>
          </a:solidFill>
          <a:ln w="12700">
            <a:solidFill>
              <a:srgbClr val="132A40"/>
            </a:solidFill>
            <a:prstDash val="solid"/>
          </a:ln>
        </p:spPr>
      </p:sp>
      <p:sp>
        <p:nvSpPr>
          <p:cNvPr id="4" name="Shape 2"/>
          <p:cNvSpPr/>
          <p:nvPr/>
        </p:nvSpPr>
        <p:spPr>
          <a:xfrm>
            <a:off x="822960" y="1737360"/>
            <a:ext cx="640080" cy="640080"/>
          </a:xfrm>
          <a:prstGeom prst="ellipse">
            <a:avLst/>
          </a:prstGeom>
          <a:solidFill>
            <a:srgbClr val="183452"/>
          </a:solidFill>
          <a:ln w="19050">
            <a:solidFill>
              <a:srgbClr val="22C3E6"/>
            </a:solidFill>
            <a:prstDash val="solid"/>
          </a:ln>
        </p:spPr>
      </p:sp>
      <p:pic>
        <p:nvPicPr>
          <p:cNvPr id="5" name="Image 0" descr="preencoded.png">    </p:cNvPr>
          <p:cNvPicPr>
            <a:picLocks noChangeAspect="1"/>
          </p:cNvPicPr>
          <p:nvPr/>
        </p:nvPicPr>
        <p:blipFill>
          <a:blip r:embed="rId1"/>
          <a:stretch>
            <a:fillRect/>
          </a:stretch>
        </p:blipFill>
        <p:spPr>
          <a:xfrm>
            <a:off x="976579" y="1890979"/>
            <a:ext cx="332842" cy="332842"/>
          </a:xfrm>
          <a:prstGeom prst="rect">
            <a:avLst/>
          </a:prstGeom>
        </p:spPr>
      </p:pic>
      <p:sp>
        <p:nvSpPr>
          <p:cNvPr id="6" name="Text 3"/>
          <p:cNvSpPr txBox="1"/>
          <p:nvPr/>
        </p:nvSpPr>
        <p:spPr>
          <a:xfrm>
            <a:off x="1600200" y="1783080"/>
            <a:ext cx="2286000" cy="640080"/>
          </a:xfrm>
          <a:prstGeom prst="rect">
            <a:avLst/>
          </a:prstGeom>
          <a:noFill/>
          <a:ln/>
        </p:spPr>
        <p:txBody>
          <a:bodyPr wrap="square" lIns="0" tIns="0" rIns="0" bIns="0" rtlCol="0" anchor="t"/>
          <a:lstStyle/>
          <a:p>
            <a:pPr indent="0" marL="0">
              <a:buNone/>
            </a:pPr>
            <a:r>
              <a:rPr lang="en-US" sz="1600" b="1" dirty="0">
                <a:solidFill>
                  <a:srgbClr val="F4F7FB"/>
                </a:solidFill>
                <a:latin typeface="Calibri" pitchFamily="34" charset="0"/>
                <a:ea typeface="Calibri" pitchFamily="34" charset="-122"/>
                <a:cs typeface="Calibri" pitchFamily="34" charset="-120"/>
              </a:rPr>
              <a:t>Your data is yours</a:t>
            </a:r>
            <a:endParaRPr lang="en-US" sz="1600" dirty="0"/>
          </a:p>
        </p:txBody>
      </p:sp>
      <p:sp>
        <p:nvSpPr>
          <p:cNvPr id="7" name="Text 4"/>
          <p:cNvSpPr txBox="1"/>
          <p:nvPr/>
        </p:nvSpPr>
        <p:spPr>
          <a:xfrm>
            <a:off x="822960" y="2468880"/>
            <a:ext cx="2971800" cy="1005840"/>
          </a:xfrm>
          <a:prstGeom prst="rect">
            <a:avLst/>
          </a:prstGeom>
          <a:noFill/>
          <a:ln/>
        </p:spPr>
        <p:txBody>
          <a:bodyPr wrap="square" lIns="0" tIns="0" rIns="0" bIns="0" rtlCol="0" anchor="t"/>
          <a:lstStyle/>
          <a:p>
            <a:pPr indent="0" marL="0">
              <a:buNone/>
            </a:pPr>
            <a:r>
              <a:rPr lang="en-US" sz="1300" dirty="0">
                <a:solidFill>
                  <a:srgbClr val="9FB3C8"/>
                </a:solidFill>
                <a:latin typeface="Calibri" pitchFamily="34" charset="0"/>
                <a:ea typeface="Calibri" pitchFamily="34" charset="-122"/>
                <a:cs typeface="Calibri" pitchFamily="34" charset="-120"/>
              </a:rPr>
              <a:t>Every request is limited to the signed-in owner. Someone else's record answers 'not found'.</a:t>
            </a:r>
            <a:endParaRPr lang="en-US" sz="1300" dirty="0"/>
          </a:p>
        </p:txBody>
      </p:sp>
      <p:sp>
        <p:nvSpPr>
          <p:cNvPr id="8" name="Shape 5"/>
          <p:cNvSpPr/>
          <p:nvPr/>
        </p:nvSpPr>
        <p:spPr>
          <a:xfrm>
            <a:off x="4297680" y="1463040"/>
            <a:ext cx="3474720" cy="2103120"/>
          </a:xfrm>
          <a:prstGeom prst="roundRect">
            <a:avLst>
              <a:gd name="adj" fmla="val 5217"/>
            </a:avLst>
          </a:prstGeom>
          <a:solidFill>
            <a:srgbClr val="132A40"/>
          </a:solidFill>
          <a:ln w="12700">
            <a:solidFill>
              <a:srgbClr val="132A40"/>
            </a:solidFill>
            <a:prstDash val="solid"/>
          </a:ln>
        </p:spPr>
      </p:sp>
      <p:sp>
        <p:nvSpPr>
          <p:cNvPr id="9" name="Shape 6"/>
          <p:cNvSpPr/>
          <p:nvPr/>
        </p:nvSpPr>
        <p:spPr>
          <a:xfrm>
            <a:off x="4572000" y="1737360"/>
            <a:ext cx="640080" cy="640080"/>
          </a:xfrm>
          <a:prstGeom prst="ellipse">
            <a:avLst/>
          </a:prstGeom>
          <a:solidFill>
            <a:srgbClr val="183452"/>
          </a:solidFill>
          <a:ln w="19050">
            <a:solidFill>
              <a:srgbClr val="22C3E6"/>
            </a:solidFill>
            <a:prstDash val="solid"/>
          </a:ln>
        </p:spPr>
      </p:sp>
      <p:pic>
        <p:nvPicPr>
          <p:cNvPr id="10" name="Image 1" descr="preencoded.png">    </p:cNvPr>
          <p:cNvPicPr>
            <a:picLocks noChangeAspect="1"/>
          </p:cNvPicPr>
          <p:nvPr/>
        </p:nvPicPr>
        <p:blipFill>
          <a:blip r:embed="rId2"/>
          <a:stretch>
            <a:fillRect/>
          </a:stretch>
        </p:blipFill>
        <p:spPr>
          <a:xfrm>
            <a:off x="4725619" y="1890979"/>
            <a:ext cx="332842" cy="332842"/>
          </a:xfrm>
          <a:prstGeom prst="rect">
            <a:avLst/>
          </a:prstGeom>
        </p:spPr>
      </p:pic>
      <p:sp>
        <p:nvSpPr>
          <p:cNvPr id="11" name="Text 7"/>
          <p:cNvSpPr txBox="1"/>
          <p:nvPr/>
        </p:nvSpPr>
        <p:spPr>
          <a:xfrm>
            <a:off x="5349240" y="1783080"/>
            <a:ext cx="2286000" cy="640080"/>
          </a:xfrm>
          <a:prstGeom prst="rect">
            <a:avLst/>
          </a:prstGeom>
          <a:noFill/>
          <a:ln/>
        </p:spPr>
        <p:txBody>
          <a:bodyPr wrap="square" lIns="0" tIns="0" rIns="0" bIns="0" rtlCol="0" anchor="t"/>
          <a:lstStyle/>
          <a:p>
            <a:pPr indent="0" marL="0">
              <a:buNone/>
            </a:pPr>
            <a:r>
              <a:rPr lang="en-US" sz="1600" b="1" dirty="0">
                <a:solidFill>
                  <a:srgbClr val="F4F7FB"/>
                </a:solidFill>
                <a:latin typeface="Calibri" pitchFamily="34" charset="0"/>
                <a:ea typeface="Calibri" pitchFamily="34" charset="-122"/>
                <a:cs typeface="Calibri" pitchFamily="34" charset="-120"/>
              </a:rPr>
              <a:t>Simple for the owner</a:t>
            </a:r>
            <a:endParaRPr lang="en-US" sz="1600" dirty="0"/>
          </a:p>
        </p:txBody>
      </p:sp>
      <p:sp>
        <p:nvSpPr>
          <p:cNvPr id="12" name="Text 8"/>
          <p:cNvSpPr txBox="1"/>
          <p:nvPr/>
        </p:nvSpPr>
        <p:spPr>
          <a:xfrm>
            <a:off x="4572000" y="2468880"/>
            <a:ext cx="2971800" cy="1005840"/>
          </a:xfrm>
          <a:prstGeom prst="rect">
            <a:avLst/>
          </a:prstGeom>
          <a:noFill/>
          <a:ln/>
        </p:spPr>
        <p:txBody>
          <a:bodyPr wrap="square" lIns="0" tIns="0" rIns="0" bIns="0" rtlCol="0" anchor="t"/>
          <a:lstStyle/>
          <a:p>
            <a:pPr indent="0" marL="0">
              <a:buNone/>
            </a:pPr>
            <a:r>
              <a:rPr lang="en-US" sz="1300" dirty="0">
                <a:solidFill>
                  <a:srgbClr val="9FB3C8"/>
                </a:solidFill>
                <a:latin typeface="Calibri" pitchFamily="34" charset="0"/>
                <a:ea typeface="Calibri" pitchFamily="34" charset="-122"/>
                <a:cs typeface="Calibri" pitchFamily="34" charset="-120"/>
              </a:rPr>
              <a:t>Email and password; one code only on a new phone. The rest runs on our side.</a:t>
            </a:r>
            <a:endParaRPr lang="en-US" sz="1300" dirty="0"/>
          </a:p>
        </p:txBody>
      </p:sp>
      <p:sp>
        <p:nvSpPr>
          <p:cNvPr id="13" name="Shape 9"/>
          <p:cNvSpPr/>
          <p:nvPr/>
        </p:nvSpPr>
        <p:spPr>
          <a:xfrm>
            <a:off x="8046720" y="1463040"/>
            <a:ext cx="3474720" cy="2103120"/>
          </a:xfrm>
          <a:prstGeom prst="roundRect">
            <a:avLst>
              <a:gd name="adj" fmla="val 5217"/>
            </a:avLst>
          </a:prstGeom>
          <a:solidFill>
            <a:srgbClr val="132A40"/>
          </a:solidFill>
          <a:ln w="12700">
            <a:solidFill>
              <a:srgbClr val="132A40"/>
            </a:solidFill>
            <a:prstDash val="solid"/>
          </a:ln>
        </p:spPr>
      </p:sp>
      <p:sp>
        <p:nvSpPr>
          <p:cNvPr id="14" name="Shape 10"/>
          <p:cNvSpPr/>
          <p:nvPr/>
        </p:nvSpPr>
        <p:spPr>
          <a:xfrm>
            <a:off x="8321040" y="1737360"/>
            <a:ext cx="640080" cy="640080"/>
          </a:xfrm>
          <a:prstGeom prst="ellipse">
            <a:avLst/>
          </a:prstGeom>
          <a:solidFill>
            <a:srgbClr val="183452"/>
          </a:solidFill>
          <a:ln w="19050">
            <a:solidFill>
              <a:srgbClr val="22C3E6"/>
            </a:solidFill>
            <a:prstDash val="solid"/>
          </a:ln>
        </p:spPr>
      </p:sp>
      <p:pic>
        <p:nvPicPr>
          <p:cNvPr id="15" name="Image 2" descr="preencoded.png">    </p:cNvPr>
          <p:cNvPicPr>
            <a:picLocks noChangeAspect="1"/>
          </p:cNvPicPr>
          <p:nvPr/>
        </p:nvPicPr>
        <p:blipFill>
          <a:blip r:embed="rId3"/>
          <a:stretch>
            <a:fillRect/>
          </a:stretch>
        </p:blipFill>
        <p:spPr>
          <a:xfrm>
            <a:off x="8474659" y="1890979"/>
            <a:ext cx="332842" cy="332842"/>
          </a:xfrm>
          <a:prstGeom prst="rect">
            <a:avLst/>
          </a:prstGeom>
        </p:spPr>
      </p:pic>
      <p:sp>
        <p:nvSpPr>
          <p:cNvPr id="16" name="Text 11"/>
          <p:cNvSpPr txBox="1"/>
          <p:nvPr/>
        </p:nvSpPr>
        <p:spPr>
          <a:xfrm>
            <a:off x="9098280" y="1783080"/>
            <a:ext cx="2286000" cy="640080"/>
          </a:xfrm>
          <a:prstGeom prst="rect">
            <a:avLst/>
          </a:prstGeom>
          <a:noFill/>
          <a:ln/>
        </p:spPr>
        <p:txBody>
          <a:bodyPr wrap="square" lIns="0" tIns="0" rIns="0" bIns="0" rtlCol="0" anchor="t"/>
          <a:lstStyle/>
          <a:p>
            <a:pPr indent="0" marL="0">
              <a:buNone/>
            </a:pPr>
            <a:r>
              <a:rPr lang="en-US" sz="1600" b="1" dirty="0">
                <a:solidFill>
                  <a:srgbClr val="F4F7FB"/>
                </a:solidFill>
                <a:latin typeface="Calibri" pitchFamily="34" charset="0"/>
                <a:ea typeface="Calibri" pitchFamily="34" charset="-122"/>
                <a:cs typeface="Calibri" pitchFamily="34" charset="-120"/>
              </a:rPr>
              <a:t>Card data never touches us</a:t>
            </a:r>
            <a:endParaRPr lang="en-US" sz="1600" dirty="0"/>
          </a:p>
        </p:txBody>
      </p:sp>
      <p:sp>
        <p:nvSpPr>
          <p:cNvPr id="17" name="Text 12"/>
          <p:cNvSpPr txBox="1"/>
          <p:nvPr/>
        </p:nvSpPr>
        <p:spPr>
          <a:xfrm>
            <a:off x="8321040" y="2468880"/>
            <a:ext cx="2971800" cy="1005840"/>
          </a:xfrm>
          <a:prstGeom prst="rect">
            <a:avLst/>
          </a:prstGeom>
          <a:noFill/>
          <a:ln/>
        </p:spPr>
        <p:txBody>
          <a:bodyPr wrap="square" lIns="0" tIns="0" rIns="0" bIns="0" rtlCol="0" anchor="t"/>
          <a:lstStyle/>
          <a:p>
            <a:pPr indent="0" marL="0">
              <a:buNone/>
            </a:pPr>
            <a:r>
              <a:rPr lang="en-US" sz="1300" dirty="0">
                <a:solidFill>
                  <a:srgbClr val="9FB3C8"/>
                </a:solidFill>
                <a:latin typeface="Calibri" pitchFamily="34" charset="0"/>
                <a:ea typeface="Calibri" pitchFamily="34" charset="-122"/>
                <a:cs typeface="Calibri" pitchFamily="34" charset="-120"/>
              </a:rPr>
              <a:t>PayFast's hosted page. A payment counts only after 4 server checks.</a:t>
            </a:r>
            <a:endParaRPr lang="en-US" sz="1300" dirty="0"/>
          </a:p>
        </p:txBody>
      </p:sp>
      <p:sp>
        <p:nvSpPr>
          <p:cNvPr id="18" name="Shape 13"/>
          <p:cNvSpPr/>
          <p:nvPr/>
        </p:nvSpPr>
        <p:spPr>
          <a:xfrm>
            <a:off x="548640" y="3794760"/>
            <a:ext cx="3474720" cy="2103120"/>
          </a:xfrm>
          <a:prstGeom prst="roundRect">
            <a:avLst>
              <a:gd name="adj" fmla="val 5217"/>
            </a:avLst>
          </a:prstGeom>
          <a:solidFill>
            <a:srgbClr val="132A40"/>
          </a:solidFill>
          <a:ln w="12700">
            <a:solidFill>
              <a:srgbClr val="132A40"/>
            </a:solidFill>
            <a:prstDash val="solid"/>
          </a:ln>
        </p:spPr>
      </p:sp>
      <p:sp>
        <p:nvSpPr>
          <p:cNvPr id="19" name="Shape 14"/>
          <p:cNvSpPr/>
          <p:nvPr/>
        </p:nvSpPr>
        <p:spPr>
          <a:xfrm>
            <a:off x="822960" y="4069080"/>
            <a:ext cx="640080" cy="640080"/>
          </a:xfrm>
          <a:prstGeom prst="ellipse">
            <a:avLst/>
          </a:prstGeom>
          <a:solidFill>
            <a:srgbClr val="183452"/>
          </a:solidFill>
          <a:ln w="19050">
            <a:solidFill>
              <a:srgbClr val="22C3E6"/>
            </a:solidFill>
            <a:prstDash val="solid"/>
          </a:ln>
        </p:spPr>
      </p:sp>
      <p:pic>
        <p:nvPicPr>
          <p:cNvPr id="20" name="Image 3" descr="preencoded.png">    </p:cNvPr>
          <p:cNvPicPr>
            <a:picLocks noChangeAspect="1"/>
          </p:cNvPicPr>
          <p:nvPr/>
        </p:nvPicPr>
        <p:blipFill>
          <a:blip r:embed="rId4"/>
          <a:stretch>
            <a:fillRect/>
          </a:stretch>
        </p:blipFill>
        <p:spPr>
          <a:xfrm>
            <a:off x="976579" y="4222699"/>
            <a:ext cx="332842" cy="332842"/>
          </a:xfrm>
          <a:prstGeom prst="rect">
            <a:avLst/>
          </a:prstGeom>
        </p:spPr>
      </p:pic>
      <p:sp>
        <p:nvSpPr>
          <p:cNvPr id="21" name="Text 15"/>
          <p:cNvSpPr txBox="1"/>
          <p:nvPr/>
        </p:nvSpPr>
        <p:spPr>
          <a:xfrm>
            <a:off x="1600200" y="4114800"/>
            <a:ext cx="2286000" cy="640080"/>
          </a:xfrm>
          <a:prstGeom prst="rect">
            <a:avLst/>
          </a:prstGeom>
          <a:noFill/>
          <a:ln/>
        </p:spPr>
        <p:txBody>
          <a:bodyPr wrap="square" lIns="0" tIns="0" rIns="0" bIns="0" rtlCol="0" anchor="t"/>
          <a:lstStyle/>
          <a:p>
            <a:pPr indent="0" marL="0">
              <a:buNone/>
            </a:pPr>
            <a:r>
              <a:rPr lang="en-US" sz="1600" b="1" dirty="0">
                <a:solidFill>
                  <a:srgbClr val="F4F7FB"/>
                </a:solidFill>
                <a:latin typeface="Calibri" pitchFamily="34" charset="0"/>
                <a:ea typeface="Calibri" pitchFamily="34" charset="-122"/>
                <a:cs typeface="Calibri" pitchFamily="34" charset="-120"/>
              </a:rPr>
              <a:t>Private by default (POPIA)</a:t>
            </a:r>
            <a:endParaRPr lang="en-US" sz="1600" dirty="0"/>
          </a:p>
        </p:txBody>
      </p:sp>
      <p:sp>
        <p:nvSpPr>
          <p:cNvPr id="22" name="Text 16"/>
          <p:cNvSpPr txBox="1"/>
          <p:nvPr/>
        </p:nvSpPr>
        <p:spPr>
          <a:xfrm>
            <a:off x="822960" y="4800600"/>
            <a:ext cx="2971800" cy="1005840"/>
          </a:xfrm>
          <a:prstGeom prst="rect">
            <a:avLst/>
          </a:prstGeom>
          <a:noFill/>
          <a:ln/>
        </p:spPr>
        <p:txBody>
          <a:bodyPr wrap="square" lIns="0" tIns="0" rIns="0" bIns="0" rtlCol="0" anchor="t"/>
          <a:lstStyle/>
          <a:p>
            <a:pPr indent="0" marL="0">
              <a:buNone/>
            </a:pPr>
            <a:r>
              <a:rPr lang="en-US" sz="1300" dirty="0">
                <a:solidFill>
                  <a:srgbClr val="9FB3C8"/>
                </a:solidFill>
                <a:latin typeface="Calibri" pitchFamily="34" charset="0"/>
                <a:ea typeface="Calibri" pitchFamily="34" charset="-122"/>
                <a:cs typeface="Calibri" pitchFamily="34" charset="-120"/>
              </a:rPr>
              <a:t>Engine uses aggregates only. No names or addresses in logs. Data export and account closure built in.</a:t>
            </a:r>
            <a:endParaRPr lang="en-US" sz="1300" dirty="0"/>
          </a:p>
        </p:txBody>
      </p:sp>
      <p:sp>
        <p:nvSpPr>
          <p:cNvPr id="23" name="Shape 17"/>
          <p:cNvSpPr/>
          <p:nvPr/>
        </p:nvSpPr>
        <p:spPr>
          <a:xfrm>
            <a:off x="4297680" y="3794760"/>
            <a:ext cx="3474720" cy="2103120"/>
          </a:xfrm>
          <a:prstGeom prst="roundRect">
            <a:avLst>
              <a:gd name="adj" fmla="val 5217"/>
            </a:avLst>
          </a:prstGeom>
          <a:solidFill>
            <a:srgbClr val="132A40"/>
          </a:solidFill>
          <a:ln w="12700">
            <a:solidFill>
              <a:srgbClr val="132A40"/>
            </a:solidFill>
            <a:prstDash val="solid"/>
          </a:ln>
        </p:spPr>
      </p:sp>
      <p:sp>
        <p:nvSpPr>
          <p:cNvPr id="24" name="Shape 18"/>
          <p:cNvSpPr/>
          <p:nvPr/>
        </p:nvSpPr>
        <p:spPr>
          <a:xfrm>
            <a:off x="4572000" y="4069080"/>
            <a:ext cx="640080" cy="640080"/>
          </a:xfrm>
          <a:prstGeom prst="ellipse">
            <a:avLst/>
          </a:prstGeom>
          <a:solidFill>
            <a:srgbClr val="183452"/>
          </a:solidFill>
          <a:ln w="19050">
            <a:solidFill>
              <a:srgbClr val="F2A93B"/>
            </a:solidFill>
            <a:prstDash val="solid"/>
          </a:ln>
        </p:spPr>
      </p:sp>
      <p:pic>
        <p:nvPicPr>
          <p:cNvPr id="25" name="Image 4" descr="preencoded.png">    </p:cNvPr>
          <p:cNvPicPr>
            <a:picLocks noChangeAspect="1"/>
          </p:cNvPicPr>
          <p:nvPr/>
        </p:nvPicPr>
        <p:blipFill>
          <a:blip r:embed="rId5"/>
          <a:stretch>
            <a:fillRect/>
          </a:stretch>
        </p:blipFill>
        <p:spPr>
          <a:xfrm>
            <a:off x="4725619" y="4222699"/>
            <a:ext cx="332842" cy="332842"/>
          </a:xfrm>
          <a:prstGeom prst="rect">
            <a:avLst/>
          </a:prstGeom>
        </p:spPr>
      </p:pic>
      <p:sp>
        <p:nvSpPr>
          <p:cNvPr id="26" name="Text 19"/>
          <p:cNvSpPr txBox="1"/>
          <p:nvPr/>
        </p:nvSpPr>
        <p:spPr>
          <a:xfrm>
            <a:off x="5349240" y="4114800"/>
            <a:ext cx="2286000" cy="640080"/>
          </a:xfrm>
          <a:prstGeom prst="rect">
            <a:avLst/>
          </a:prstGeom>
          <a:noFill/>
          <a:ln/>
        </p:spPr>
        <p:txBody>
          <a:bodyPr wrap="square" lIns="0" tIns="0" rIns="0" bIns="0" rtlCol="0" anchor="t"/>
          <a:lstStyle/>
          <a:p>
            <a:pPr indent="0" marL="0">
              <a:buNone/>
            </a:pPr>
            <a:r>
              <a:rPr lang="en-US" sz="1600" b="1" dirty="0">
                <a:solidFill>
                  <a:srgbClr val="F4F7FB"/>
                </a:solidFill>
                <a:latin typeface="Calibri" pitchFamily="34" charset="0"/>
                <a:ea typeface="Calibri" pitchFamily="34" charset="-122"/>
                <a:cs typeface="Calibri" pitchFamily="34" charset="-120"/>
              </a:rPr>
              <a:t>Honest proof</a:t>
            </a:r>
            <a:endParaRPr lang="en-US" sz="1600" dirty="0"/>
          </a:p>
        </p:txBody>
      </p:sp>
      <p:sp>
        <p:nvSpPr>
          <p:cNvPr id="27" name="Text 20"/>
          <p:cNvSpPr txBox="1"/>
          <p:nvPr/>
        </p:nvSpPr>
        <p:spPr>
          <a:xfrm>
            <a:off x="4572000" y="4800600"/>
            <a:ext cx="2971800" cy="1005840"/>
          </a:xfrm>
          <a:prstGeom prst="rect">
            <a:avLst/>
          </a:prstGeom>
          <a:noFill/>
          <a:ln/>
        </p:spPr>
        <p:txBody>
          <a:bodyPr wrap="square" lIns="0" tIns="0" rIns="0" bIns="0" rtlCol="0" anchor="t"/>
          <a:lstStyle/>
          <a:p>
            <a:pPr indent="0" marL="0">
              <a:buNone/>
            </a:pPr>
            <a:r>
              <a:rPr lang="en-US" sz="1300" dirty="0">
                <a:solidFill>
                  <a:srgbClr val="9FB3C8"/>
                </a:solidFill>
                <a:latin typeface="Calibri" pitchFamily="34" charset="0"/>
                <a:ea typeface="Calibri" pitchFamily="34" charset="-122"/>
                <a:cs typeface="Calibri" pitchFamily="34" charset="-120"/>
              </a:rPr>
              <a:t>Only provider-verified payments are proof. Cash is 'confirmed by both' at most. Tool records are the owner's own.</a:t>
            </a:r>
            <a:endParaRPr lang="en-US" sz="1300" dirty="0"/>
          </a:p>
        </p:txBody>
      </p:sp>
      <p:sp>
        <p:nvSpPr>
          <p:cNvPr id="28" name="Shape 21"/>
          <p:cNvSpPr/>
          <p:nvPr/>
        </p:nvSpPr>
        <p:spPr>
          <a:xfrm>
            <a:off x="8046720" y="3794760"/>
            <a:ext cx="3474720" cy="2103120"/>
          </a:xfrm>
          <a:prstGeom prst="roundRect">
            <a:avLst>
              <a:gd name="adj" fmla="val 5217"/>
            </a:avLst>
          </a:prstGeom>
          <a:solidFill>
            <a:srgbClr val="132A40"/>
          </a:solidFill>
          <a:ln w="12700">
            <a:solidFill>
              <a:srgbClr val="132A40"/>
            </a:solidFill>
            <a:prstDash val="solid"/>
          </a:ln>
        </p:spPr>
      </p:sp>
      <p:sp>
        <p:nvSpPr>
          <p:cNvPr id="29" name="Shape 22"/>
          <p:cNvSpPr/>
          <p:nvPr/>
        </p:nvSpPr>
        <p:spPr>
          <a:xfrm>
            <a:off x="8321040" y="4069080"/>
            <a:ext cx="640080" cy="640080"/>
          </a:xfrm>
          <a:prstGeom prst="ellipse">
            <a:avLst/>
          </a:prstGeom>
          <a:solidFill>
            <a:srgbClr val="183452"/>
          </a:solidFill>
          <a:ln w="19050">
            <a:solidFill>
              <a:srgbClr val="22C3E6"/>
            </a:solidFill>
            <a:prstDash val="solid"/>
          </a:ln>
        </p:spPr>
      </p:sp>
      <p:pic>
        <p:nvPicPr>
          <p:cNvPr id="30" name="Image 5" descr="preencoded.png">    </p:cNvPr>
          <p:cNvPicPr>
            <a:picLocks noChangeAspect="1"/>
          </p:cNvPicPr>
          <p:nvPr/>
        </p:nvPicPr>
        <p:blipFill>
          <a:blip r:embed="rId6"/>
          <a:stretch>
            <a:fillRect/>
          </a:stretch>
        </p:blipFill>
        <p:spPr>
          <a:xfrm>
            <a:off x="8474659" y="4222699"/>
            <a:ext cx="332842" cy="332842"/>
          </a:xfrm>
          <a:prstGeom prst="rect">
            <a:avLst/>
          </a:prstGeom>
        </p:spPr>
      </p:pic>
      <p:sp>
        <p:nvSpPr>
          <p:cNvPr id="31" name="Text 23"/>
          <p:cNvSpPr txBox="1"/>
          <p:nvPr/>
        </p:nvSpPr>
        <p:spPr>
          <a:xfrm>
            <a:off x="9098280" y="4114800"/>
            <a:ext cx="2286000" cy="640080"/>
          </a:xfrm>
          <a:prstGeom prst="rect">
            <a:avLst/>
          </a:prstGeom>
          <a:noFill/>
          <a:ln/>
        </p:spPr>
        <p:txBody>
          <a:bodyPr wrap="square" lIns="0" tIns="0" rIns="0" bIns="0" rtlCol="0" anchor="t"/>
          <a:lstStyle/>
          <a:p>
            <a:pPr indent="0" marL="0">
              <a:buNone/>
            </a:pPr>
            <a:r>
              <a:rPr lang="en-US" sz="1600" b="1" dirty="0">
                <a:solidFill>
                  <a:srgbClr val="F4F7FB"/>
                </a:solidFill>
                <a:latin typeface="Calibri" pitchFamily="34" charset="0"/>
                <a:ea typeface="Calibri" pitchFamily="34" charset="-122"/>
                <a:cs typeface="Calibri" pitchFamily="34" charset="-120"/>
              </a:rPr>
              <a:t>Tested like an attacker</a:t>
            </a:r>
            <a:endParaRPr lang="en-US" sz="1600" dirty="0"/>
          </a:p>
        </p:txBody>
      </p:sp>
      <p:sp>
        <p:nvSpPr>
          <p:cNvPr id="32" name="Text 24"/>
          <p:cNvSpPr txBox="1"/>
          <p:nvPr/>
        </p:nvSpPr>
        <p:spPr>
          <a:xfrm>
            <a:off x="8321040" y="4800600"/>
            <a:ext cx="2971800" cy="1005840"/>
          </a:xfrm>
          <a:prstGeom prst="rect">
            <a:avLst/>
          </a:prstGeom>
          <a:noFill/>
          <a:ln/>
        </p:spPr>
        <p:txBody>
          <a:bodyPr wrap="square" lIns="0" tIns="0" rIns="0" bIns="0" rtlCol="0" anchor="t"/>
          <a:lstStyle/>
          <a:p>
            <a:pPr indent="0" marL="0">
              <a:buNone/>
            </a:pPr>
            <a:r>
              <a:rPr lang="en-US" sz="1300" dirty="0">
                <a:solidFill>
                  <a:srgbClr val="9FB3C8"/>
                </a:solidFill>
                <a:latin typeface="Calibri" pitchFamily="34" charset="0"/>
                <a:ea typeface="Calibri" pitchFamily="34" charset="-122"/>
                <a:cs typeface="Calibri" pitchFamily="34" charset="-120"/>
              </a:rPr>
              <a:t>Hostile-input tests on every endpoint, rate limits, OWASP API Top 10 mapped, incident plan.</a:t>
            </a:r>
            <a:endParaRPr lang="en-US" sz="1300" dirty="0"/>
          </a:p>
        </p:txBody>
      </p:sp>
      <p:sp>
        <p:nvSpPr>
          <p:cNvPr id="33" name="Text 25"/>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Impact, and what's next</a:t>
            </a:r>
            <a:endParaRPr lang="en-US" sz="3600" dirty="0"/>
          </a:p>
        </p:txBody>
      </p:sp>
      <p:sp>
        <p:nvSpPr>
          <p:cNvPr id="3" name="Shape 1"/>
          <p:cNvSpPr/>
          <p:nvPr/>
        </p:nvSpPr>
        <p:spPr>
          <a:xfrm>
            <a:off x="548640" y="1600200"/>
            <a:ext cx="731520" cy="731520"/>
          </a:xfrm>
          <a:prstGeom prst="ellipse">
            <a:avLst/>
          </a:prstGeom>
          <a:solidFill>
            <a:srgbClr val="183452"/>
          </a:solidFill>
          <a:ln w="19050">
            <a:solidFill>
              <a:srgbClr val="22C3E6"/>
            </a:solidFill>
            <a:prstDash val="solid"/>
          </a:ln>
        </p:spPr>
      </p:sp>
      <p:pic>
        <p:nvPicPr>
          <p:cNvPr id="4" name="Image 0" descr="preencoded.png">    </p:cNvPr>
          <p:cNvPicPr>
            <a:picLocks noChangeAspect="1"/>
          </p:cNvPicPr>
          <p:nvPr/>
        </p:nvPicPr>
        <p:blipFill>
          <a:blip r:embed="rId1"/>
          <a:stretch>
            <a:fillRect/>
          </a:stretch>
        </p:blipFill>
        <p:spPr>
          <a:xfrm>
            <a:off x="724205" y="1775765"/>
            <a:ext cx="380390" cy="380390"/>
          </a:xfrm>
          <a:prstGeom prst="rect">
            <a:avLst/>
          </a:prstGeom>
        </p:spPr>
      </p:pic>
      <p:sp>
        <p:nvSpPr>
          <p:cNvPr id="5" name="Text 2"/>
          <p:cNvSpPr txBox="1"/>
          <p:nvPr/>
        </p:nvSpPr>
        <p:spPr>
          <a:xfrm>
            <a:off x="1463040" y="1618488"/>
            <a:ext cx="4297680" cy="411480"/>
          </a:xfrm>
          <a:prstGeom prst="rect">
            <a:avLst/>
          </a:prstGeom>
          <a:noFill/>
          <a:ln/>
        </p:spPr>
        <p:txBody>
          <a:bodyPr wrap="square" lIns="0" tIns="0" rIns="0" bIns="0" rtlCol="0" anchor="t"/>
          <a:lstStyle/>
          <a:p>
            <a:pPr indent="0" marL="0">
              <a:buNone/>
            </a:pPr>
            <a:r>
              <a:rPr lang="en-US" sz="1800" b="1" dirty="0">
                <a:solidFill>
                  <a:srgbClr val="F4F7FB"/>
                </a:solidFill>
                <a:latin typeface="Calibri" pitchFamily="34" charset="0"/>
                <a:ea typeface="Calibri" pitchFamily="34" charset="-122"/>
                <a:cs typeface="Calibri" pitchFamily="34" charset="-120"/>
              </a:rPr>
              <a:t>Fewer cash disputes</a:t>
            </a:r>
            <a:endParaRPr lang="en-US" sz="1800" dirty="0"/>
          </a:p>
        </p:txBody>
      </p:sp>
      <p:sp>
        <p:nvSpPr>
          <p:cNvPr id="6" name="Text 3"/>
          <p:cNvSpPr txBox="1"/>
          <p:nvPr/>
        </p:nvSpPr>
        <p:spPr>
          <a:xfrm>
            <a:off x="1463040" y="2039112"/>
            <a:ext cx="4297680" cy="41148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between shops, drivers and suppliers</a:t>
            </a:r>
            <a:endParaRPr lang="en-US" sz="1400" dirty="0"/>
          </a:p>
        </p:txBody>
      </p:sp>
      <p:sp>
        <p:nvSpPr>
          <p:cNvPr id="7" name="Shape 4"/>
          <p:cNvSpPr/>
          <p:nvPr/>
        </p:nvSpPr>
        <p:spPr>
          <a:xfrm>
            <a:off x="548640" y="3108960"/>
            <a:ext cx="731520" cy="731520"/>
          </a:xfrm>
          <a:prstGeom prst="ellipse">
            <a:avLst/>
          </a:prstGeom>
          <a:solidFill>
            <a:srgbClr val="183452"/>
          </a:solidFill>
          <a:ln w="19050">
            <a:solidFill>
              <a:srgbClr val="F2A93B"/>
            </a:solidFill>
            <a:prstDash val="solid"/>
          </a:ln>
        </p:spPr>
      </p:sp>
      <p:pic>
        <p:nvPicPr>
          <p:cNvPr id="8" name="Image 1" descr="preencoded.png">    </p:cNvPr>
          <p:cNvPicPr>
            <a:picLocks noChangeAspect="1"/>
          </p:cNvPicPr>
          <p:nvPr/>
        </p:nvPicPr>
        <p:blipFill>
          <a:blip r:embed="rId2"/>
          <a:stretch>
            <a:fillRect/>
          </a:stretch>
        </p:blipFill>
        <p:spPr>
          <a:xfrm>
            <a:off x="724205" y="3284525"/>
            <a:ext cx="380390" cy="380390"/>
          </a:xfrm>
          <a:prstGeom prst="rect">
            <a:avLst/>
          </a:prstGeom>
        </p:spPr>
      </p:pic>
      <p:sp>
        <p:nvSpPr>
          <p:cNvPr id="9" name="Text 5"/>
          <p:cNvSpPr txBox="1"/>
          <p:nvPr/>
        </p:nvSpPr>
        <p:spPr>
          <a:xfrm>
            <a:off x="1463040" y="3127248"/>
            <a:ext cx="4297680" cy="411480"/>
          </a:xfrm>
          <a:prstGeom prst="rect">
            <a:avLst/>
          </a:prstGeom>
          <a:noFill/>
          <a:ln/>
        </p:spPr>
        <p:txBody>
          <a:bodyPr wrap="square" lIns="0" tIns="0" rIns="0" bIns="0" rtlCol="0" anchor="t"/>
          <a:lstStyle/>
          <a:p>
            <a:pPr indent="0" marL="0">
              <a:buNone/>
            </a:pPr>
            <a:r>
              <a:rPr lang="en-US" sz="1800" b="1" dirty="0">
                <a:solidFill>
                  <a:srgbClr val="F4F7FB"/>
                </a:solidFill>
                <a:latin typeface="Calibri" pitchFamily="34" charset="0"/>
                <a:ea typeface="Calibri" pitchFamily="34" charset="-122"/>
                <a:cs typeface="Calibri" pitchFamily="34" charset="-120"/>
              </a:rPr>
              <a:t>A record the owner holds</a:t>
            </a:r>
            <a:endParaRPr lang="en-US" sz="1800" dirty="0"/>
          </a:p>
        </p:txBody>
      </p:sp>
      <p:sp>
        <p:nvSpPr>
          <p:cNvPr id="10" name="Text 6"/>
          <p:cNvSpPr txBox="1"/>
          <p:nvPr/>
        </p:nvSpPr>
        <p:spPr>
          <a:xfrm>
            <a:off x="1463040" y="3547872"/>
            <a:ext cx="4297680" cy="41148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the first step to credit and support funds</a:t>
            </a:r>
            <a:endParaRPr lang="en-US" sz="1400" dirty="0"/>
          </a:p>
        </p:txBody>
      </p:sp>
      <p:sp>
        <p:nvSpPr>
          <p:cNvPr id="11" name="Shape 7"/>
          <p:cNvSpPr/>
          <p:nvPr/>
        </p:nvSpPr>
        <p:spPr>
          <a:xfrm>
            <a:off x="548640" y="4617720"/>
            <a:ext cx="731520" cy="731520"/>
          </a:xfrm>
          <a:prstGeom prst="ellipse">
            <a:avLst/>
          </a:prstGeom>
          <a:solidFill>
            <a:srgbClr val="183452"/>
          </a:solidFill>
          <a:ln w="19050">
            <a:solidFill>
              <a:srgbClr val="34D399"/>
            </a:solidFill>
            <a:prstDash val="solid"/>
          </a:ln>
        </p:spPr>
      </p:sp>
      <p:pic>
        <p:nvPicPr>
          <p:cNvPr id="12" name="Image 2" descr="preencoded.png">    </p:cNvPr>
          <p:cNvPicPr>
            <a:picLocks noChangeAspect="1"/>
          </p:cNvPicPr>
          <p:nvPr/>
        </p:nvPicPr>
        <p:blipFill>
          <a:blip r:embed="rId3"/>
          <a:stretch>
            <a:fillRect/>
          </a:stretch>
        </p:blipFill>
        <p:spPr>
          <a:xfrm>
            <a:off x="724205" y="4793285"/>
            <a:ext cx="380390" cy="380390"/>
          </a:xfrm>
          <a:prstGeom prst="rect">
            <a:avLst/>
          </a:prstGeom>
        </p:spPr>
      </p:pic>
      <p:sp>
        <p:nvSpPr>
          <p:cNvPr id="13" name="Text 8"/>
          <p:cNvSpPr txBox="1"/>
          <p:nvPr/>
        </p:nvSpPr>
        <p:spPr>
          <a:xfrm>
            <a:off x="1463040" y="4636008"/>
            <a:ext cx="4297680" cy="411480"/>
          </a:xfrm>
          <a:prstGeom prst="rect">
            <a:avLst/>
          </a:prstGeom>
          <a:noFill/>
          <a:ln/>
        </p:spPr>
        <p:txBody>
          <a:bodyPr wrap="square" lIns="0" tIns="0" rIns="0" bIns="0" rtlCol="0" anchor="t"/>
          <a:lstStyle/>
          <a:p>
            <a:pPr indent="0" marL="0">
              <a:buNone/>
            </a:pPr>
            <a:r>
              <a:rPr lang="en-US" sz="1800" b="1" dirty="0">
                <a:solidFill>
                  <a:srgbClr val="F4F7FB"/>
                </a:solidFill>
                <a:latin typeface="Calibri" pitchFamily="34" charset="0"/>
                <a:ea typeface="Calibri" pitchFamily="34" charset="-122"/>
                <a:cs typeface="Calibri" pitchFamily="34" charset="-120"/>
              </a:rPr>
              <a:t>More orders for local suppliers</a:t>
            </a:r>
            <a:endParaRPr lang="en-US" sz="1800" dirty="0"/>
          </a:p>
        </p:txBody>
      </p:sp>
      <p:sp>
        <p:nvSpPr>
          <p:cNvPr id="14" name="Text 9"/>
          <p:cNvSpPr txBox="1"/>
          <p:nvPr/>
        </p:nvSpPr>
        <p:spPr>
          <a:xfrm>
            <a:off x="1463040" y="5056632"/>
            <a:ext cx="4297680" cy="411480"/>
          </a:xfrm>
          <a:prstGeom prst="rect">
            <a:avLst/>
          </a:prstGeom>
          <a:noFill/>
          <a:ln/>
        </p:spPr>
        <p:txBody>
          <a:bodyPr wrap="square" lIns="0" tIns="0" rIns="0" bIns="0" rtlCol="0" anchor="t"/>
          <a:lstStyle/>
          <a:p>
            <a:pPr indent="0" marL="0">
              <a:buNone/>
            </a:pPr>
            <a:r>
              <a:rPr lang="en-US" sz="1400" dirty="0">
                <a:solidFill>
                  <a:srgbClr val="9FB3C8"/>
                </a:solidFill>
                <a:latin typeface="Calibri" pitchFamily="34" charset="0"/>
                <a:ea typeface="Calibri" pitchFamily="34" charset="-122"/>
                <a:cs typeface="Calibri" pitchFamily="34" charset="-120"/>
              </a:rPr>
              <a:t>the money keeps moving in the kasi</a:t>
            </a:r>
            <a:endParaRPr lang="en-US" sz="1400" dirty="0"/>
          </a:p>
        </p:txBody>
      </p:sp>
      <p:sp>
        <p:nvSpPr>
          <p:cNvPr id="15" name="Shape 10"/>
          <p:cNvSpPr/>
          <p:nvPr/>
        </p:nvSpPr>
        <p:spPr>
          <a:xfrm>
            <a:off x="6126480" y="1417320"/>
            <a:ext cx="5486400" cy="4617720"/>
          </a:xfrm>
          <a:prstGeom prst="roundRect">
            <a:avLst>
              <a:gd name="adj" fmla="val 2376"/>
            </a:avLst>
          </a:prstGeom>
          <a:solidFill>
            <a:srgbClr val="132A40"/>
          </a:solidFill>
          <a:ln w="12700">
            <a:solidFill>
              <a:srgbClr val="132A40"/>
            </a:solidFill>
            <a:prstDash val="solid"/>
          </a:ln>
        </p:spPr>
      </p:sp>
      <p:sp>
        <p:nvSpPr>
          <p:cNvPr id="16" name="Text 11"/>
          <p:cNvSpPr txBox="1"/>
          <p:nvPr/>
        </p:nvSpPr>
        <p:spPr>
          <a:xfrm>
            <a:off x="6400800" y="1645920"/>
            <a:ext cx="4937760" cy="411480"/>
          </a:xfrm>
          <a:prstGeom prst="rect">
            <a:avLst/>
          </a:prstGeom>
          <a:noFill/>
          <a:ln/>
        </p:spPr>
        <p:txBody>
          <a:bodyPr wrap="square" lIns="0" tIns="0" rIns="0" bIns="0" rtlCol="0" anchor="t"/>
          <a:lstStyle/>
          <a:p>
            <a:pPr indent="0" marL="0">
              <a:buNone/>
            </a:pPr>
            <a:r>
              <a:rPr lang="en-US" sz="2000" b="1" dirty="0">
                <a:solidFill>
                  <a:srgbClr val="22C3E6"/>
                </a:solidFill>
                <a:latin typeface="Calibri" pitchFamily="34" charset="0"/>
                <a:ea typeface="Calibri" pitchFamily="34" charset="-122"/>
                <a:cs typeface="Calibri" pitchFamily="34" charset="-120"/>
              </a:rPr>
              <a:t>Roadmap</a:t>
            </a:r>
            <a:endParaRPr lang="en-US" sz="2000" dirty="0"/>
          </a:p>
        </p:txBody>
      </p:sp>
      <p:sp>
        <p:nvSpPr>
          <p:cNvPr id="17" name="Text 12"/>
          <p:cNvSpPr txBox="1"/>
          <p:nvPr/>
        </p:nvSpPr>
        <p:spPr>
          <a:xfrm>
            <a:off x="6400800" y="2194560"/>
            <a:ext cx="4983480" cy="3657600"/>
          </a:xfrm>
          <a:prstGeom prst="rect">
            <a:avLst/>
          </a:prstGeom>
          <a:noFill/>
          <a:ln/>
        </p:spPr>
        <p:txBody>
          <a:bodyPr wrap="square" lIns="0" tIns="0" rIns="0" bIns="0" rtlCol="0" anchor="t"/>
          <a:lstStyle/>
          <a:p>
            <a:pPr marL="342900" indent="-342900">
              <a:spcAft>
                <a:spcPts val="900"/>
              </a:spcAft>
              <a:buSzPct val="100000"/>
              <a:buChar char="•"/>
            </a:pPr>
            <a:r>
              <a:rPr lang="en-US" sz="1450" dirty="0">
                <a:solidFill>
                  <a:srgbClr val="F4F7FB"/>
                </a:solidFill>
                <a:latin typeface="Calibri" pitchFamily="34" charset="0"/>
                <a:ea typeface="Calibri" pitchFamily="34" charset="-122"/>
                <a:cs typeface="Calibri" pitchFamily="34" charset="-120"/>
              </a:rPr>
              <a:t>Google sign-in and phone push alerts</a:t>
            </a:r>
            <a:endParaRPr lang="en-US" sz="1450" dirty="0"/>
          </a:p>
          <a:p>
            <a:pPr marL="342900" indent="-342900">
              <a:spcAft>
                <a:spcPts val="900"/>
              </a:spcAft>
              <a:buSzPct val="100000"/>
              <a:buChar char="•"/>
            </a:pPr>
            <a:r>
              <a:rPr lang="en-US" sz="1450" dirty="0">
                <a:solidFill>
                  <a:srgbClr val="F4F7FB"/>
                </a:solidFill>
                <a:latin typeface="Calibri" pitchFamily="34" charset="0"/>
                <a:ea typeface="Calibri" pitchFamily="34" charset="-122"/>
                <a:cs typeface="Calibri" pitchFamily="34" charset="-120"/>
              </a:rPr>
              <a:t>Direct connection to supplier stock systems (ERP, API keys)</a:t>
            </a:r>
            <a:endParaRPr lang="en-US" sz="1450" dirty="0"/>
          </a:p>
          <a:p>
            <a:pPr marL="342900" indent="-342900">
              <a:spcAft>
                <a:spcPts val="900"/>
              </a:spcAft>
              <a:buSzPct val="100000"/>
              <a:buChar char="•"/>
            </a:pPr>
            <a:r>
              <a:rPr lang="en-US" sz="1450" dirty="0">
                <a:solidFill>
                  <a:srgbClr val="F4F7FB"/>
                </a:solidFill>
                <a:latin typeface="Calibri" pitchFamily="34" charset="0"/>
                <a:ea typeface="Calibri" pitchFamily="34" charset="-122"/>
                <a:cs typeface="Calibri" pitchFamily="34" charset="-120"/>
              </a:rPr>
              <a:t>Two-phone cash confirmation ('confirmed by both')</a:t>
            </a:r>
            <a:endParaRPr lang="en-US" sz="1450" dirty="0"/>
          </a:p>
          <a:p>
            <a:pPr marL="342900" indent="-342900">
              <a:spcAft>
                <a:spcPts val="900"/>
              </a:spcAft>
              <a:buSzPct val="100000"/>
              <a:buChar char="•"/>
            </a:pPr>
            <a:r>
              <a:rPr lang="en-US" sz="1450" dirty="0">
                <a:solidFill>
                  <a:srgbClr val="F4F7FB"/>
                </a:solidFill>
                <a:latin typeface="Calibri" pitchFamily="34" charset="0"/>
                <a:ea typeface="Calibri" pitchFamily="34" charset="-122"/>
                <a:cs typeface="Calibri" pitchFamily="34" charset="-120"/>
              </a:rPr>
              <a:t>Split payouts straight to suppliers</a:t>
            </a:r>
            <a:endParaRPr lang="en-US" sz="1450" dirty="0"/>
          </a:p>
          <a:p>
            <a:pPr marL="342900" indent="-342900">
              <a:spcAft>
                <a:spcPts val="900"/>
              </a:spcAft>
              <a:buSzPct val="100000"/>
              <a:buChar char="•"/>
            </a:pPr>
            <a:r>
              <a:rPr lang="en-US" sz="1450" dirty="0">
                <a:solidFill>
                  <a:srgbClr val="F4F7FB"/>
                </a:solidFill>
                <a:latin typeface="Calibri" pitchFamily="34" charset="0"/>
                <a:ea typeface="Calibri" pitchFamily="34" charset="-122"/>
                <a:cs typeface="Calibri" pitchFamily="34" charset="-120"/>
              </a:rPr>
              <a:t>Cloudflare protection on our own domain</a:t>
            </a:r>
            <a:endParaRPr lang="en-US" sz="1450" dirty="0"/>
          </a:p>
          <a:p>
            <a:pPr marL="342900" indent="-342900">
              <a:spcAft>
                <a:spcPts val="900"/>
              </a:spcAft>
              <a:buSzPct val="100000"/>
              <a:buChar char="•"/>
            </a:pPr>
            <a:r>
              <a:rPr lang="en-US" sz="1450" dirty="0">
                <a:solidFill>
                  <a:srgbClr val="F2A93B"/>
                </a:solidFill>
                <a:latin typeface="Calibri" pitchFamily="34" charset="0"/>
                <a:ea typeface="Calibri" pitchFamily="34" charset="-122"/>
                <a:cs typeface="Calibri" pitchFamily="34" charset="-120"/>
              </a:rPr>
              <a:t>Post-quantum ready: sign records and documents with ML-DSA (NIST FIPS 204) so proof stays valid for decades</a:t>
            </a:r>
            <a:endParaRPr lang="en-US" sz="1450" dirty="0"/>
          </a:p>
        </p:txBody>
      </p:sp>
      <p:sp>
        <p:nvSpPr>
          <p:cNvPr id="18" name="Text 13"/>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600" b="1" dirty="0">
                <a:solidFill>
                  <a:srgbClr val="F4F7FB"/>
                </a:solidFill>
                <a:latin typeface="Georgia" pitchFamily="34" charset="0"/>
                <a:ea typeface="Georgia" pitchFamily="34" charset="-122"/>
                <a:cs typeface="Georgia" pitchFamily="34" charset="-120"/>
              </a:rPr>
              <a:t>Team PR</a:t>
            </a:r>
            <a:endParaRPr lang="en-US" sz="3600" dirty="0"/>
          </a:p>
        </p:txBody>
      </p:sp>
      <p:sp>
        <p:nvSpPr>
          <p:cNvPr id="3" name="Shape 1"/>
          <p:cNvSpPr/>
          <p:nvPr/>
        </p:nvSpPr>
        <p:spPr>
          <a:xfrm>
            <a:off x="548640" y="1554480"/>
            <a:ext cx="5349240" cy="3017520"/>
          </a:xfrm>
          <a:prstGeom prst="roundRect">
            <a:avLst>
              <a:gd name="adj" fmla="val 3636"/>
            </a:avLst>
          </a:prstGeom>
          <a:solidFill>
            <a:srgbClr val="132A40"/>
          </a:solidFill>
          <a:ln w="12700">
            <a:solidFill>
              <a:srgbClr val="132A40"/>
            </a:solidFill>
            <a:prstDash val="solid"/>
          </a:ln>
        </p:spPr>
      </p:sp>
      <p:sp>
        <p:nvSpPr>
          <p:cNvPr id="4" name="Shape 2"/>
          <p:cNvSpPr/>
          <p:nvPr/>
        </p:nvSpPr>
        <p:spPr>
          <a:xfrm>
            <a:off x="914400" y="1874520"/>
            <a:ext cx="1188720" cy="1188720"/>
          </a:xfrm>
          <a:prstGeom prst="ellipse">
            <a:avLst/>
          </a:prstGeom>
          <a:solidFill>
            <a:srgbClr val="183452"/>
          </a:solidFill>
          <a:ln w="19050">
            <a:solidFill>
              <a:srgbClr val="22C3E6"/>
            </a:solidFill>
            <a:prstDash val="solid"/>
          </a:ln>
        </p:spPr>
      </p:sp>
      <p:pic>
        <p:nvPicPr>
          <p:cNvPr id="5" name="Image 0" descr="preencoded.png">    </p:cNvPr>
          <p:cNvPicPr>
            <a:picLocks noChangeAspect="1"/>
          </p:cNvPicPr>
          <p:nvPr/>
        </p:nvPicPr>
        <p:blipFill>
          <a:blip r:embed="rId1"/>
          <a:stretch>
            <a:fillRect/>
          </a:stretch>
        </p:blipFill>
        <p:spPr>
          <a:xfrm>
            <a:off x="1199693" y="2159813"/>
            <a:ext cx="618134" cy="618134"/>
          </a:xfrm>
          <a:prstGeom prst="rect">
            <a:avLst/>
          </a:prstGeom>
        </p:spPr>
      </p:pic>
      <p:sp>
        <p:nvSpPr>
          <p:cNvPr id="6" name="Text 3"/>
          <p:cNvSpPr txBox="1"/>
          <p:nvPr/>
        </p:nvSpPr>
        <p:spPr>
          <a:xfrm>
            <a:off x="2377440" y="2011680"/>
            <a:ext cx="3291840" cy="640080"/>
          </a:xfrm>
          <a:prstGeom prst="rect">
            <a:avLst/>
          </a:prstGeom>
          <a:noFill/>
          <a:ln/>
        </p:spPr>
        <p:txBody>
          <a:bodyPr wrap="square" lIns="0" tIns="0" rIns="0" bIns="0" rtlCol="0" anchor="t"/>
          <a:lstStyle/>
          <a:p>
            <a:pPr indent="0" marL="0">
              <a:buNone/>
            </a:pPr>
            <a:r>
              <a:rPr lang="en-US" sz="3000" b="1" dirty="0">
                <a:solidFill>
                  <a:srgbClr val="22C3E6"/>
                </a:solidFill>
                <a:latin typeface="Georgia" pitchFamily="34" charset="0"/>
                <a:ea typeface="Georgia" pitchFamily="34" charset="-122"/>
                <a:cs typeface="Georgia" pitchFamily="34" charset="-120"/>
              </a:rPr>
              <a:t>Mandla</a:t>
            </a:r>
            <a:endParaRPr lang="en-US" sz="3000" dirty="0"/>
          </a:p>
        </p:txBody>
      </p:sp>
      <p:sp>
        <p:nvSpPr>
          <p:cNvPr id="7" name="Text 4"/>
          <p:cNvSpPr txBox="1"/>
          <p:nvPr/>
        </p:nvSpPr>
        <p:spPr>
          <a:xfrm>
            <a:off x="2377440" y="2697480"/>
            <a:ext cx="3291840" cy="1645920"/>
          </a:xfrm>
          <a:prstGeom prst="rect">
            <a:avLst/>
          </a:prstGeom>
          <a:noFill/>
          <a:ln/>
        </p:spPr>
        <p:txBody>
          <a:bodyPr wrap="square" lIns="0" tIns="0" rIns="0" bIns="0" rtlCol="0" anchor="t"/>
          <a:lstStyle/>
          <a:p>
            <a:pPr indent="0" marL="0">
              <a:buNone/>
            </a:pPr>
            <a:r>
              <a:rPr lang="en-US" sz="1500" dirty="0">
                <a:solidFill>
                  <a:srgbClr val="F4F7FB"/>
                </a:solidFill>
                <a:latin typeface="Calibri" pitchFamily="34" charset="0"/>
                <a:ea typeface="Calibri" pitchFamily="34" charset="-122"/>
                <a:cs typeface="Calibri" pitchFamily="34" charset="-120"/>
              </a:rPr>
              <a:t>Team lead · product, backend, payments and the supplier engine</a:t>
            </a:r>
            <a:endParaRPr lang="en-US" sz="1500" dirty="0"/>
          </a:p>
        </p:txBody>
      </p:sp>
      <p:sp>
        <p:nvSpPr>
          <p:cNvPr id="8" name="Shape 5"/>
          <p:cNvSpPr/>
          <p:nvPr/>
        </p:nvSpPr>
        <p:spPr>
          <a:xfrm>
            <a:off x="6172200" y="1554480"/>
            <a:ext cx="5349240" cy="3017520"/>
          </a:xfrm>
          <a:prstGeom prst="roundRect">
            <a:avLst>
              <a:gd name="adj" fmla="val 3636"/>
            </a:avLst>
          </a:prstGeom>
          <a:solidFill>
            <a:srgbClr val="132A40"/>
          </a:solidFill>
          <a:ln w="12700">
            <a:solidFill>
              <a:srgbClr val="132A40"/>
            </a:solidFill>
            <a:prstDash val="solid"/>
          </a:ln>
        </p:spPr>
      </p:sp>
      <p:sp>
        <p:nvSpPr>
          <p:cNvPr id="9" name="Shape 6"/>
          <p:cNvSpPr/>
          <p:nvPr/>
        </p:nvSpPr>
        <p:spPr>
          <a:xfrm>
            <a:off x="6537960" y="1874520"/>
            <a:ext cx="1188720" cy="1188720"/>
          </a:xfrm>
          <a:prstGeom prst="ellipse">
            <a:avLst/>
          </a:prstGeom>
          <a:solidFill>
            <a:srgbClr val="183452"/>
          </a:solidFill>
          <a:ln w="19050">
            <a:solidFill>
              <a:srgbClr val="F2A93B"/>
            </a:solidFill>
            <a:prstDash val="solid"/>
          </a:ln>
        </p:spPr>
      </p:sp>
      <p:pic>
        <p:nvPicPr>
          <p:cNvPr id="10" name="Image 1" descr="preencoded.png">    </p:cNvPr>
          <p:cNvPicPr>
            <a:picLocks noChangeAspect="1"/>
          </p:cNvPicPr>
          <p:nvPr/>
        </p:nvPicPr>
        <p:blipFill>
          <a:blip r:embed="rId2"/>
          <a:stretch>
            <a:fillRect/>
          </a:stretch>
        </p:blipFill>
        <p:spPr>
          <a:xfrm>
            <a:off x="6823253" y="2159813"/>
            <a:ext cx="618134" cy="618134"/>
          </a:xfrm>
          <a:prstGeom prst="rect">
            <a:avLst/>
          </a:prstGeom>
        </p:spPr>
      </p:pic>
      <p:sp>
        <p:nvSpPr>
          <p:cNvPr id="11" name="Text 7"/>
          <p:cNvSpPr txBox="1"/>
          <p:nvPr/>
        </p:nvSpPr>
        <p:spPr>
          <a:xfrm>
            <a:off x="8001000" y="2011680"/>
            <a:ext cx="3291840" cy="640080"/>
          </a:xfrm>
          <a:prstGeom prst="rect">
            <a:avLst/>
          </a:prstGeom>
          <a:noFill/>
          <a:ln/>
        </p:spPr>
        <p:txBody>
          <a:bodyPr wrap="square" lIns="0" tIns="0" rIns="0" bIns="0" rtlCol="0" anchor="t"/>
          <a:lstStyle/>
          <a:p>
            <a:pPr indent="0" marL="0">
              <a:buNone/>
            </a:pPr>
            <a:r>
              <a:rPr lang="en-US" sz="3000" b="1" dirty="0">
                <a:solidFill>
                  <a:srgbClr val="F2A93B"/>
                </a:solidFill>
                <a:latin typeface="Georgia" pitchFamily="34" charset="0"/>
                <a:ea typeface="Georgia" pitchFamily="34" charset="-122"/>
                <a:cs typeface="Georgia" pitchFamily="34" charset="-120"/>
              </a:rPr>
              <a:t>Risuna</a:t>
            </a:r>
            <a:endParaRPr lang="en-US" sz="3000" dirty="0"/>
          </a:p>
        </p:txBody>
      </p:sp>
      <p:sp>
        <p:nvSpPr>
          <p:cNvPr id="12" name="Text 8"/>
          <p:cNvSpPr txBox="1"/>
          <p:nvPr/>
        </p:nvSpPr>
        <p:spPr>
          <a:xfrm>
            <a:off x="8001000" y="2697480"/>
            <a:ext cx="3291840" cy="1645920"/>
          </a:xfrm>
          <a:prstGeom prst="rect">
            <a:avLst/>
          </a:prstGeom>
          <a:noFill/>
          <a:ln/>
        </p:spPr>
        <p:txBody>
          <a:bodyPr wrap="square" lIns="0" tIns="0" rIns="0" bIns="0" rtlCol="0" anchor="t"/>
          <a:lstStyle/>
          <a:p>
            <a:pPr indent="0" marL="0">
              <a:buNone/>
            </a:pPr>
            <a:r>
              <a:rPr lang="en-US" sz="1500" dirty="0">
                <a:solidFill>
                  <a:srgbClr val="F4F7FB"/>
                </a:solidFill>
                <a:latin typeface="Calibri" pitchFamily="34" charset="0"/>
                <a:ea typeface="Calibri" pitchFamily="34" charset="-122"/>
                <a:cs typeface="Calibri" pitchFamily="34" charset="-120"/>
              </a:rPr>
              <a:t>Business tools · credit book, order book, jobs, builder network, notifications</a:t>
            </a:r>
            <a:endParaRPr lang="en-US" sz="1500" dirty="0"/>
          </a:p>
        </p:txBody>
      </p:sp>
      <p:sp>
        <p:nvSpPr>
          <p:cNvPr id="13" name="Shape 9"/>
          <p:cNvSpPr/>
          <p:nvPr/>
        </p:nvSpPr>
        <p:spPr>
          <a:xfrm>
            <a:off x="548640" y="4892040"/>
            <a:ext cx="11064240" cy="1097280"/>
          </a:xfrm>
          <a:prstGeom prst="roundRect">
            <a:avLst>
              <a:gd name="adj" fmla="val 10000"/>
            </a:avLst>
          </a:prstGeom>
          <a:solidFill>
            <a:srgbClr val="183452"/>
          </a:solidFill>
          <a:ln w="12700">
            <a:solidFill>
              <a:srgbClr val="183452"/>
            </a:solidFill>
            <a:prstDash val="solid"/>
          </a:ln>
        </p:spPr>
      </p:sp>
      <p:sp>
        <p:nvSpPr>
          <p:cNvPr id="14" name="Text 10"/>
          <p:cNvSpPr txBox="1"/>
          <p:nvPr/>
        </p:nvSpPr>
        <p:spPr>
          <a:xfrm>
            <a:off x="868680" y="5074920"/>
            <a:ext cx="10424160" cy="731520"/>
          </a:xfrm>
          <a:prstGeom prst="rect">
            <a:avLst/>
          </a:prstGeom>
          <a:noFill/>
          <a:ln/>
        </p:spPr>
        <p:txBody>
          <a:bodyPr wrap="square" lIns="0" tIns="0" rIns="0" bIns="0" rtlCol="0" anchor="ctr"/>
          <a:lstStyle/>
          <a:p>
            <a:pPr indent="0" marL="0">
              <a:buNone/>
            </a:pPr>
            <a:r>
              <a:rPr lang="en-US" sz="1600" dirty="0">
                <a:solidFill>
                  <a:srgbClr val="F4F7FB"/>
                </a:solidFill>
                <a:latin typeface="Calibri" pitchFamily="34" charset="0"/>
                <a:ea typeface="Calibri" pitchFamily="34" charset="-122"/>
                <a:cs typeface="Calibri" pitchFamily="34" charset="-120"/>
              </a:rPr>
              <a:t>Built in one weekend, end to end: a full-stack app, an API, a database and real payments, with over 1,400 automated tests.</a:t>
            </a:r>
            <a:endParaRPr lang="en-US" sz="1600" dirty="0"/>
          </a:p>
        </p:txBody>
      </p:sp>
      <p:sp>
        <p:nvSpPr>
          <p:cNvPr id="15" name="Text 11"/>
          <p:cNvSpPr txBox="1"/>
          <p:nvPr/>
        </p:nvSpPr>
        <p:spPr>
          <a:xfrm>
            <a:off x="9357055" y="6355080"/>
            <a:ext cx="2286000" cy="320040"/>
          </a:xfrm>
          <a:prstGeom prst="rect">
            <a:avLst/>
          </a:prstGeom>
          <a:noFill/>
          <a:ln/>
        </p:spPr>
        <p:txBody>
          <a:bodyPr wrap="square" lIns="0" tIns="0" rIns="0" bIns="0" rtlCol="0" anchor="ctr"/>
          <a:lstStyle/>
          <a:p>
            <a:pPr algn="r" indent="0" marL="0">
              <a:buNone/>
            </a:pPr>
            <a:r>
              <a:rPr lang="en-US" sz="950" dirty="0">
                <a:solidFill>
                  <a:srgbClr val="5E7891"/>
                </a:solidFill>
                <a:latin typeface="Calibri" pitchFamily="34" charset="0"/>
                <a:ea typeface="Calibri" pitchFamily="34" charset="-122"/>
                <a:cs typeface="Calibri" pitchFamily="34" charset="-120"/>
              </a:rPr>
              <a:t>Akayza · Team PR  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B2A"/>
        </a:solidFill>
      </p:bgPr>
    </p:bg>
    <p:spTree>
      <p:nvGrpSpPr>
        <p:cNvPr id="1" name=""/>
        <p:cNvGrpSpPr/>
        <p:nvPr/>
      </p:nvGrpSpPr>
      <p:grpSpPr>
        <a:xfrm>
          <a:off x="0" y="0"/>
          <a:ext cx="0" cy="0"/>
          <a:chOff x="0" y="0"/>
          <a:chExt cx="0" cy="0"/>
        </a:xfrm>
      </p:grpSpPr>
      <p:sp>
        <p:nvSpPr>
          <p:cNvPr id="2" name="Text 0"/>
          <p:cNvSpPr txBox="1"/>
          <p:nvPr/>
        </p:nvSpPr>
        <p:spPr>
          <a:xfrm>
            <a:off x="731520" y="1554480"/>
            <a:ext cx="10058400" cy="1188720"/>
          </a:xfrm>
          <a:prstGeom prst="rect">
            <a:avLst/>
          </a:prstGeom>
          <a:noFill/>
          <a:ln/>
        </p:spPr>
        <p:txBody>
          <a:bodyPr wrap="square" lIns="0" tIns="0" rIns="0" bIns="0" rtlCol="0" anchor="ctr"/>
          <a:lstStyle/>
          <a:p>
            <a:pPr indent="0" marL="0">
              <a:buNone/>
            </a:pPr>
            <a:r>
              <a:rPr lang="en-US" sz="6600" b="1" dirty="0">
                <a:solidFill>
                  <a:srgbClr val="F4F7FB"/>
                </a:solidFill>
                <a:latin typeface="Georgia" pitchFamily="34" charset="0"/>
                <a:ea typeface="Georgia" pitchFamily="34" charset="-122"/>
                <a:cs typeface="Georgia" pitchFamily="34" charset="-120"/>
              </a:rPr>
              <a:t>Thank you</a:t>
            </a:r>
            <a:endParaRPr lang="en-US" sz="6600" dirty="0"/>
          </a:p>
        </p:txBody>
      </p:sp>
      <p:sp>
        <p:nvSpPr>
          <p:cNvPr id="3" name="Text 1"/>
          <p:cNvSpPr txBox="1"/>
          <p:nvPr/>
        </p:nvSpPr>
        <p:spPr>
          <a:xfrm>
            <a:off x="731520" y="2743200"/>
            <a:ext cx="10058400" cy="731520"/>
          </a:xfrm>
          <a:prstGeom prst="rect">
            <a:avLst/>
          </a:prstGeom>
          <a:noFill/>
          <a:ln/>
        </p:spPr>
        <p:txBody>
          <a:bodyPr wrap="square" lIns="0" tIns="0" rIns="0" bIns="0" rtlCol="0" anchor="ctr"/>
          <a:lstStyle/>
          <a:p>
            <a:pPr indent="0" marL="0">
              <a:buNone/>
            </a:pPr>
            <a:r>
              <a:rPr lang="en-US" sz="3000" i="1" dirty="0">
                <a:solidFill>
                  <a:srgbClr val="22C3E6"/>
                </a:solidFill>
                <a:latin typeface="Georgia" pitchFamily="34" charset="0"/>
                <a:ea typeface="Georgia" pitchFamily="34" charset="-122"/>
                <a:cs typeface="Georgia" pitchFamily="34" charset="-120"/>
              </a:rPr>
              <a:t>Keep it in the kasi.</a:t>
            </a:r>
            <a:endParaRPr lang="en-US" sz="3000" dirty="0"/>
          </a:p>
        </p:txBody>
      </p:sp>
      <p:sp>
        <p:nvSpPr>
          <p:cNvPr id="4" name="Text 2"/>
          <p:cNvSpPr txBox="1"/>
          <p:nvPr/>
        </p:nvSpPr>
        <p:spPr>
          <a:xfrm>
            <a:off x="731520" y="3840480"/>
            <a:ext cx="10058400" cy="457200"/>
          </a:xfrm>
          <a:prstGeom prst="rect">
            <a:avLst/>
          </a:prstGeom>
          <a:noFill/>
          <a:ln/>
        </p:spPr>
        <p:txBody>
          <a:bodyPr wrap="square" lIns="0" tIns="0" rIns="0" bIns="0" rtlCol="0" anchor="t"/>
          <a:lstStyle/>
          <a:p>
            <a:pPr indent="0" marL="0">
              <a:buNone/>
            </a:pPr>
            <a:r>
              <a:rPr lang="en-US" sz="2000" b="1" dirty="0">
                <a:solidFill>
                  <a:srgbClr val="F2A93B"/>
                </a:solidFill>
                <a:latin typeface="Calibri" pitchFamily="34" charset="0"/>
                <a:ea typeface="Calibri" pitchFamily="34" charset="-122"/>
                <a:cs typeface="Calibri" pitchFamily="34" charset="-120"/>
              </a:rPr>
              <a:t>R300,000  ·  6-month pilot  ·  2 suppliers and the businesses they serve</a:t>
            </a:r>
            <a:endParaRPr lang="en-US" sz="2000" dirty="0"/>
          </a:p>
        </p:txBody>
      </p:sp>
      <p:sp>
        <p:nvSpPr>
          <p:cNvPr id="5" name="Text 3"/>
          <p:cNvSpPr txBox="1"/>
          <p:nvPr/>
        </p:nvSpPr>
        <p:spPr>
          <a:xfrm>
            <a:off x="731520" y="5120640"/>
            <a:ext cx="10058400" cy="365760"/>
          </a:xfrm>
          <a:prstGeom prst="rect">
            <a:avLst/>
          </a:prstGeom>
          <a:noFill/>
          <a:ln/>
        </p:spPr>
        <p:txBody>
          <a:bodyPr wrap="square" lIns="0" tIns="0" rIns="0" bIns="0" rtlCol="0" anchor="t"/>
          <a:lstStyle/>
          <a:p>
            <a:pPr indent="0" marL="0">
              <a:buNone/>
            </a:pPr>
            <a:r>
              <a:rPr lang="en-US" sz="1400" dirty="0">
                <a:solidFill>
                  <a:srgbClr val="5E7891"/>
                </a:solidFill>
                <a:latin typeface="Calibri" pitchFamily="34" charset="0"/>
                <a:ea typeface="Calibri" pitchFamily="34" charset="-122"/>
                <a:cs typeface="Calibri" pitchFamily="34" charset="-120"/>
              </a:rPr>
              <a:t>Akayza · prepared by Team PR · GKHack26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Team PR</dc:title>
  <dc:subject>PptxGenJS Presentation</dc:subject>
  <dc:creator>Team PR</dc:creator>
  <cp:lastModifiedBy>Team PR</cp:lastModifiedBy>
  <cp:revision>1</cp:revision>
  <dcterms:created xsi:type="dcterms:W3CDTF">2026-09-26T20:37:21Z</dcterms:created>
  <dcterms:modified xsi:type="dcterms:W3CDTF">2026-09-26T20:37:21Z</dcterms:modified>
</cp:coreProperties>
</file>