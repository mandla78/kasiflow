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fee because we bring them more orders, paid up front.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'Our users are small and informal businesses; they use it free. Our customers are suppliers.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And businesses invite the suppliers they already order from.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calls, voice notes and WhatsApp messages to different suppliers, nothing in one place, nothing to track. Then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'Privacy is built in, not added on. We collect only what we need or can verify. Only the owner sees their data. We never touch card numbers or hold money. Nothing personal goes into logs. Nothing is shared without consent. And we're honest about proof: only a provider-verified payment counts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Replace '[paste link here]' with the real link, and link the play button too (Insert &gt; Link).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Mandla and Risuna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fee for more orders from the businesses they already serve, paid up front, with no cash lost on the road.</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use it free.</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01768"/>
            <a:ext cx="4572000" cy="1078992"/>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Go-to-market  </a:t>
            </a:r>
            <a:pPr indent="0" marL="0">
              <a:buNone/>
            </a:pPr>
            <a:r>
              <a:rPr lang="en-US" sz="1250" dirty="0">
                <a:solidFill>
                  <a:srgbClr val="F8FAFC"/>
                </a:solidFill>
                <a:latin typeface="Calibri" pitchFamily="34" charset="0"/>
                <a:ea typeface="Calibri" pitchFamily="34" charset="-122"/>
                <a:cs typeface="Calibri" pitchFamily="34" charset="-120"/>
              </a:rPr>
              <a:t>Two ways in. Sign a supplier, and it brings the businesses it delivers to. Businesses invite the suppliers they already order from. 2 suppliers in the pilot, 15 in year 1, 200 by year 3.</a:t>
            </a:r>
            <a:endParaRPr lang="en-US" sz="12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48640">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Runs the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Your own suppliers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Any kind of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Verified payment</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WhatsApp, calls + a notebook (today)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scattered: calls, voice notes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A wholesaler's own app (e.g. Shoprite Cash &amp; Carry)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one wholesaler</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Payments / POS (iKhokha, Yoco)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sales only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cards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Bulk buying (Spazapp)</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their range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0F172A"/>
                          </a:solidFill>
                          <a:latin typeface="Calibri" pitchFamily="34" charset="0"/>
                          <a:ea typeface="Calibri" pitchFamily="34" charset="-122"/>
                          <a:cs typeface="Calibri" pitchFamily="34" charset="-120"/>
                        </a:rPr>
                        <a:t>Akayza</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business tools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all your suppliers, one place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digital, verified</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440680"/>
            <a:ext cx="5440680" cy="822960"/>
          </a:xfrm>
          <a:prstGeom prst="roundRect">
            <a:avLst>
              <a:gd name="adj" fmla="val 13333"/>
            </a:avLst>
          </a:prstGeom>
          <a:solidFill>
            <a:srgbClr val="1E2B45"/>
          </a:solidFill>
          <a:ln w="12700">
            <a:solidFill>
              <a:srgbClr val="1E2B45"/>
            </a:solidFill>
            <a:prstDash val="solid"/>
          </a:ln>
        </p:spPr>
      </p:sp>
      <p:sp>
        <p:nvSpPr>
          <p:cNvPr id="6" name="Text 3"/>
          <p:cNvSpPr txBox="1"/>
          <p:nvPr/>
        </p:nvSpPr>
        <p:spPr>
          <a:xfrm>
            <a:off x="77724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Gets smarter with use  </a:t>
            </a:r>
            <a:pPr indent="0" marL="0">
              <a:buNone/>
            </a:pPr>
            <a:r>
              <a:rPr lang="en-US" sz="1250" dirty="0">
                <a:solidFill>
                  <a:srgbClr val="F8FAFC"/>
                </a:solidFill>
                <a:latin typeface="Calibri" pitchFamily="34" charset="0"/>
                <a:ea typeface="Calibri" pitchFamily="34" charset="-122"/>
                <a:cs typeface="Calibri" pitchFamily="34" charset="-120"/>
              </a:rPr>
              <a:t>What a business orders and records today shapes the suppliers it's matched with tomorrow: closer, a better fit, stocking what it buys.</a:t>
            </a:r>
            <a:endParaRPr lang="en-US" sz="1250" dirty="0"/>
          </a:p>
        </p:txBody>
      </p:sp>
      <p:sp>
        <p:nvSpPr>
          <p:cNvPr id="7" name="Shape 4"/>
          <p:cNvSpPr/>
          <p:nvPr/>
        </p:nvSpPr>
        <p:spPr>
          <a:xfrm>
            <a:off x="6172200" y="5440680"/>
            <a:ext cx="5440680" cy="822960"/>
          </a:xfrm>
          <a:prstGeom prst="roundRect">
            <a:avLst>
              <a:gd name="adj" fmla="val 13333"/>
            </a:avLst>
          </a:prstGeom>
          <a:solidFill>
            <a:srgbClr val="1E2B45"/>
          </a:solidFill>
          <a:ln w="12700">
            <a:solidFill>
              <a:srgbClr val="1E2B45"/>
            </a:solidFill>
            <a:prstDash val="solid"/>
          </a:ln>
        </p:spPr>
      </p:sp>
      <p:sp>
        <p:nvSpPr>
          <p:cNvPr id="8" name="Text 5"/>
          <p:cNvSpPr txBox="1"/>
          <p:nvPr/>
        </p:nvSpPr>
        <p:spPr>
          <a:xfrm>
            <a:off x="640080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A record that holds up  </a:t>
            </a:r>
            <a:pPr indent="0" marL="0">
              <a:buNone/>
            </a:pPr>
            <a:r>
              <a:rPr lang="en-US" sz="1250" dirty="0">
                <a:solidFill>
                  <a:srgbClr val="F8FAFC"/>
                </a:solidFill>
                <a:latin typeface="Calibri" pitchFamily="34" charset="0"/>
                <a:ea typeface="Calibri" pitchFamily="34" charset="-122"/>
                <a:cs typeface="Calibri" pitchFamily="34" charset="-120"/>
              </a:rPr>
              <a:t>Digital payments verified by the provider, and a sealed history of stock orders that nobody can quietly change.</a:t>
            </a:r>
            <a:endParaRPr lang="en-US" sz="125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PayFast</a:t>
            </a:r>
            <a:endParaRPr lang="en-US" sz="145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payments,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Cloudinary</a:t>
            </a:r>
            <a:endParaRPr lang="en-US" sz="145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signed photo uploads</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Mapbox</a:t>
            </a:r>
            <a:endParaRPr lang="en-US" sz="145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Supplier engine</a:t>
            </a:r>
            <a:endParaRPr lang="en-US" sz="145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POPIA by design: their data stays theirs</a:t>
            </a:r>
            <a:endParaRPr lang="en-US" sz="3200" dirty="0"/>
          </a:p>
        </p:txBody>
      </p:sp>
      <p:sp>
        <p:nvSpPr>
          <p:cNvPr id="4" name="Shape 2"/>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5" name="Shape 3"/>
          <p:cNvSpPr/>
          <p:nvPr/>
        </p:nvSpPr>
        <p:spPr>
          <a:xfrm>
            <a:off x="822960" y="1993392"/>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7" name="Text 4"/>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8" name="Text 5"/>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9" name="Shape 6"/>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0" name="Shape 7"/>
          <p:cNvSpPr/>
          <p:nvPr/>
        </p:nvSpPr>
        <p:spPr>
          <a:xfrm>
            <a:off x="4572000" y="1993392"/>
            <a:ext cx="603504" cy="603504"/>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2" name="Text 8"/>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3" name="Text 9"/>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4" name="Shape 10"/>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5" name="Shape 11"/>
          <p:cNvSpPr/>
          <p:nvPr/>
        </p:nvSpPr>
        <p:spPr>
          <a:xfrm>
            <a:off x="8321040" y="1993392"/>
            <a:ext cx="603504" cy="603504"/>
          </a:xfrm>
          <a:prstGeom prst="ellipse">
            <a:avLst/>
          </a:prstGeom>
          <a:solidFill>
            <a:srgbClr val="1E2B45"/>
          </a:solidFill>
          <a:ln w="19050">
            <a:solidFill>
              <a:srgbClr val="FBBF24"/>
            </a:solidFill>
            <a:prstDash val="solid"/>
          </a:ln>
        </p:spPr>
      </p:sp>
      <p:pic>
        <p:nvPicPr>
          <p:cNvPr id="16"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7" name="Text 12"/>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8" name="Text 13"/>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19" name="Shape 14"/>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0" name="Shape 15"/>
          <p:cNvSpPr/>
          <p:nvPr/>
        </p:nvSpPr>
        <p:spPr>
          <a:xfrm>
            <a:off x="822960" y="3913632"/>
            <a:ext cx="603504" cy="603504"/>
          </a:xfrm>
          <a:prstGeom prst="ellipse">
            <a:avLst/>
          </a:prstGeom>
          <a:solidFill>
            <a:srgbClr val="1E2B45"/>
          </a:solidFill>
          <a:ln w="19050">
            <a:solidFill>
              <a:srgbClr val="10B981"/>
            </a:solidFill>
            <a:prstDash val="solid"/>
          </a:ln>
        </p:spPr>
      </p:sp>
      <p:pic>
        <p:nvPicPr>
          <p:cNvPr id="21"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2" name="Text 16"/>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3" name="Text 17"/>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4" name="Shape 18"/>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5" name="Shape 19"/>
          <p:cNvSpPr/>
          <p:nvPr/>
        </p:nvSpPr>
        <p:spPr>
          <a:xfrm>
            <a:off x="4572000" y="3913632"/>
            <a:ext cx="603504" cy="603504"/>
          </a:xfrm>
          <a:prstGeom prst="ellipse">
            <a:avLst/>
          </a:prstGeom>
          <a:solidFill>
            <a:srgbClr val="1E2B45"/>
          </a:solidFill>
          <a:ln w="19050">
            <a:solidFill>
              <a:srgbClr val="10B981"/>
            </a:solidFill>
            <a:prstDash val="solid"/>
          </a:ln>
        </p:spPr>
      </p:sp>
      <p:pic>
        <p:nvPicPr>
          <p:cNvPr id="26"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7" name="Text 20"/>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8" name="Text 21"/>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29" name="Shape 22"/>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0" name="Shape 23"/>
          <p:cNvSpPr/>
          <p:nvPr/>
        </p:nvSpPr>
        <p:spPr>
          <a:xfrm>
            <a:off x="8321040" y="3913632"/>
            <a:ext cx="603504" cy="603504"/>
          </a:xfrm>
          <a:prstGeom prst="ellipse">
            <a:avLst/>
          </a:prstGeom>
          <a:solidFill>
            <a:srgbClr val="1E2B45"/>
          </a:solidFill>
          <a:ln w="19050">
            <a:solidFill>
              <a:srgbClr val="10B981"/>
            </a:solidFill>
            <a:prstDash val="solid"/>
          </a:ln>
        </p:spPr>
      </p:sp>
      <p:pic>
        <p:nvPicPr>
          <p:cNvPr id="31"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2" name="Text 24"/>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3" name="Text 25"/>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4" name="Shape 26"/>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5" name="Text 27"/>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a payment verified by the provider is proof. Cash is at most 'confirmed by both'; tool records are the owner's own. Never added together.</a:t>
            </a:r>
            <a:endParaRPr lang="en-US" sz="1300" dirty="0"/>
          </a:p>
        </p:txBody>
      </p:sp>
      <p:pic>
        <p:nvPicPr>
          <p:cNvPr id="36"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7" name="Text 2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82880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2136038"/>
            <a:ext cx="665683" cy="665683"/>
          </a:xfrm>
          <a:prstGeom prst="rect">
            <a:avLst/>
          </a:prstGeom>
        </p:spPr>
      </p:pic>
      <p:sp>
        <p:nvSpPr>
          <p:cNvPr id="6" name="Text 3"/>
          <p:cNvSpPr txBox="1"/>
          <p:nvPr/>
        </p:nvSpPr>
        <p:spPr>
          <a:xfrm>
            <a:off x="731520" y="3429000"/>
            <a:ext cx="5669280" cy="41148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500" dirty="0"/>
          </a:p>
        </p:txBody>
      </p:sp>
      <p:sp>
        <p:nvSpPr>
          <p:cNvPr id="7" name="Text 4"/>
          <p:cNvSpPr txBox="1"/>
          <p:nvPr/>
        </p:nvSpPr>
        <p:spPr>
          <a:xfrm>
            <a:off x="731520" y="3931920"/>
            <a:ext cx="5669280" cy="365760"/>
          </a:xfrm>
          <a:prstGeom prst="rect">
            <a:avLst/>
          </a:prstGeom>
          <a:noFill/>
          <a:ln/>
        </p:spPr>
        <p:txBody>
          <a:bodyPr wrap="square" lIns="0" tIns="0" rIns="0" bIns="0" rtlCol="0" anchor="t"/>
          <a:lstStyle/>
          <a:p>
            <a:pPr algn="ctr" indent="0" marL="0">
              <a:buNone/>
            </a:pPr>
            <a:r>
              <a:rPr lang="en-US" sz="1400" dirty="0">
                <a:solidFill>
                  <a:srgbClr val="FBBF24"/>
                </a:solidFill>
                <a:latin typeface="Calibri" pitchFamily="34" charset="0"/>
                <a:ea typeface="Calibri" pitchFamily="34" charset="-122"/>
                <a:cs typeface="Calibri" pitchFamily="34" charset="-120"/>
              </a:rPr>
              <a:t>Video: [paste link here]</a:t>
            </a:r>
            <a:endParaRPr lang="en-US" sz="1400" dirty="0"/>
          </a:p>
        </p:txBody>
      </p:sp>
      <p:sp>
        <p:nvSpPr>
          <p:cNvPr id="8" name="Text 5"/>
          <p:cNvSpPr txBox="1"/>
          <p:nvPr/>
        </p:nvSpPr>
        <p:spPr>
          <a:xfrm>
            <a:off x="731520" y="4480560"/>
            <a:ext cx="5669280" cy="45720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Home at a glance  ·  suppliers matched  ·  paid and confirmed  ·  a sealed record</a:t>
            </a:r>
            <a:endParaRPr lang="en-US" sz="1200" dirty="0"/>
          </a:p>
        </p:txBody>
      </p:sp>
      <p:pic>
        <p:nvPicPr>
          <p:cNvPr id="9" name="Image 1" descr="preencoded.png">    </p:cNvPr>
          <p:cNvPicPr>
            <a:picLocks noChangeAspect="1"/>
          </p:cNvPicPr>
          <p:nvPr/>
        </p:nvPicPr>
        <p:blipFill>
          <a:blip r:embed="rId2"/>
          <a:stretch>
            <a:fillRect/>
          </a:stretch>
        </p:blipFill>
        <p:spPr>
          <a:xfrm>
            <a:off x="7086600" y="914400"/>
            <a:ext cx="1005840" cy="1005840"/>
          </a:xfrm>
          <a:prstGeom prst="rect">
            <a:avLst/>
          </a:prstGeom>
        </p:spPr>
      </p:pic>
      <p:sp>
        <p:nvSpPr>
          <p:cNvPr id="10" name="Text 6"/>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1" name="Text 7"/>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2" name="Text 8"/>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3" name="Text 9"/>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a:t>
            </a:r>
            <a:endParaRPr lang="en-US" sz="1500" dirty="0"/>
          </a:p>
        </p:txBody>
      </p:sp>
      <p:sp>
        <p:nvSpPr>
          <p:cNvPr id="14" name="Text 10"/>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Team PR  ·  Mandla (lead)  ·  Risuna</a:t>
            </a:r>
            <a:endParaRPr lang="en-US" sz="1400" dirty="0"/>
          </a:p>
        </p:txBody>
      </p:sp>
      <p:pic>
        <p:nvPicPr>
          <p:cNvPr id="15"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6"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2026-09-27T05:16:28Z</dcterms:created>
  <dcterms:modified xsi:type="dcterms:W3CDTF">2026-09-27T05:16:28Z</dcterms:modified>
</cp:coreProperties>
</file>