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F8FAFC"/>
                </a:solidFill>
                <a:latin typeface="Calibri"/>
              </a:defRPr>
            </a:pPr>
            <a:r>
              <a:rPr sz="1300" b="0" i="0" u="none" strike="noStrike">
                <a:solidFill>
                  <a:srgbClr val="F8FAFC"/>
                </a:solidFill>
                <a:latin typeface="Calibri"/>
              </a:rPr>
              <a:t>Monthly revenue at year end (R thousand, estimate)</a:t>
            </a:r>
          </a:p>
        </c:rich>
      </c:tx>
      <c:layout/>
      <c:overlay val="0"/>
    </c:title>
    <c:autoTitleDeleted val="0"/>
    <c:plotArea>
      <c:layout/>
      <c:barChart>
        <c:barDir val="col"/>
        <c:grouping val="stacked"/>
        <c:varyColors val="0"/>
        <c:ser>
          <c:idx val="0"/>
          <c:order val="0"/>
          <c:tx>
            <c:strRef>
              <c:f>Sheet1!$B$1</c:f>
              <c:strCache>
                <c:ptCount val="1"/>
                <c:pt idx="0">
                  <c:v>Supplier subscriptions</c:v>
                </c:pt>
              </c:strCache>
            </c:strRef>
          </c:tx>
          <c:spPr>
            <a:solidFill>
              <a:srgbClr val="10B98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16</c:v>
                </c:pt>
                <c:pt idx="1">
                  <c:v>83</c:v>
                </c:pt>
                <c:pt idx="2">
                  <c:v>310</c:v>
                </c:pt>
              </c:numCache>
            </c:numRef>
          </c:val>
        </c:ser>
        <c:ser>
          <c:idx val="1"/>
          <c:order val="1"/>
          <c:tx>
            <c:strRef>
              <c:f>Sheet1!$C$1</c:f>
              <c:strCache>
                <c:ptCount val="1"/>
                <c:pt idx="0">
                  <c:v>~1% on digital orders</c:v>
                </c:pt>
              </c:strCache>
            </c:strRef>
          </c:tx>
          <c:spPr>
            <a:solidFill>
              <a:srgbClr val="F59E0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40</c:v>
                </c:pt>
                <c:pt idx="1">
                  <c:v>200</c:v>
                </c:pt>
                <c:pt idx="2">
                  <c:v>800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F8FAFC"/>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F8FAFC"/>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F8FAFC"/>
                </a:solidFill>
                <a:latin typeface="Calibri"/>
              </a:defRPr>
            </a:pPr>
            <a:r>
              <a:rPr sz="1400" b="0" i="0" u="none" strike="noStrike">
                <a:solidFill>
                  <a:srgbClr val="F8FAFC"/>
                </a:solidFill>
                <a:latin typeface="Calibri"/>
              </a:rPr>
              <a:t>Where the R300,000 goes (R thousand)</a:t>
            </a:r>
          </a:p>
        </c:rich>
      </c:tx>
      <c:layout/>
      <c:overlay val="0"/>
    </c:title>
    <c:autoTitleDeleted val="0"/>
    <c:plotArea>
      <c:layout/>
      <c:doughnutChart>
        <c:varyColors val="1"/>
        <c:ser>
          <c:idx val="0"/>
          <c:order val="0"/>
          <c:tx>
            <c:strRef>
              <c:f>Sheet1!$B$1</c:f>
              <c:strCache>
                <c:ptCount val="1"/>
                <c:pt idx="0">
                  <c:v>Use of funds</c:v>
                </c:pt>
              </c:strCache>
            </c:strRef>
          </c:tx>
          <c:spPr>
            <a:solidFill>
              <a:schemeClr val="accent1"/>
            </a:solidFill>
            <a:ln w="9525" cap="flat">
              <a:solidFill>
                <a:srgbClr val="F9F9F9"/>
              </a:solidFill>
              <a:prstDash val="solid"/>
              <a:round/>
            </a:ln>
            <a:effectLst/>
          </c:spPr>
          <c:dPt>
            <c:idx val="0"/>
            <c:bubble3D val="0"/>
            <c:spPr>
              <a:solidFill>
                <a:srgbClr val="10B981"/>
              </a:solidFill>
              <a:effectLst/>
            </c:spPr>
          </c:dPt>
          <c:dPt>
            <c:idx val="1"/>
            <c:bubble3D val="0"/>
            <c:spPr>
              <a:solidFill>
                <a:srgbClr val="F59E0B"/>
              </a:solidFill>
              <a:effectLst/>
            </c:spPr>
          </c:dPt>
          <c:dPt>
            <c:idx val="2"/>
            <c:bubble3D val="0"/>
            <c:spPr>
              <a:solidFill>
                <a:srgbClr val="34D399"/>
              </a:solidFill>
              <a:effectLst/>
            </c:spPr>
          </c:dPt>
          <c:dPt>
            <c:idx val="3"/>
            <c:bubble3D val="0"/>
            <c:spPr>
              <a:solidFill>
                <a:srgbClr val="7C93B5"/>
              </a:solidFill>
              <a:effectLst/>
            </c:spPr>
          </c:dPt>
          <c:dPt>
            <c:idx val="4"/>
            <c:bubble3D val="0"/>
            <c:spPr>
              <a:solidFill>
                <a:srgbClr val="F87171"/>
              </a:solidFill>
              <a:effectLst/>
            </c:spPr>
          </c:dPt>
          <c:dPt>
            <c:idx val="5"/>
            <c:bubble3D val="0"/>
            <c:spPr>
              <a:solidFill>
                <a:srgbClr val="C4B5FD"/>
              </a:solidFill>
              <a:effectLst/>
            </c:spPr>
          </c:dPt>
          <c:dLbls>
            <c:dLbl>
              <c:idx val="0"/>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dLbl>
              <c:idx val="1"/>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dLbl>
              <c:idx val="2"/>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dLbl>
              <c:idx val="3"/>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dLbl>
              <c:idx val="4"/>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dLbl>
              <c:idx val="5"/>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Sheet1!$A$2:$A$7</c:f>
              <c:strCache>
                <c:ptCount val="6"/>
                <c:pt idx="0">
                  <c:v>Stipends for pilot businesses</c:v>
                </c:pt>
                <c:pt idx="1">
                  <c:v>Field agent</c:v>
                </c:pt>
                <c:pt idx="2">
                  <c:v>Data bundles</c:v>
                </c:pt>
                <c:pt idx="3">
                  <c:v>Running costs</c:v>
                </c:pt>
                <c:pt idx="4">
                  <c:v>POPIA review + security test</c:v>
                </c:pt>
                <c:pt idx="5">
                  <c:v>Devices + contingency</c:v>
                </c:pt>
              </c:strCache>
            </c:strRef>
          </c:cat>
          <c:val>
            <c:numRef>
              <c:f>Sheet1!$B$2:$B$7</c:f>
              <c:numCache>
                <c:ptCount val="6"/>
                <c:pt idx="0">
                  <c:v>96</c:v>
                </c:pt>
                <c:pt idx="1">
                  <c:v>60</c:v>
                </c:pt>
                <c:pt idx="2">
                  <c:v>60</c:v>
                </c:pt>
                <c:pt idx="3">
                  <c:v>24</c:v>
                </c:pt>
                <c:pt idx="4">
                  <c:v>30</c:v>
                </c:pt>
                <c:pt idx="5">
                  <c:v>30</c:v>
                </c:pt>
              </c:numCache>
            </c:numRef>
          </c:val>
        </c:ser>
        <c:firstSliceAng val="0"/>
        <c:holeSize val="55"/>
      </c:doughnutChart>
      <c:spPr>
        <a:noFill/>
        <a:ln>
          <a:noFill/>
        </a:ln>
        <a:effectLst/>
      </c:spPr>
    </c:plotArea>
    <c:legend>
      <c:legendPos val="b"/>
      <c:overlay val="0"/>
      <c:txPr>
        <a:bodyPr/>
        <a:lstStyle/>
        <a:p>
          <a:pPr>
            <a:defRPr sz="1150">
              <a:solidFill>
                <a:srgbClr val="F8FAFC"/>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F8FAFC"/>
                </a:solidFill>
                <a:latin typeface="Calibri"/>
              </a:defRPr>
            </a:pPr>
            <a:r>
              <a:rPr sz="1300" b="0" i="0" u="none" strike="noStrike">
                <a:solidFill>
                  <a:srgbClr val="F8FAFC"/>
                </a:solidFill>
                <a:latin typeface="Calibri"/>
              </a:rPr>
              <a:t>A month at year end (R thousand, estimate)</a:t>
            </a:r>
          </a:p>
        </c:rich>
      </c:tx>
      <c:layout/>
      <c:overlay val="0"/>
    </c:title>
    <c:autoTitleDeleted val="0"/>
    <c:plotArea>
      <c:layout/>
      <c:barChart>
        <c:barDir val="col"/>
        <c:grouping val="clustered"/>
        <c:varyColors val="0"/>
        <c:ser>
          <c:idx val="0"/>
          <c:order val="0"/>
          <c:tx>
            <c:strRef>
              <c:f>Sheet1!$B$1</c:f>
              <c:strCache>
                <c:ptCount val="1"/>
                <c:pt idx="0">
                  <c:v>Running costs</c:v>
                </c:pt>
              </c:strCache>
            </c:strRef>
          </c:tx>
          <c:spPr>
            <a:solidFill>
              <a:srgbClr val="F87171"/>
            </a:solidFill>
            <a:effectLst/>
          </c:spPr>
          <c:invertIfNegative val="0"/>
          <c:dLbls>
            <c:numFmt formatCode="#,##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75</c:v>
                </c:pt>
                <c:pt idx="1">
                  <c:v>270</c:v>
                </c:pt>
                <c:pt idx="2">
                  <c:v>650</c:v>
                </c:pt>
              </c:numCache>
            </c:numRef>
          </c:val>
        </c:ser>
        <c:ser>
          <c:idx val="1"/>
          <c:order val="1"/>
          <c:tx>
            <c:strRef>
              <c:f>Sheet1!$C$1</c:f>
              <c:strCache>
                <c:ptCount val="1"/>
                <c:pt idx="0">
                  <c:v>Revenue</c:v>
                </c:pt>
              </c:strCache>
            </c:strRef>
          </c:tx>
          <c:spPr>
            <a:solidFill>
              <a:srgbClr val="10B981"/>
            </a:solidFill>
            <a:effectLst/>
          </c:spPr>
          <c:invertIfNegative val="0"/>
          <c:dLbls>
            <c:numFmt formatCode="#,##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56</c:v>
                </c:pt>
                <c:pt idx="1">
                  <c:v>283</c:v>
                </c:pt>
                <c:pt idx="2">
                  <c:v>1100</c:v>
                </c:pt>
              </c:numCache>
            </c:numRef>
          </c:val>
        </c:ser>
        <c:dLbls>
          <c:numFmt formatCode="#,##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F8FAFC"/>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F8FAFC"/>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 s): 'Good morning. We're Team PR, and this is Akayza. Keep it in the kasi.'
Then go straight to the next slide. No introductions of ourselves yet: the problem earns the attention, the team comes before the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'R900 billion. That's how much moves through South Africa's township economy every year: shops, builders, food sellers, salons, mechanics. It feeds communities and creates jobs. And almost none of it can be seen. Not by banks, not by suppliers, not by support funds, not even by the owner, who runs it on cash and memory.'
IF ASKED where R900 bn comes from: Standard Bank's first Township Informal Economy Report, launched October 2025, research by Foshizi, over 250 businesses across Gauteng, KwaZulu-Natal, Western Cape, Limpopo and North West. Say 'about R900 billion', never 800.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'Being invisible has a price. Fewer than 9% of these businesses can get a bank loan. When government put R500 million on the table for spaza shops, 354 applications failed verification and only R179.6 million reached shops. And 80% are unregistered, so there are no supplier terms, no credit, and every cash dispute is one person's word against another's.'
NOTE: the Spaza fund figures are specifically about spaza shops (DSBD, May 2026): say 'spaza shops' only for that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'Why hasn't anyone fixed this? Because the tools were built for formal businesses: they assume a registered company, a bookkeeper, card machines. Informal businesses run on cash, trust and a phone, busy all day, buying from the same few suppliers for years. Nothing fits how they work, so nothing gets captured.'
WhatsApp is how they talk to each other; it isn't the problem. The problem is that nothing turns their everyday trading into a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(30 s): 'That's where Akayza comes in. It makes informal businesses visible, and ready for tomorrow. One free app that runs the business and connects it to the suppliers it already trusts. Today, the owner runs it with less stress. This week, she buys better and pays safely. And tomorrow, she has a trading history she owns: the first step to credit, support funds and registration.'
Honest wording if pushed: payments made in the app are confirmed by the payment provider; the rest is the owner's own record. We never call tool records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tell it as a story: 'Meet Thandi. Monday she restocks from her usual supplier in two minutes. Wednesday a customer pays back his credit, and it's off her book on the spot. Friday she pays her supplier in the app: no cash on the road, the payment is confirmed and the invoice arrives. And at month end, for the first time, she can see her business.' Then: 'The same week works for a builder, a food seller, a mechanic.'
Thandi is an illustration, not a real customer. If asked: 'she's the kind of owner we built for; the pilot puts real names to 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'Everyone in the chain gains. Businesses use it free. Suppliers pay us, because we bring them more orders from the shops and builders they already serve and end the cash lost between the driver and the depot. And next, banks, funds and government get businesses they can finally see, only with the owner's consent.'
Partners are the roadmap, not revenue today. Our revenue is suppliers.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'The whole township economy is R900 billion. Spaza shops alone move about R180 billion a year: one segment, already buying every week. Our goal is 20,000 businesses and 200 paying suppliers by year three, about R13 million a year.'
R180 bn is specifically spaza shops (that's what the evidence measures), so we name them here. Everywhere else: informal and small businesses.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'Why South Africa first, not Africa? Because we know this market from the inside. It's big and dense, it's already moving to digital payments (56% prefer EFT), and the rules are clear. Win here, then take the same model across the continent.'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(50 s): play the video, or do it live. Let it speak; don't narrate every tap.
Before going on: phone charged, backend + ngrok running, the health link green. Replace '[paste here]' with the real link and add it to the play button (Insert &gt;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'Suppliers pay, businesses never do. R299 or R1,499 a month for suppliers, and about 1% only on digital orders, never on cash. End of year one: about R56,000 a month. Year three: about R1.1 million a month.'
IF ASKED how: subscriptions = supplier mix × price; commission = active businesses × ~R4,000 digital orders a month × 1%. Year 1: 5 Starter + 10 Pro suppliers, 1,000 businesses. They're estimates, and we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'Everyone serves a slice. A wholesaler's own app, like Shoprite Cash &amp; Carry's, sells its own range. Payment apps take card payments. We serve the whole business, with the suppliers it already uses, for any kind of business. And it gets smarter with use.'
Our biggest competitor is the habit of WhatsApp and a notebook. Don't attack anyone; show the gap. We complement payment apps; we don't replace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'We don't chase businesses one by one. We sign a supplier, and the supplier brings the businesses it already delivers to. Two suppliers in the pilot, fifteen in the first year, two hundred by year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(15 s): 'This isn't a mock-up. It's built: over a thousand automated tests pass before every change, payments run end to end in the provider's sandbox, and card numbers never touch our servers. We're at TRL 4 today; the pilot takes us to 6.'
If a mentor rated the TRL differently, change it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slowly, it's the most important number: 'We're asking for R300,000 for a six-month pilot. It buys two suppliers live, fifty to a hundred businesses using it every week, and proof in real shops and sites. Running it costs about R460 a month, so two suppliers on our Starter plan already cover it.'
Use of funds: stipends R96k, field agent R60k, data R60k, running costs R24k, POPIA review + external security test R30k, devices + contingency R30k.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'To start, R300,000 for the pilot. After the pilot we raise about R1.5 million to hire ahead of revenue. Costs grow with us, but suppliers' fees grow faster: we break even in year two, and by year three we make about R1.1 million a month against R650,000 in costs.'
IF ASKED for the breakdown (a month at year end, R thousand, estimates): team 40 / 150 / 350 (2, 5, 10 people); field agents 16 / 50 / 120 (2, 6, 15); sales and marketing 10 / 40 / 100; hosting, SMS, email, maps 5 / 15 / 40; security, POPIA, audits 4 / 15 / 40. Totals 75 / 270 / 650.
Why R1.5m: year 1 runs at a loss of about R20-40k a month while suppliers sign up, plus hiring the year-2 team before their revenue arrives, plus six months of safety.
Running costs stay low because we don't hold stock, cash or delivery vans: suppliers deliver, the payment provider holds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 (10 s): who we are in one line each. Edit the roles to how you want to be introduced; add the DataQuest 2026 win here if you want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(10 s), look at the panel, not the screen: 'R900 billion is moving, and nobody can see it. Akayza makes it visible, and suppliers pay for it. It's built, it works, and R300,000 puts it in real businesses. Are you buying?' Then stop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if asked. App -&gt; API -&gt; database; payments, photos, maps and email behind the API. Each feature is its own module, and an automated test stops one reaching into another's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'won't security make it hard to use?': 'Security is invisible to the owner: email, password, and a code only on a new phone. Everything else happens on our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Post-quantum (built): 'Records are meant to prove things for years, and quantum computers will break today's signatures. So the owner can seal their whole record with two signatures: ML-DSA-65, the NIST post-quantum standard, and Ed25519. A check shows exactly which records changed or were deleted, even straight in the database. We keep no copy of the seal, and our public keys are published so anyone can check without us.' Built and tested; invoices and receipts are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5" Type="http://schemas.openxmlformats.org/officeDocument/2006/relationships/chart" Target="/ppt/charts/chart2.xml"/><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6" Type="http://schemas.openxmlformats.org/officeDocument/2006/relationships/image" Target="../media/image-15-5.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slideLayout" Target="../slideLayouts/slideLayout1.xml"/><Relationship Id="rId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1097280"/>
            <a:ext cx="1554480" cy="1554480"/>
          </a:xfrm>
          <a:prstGeom prst="rect">
            <a:avLst/>
          </a:prstGeom>
        </p:spPr>
      </p:pic>
      <p:sp>
        <p:nvSpPr>
          <p:cNvPr id="3" name="Text 0"/>
          <p:cNvSpPr txBox="1"/>
          <p:nvPr/>
        </p:nvSpPr>
        <p:spPr>
          <a:xfrm>
            <a:off x="658368" y="2788920"/>
            <a:ext cx="6400800" cy="1197033"/>
          </a:xfrm>
          <a:prstGeom prst="rect">
            <a:avLst/>
          </a:prstGeom>
          <a:noFill/>
          <a:ln/>
        </p:spPr>
        <p:txBody>
          <a:bodyPr wrap="square" lIns="0" tIns="0" rIns="0" bIns="0" rtlCol="0" anchor="t"/>
          <a:lstStyle/>
          <a:p>
            <a:pPr indent="0" marL="0">
              <a:buNone/>
            </a:pPr>
            <a:r>
              <a:rPr lang="en-US" sz="7200" b="1" dirty="0">
                <a:solidFill>
                  <a:srgbClr val="F8FAFC"/>
                </a:solidFill>
                <a:latin typeface="Arial" pitchFamily="34" charset="0"/>
                <a:ea typeface="Arial" pitchFamily="34" charset="-122"/>
                <a:cs typeface="Arial" pitchFamily="34" charset="-120"/>
              </a:rPr>
              <a:t>akay</a:t>
            </a:r>
            <a:pPr indent="0" marL="0">
              <a:buNone/>
            </a:pPr>
            <a:r>
              <a:rPr lang="en-US" sz="7200" b="1" dirty="0">
                <a:solidFill>
                  <a:srgbClr val="10B981"/>
                </a:solidFill>
                <a:latin typeface="Arial" pitchFamily="34" charset="0"/>
                <a:ea typeface="Arial" pitchFamily="34" charset="-122"/>
                <a:cs typeface="Arial" pitchFamily="34" charset="-120"/>
              </a:rPr>
              <a:t>za</a:t>
            </a:r>
            <a:endParaRPr lang="en-US" sz="7200" dirty="0"/>
          </a:p>
        </p:txBody>
      </p:sp>
      <p:sp>
        <p:nvSpPr>
          <p:cNvPr id="4" name="Text 1"/>
          <p:cNvSpPr txBox="1"/>
          <p:nvPr/>
        </p:nvSpPr>
        <p:spPr>
          <a:xfrm>
            <a:off x="731520" y="4069080"/>
            <a:ext cx="7315200" cy="640080"/>
          </a:xfrm>
          <a:prstGeom prst="rect">
            <a:avLst/>
          </a:prstGeom>
          <a:noFill/>
          <a:ln/>
        </p:spPr>
        <p:txBody>
          <a:bodyPr wrap="square" lIns="0" tIns="0" rIns="0" bIns="0" rtlCol="0" anchor="t"/>
          <a:lstStyle/>
          <a:p>
            <a:pPr indent="0" marL="0">
              <a:buNone/>
            </a:pPr>
            <a:r>
              <a:rPr lang="en-US" sz="3000" i="1" dirty="0">
                <a:solidFill>
                  <a:srgbClr val="FBBF24"/>
                </a:solidFill>
                <a:latin typeface="Georgia" pitchFamily="34" charset="0"/>
                <a:ea typeface="Georgia" pitchFamily="34" charset="-122"/>
                <a:cs typeface="Georgia" pitchFamily="34" charset="-120"/>
              </a:rPr>
              <a:t>Keep it in the kasi.</a:t>
            </a:r>
            <a:endParaRPr lang="en-US" sz="3000" dirty="0"/>
          </a:p>
        </p:txBody>
      </p:sp>
      <p:sp>
        <p:nvSpPr>
          <p:cNvPr id="5" name="Text 2"/>
          <p:cNvSpPr txBox="1"/>
          <p:nvPr/>
        </p:nvSpPr>
        <p:spPr>
          <a:xfrm>
            <a:off x="731520" y="4754880"/>
            <a:ext cx="6766560" cy="731520"/>
          </a:xfrm>
          <a:prstGeom prst="rect">
            <a:avLst/>
          </a:prstGeom>
          <a:noFill/>
          <a:ln/>
        </p:spPr>
        <p:txBody>
          <a:bodyPr wrap="square" lIns="0" tIns="0" rIns="0" bIns="0" rtlCol="0" anchor="t"/>
          <a:lstStyle/>
          <a:p>
            <a:pPr indent="0" marL="0">
              <a:buNone/>
            </a:pPr>
            <a:r>
              <a:rPr lang="en-US" sz="1800" dirty="0">
                <a:solidFill>
                  <a:srgbClr val="A3B3C9"/>
                </a:solidFill>
                <a:latin typeface="Calibri" pitchFamily="34" charset="0"/>
                <a:ea typeface="Calibri" pitchFamily="34" charset="-122"/>
                <a:cs typeface="Calibri" pitchFamily="34" charset="-120"/>
              </a:rPr>
              <a:t>Making South Africa's informal businesses visible, and ready for what's next.</a:t>
            </a:r>
            <a:endParaRPr lang="en-US" sz="1800" dirty="0"/>
          </a:p>
        </p:txBody>
      </p:sp>
      <p:sp>
        <p:nvSpPr>
          <p:cNvPr id="6" name="Text 3"/>
          <p:cNvSpPr txBox="1"/>
          <p:nvPr/>
        </p:nvSpPr>
        <p:spPr>
          <a:xfrm>
            <a:off x="731520" y="5806440"/>
            <a:ext cx="7315200" cy="36576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Prepared by Team PR  ·  GKHack26  ·  27 September 2026</a:t>
            </a:r>
            <a:endParaRPr lang="en-US" sz="1300" dirty="0"/>
          </a:p>
        </p:txBody>
      </p:sp>
      <p:sp>
        <p:nvSpPr>
          <p:cNvPr id="7" name="Shape 4"/>
          <p:cNvSpPr/>
          <p:nvPr/>
        </p:nvSpPr>
        <p:spPr>
          <a:xfrm>
            <a:off x="8412480" y="822960"/>
            <a:ext cx="3291840" cy="3291840"/>
          </a:xfrm>
          <a:prstGeom prst="ellipse">
            <a:avLst/>
          </a:prstGeom>
          <a:solidFill>
            <a:srgbClr val="0F172A"/>
          </a:solidFill>
          <a:ln w="25400">
            <a:solidFill>
              <a:srgbClr val="1E2B45"/>
            </a:solidFill>
            <a:prstDash val="solid"/>
          </a:ln>
        </p:spPr>
      </p:sp>
      <p:sp>
        <p:nvSpPr>
          <p:cNvPr id="8" name="Shape 5"/>
          <p:cNvSpPr/>
          <p:nvPr/>
        </p:nvSpPr>
        <p:spPr>
          <a:xfrm>
            <a:off x="9235440" y="2286000"/>
            <a:ext cx="2651760" cy="2651760"/>
          </a:xfrm>
          <a:prstGeom prst="ellipse">
            <a:avLst/>
          </a:prstGeom>
          <a:solidFill>
            <a:srgbClr val="0F172A">
              <a:alpha val="0"/>
            </a:srgbClr>
          </a:solidFill>
          <a:ln w="19050">
            <a:solidFill>
              <a:srgbClr val="10B981">
                <a:alpha val="60000"/>
              </a:srgbClr>
            </a:solidFill>
            <a:prstDash val="solid"/>
          </a:ln>
        </p:spPr>
      </p:sp>
      <p:sp>
        <p:nvSpPr>
          <p:cNvPr id="9" name="Shape 6"/>
          <p:cNvSpPr/>
          <p:nvPr/>
        </p:nvSpPr>
        <p:spPr>
          <a:xfrm>
            <a:off x="8229600" y="3200400"/>
            <a:ext cx="2286000" cy="2286000"/>
          </a:xfrm>
          <a:prstGeom prst="ellipse">
            <a:avLst/>
          </a:prstGeom>
          <a:solidFill>
            <a:srgbClr val="0F172A">
              <a:alpha val="0"/>
            </a:srgbClr>
          </a:solidFill>
          <a:ln w="19050">
            <a:solidFill>
              <a:srgbClr val="F59E0B">
                <a:alpha val="60000"/>
              </a:srgb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THE PROBLEM</a:t>
            </a:r>
            <a:endParaRPr lang="en-US" sz="1300" dirty="0"/>
          </a:p>
        </p:txBody>
      </p:sp>
      <p:sp>
        <p:nvSpPr>
          <p:cNvPr id="3" name="Text 1"/>
          <p:cNvSpPr txBox="1"/>
          <p:nvPr/>
        </p:nvSpPr>
        <p:spPr>
          <a:xfrm>
            <a:off x="548640" y="1143000"/>
            <a:ext cx="10972800" cy="1463040"/>
          </a:xfrm>
          <a:prstGeom prst="rect">
            <a:avLst/>
          </a:prstGeom>
          <a:noFill/>
          <a:ln/>
        </p:spPr>
        <p:txBody>
          <a:bodyPr wrap="square" lIns="0" tIns="0" rIns="0" bIns="0" rtlCol="0" anchor="t"/>
          <a:lstStyle/>
          <a:p>
            <a:pPr indent="0" marL="0">
              <a:buNone/>
            </a:pPr>
            <a:r>
              <a:rPr lang="en-US" sz="9600" b="1" dirty="0">
                <a:solidFill>
                  <a:srgbClr val="FBBF24"/>
                </a:solidFill>
                <a:latin typeface="Georgia" pitchFamily="34" charset="0"/>
                <a:ea typeface="Georgia" pitchFamily="34" charset="-122"/>
                <a:cs typeface="Georgia" pitchFamily="34" charset="-120"/>
              </a:rPr>
              <a:t>R900 billion</a:t>
            </a:r>
            <a:endParaRPr lang="en-US" sz="9600" dirty="0"/>
          </a:p>
        </p:txBody>
      </p:sp>
      <p:sp>
        <p:nvSpPr>
          <p:cNvPr id="4" name="Text 2"/>
          <p:cNvSpPr txBox="1"/>
          <p:nvPr/>
        </p:nvSpPr>
        <p:spPr>
          <a:xfrm>
            <a:off x="548640" y="2651760"/>
            <a:ext cx="10972800" cy="548640"/>
          </a:xfrm>
          <a:prstGeom prst="rect">
            <a:avLst/>
          </a:prstGeom>
          <a:noFill/>
          <a:ln/>
        </p:spPr>
        <p:txBody>
          <a:bodyPr wrap="square" lIns="0" tIns="0" rIns="0" bIns="0" rtlCol="0" anchor="t"/>
          <a:lstStyle/>
          <a:p>
            <a:pPr indent="0" marL="0">
              <a:buNone/>
            </a:pPr>
            <a:r>
              <a:rPr lang="en-US" sz="2600" dirty="0">
                <a:solidFill>
                  <a:srgbClr val="F8FAFC"/>
                </a:solidFill>
                <a:latin typeface="Calibri" pitchFamily="34" charset="0"/>
                <a:ea typeface="Calibri" pitchFamily="34" charset="-122"/>
                <a:cs typeface="Calibri" pitchFamily="34" charset="-120"/>
              </a:rPr>
              <a:t>moves through South Africa's township economy every year.</a:t>
            </a:r>
            <a:endParaRPr lang="en-US" sz="2600" dirty="0"/>
          </a:p>
        </p:txBody>
      </p:sp>
      <p:sp>
        <p:nvSpPr>
          <p:cNvPr id="5" name="Text 3"/>
          <p:cNvSpPr txBox="1"/>
          <p:nvPr/>
        </p:nvSpPr>
        <p:spPr>
          <a:xfrm>
            <a:off x="548640" y="3429000"/>
            <a:ext cx="10972800" cy="640080"/>
          </a:xfrm>
          <a:prstGeom prst="rect">
            <a:avLst/>
          </a:prstGeom>
          <a:noFill/>
          <a:ln/>
        </p:spPr>
        <p:txBody>
          <a:bodyPr wrap="square" lIns="0" tIns="0" rIns="0" bIns="0" rtlCol="0" anchor="t"/>
          <a:lstStyle/>
          <a:p>
            <a:pPr indent="0" marL="0">
              <a:buNone/>
            </a:pPr>
            <a:r>
              <a:rPr lang="en-US" sz="3400" b="1" i="1" dirty="0">
                <a:solidFill>
                  <a:srgbClr val="F8FAFC"/>
                </a:solidFill>
                <a:latin typeface="Georgia" pitchFamily="34" charset="0"/>
                <a:ea typeface="Georgia" pitchFamily="34" charset="-122"/>
                <a:cs typeface="Georgia" pitchFamily="34" charset="-120"/>
              </a:rPr>
              <a:t>And almost none of it can be seen.</a:t>
            </a:r>
            <a:endParaRPr lang="en-US" sz="3400" dirty="0"/>
          </a:p>
        </p:txBody>
      </p:sp>
      <p:sp>
        <p:nvSpPr>
          <p:cNvPr id="6" name="Shape 4"/>
          <p:cNvSpPr/>
          <p:nvPr/>
        </p:nvSpPr>
        <p:spPr>
          <a:xfrm>
            <a:off x="548640" y="4526280"/>
            <a:ext cx="640080" cy="640080"/>
          </a:xfrm>
          <a:prstGeom prst="ellipse">
            <a:avLst/>
          </a:prstGeom>
          <a:solidFill>
            <a:srgbClr val="1E2B45"/>
          </a:solidFill>
          <a:ln w="19050">
            <a:solidFill>
              <a:srgbClr val="10B981"/>
            </a:solidFill>
            <a:prstDash val="solid"/>
          </a:ln>
        </p:spPr>
      </p:sp>
      <p:pic>
        <p:nvPicPr>
          <p:cNvPr id="7" name="Image 0" descr="preencoded.png">    </p:cNvPr>
          <p:cNvPicPr>
            <a:picLocks noChangeAspect="1"/>
          </p:cNvPicPr>
          <p:nvPr/>
        </p:nvPicPr>
        <p:blipFill>
          <a:blip r:embed="rId1"/>
          <a:stretch>
            <a:fillRect/>
          </a:stretch>
        </p:blipFill>
        <p:spPr>
          <a:xfrm>
            <a:off x="702259" y="4679899"/>
            <a:ext cx="332842" cy="332842"/>
          </a:xfrm>
          <a:prstGeom prst="rect">
            <a:avLst/>
          </a:prstGeom>
        </p:spPr>
      </p:pic>
      <p:sp>
        <p:nvSpPr>
          <p:cNvPr id="8" name="Text 5"/>
          <p:cNvSpPr txBox="1"/>
          <p:nvPr/>
        </p:nvSpPr>
        <p:spPr>
          <a:xfrm>
            <a:off x="1325880" y="4681728"/>
            <a:ext cx="2011680" cy="365760"/>
          </a:xfrm>
          <a:prstGeom prst="rect">
            <a:avLst/>
          </a:prstGeom>
          <a:noFill/>
          <a:ln/>
        </p:spPr>
        <p:txBody>
          <a:bodyPr wrap="square" lIns="0" tIns="0" rIns="0" bIns="0" rtlCol="0" anchor="t"/>
          <a:lstStyle/>
          <a:p>
            <a:pPr indent="0" marL="0">
              <a:buNone/>
            </a:pPr>
            <a:r>
              <a:rPr lang="en-US" sz="1600" b="1" dirty="0">
                <a:solidFill>
                  <a:srgbClr val="A3B3C9"/>
                </a:solidFill>
                <a:latin typeface="Calibri" pitchFamily="34" charset="0"/>
                <a:ea typeface="Calibri" pitchFamily="34" charset="-122"/>
                <a:cs typeface="Calibri" pitchFamily="34" charset="-120"/>
              </a:rPr>
              <a:t>Not by banks</a:t>
            </a:r>
            <a:endParaRPr lang="en-US" sz="1600" dirty="0"/>
          </a:p>
        </p:txBody>
      </p:sp>
      <p:sp>
        <p:nvSpPr>
          <p:cNvPr id="9" name="Shape 6"/>
          <p:cNvSpPr/>
          <p:nvPr/>
        </p:nvSpPr>
        <p:spPr>
          <a:xfrm>
            <a:off x="3364992" y="4526280"/>
            <a:ext cx="640080" cy="640080"/>
          </a:xfrm>
          <a:prstGeom prst="ellipse">
            <a:avLst/>
          </a:prstGeom>
          <a:solidFill>
            <a:srgbClr val="1E2B45"/>
          </a:solidFill>
          <a:ln w="19050">
            <a:solidFill>
              <a:srgbClr val="10B981"/>
            </a:solidFill>
            <a:prstDash val="solid"/>
          </a:ln>
        </p:spPr>
      </p:sp>
      <p:pic>
        <p:nvPicPr>
          <p:cNvPr id="10" name="Image 1" descr="preencoded.png">    </p:cNvPr>
          <p:cNvPicPr>
            <a:picLocks noChangeAspect="1"/>
          </p:cNvPicPr>
          <p:nvPr/>
        </p:nvPicPr>
        <p:blipFill>
          <a:blip r:embed="rId2"/>
          <a:stretch>
            <a:fillRect/>
          </a:stretch>
        </p:blipFill>
        <p:spPr>
          <a:xfrm>
            <a:off x="3518611" y="4679899"/>
            <a:ext cx="332842" cy="332842"/>
          </a:xfrm>
          <a:prstGeom prst="rect">
            <a:avLst/>
          </a:prstGeom>
        </p:spPr>
      </p:pic>
      <p:sp>
        <p:nvSpPr>
          <p:cNvPr id="11" name="Text 7"/>
          <p:cNvSpPr txBox="1"/>
          <p:nvPr/>
        </p:nvSpPr>
        <p:spPr>
          <a:xfrm>
            <a:off x="4142232" y="4681728"/>
            <a:ext cx="2011680" cy="365760"/>
          </a:xfrm>
          <a:prstGeom prst="rect">
            <a:avLst/>
          </a:prstGeom>
          <a:noFill/>
          <a:ln/>
        </p:spPr>
        <p:txBody>
          <a:bodyPr wrap="square" lIns="0" tIns="0" rIns="0" bIns="0" rtlCol="0" anchor="t"/>
          <a:lstStyle/>
          <a:p>
            <a:pPr indent="0" marL="0">
              <a:buNone/>
            </a:pPr>
            <a:r>
              <a:rPr lang="en-US" sz="1600" b="1" dirty="0">
                <a:solidFill>
                  <a:srgbClr val="A3B3C9"/>
                </a:solidFill>
                <a:latin typeface="Calibri" pitchFamily="34" charset="0"/>
                <a:ea typeface="Calibri" pitchFamily="34" charset="-122"/>
                <a:cs typeface="Calibri" pitchFamily="34" charset="-120"/>
              </a:rPr>
              <a:t>Not by suppliers</a:t>
            </a:r>
            <a:endParaRPr lang="en-US" sz="1600" dirty="0"/>
          </a:p>
        </p:txBody>
      </p:sp>
      <p:sp>
        <p:nvSpPr>
          <p:cNvPr id="12" name="Shape 8"/>
          <p:cNvSpPr/>
          <p:nvPr/>
        </p:nvSpPr>
        <p:spPr>
          <a:xfrm>
            <a:off x="6181344" y="4526280"/>
            <a:ext cx="640080" cy="640080"/>
          </a:xfrm>
          <a:prstGeom prst="ellipse">
            <a:avLst/>
          </a:prstGeom>
          <a:solidFill>
            <a:srgbClr val="1E2B45"/>
          </a:solidFill>
          <a:ln w="19050">
            <a:solidFill>
              <a:srgbClr val="10B981"/>
            </a:solidFill>
            <a:prstDash val="solid"/>
          </a:ln>
        </p:spPr>
      </p:sp>
      <p:pic>
        <p:nvPicPr>
          <p:cNvPr id="13" name="Image 2" descr="preencoded.png">    </p:cNvPr>
          <p:cNvPicPr>
            <a:picLocks noChangeAspect="1"/>
          </p:cNvPicPr>
          <p:nvPr/>
        </p:nvPicPr>
        <p:blipFill>
          <a:blip r:embed="rId3"/>
          <a:stretch>
            <a:fillRect/>
          </a:stretch>
        </p:blipFill>
        <p:spPr>
          <a:xfrm>
            <a:off x="6334963" y="4679899"/>
            <a:ext cx="332842" cy="332842"/>
          </a:xfrm>
          <a:prstGeom prst="rect">
            <a:avLst/>
          </a:prstGeom>
        </p:spPr>
      </p:pic>
      <p:sp>
        <p:nvSpPr>
          <p:cNvPr id="14" name="Text 9"/>
          <p:cNvSpPr txBox="1"/>
          <p:nvPr/>
        </p:nvSpPr>
        <p:spPr>
          <a:xfrm>
            <a:off x="6958584" y="4681728"/>
            <a:ext cx="2011680" cy="365760"/>
          </a:xfrm>
          <a:prstGeom prst="rect">
            <a:avLst/>
          </a:prstGeom>
          <a:noFill/>
          <a:ln/>
        </p:spPr>
        <p:txBody>
          <a:bodyPr wrap="square" lIns="0" tIns="0" rIns="0" bIns="0" rtlCol="0" anchor="t"/>
          <a:lstStyle/>
          <a:p>
            <a:pPr indent="0" marL="0">
              <a:buNone/>
            </a:pPr>
            <a:r>
              <a:rPr lang="en-US" sz="1600" b="1" dirty="0">
                <a:solidFill>
                  <a:srgbClr val="A3B3C9"/>
                </a:solidFill>
                <a:latin typeface="Calibri" pitchFamily="34" charset="0"/>
                <a:ea typeface="Calibri" pitchFamily="34" charset="-122"/>
                <a:cs typeface="Calibri" pitchFamily="34" charset="-120"/>
              </a:rPr>
              <a:t>Not by support funds</a:t>
            </a:r>
            <a:endParaRPr lang="en-US" sz="1600" dirty="0"/>
          </a:p>
        </p:txBody>
      </p:sp>
      <p:sp>
        <p:nvSpPr>
          <p:cNvPr id="15" name="Shape 10"/>
          <p:cNvSpPr/>
          <p:nvPr/>
        </p:nvSpPr>
        <p:spPr>
          <a:xfrm>
            <a:off x="8997696" y="4526280"/>
            <a:ext cx="640080" cy="640080"/>
          </a:xfrm>
          <a:prstGeom prst="ellipse">
            <a:avLst/>
          </a:prstGeom>
          <a:solidFill>
            <a:srgbClr val="1E2B45"/>
          </a:solidFill>
          <a:ln w="19050">
            <a:solidFill>
              <a:srgbClr val="F59E0B"/>
            </a:solidFill>
            <a:prstDash val="solid"/>
          </a:ln>
        </p:spPr>
      </p:sp>
      <p:pic>
        <p:nvPicPr>
          <p:cNvPr id="16" name="Image 3" descr="preencoded.png">    </p:cNvPr>
          <p:cNvPicPr>
            <a:picLocks noChangeAspect="1"/>
          </p:cNvPicPr>
          <p:nvPr/>
        </p:nvPicPr>
        <p:blipFill>
          <a:blip r:embed="rId4"/>
          <a:stretch>
            <a:fillRect/>
          </a:stretch>
        </p:blipFill>
        <p:spPr>
          <a:xfrm>
            <a:off x="9151315" y="4679899"/>
            <a:ext cx="332842" cy="332842"/>
          </a:xfrm>
          <a:prstGeom prst="rect">
            <a:avLst/>
          </a:prstGeom>
        </p:spPr>
      </p:pic>
      <p:sp>
        <p:nvSpPr>
          <p:cNvPr id="17" name="Text 11"/>
          <p:cNvSpPr txBox="1"/>
          <p:nvPr/>
        </p:nvSpPr>
        <p:spPr>
          <a:xfrm>
            <a:off x="9774936" y="4681728"/>
            <a:ext cx="2011680" cy="365760"/>
          </a:xfrm>
          <a:prstGeom prst="rect">
            <a:avLst/>
          </a:prstGeom>
          <a:noFill/>
          <a:ln/>
        </p:spPr>
        <p:txBody>
          <a:bodyPr wrap="square" lIns="0" tIns="0" rIns="0" bIns="0" rtlCol="0" anchor="t"/>
          <a:lstStyle/>
          <a:p>
            <a:pPr indent="0" marL="0">
              <a:buNone/>
            </a:pPr>
            <a:r>
              <a:rPr lang="en-US" sz="1600" b="1" dirty="0">
                <a:solidFill>
                  <a:srgbClr val="A3B3C9"/>
                </a:solidFill>
                <a:latin typeface="Calibri" pitchFamily="34" charset="0"/>
                <a:ea typeface="Calibri" pitchFamily="34" charset="-122"/>
                <a:cs typeface="Calibri" pitchFamily="34" charset="-120"/>
              </a:rPr>
              <a:t>Not even by the owner</a:t>
            </a:r>
            <a:endParaRPr lang="en-US" sz="1600" dirty="0"/>
          </a:p>
        </p:txBody>
      </p:sp>
      <p:pic>
        <p:nvPicPr>
          <p:cNvPr id="18" name="Image 4"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19" name="Text 12"/>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2</a:t>
            </a:r>
            <a:endParaRPr lang="en-US" sz="1000" dirty="0"/>
          </a:p>
        </p:txBody>
      </p:sp>
      <p:sp>
        <p:nvSpPr>
          <p:cNvPr id="20" name="Text 13"/>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Township Informal Economy Report, October 2025 (research by Foshizi; 250+ businesses in 5 provinces).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THE PROBLEM</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Invisible means locked out</a:t>
            </a:r>
            <a:endParaRPr lang="en-US" sz="3400" dirty="0"/>
          </a:p>
        </p:txBody>
      </p:sp>
      <p:sp>
        <p:nvSpPr>
          <p:cNvPr id="4" name="Shape 2"/>
          <p:cNvSpPr/>
          <p:nvPr/>
        </p:nvSpPr>
        <p:spPr>
          <a:xfrm>
            <a:off x="548640" y="1828800"/>
            <a:ext cx="3474720" cy="4160520"/>
          </a:xfrm>
          <a:prstGeom prst="roundRect">
            <a:avLst>
              <a:gd name="adj" fmla="val 3158"/>
            </a:avLst>
          </a:prstGeom>
          <a:solidFill>
            <a:srgbClr val="17223A"/>
          </a:solidFill>
          <a:ln w="12700">
            <a:solidFill>
              <a:srgbClr val="17223A"/>
            </a:solidFill>
            <a:prstDash val="solid"/>
          </a:ln>
        </p:spPr>
      </p:sp>
      <p:sp>
        <p:nvSpPr>
          <p:cNvPr id="5" name="Shape 3"/>
          <p:cNvSpPr/>
          <p:nvPr/>
        </p:nvSpPr>
        <p:spPr>
          <a:xfrm>
            <a:off x="868680" y="2103120"/>
            <a:ext cx="731520" cy="731520"/>
          </a:xfrm>
          <a:prstGeom prst="ellipse">
            <a:avLst/>
          </a:prstGeom>
          <a:solidFill>
            <a:srgbClr val="1E2B45"/>
          </a:solidFill>
          <a:ln w="19050">
            <a:solidFill>
              <a:srgbClr val="F59E0B"/>
            </a:solidFill>
            <a:prstDash val="solid"/>
          </a:ln>
        </p:spPr>
      </p:sp>
      <p:pic>
        <p:nvPicPr>
          <p:cNvPr id="6" name="Image 0" descr="preencoded.png">    </p:cNvPr>
          <p:cNvPicPr>
            <a:picLocks noChangeAspect="1"/>
          </p:cNvPicPr>
          <p:nvPr/>
        </p:nvPicPr>
        <p:blipFill>
          <a:blip r:embed="rId1"/>
          <a:stretch>
            <a:fillRect/>
          </a:stretch>
        </p:blipFill>
        <p:spPr>
          <a:xfrm>
            <a:off x="1044245" y="2278685"/>
            <a:ext cx="380390" cy="380390"/>
          </a:xfrm>
          <a:prstGeom prst="rect">
            <a:avLst/>
          </a:prstGeom>
        </p:spPr>
      </p:pic>
      <p:sp>
        <p:nvSpPr>
          <p:cNvPr id="7" name="Text 4"/>
          <p:cNvSpPr txBox="1"/>
          <p:nvPr/>
        </p:nvSpPr>
        <p:spPr>
          <a:xfrm>
            <a:off x="1783080" y="2267712"/>
            <a:ext cx="2103120" cy="457200"/>
          </a:xfrm>
          <a:prstGeom prst="rect">
            <a:avLst/>
          </a:prstGeom>
          <a:noFill/>
          <a:ln/>
        </p:spPr>
        <p:txBody>
          <a:bodyPr wrap="square" lIns="0" tIns="0" rIns="0" bIns="0" rtlCol="0" anchor="t"/>
          <a:lstStyle/>
          <a:p>
            <a:pPr indent="0" marL="0">
              <a:buNone/>
            </a:pPr>
            <a:r>
              <a:rPr lang="en-US" sz="2100" b="1" dirty="0">
                <a:solidFill>
                  <a:srgbClr val="F8FAFC"/>
                </a:solidFill>
                <a:latin typeface="Calibri" pitchFamily="34" charset="0"/>
                <a:ea typeface="Calibri" pitchFamily="34" charset="-122"/>
                <a:cs typeface="Calibri" pitchFamily="34" charset="-120"/>
              </a:rPr>
              <a:t>No finance</a:t>
            </a:r>
            <a:endParaRPr lang="en-US" sz="2100" dirty="0"/>
          </a:p>
        </p:txBody>
      </p:sp>
      <p:sp>
        <p:nvSpPr>
          <p:cNvPr id="8" name="Text 5"/>
          <p:cNvSpPr txBox="1"/>
          <p:nvPr/>
        </p:nvSpPr>
        <p:spPr>
          <a:xfrm>
            <a:off x="868680" y="3063240"/>
            <a:ext cx="2926080" cy="914400"/>
          </a:xfrm>
          <a:prstGeom prst="rect">
            <a:avLst/>
          </a:prstGeom>
          <a:noFill/>
          <a:ln/>
        </p:spPr>
        <p:txBody>
          <a:bodyPr wrap="square" lIns="0" tIns="0" rIns="0" bIns="0" rtlCol="0" anchor="t"/>
          <a:lstStyle/>
          <a:p>
            <a:pPr indent="0" marL="0">
              <a:buNone/>
            </a:pPr>
            <a:r>
              <a:rPr lang="en-US" sz="5000" b="1" dirty="0">
                <a:solidFill>
                  <a:srgbClr val="F59E0B"/>
                </a:solidFill>
                <a:latin typeface="Georgia" pitchFamily="34" charset="0"/>
                <a:ea typeface="Georgia" pitchFamily="34" charset="-122"/>
                <a:cs typeface="Georgia" pitchFamily="34" charset="-120"/>
              </a:rPr>
              <a:t>&lt; 9%</a:t>
            </a:r>
            <a:endParaRPr lang="en-US" sz="5000" dirty="0"/>
          </a:p>
        </p:txBody>
      </p:sp>
      <p:sp>
        <p:nvSpPr>
          <p:cNvPr id="9" name="Text 6"/>
          <p:cNvSpPr txBox="1"/>
          <p:nvPr/>
        </p:nvSpPr>
        <p:spPr>
          <a:xfrm>
            <a:off x="868680" y="4069080"/>
            <a:ext cx="2880360" cy="173736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of township businesses can get a bank loan. 57% run on savings and family.</a:t>
            </a:r>
            <a:endParaRPr lang="en-US" sz="1500" dirty="0"/>
          </a:p>
        </p:txBody>
      </p:sp>
      <p:sp>
        <p:nvSpPr>
          <p:cNvPr id="10" name="Shape 7"/>
          <p:cNvSpPr/>
          <p:nvPr/>
        </p:nvSpPr>
        <p:spPr>
          <a:xfrm>
            <a:off x="4297680" y="1828800"/>
            <a:ext cx="3474720" cy="4160520"/>
          </a:xfrm>
          <a:prstGeom prst="roundRect">
            <a:avLst>
              <a:gd name="adj" fmla="val 3158"/>
            </a:avLst>
          </a:prstGeom>
          <a:solidFill>
            <a:srgbClr val="17223A"/>
          </a:solidFill>
          <a:ln w="12700">
            <a:solidFill>
              <a:srgbClr val="17223A"/>
            </a:solidFill>
            <a:prstDash val="solid"/>
          </a:ln>
        </p:spPr>
      </p:sp>
      <p:sp>
        <p:nvSpPr>
          <p:cNvPr id="11" name="Shape 8"/>
          <p:cNvSpPr/>
          <p:nvPr/>
        </p:nvSpPr>
        <p:spPr>
          <a:xfrm>
            <a:off x="4617720" y="2103120"/>
            <a:ext cx="731520" cy="731520"/>
          </a:xfrm>
          <a:prstGeom prst="ellipse">
            <a:avLst/>
          </a:prstGeom>
          <a:solidFill>
            <a:srgbClr val="1E2B45"/>
          </a:solidFill>
          <a:ln w="19050">
            <a:solidFill>
              <a:srgbClr val="F87171"/>
            </a:solidFill>
            <a:prstDash val="solid"/>
          </a:ln>
        </p:spPr>
      </p:sp>
      <p:pic>
        <p:nvPicPr>
          <p:cNvPr id="12" name="Image 1" descr="preencoded.png">    </p:cNvPr>
          <p:cNvPicPr>
            <a:picLocks noChangeAspect="1"/>
          </p:cNvPicPr>
          <p:nvPr/>
        </p:nvPicPr>
        <p:blipFill>
          <a:blip r:embed="rId2"/>
          <a:stretch>
            <a:fillRect/>
          </a:stretch>
        </p:blipFill>
        <p:spPr>
          <a:xfrm>
            <a:off x="4793285" y="2278685"/>
            <a:ext cx="380390" cy="380390"/>
          </a:xfrm>
          <a:prstGeom prst="rect">
            <a:avLst/>
          </a:prstGeom>
        </p:spPr>
      </p:pic>
      <p:sp>
        <p:nvSpPr>
          <p:cNvPr id="13" name="Text 9"/>
          <p:cNvSpPr txBox="1"/>
          <p:nvPr/>
        </p:nvSpPr>
        <p:spPr>
          <a:xfrm>
            <a:off x="5532120" y="2267712"/>
            <a:ext cx="2103120" cy="457200"/>
          </a:xfrm>
          <a:prstGeom prst="rect">
            <a:avLst/>
          </a:prstGeom>
          <a:noFill/>
          <a:ln/>
        </p:spPr>
        <p:txBody>
          <a:bodyPr wrap="square" lIns="0" tIns="0" rIns="0" bIns="0" rtlCol="0" anchor="t"/>
          <a:lstStyle/>
          <a:p>
            <a:pPr indent="0" marL="0">
              <a:buNone/>
            </a:pPr>
            <a:r>
              <a:rPr lang="en-US" sz="2100" b="1" dirty="0">
                <a:solidFill>
                  <a:srgbClr val="F8FAFC"/>
                </a:solidFill>
                <a:latin typeface="Calibri" pitchFamily="34" charset="0"/>
                <a:ea typeface="Calibri" pitchFamily="34" charset="-122"/>
                <a:cs typeface="Calibri" pitchFamily="34" charset="-120"/>
              </a:rPr>
              <a:t>No support</a:t>
            </a:r>
            <a:endParaRPr lang="en-US" sz="2100" dirty="0"/>
          </a:p>
        </p:txBody>
      </p:sp>
      <p:sp>
        <p:nvSpPr>
          <p:cNvPr id="14" name="Text 10"/>
          <p:cNvSpPr txBox="1"/>
          <p:nvPr/>
        </p:nvSpPr>
        <p:spPr>
          <a:xfrm>
            <a:off x="4617720" y="3063240"/>
            <a:ext cx="2926080" cy="914400"/>
          </a:xfrm>
          <a:prstGeom prst="rect">
            <a:avLst/>
          </a:prstGeom>
          <a:noFill/>
          <a:ln/>
        </p:spPr>
        <p:txBody>
          <a:bodyPr wrap="square" lIns="0" tIns="0" rIns="0" bIns="0" rtlCol="0" anchor="t"/>
          <a:lstStyle/>
          <a:p>
            <a:pPr indent="0" marL="0">
              <a:buNone/>
            </a:pPr>
            <a:r>
              <a:rPr lang="en-US" sz="5000" b="1" dirty="0">
                <a:solidFill>
                  <a:srgbClr val="F87171"/>
                </a:solidFill>
                <a:latin typeface="Georgia" pitchFamily="34" charset="0"/>
                <a:ea typeface="Georgia" pitchFamily="34" charset="-122"/>
                <a:cs typeface="Georgia" pitchFamily="34" charset="-120"/>
              </a:rPr>
              <a:t>354</a:t>
            </a:r>
            <a:endParaRPr lang="en-US" sz="5000" dirty="0"/>
          </a:p>
        </p:txBody>
      </p:sp>
      <p:sp>
        <p:nvSpPr>
          <p:cNvPr id="15" name="Text 11"/>
          <p:cNvSpPr txBox="1"/>
          <p:nvPr/>
        </p:nvSpPr>
        <p:spPr>
          <a:xfrm>
            <a:off x="4617720" y="4069080"/>
            <a:ext cx="2880360" cy="173736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applications to the R500m Spaza Shop Support Fund failed verification. Only R179.6m reached shops.</a:t>
            </a:r>
            <a:endParaRPr lang="en-US" sz="1500" dirty="0"/>
          </a:p>
        </p:txBody>
      </p:sp>
      <p:sp>
        <p:nvSpPr>
          <p:cNvPr id="16" name="Shape 12"/>
          <p:cNvSpPr/>
          <p:nvPr/>
        </p:nvSpPr>
        <p:spPr>
          <a:xfrm>
            <a:off x="8046720" y="1828800"/>
            <a:ext cx="3474720" cy="4160520"/>
          </a:xfrm>
          <a:prstGeom prst="roundRect">
            <a:avLst>
              <a:gd name="adj" fmla="val 3158"/>
            </a:avLst>
          </a:prstGeom>
          <a:solidFill>
            <a:srgbClr val="17223A"/>
          </a:solidFill>
          <a:ln w="12700">
            <a:solidFill>
              <a:srgbClr val="17223A"/>
            </a:solidFill>
            <a:prstDash val="solid"/>
          </a:ln>
        </p:spPr>
      </p:sp>
      <p:sp>
        <p:nvSpPr>
          <p:cNvPr id="17" name="Shape 13"/>
          <p:cNvSpPr/>
          <p:nvPr/>
        </p:nvSpPr>
        <p:spPr>
          <a:xfrm>
            <a:off x="8366760" y="2103120"/>
            <a:ext cx="731520" cy="731520"/>
          </a:xfrm>
          <a:prstGeom prst="ellipse">
            <a:avLst/>
          </a:prstGeom>
          <a:solidFill>
            <a:srgbClr val="1E2B45"/>
          </a:solidFill>
          <a:ln w="19050">
            <a:solidFill>
              <a:srgbClr val="10B981"/>
            </a:solidFill>
            <a:prstDash val="solid"/>
          </a:ln>
        </p:spPr>
      </p:sp>
      <p:pic>
        <p:nvPicPr>
          <p:cNvPr id="18" name="Image 2" descr="preencoded.png">    </p:cNvPr>
          <p:cNvPicPr>
            <a:picLocks noChangeAspect="1"/>
          </p:cNvPicPr>
          <p:nvPr/>
        </p:nvPicPr>
        <p:blipFill>
          <a:blip r:embed="rId3"/>
          <a:stretch>
            <a:fillRect/>
          </a:stretch>
        </p:blipFill>
        <p:spPr>
          <a:xfrm>
            <a:off x="8542325" y="2278685"/>
            <a:ext cx="380390" cy="380390"/>
          </a:xfrm>
          <a:prstGeom prst="rect">
            <a:avLst/>
          </a:prstGeom>
        </p:spPr>
      </p:pic>
      <p:sp>
        <p:nvSpPr>
          <p:cNvPr id="19" name="Text 14"/>
          <p:cNvSpPr txBox="1"/>
          <p:nvPr/>
        </p:nvSpPr>
        <p:spPr>
          <a:xfrm>
            <a:off x="9281160" y="2267712"/>
            <a:ext cx="2103120" cy="457200"/>
          </a:xfrm>
          <a:prstGeom prst="rect">
            <a:avLst/>
          </a:prstGeom>
          <a:noFill/>
          <a:ln/>
        </p:spPr>
        <p:txBody>
          <a:bodyPr wrap="square" lIns="0" tIns="0" rIns="0" bIns="0" rtlCol="0" anchor="t"/>
          <a:lstStyle/>
          <a:p>
            <a:pPr indent="0" marL="0">
              <a:buNone/>
            </a:pPr>
            <a:r>
              <a:rPr lang="en-US" sz="2100" b="1" dirty="0">
                <a:solidFill>
                  <a:srgbClr val="F8FAFC"/>
                </a:solidFill>
                <a:latin typeface="Calibri" pitchFamily="34" charset="0"/>
                <a:ea typeface="Calibri" pitchFamily="34" charset="-122"/>
                <a:cs typeface="Calibri" pitchFamily="34" charset="-120"/>
              </a:rPr>
              <a:t>No leverage</a:t>
            </a:r>
            <a:endParaRPr lang="en-US" sz="2100" dirty="0"/>
          </a:p>
        </p:txBody>
      </p:sp>
      <p:sp>
        <p:nvSpPr>
          <p:cNvPr id="20" name="Text 15"/>
          <p:cNvSpPr txBox="1"/>
          <p:nvPr/>
        </p:nvSpPr>
        <p:spPr>
          <a:xfrm>
            <a:off x="8366760" y="3063240"/>
            <a:ext cx="2926080" cy="914400"/>
          </a:xfrm>
          <a:prstGeom prst="rect">
            <a:avLst/>
          </a:prstGeom>
          <a:noFill/>
          <a:ln/>
        </p:spPr>
        <p:txBody>
          <a:bodyPr wrap="square" lIns="0" tIns="0" rIns="0" bIns="0" rtlCol="0" anchor="t"/>
          <a:lstStyle/>
          <a:p>
            <a:pPr indent="0" marL="0">
              <a:buNone/>
            </a:pPr>
            <a:r>
              <a:rPr lang="en-US" sz="5000" b="1" dirty="0">
                <a:solidFill>
                  <a:srgbClr val="10B981"/>
                </a:solidFill>
                <a:latin typeface="Georgia" pitchFamily="34" charset="0"/>
                <a:ea typeface="Georgia" pitchFamily="34" charset="-122"/>
                <a:cs typeface="Georgia" pitchFamily="34" charset="-120"/>
              </a:rPr>
              <a:t>80%</a:t>
            </a:r>
            <a:endParaRPr lang="en-US" sz="5000" dirty="0"/>
          </a:p>
        </p:txBody>
      </p:sp>
      <p:sp>
        <p:nvSpPr>
          <p:cNvPr id="21" name="Text 16"/>
          <p:cNvSpPr txBox="1"/>
          <p:nvPr/>
        </p:nvSpPr>
        <p:spPr>
          <a:xfrm>
            <a:off x="8366760" y="4069080"/>
            <a:ext cx="2880360" cy="173736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are unregistered. With no history, there are no supplier terms and no plan: every order is cash, every dispute is word against word.</a:t>
            </a:r>
            <a:endParaRPr lang="en-US" sz="1500" dirty="0"/>
          </a:p>
        </p:txBody>
      </p:sp>
      <p:pic>
        <p:nvPicPr>
          <p:cNvPr id="22" name="Image 3" descr="preencoded.png">    </p:cNvPr>
          <p:cNvPicPr>
            <a:picLocks noChangeAspect="1"/>
          </p:cNvPicPr>
          <p:nvPr/>
        </p:nvPicPr>
        <p:blipFill>
          <a:blip r:embed="rId4"/>
          <a:stretch>
            <a:fillRect/>
          </a:stretch>
        </p:blipFill>
        <p:spPr>
          <a:xfrm>
            <a:off x="11231575" y="6291072"/>
            <a:ext cx="384048" cy="384048"/>
          </a:xfrm>
          <a:prstGeom prst="rect">
            <a:avLst/>
          </a:prstGeom>
        </p:spPr>
      </p:pic>
      <p:sp>
        <p:nvSpPr>
          <p:cNvPr id="23" name="Text 1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3</a:t>
            </a:r>
            <a:endParaRPr lang="en-US" sz="1000" dirty="0"/>
          </a:p>
        </p:txBody>
      </p:sp>
      <p:sp>
        <p:nvSpPr>
          <p:cNvPr id="24" name="Text 18"/>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Township Informal Economy Report 2025; DSBD &amp; dtic, Spaza Shop Support Fund update, May 2026.</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WHY NOBODY HAS FIXED IT</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Business tools were built for the formal few</a:t>
            </a:r>
            <a:endParaRPr lang="en-US" sz="3400" dirty="0"/>
          </a:p>
        </p:txBody>
      </p:sp>
      <p:sp>
        <p:nvSpPr>
          <p:cNvPr id="4" name="Shape 2"/>
          <p:cNvSpPr/>
          <p:nvPr/>
        </p:nvSpPr>
        <p:spPr>
          <a:xfrm>
            <a:off x="548640" y="1828800"/>
            <a:ext cx="5394960" cy="4114800"/>
          </a:xfrm>
          <a:prstGeom prst="roundRect">
            <a:avLst>
              <a:gd name="adj" fmla="val 2667"/>
            </a:avLst>
          </a:prstGeom>
          <a:solidFill>
            <a:srgbClr val="17223A"/>
          </a:solidFill>
          <a:ln w="12700">
            <a:solidFill>
              <a:srgbClr val="17223A"/>
            </a:solidFill>
            <a:prstDash val="solid"/>
          </a:ln>
        </p:spPr>
      </p:sp>
      <p:sp>
        <p:nvSpPr>
          <p:cNvPr id="5" name="Text 3"/>
          <p:cNvSpPr txBox="1"/>
          <p:nvPr/>
        </p:nvSpPr>
        <p:spPr>
          <a:xfrm>
            <a:off x="868680" y="2057400"/>
            <a:ext cx="4754880" cy="411480"/>
          </a:xfrm>
          <a:prstGeom prst="rect">
            <a:avLst/>
          </a:prstGeom>
          <a:noFill/>
          <a:ln/>
        </p:spPr>
        <p:txBody>
          <a:bodyPr wrap="square" lIns="0" tIns="0" rIns="0" bIns="0" rtlCol="0" anchor="t"/>
          <a:lstStyle/>
          <a:p>
            <a:pPr indent="0" marL="0">
              <a:buNone/>
            </a:pPr>
            <a:r>
              <a:rPr lang="en-US" sz="1900" b="1" dirty="0">
                <a:solidFill>
                  <a:srgbClr val="A3B3C9"/>
                </a:solidFill>
                <a:latin typeface="Calibri" pitchFamily="34" charset="0"/>
                <a:ea typeface="Calibri" pitchFamily="34" charset="-122"/>
                <a:cs typeface="Calibri" pitchFamily="34" charset="-120"/>
              </a:rPr>
              <a:t>What the tools assume</a:t>
            </a:r>
            <a:endParaRPr lang="en-US" sz="1900" dirty="0"/>
          </a:p>
        </p:txBody>
      </p:sp>
      <p:sp>
        <p:nvSpPr>
          <p:cNvPr id="6" name="Shape 4"/>
          <p:cNvSpPr/>
          <p:nvPr/>
        </p:nvSpPr>
        <p:spPr>
          <a:xfrm>
            <a:off x="868680" y="2697480"/>
            <a:ext cx="457200" cy="457200"/>
          </a:xfrm>
          <a:prstGeom prst="ellipse">
            <a:avLst/>
          </a:prstGeom>
          <a:solidFill>
            <a:srgbClr val="1E2B45"/>
          </a:solidFill>
          <a:ln w="19050">
            <a:solidFill>
              <a:srgbClr val="64748B"/>
            </a:solidFill>
            <a:prstDash val="solid"/>
          </a:ln>
        </p:spPr>
      </p:sp>
      <p:pic>
        <p:nvPicPr>
          <p:cNvPr id="7" name="Image 0" descr="preencoded.png">    </p:cNvPr>
          <p:cNvPicPr>
            <a:picLocks noChangeAspect="1"/>
          </p:cNvPicPr>
          <p:nvPr/>
        </p:nvPicPr>
        <p:blipFill>
          <a:blip r:embed="rId1"/>
          <a:stretch>
            <a:fillRect/>
          </a:stretch>
        </p:blipFill>
        <p:spPr>
          <a:xfrm>
            <a:off x="978408" y="2807208"/>
            <a:ext cx="237744" cy="237744"/>
          </a:xfrm>
          <a:prstGeom prst="rect">
            <a:avLst/>
          </a:prstGeom>
        </p:spPr>
      </p:pic>
      <p:sp>
        <p:nvSpPr>
          <p:cNvPr id="8" name="Text 5"/>
          <p:cNvSpPr txBox="1"/>
          <p:nvPr/>
        </p:nvSpPr>
        <p:spPr>
          <a:xfrm>
            <a:off x="1463040" y="2761488"/>
            <a:ext cx="4297680" cy="411480"/>
          </a:xfrm>
          <a:prstGeom prst="rect">
            <a:avLst/>
          </a:prstGeom>
          <a:noFill/>
          <a:ln/>
        </p:spPr>
        <p:txBody>
          <a:bodyPr wrap="square" lIns="0" tIns="0" rIns="0" bIns="0" rtlCol="0" anchor="t"/>
          <a:lstStyle/>
          <a:p>
            <a:pPr indent="0" marL="0">
              <a:buNone/>
            </a:pPr>
            <a:r>
              <a:rPr lang="en-US" sz="1600" dirty="0">
                <a:solidFill>
                  <a:srgbClr val="A3B3C9"/>
                </a:solidFill>
                <a:latin typeface="Calibri" pitchFamily="34" charset="0"/>
                <a:ea typeface="Calibri" pitchFamily="34" charset="-122"/>
                <a:cs typeface="Calibri" pitchFamily="34" charset="-120"/>
              </a:rPr>
              <a:t>A registered company and a bookkeeper</a:t>
            </a:r>
            <a:endParaRPr lang="en-US" sz="1600" dirty="0"/>
          </a:p>
        </p:txBody>
      </p:sp>
      <p:sp>
        <p:nvSpPr>
          <p:cNvPr id="9" name="Shape 6"/>
          <p:cNvSpPr/>
          <p:nvPr/>
        </p:nvSpPr>
        <p:spPr>
          <a:xfrm>
            <a:off x="868680" y="3474720"/>
            <a:ext cx="457200" cy="457200"/>
          </a:xfrm>
          <a:prstGeom prst="ellipse">
            <a:avLst/>
          </a:prstGeom>
          <a:solidFill>
            <a:srgbClr val="1E2B45"/>
          </a:solidFill>
          <a:ln w="19050">
            <a:solidFill>
              <a:srgbClr val="64748B"/>
            </a:solidFill>
            <a:prstDash val="solid"/>
          </a:ln>
        </p:spPr>
      </p:sp>
      <p:pic>
        <p:nvPicPr>
          <p:cNvPr id="10" name="Image 1" descr="preencoded.png">    </p:cNvPr>
          <p:cNvPicPr>
            <a:picLocks noChangeAspect="1"/>
          </p:cNvPicPr>
          <p:nvPr/>
        </p:nvPicPr>
        <p:blipFill>
          <a:blip r:embed="rId2"/>
          <a:stretch>
            <a:fillRect/>
          </a:stretch>
        </p:blipFill>
        <p:spPr>
          <a:xfrm>
            <a:off x="978408" y="3584448"/>
            <a:ext cx="237744" cy="237744"/>
          </a:xfrm>
          <a:prstGeom prst="rect">
            <a:avLst/>
          </a:prstGeom>
        </p:spPr>
      </p:pic>
      <p:sp>
        <p:nvSpPr>
          <p:cNvPr id="11" name="Text 7"/>
          <p:cNvSpPr txBox="1"/>
          <p:nvPr/>
        </p:nvSpPr>
        <p:spPr>
          <a:xfrm>
            <a:off x="1463040" y="3538728"/>
            <a:ext cx="4297680" cy="411480"/>
          </a:xfrm>
          <a:prstGeom prst="rect">
            <a:avLst/>
          </a:prstGeom>
          <a:noFill/>
          <a:ln/>
        </p:spPr>
        <p:txBody>
          <a:bodyPr wrap="square" lIns="0" tIns="0" rIns="0" bIns="0" rtlCol="0" anchor="t"/>
          <a:lstStyle/>
          <a:p>
            <a:pPr indent="0" marL="0">
              <a:buNone/>
            </a:pPr>
            <a:r>
              <a:rPr lang="en-US" sz="1600" dirty="0">
                <a:solidFill>
                  <a:srgbClr val="A3B3C9"/>
                </a:solidFill>
                <a:latin typeface="Calibri" pitchFamily="34" charset="0"/>
                <a:ea typeface="Calibri" pitchFamily="34" charset="-122"/>
                <a:cs typeface="Calibri" pitchFamily="34" charset="-120"/>
              </a:rPr>
              <a:t>Card machines and bank statements</a:t>
            </a:r>
            <a:endParaRPr lang="en-US" sz="1600" dirty="0"/>
          </a:p>
        </p:txBody>
      </p:sp>
      <p:sp>
        <p:nvSpPr>
          <p:cNvPr id="12" name="Shape 8"/>
          <p:cNvSpPr/>
          <p:nvPr/>
        </p:nvSpPr>
        <p:spPr>
          <a:xfrm>
            <a:off x="868680" y="4251960"/>
            <a:ext cx="457200" cy="457200"/>
          </a:xfrm>
          <a:prstGeom prst="ellipse">
            <a:avLst/>
          </a:prstGeom>
          <a:solidFill>
            <a:srgbClr val="1E2B45"/>
          </a:solidFill>
          <a:ln w="19050">
            <a:solidFill>
              <a:srgbClr val="64748B"/>
            </a:solidFill>
            <a:prstDash val="solid"/>
          </a:ln>
        </p:spPr>
      </p:sp>
      <p:pic>
        <p:nvPicPr>
          <p:cNvPr id="13" name="Image 2" descr="preencoded.png">    </p:cNvPr>
          <p:cNvPicPr>
            <a:picLocks noChangeAspect="1"/>
          </p:cNvPicPr>
          <p:nvPr/>
        </p:nvPicPr>
        <p:blipFill>
          <a:blip r:embed="rId3"/>
          <a:stretch>
            <a:fillRect/>
          </a:stretch>
        </p:blipFill>
        <p:spPr>
          <a:xfrm>
            <a:off x="978408" y="4361688"/>
            <a:ext cx="237744" cy="237744"/>
          </a:xfrm>
          <a:prstGeom prst="rect">
            <a:avLst/>
          </a:prstGeom>
        </p:spPr>
      </p:pic>
      <p:sp>
        <p:nvSpPr>
          <p:cNvPr id="14" name="Text 9"/>
          <p:cNvSpPr txBox="1"/>
          <p:nvPr/>
        </p:nvSpPr>
        <p:spPr>
          <a:xfrm>
            <a:off x="1463040" y="4315968"/>
            <a:ext cx="4297680" cy="411480"/>
          </a:xfrm>
          <a:prstGeom prst="rect">
            <a:avLst/>
          </a:prstGeom>
          <a:noFill/>
          <a:ln/>
        </p:spPr>
        <p:txBody>
          <a:bodyPr wrap="square" lIns="0" tIns="0" rIns="0" bIns="0" rtlCol="0" anchor="t"/>
          <a:lstStyle/>
          <a:p>
            <a:pPr indent="0" marL="0">
              <a:buNone/>
            </a:pPr>
            <a:r>
              <a:rPr lang="en-US" sz="1600" dirty="0">
                <a:solidFill>
                  <a:srgbClr val="A3B3C9"/>
                </a:solidFill>
                <a:latin typeface="Calibri" pitchFamily="34" charset="0"/>
                <a:ea typeface="Calibri" pitchFamily="34" charset="-122"/>
                <a:cs typeface="Calibri" pitchFamily="34" charset="-120"/>
              </a:rPr>
              <a:t>Time at a desk to capture everything</a:t>
            </a:r>
            <a:endParaRPr lang="en-US" sz="1600" dirty="0"/>
          </a:p>
        </p:txBody>
      </p:sp>
      <p:sp>
        <p:nvSpPr>
          <p:cNvPr id="15" name="Shape 10"/>
          <p:cNvSpPr/>
          <p:nvPr/>
        </p:nvSpPr>
        <p:spPr>
          <a:xfrm>
            <a:off x="868680" y="5029200"/>
            <a:ext cx="457200" cy="457200"/>
          </a:xfrm>
          <a:prstGeom prst="ellipse">
            <a:avLst/>
          </a:prstGeom>
          <a:solidFill>
            <a:srgbClr val="1E2B45"/>
          </a:solidFill>
          <a:ln w="19050">
            <a:solidFill>
              <a:srgbClr val="64748B"/>
            </a:solidFill>
            <a:prstDash val="solid"/>
          </a:ln>
        </p:spPr>
      </p:sp>
      <p:pic>
        <p:nvPicPr>
          <p:cNvPr id="16" name="Image 3" descr="preencoded.png">    </p:cNvPr>
          <p:cNvPicPr>
            <a:picLocks noChangeAspect="1"/>
          </p:cNvPicPr>
          <p:nvPr/>
        </p:nvPicPr>
        <p:blipFill>
          <a:blip r:embed="rId4"/>
          <a:stretch>
            <a:fillRect/>
          </a:stretch>
        </p:blipFill>
        <p:spPr>
          <a:xfrm>
            <a:off x="978408" y="5138928"/>
            <a:ext cx="237744" cy="237744"/>
          </a:xfrm>
          <a:prstGeom prst="rect">
            <a:avLst/>
          </a:prstGeom>
        </p:spPr>
      </p:pic>
      <p:sp>
        <p:nvSpPr>
          <p:cNvPr id="17" name="Text 11"/>
          <p:cNvSpPr txBox="1"/>
          <p:nvPr/>
        </p:nvSpPr>
        <p:spPr>
          <a:xfrm>
            <a:off x="1463040" y="5093208"/>
            <a:ext cx="4297680" cy="411480"/>
          </a:xfrm>
          <a:prstGeom prst="rect">
            <a:avLst/>
          </a:prstGeom>
          <a:noFill/>
          <a:ln/>
        </p:spPr>
        <p:txBody>
          <a:bodyPr wrap="square" lIns="0" tIns="0" rIns="0" bIns="0" rtlCol="0" anchor="t"/>
          <a:lstStyle/>
          <a:p>
            <a:pPr indent="0" marL="0">
              <a:buNone/>
            </a:pPr>
            <a:r>
              <a:rPr lang="en-US" sz="1600" dirty="0">
                <a:solidFill>
                  <a:srgbClr val="A3B3C9"/>
                </a:solidFill>
                <a:latin typeface="Calibri" pitchFamily="34" charset="0"/>
                <a:ea typeface="Calibri" pitchFamily="34" charset="-122"/>
                <a:cs typeface="Calibri" pitchFamily="34" charset="-120"/>
              </a:rPr>
              <a:t>One supplier's shop, or a marketplace</a:t>
            </a:r>
            <a:endParaRPr lang="en-US" sz="1600" dirty="0"/>
          </a:p>
        </p:txBody>
      </p:sp>
      <p:sp>
        <p:nvSpPr>
          <p:cNvPr id="18" name="Shape 12"/>
          <p:cNvSpPr/>
          <p:nvPr/>
        </p:nvSpPr>
        <p:spPr>
          <a:xfrm>
            <a:off x="6217920" y="1828800"/>
            <a:ext cx="5394960" cy="4114800"/>
          </a:xfrm>
          <a:prstGeom prst="roundRect">
            <a:avLst>
              <a:gd name="adj" fmla="val 2667"/>
            </a:avLst>
          </a:prstGeom>
          <a:solidFill>
            <a:srgbClr val="1E2B45"/>
          </a:solidFill>
          <a:ln w="12700">
            <a:solidFill>
              <a:srgbClr val="1E2B45"/>
            </a:solidFill>
            <a:prstDash val="solid"/>
          </a:ln>
        </p:spPr>
      </p:sp>
      <p:sp>
        <p:nvSpPr>
          <p:cNvPr id="19" name="Text 13"/>
          <p:cNvSpPr txBox="1"/>
          <p:nvPr/>
        </p:nvSpPr>
        <p:spPr>
          <a:xfrm>
            <a:off x="6537960" y="2057400"/>
            <a:ext cx="4846320" cy="411480"/>
          </a:xfrm>
          <a:prstGeom prst="rect">
            <a:avLst/>
          </a:prstGeom>
          <a:noFill/>
          <a:ln/>
        </p:spPr>
        <p:txBody>
          <a:bodyPr wrap="square" lIns="0" tIns="0" rIns="0" bIns="0" rtlCol="0" anchor="t"/>
          <a:lstStyle/>
          <a:p>
            <a:pPr indent="0" marL="0">
              <a:buNone/>
            </a:pPr>
            <a:r>
              <a:rPr lang="en-US" sz="1900" b="1" dirty="0">
                <a:solidFill>
                  <a:srgbClr val="34D399"/>
                </a:solidFill>
                <a:latin typeface="Calibri" pitchFamily="34" charset="0"/>
                <a:ea typeface="Calibri" pitchFamily="34" charset="-122"/>
                <a:cs typeface="Calibri" pitchFamily="34" charset="-120"/>
              </a:rPr>
              <a:t>How they really work</a:t>
            </a:r>
            <a:endParaRPr lang="en-US" sz="1900" dirty="0"/>
          </a:p>
        </p:txBody>
      </p:sp>
      <p:sp>
        <p:nvSpPr>
          <p:cNvPr id="20" name="Shape 14"/>
          <p:cNvSpPr/>
          <p:nvPr/>
        </p:nvSpPr>
        <p:spPr>
          <a:xfrm>
            <a:off x="6537960" y="2697480"/>
            <a:ext cx="457200" cy="457200"/>
          </a:xfrm>
          <a:prstGeom prst="ellipse">
            <a:avLst/>
          </a:prstGeom>
          <a:solidFill>
            <a:srgbClr val="1E2B45"/>
          </a:solidFill>
          <a:ln w="19050">
            <a:solidFill>
              <a:srgbClr val="10B981"/>
            </a:solidFill>
            <a:prstDash val="solid"/>
          </a:ln>
        </p:spPr>
      </p:sp>
      <p:pic>
        <p:nvPicPr>
          <p:cNvPr id="21" name="Image 4" descr="preencoded.png">    </p:cNvPr>
          <p:cNvPicPr>
            <a:picLocks noChangeAspect="1"/>
          </p:cNvPicPr>
          <p:nvPr/>
        </p:nvPicPr>
        <p:blipFill>
          <a:blip r:embed="rId5"/>
          <a:stretch>
            <a:fillRect/>
          </a:stretch>
        </p:blipFill>
        <p:spPr>
          <a:xfrm>
            <a:off x="6647688" y="2807208"/>
            <a:ext cx="237744" cy="237744"/>
          </a:xfrm>
          <a:prstGeom prst="rect">
            <a:avLst/>
          </a:prstGeom>
        </p:spPr>
      </p:pic>
      <p:sp>
        <p:nvSpPr>
          <p:cNvPr id="22" name="Text 15"/>
          <p:cNvSpPr txBox="1"/>
          <p:nvPr/>
        </p:nvSpPr>
        <p:spPr>
          <a:xfrm>
            <a:off x="7132320" y="2761488"/>
            <a:ext cx="4297680" cy="4114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Cash, credit on trust, and memory</a:t>
            </a:r>
            <a:endParaRPr lang="en-US" sz="1600" dirty="0"/>
          </a:p>
        </p:txBody>
      </p:sp>
      <p:sp>
        <p:nvSpPr>
          <p:cNvPr id="23" name="Shape 16"/>
          <p:cNvSpPr/>
          <p:nvPr/>
        </p:nvSpPr>
        <p:spPr>
          <a:xfrm>
            <a:off x="6537960" y="3474720"/>
            <a:ext cx="457200" cy="457200"/>
          </a:xfrm>
          <a:prstGeom prst="ellipse">
            <a:avLst/>
          </a:prstGeom>
          <a:solidFill>
            <a:srgbClr val="1E2B45"/>
          </a:solidFill>
          <a:ln w="19050">
            <a:solidFill>
              <a:srgbClr val="10B981"/>
            </a:solidFill>
            <a:prstDash val="solid"/>
          </a:ln>
        </p:spPr>
      </p:sp>
      <p:pic>
        <p:nvPicPr>
          <p:cNvPr id="24" name="Image 5" descr="preencoded.png">    </p:cNvPr>
          <p:cNvPicPr>
            <a:picLocks noChangeAspect="1"/>
          </p:cNvPicPr>
          <p:nvPr/>
        </p:nvPicPr>
        <p:blipFill>
          <a:blip r:embed="rId6"/>
          <a:stretch>
            <a:fillRect/>
          </a:stretch>
        </p:blipFill>
        <p:spPr>
          <a:xfrm>
            <a:off x="6647688" y="3584448"/>
            <a:ext cx="237744" cy="237744"/>
          </a:xfrm>
          <a:prstGeom prst="rect">
            <a:avLst/>
          </a:prstGeom>
        </p:spPr>
      </p:pic>
      <p:sp>
        <p:nvSpPr>
          <p:cNvPr id="25" name="Text 17"/>
          <p:cNvSpPr txBox="1"/>
          <p:nvPr/>
        </p:nvSpPr>
        <p:spPr>
          <a:xfrm>
            <a:off x="7132320" y="3538728"/>
            <a:ext cx="4297680" cy="4114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A phone that's also the business</a:t>
            </a:r>
            <a:endParaRPr lang="en-US" sz="1600" dirty="0"/>
          </a:p>
        </p:txBody>
      </p:sp>
      <p:sp>
        <p:nvSpPr>
          <p:cNvPr id="26" name="Shape 18"/>
          <p:cNvSpPr/>
          <p:nvPr/>
        </p:nvSpPr>
        <p:spPr>
          <a:xfrm>
            <a:off x="6537960" y="4251960"/>
            <a:ext cx="457200" cy="457200"/>
          </a:xfrm>
          <a:prstGeom prst="ellipse">
            <a:avLst/>
          </a:prstGeom>
          <a:solidFill>
            <a:srgbClr val="1E2B45"/>
          </a:solidFill>
          <a:ln w="19050">
            <a:solidFill>
              <a:srgbClr val="10B981"/>
            </a:solidFill>
            <a:prstDash val="solid"/>
          </a:ln>
        </p:spPr>
      </p:sp>
      <p:pic>
        <p:nvPicPr>
          <p:cNvPr id="27" name="Image 6" descr="preencoded.png">    </p:cNvPr>
          <p:cNvPicPr>
            <a:picLocks noChangeAspect="1"/>
          </p:cNvPicPr>
          <p:nvPr/>
        </p:nvPicPr>
        <p:blipFill>
          <a:blip r:embed="rId7"/>
          <a:stretch>
            <a:fillRect/>
          </a:stretch>
        </p:blipFill>
        <p:spPr>
          <a:xfrm>
            <a:off x="6647688" y="4361688"/>
            <a:ext cx="237744" cy="237744"/>
          </a:xfrm>
          <a:prstGeom prst="rect">
            <a:avLst/>
          </a:prstGeom>
        </p:spPr>
      </p:pic>
      <p:sp>
        <p:nvSpPr>
          <p:cNvPr id="28" name="Text 19"/>
          <p:cNvSpPr txBox="1"/>
          <p:nvPr/>
        </p:nvSpPr>
        <p:spPr>
          <a:xfrm>
            <a:off x="7132320" y="4315968"/>
            <a:ext cx="4297680" cy="4114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Busy all day at the counter or on site</a:t>
            </a:r>
            <a:endParaRPr lang="en-US" sz="1600" dirty="0"/>
          </a:p>
        </p:txBody>
      </p:sp>
      <p:sp>
        <p:nvSpPr>
          <p:cNvPr id="29" name="Shape 20"/>
          <p:cNvSpPr/>
          <p:nvPr/>
        </p:nvSpPr>
        <p:spPr>
          <a:xfrm>
            <a:off x="6537960" y="5029200"/>
            <a:ext cx="457200" cy="457200"/>
          </a:xfrm>
          <a:prstGeom prst="ellipse">
            <a:avLst/>
          </a:prstGeom>
          <a:solidFill>
            <a:srgbClr val="1E2B45"/>
          </a:solidFill>
          <a:ln w="19050">
            <a:solidFill>
              <a:srgbClr val="10B981"/>
            </a:solidFill>
            <a:prstDash val="solid"/>
          </a:ln>
        </p:spPr>
      </p:sp>
      <p:pic>
        <p:nvPicPr>
          <p:cNvPr id="30" name="Image 7" descr="preencoded.png">    </p:cNvPr>
          <p:cNvPicPr>
            <a:picLocks noChangeAspect="1"/>
          </p:cNvPicPr>
          <p:nvPr/>
        </p:nvPicPr>
        <p:blipFill>
          <a:blip r:embed="rId8"/>
          <a:stretch>
            <a:fillRect/>
          </a:stretch>
        </p:blipFill>
        <p:spPr>
          <a:xfrm>
            <a:off x="6647688" y="5138928"/>
            <a:ext cx="237744" cy="237744"/>
          </a:xfrm>
          <a:prstGeom prst="rect">
            <a:avLst/>
          </a:prstGeom>
        </p:spPr>
      </p:pic>
      <p:sp>
        <p:nvSpPr>
          <p:cNvPr id="31" name="Text 21"/>
          <p:cNvSpPr txBox="1"/>
          <p:nvPr/>
        </p:nvSpPr>
        <p:spPr>
          <a:xfrm>
            <a:off x="7132320" y="5093208"/>
            <a:ext cx="4297680" cy="4114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The same few suppliers, for years</a:t>
            </a:r>
            <a:endParaRPr lang="en-US" sz="1600" dirty="0"/>
          </a:p>
        </p:txBody>
      </p:sp>
      <p:pic>
        <p:nvPicPr>
          <p:cNvPr id="32" name="Image 8" descr="preencoded.png">    </p:cNvPr>
          <p:cNvPicPr>
            <a:picLocks noChangeAspect="1"/>
          </p:cNvPicPr>
          <p:nvPr/>
        </p:nvPicPr>
        <p:blipFill>
          <a:blip r:embed="rId9"/>
          <a:stretch>
            <a:fillRect/>
          </a:stretch>
        </p:blipFill>
        <p:spPr>
          <a:xfrm>
            <a:off x="11231575" y="6291072"/>
            <a:ext cx="384048" cy="384048"/>
          </a:xfrm>
          <a:prstGeom prst="rect">
            <a:avLst/>
          </a:prstGeom>
        </p:spPr>
      </p:pic>
      <p:sp>
        <p:nvSpPr>
          <p:cNvPr id="33" name="Text 22"/>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57200"/>
            <a:ext cx="822960" cy="822960"/>
          </a:xfrm>
          <a:prstGeom prst="rect">
            <a:avLst/>
          </a:prstGeom>
        </p:spPr>
      </p:pic>
      <p:sp>
        <p:nvSpPr>
          <p:cNvPr id="3" name="Text 0"/>
          <p:cNvSpPr txBox="1"/>
          <p:nvPr/>
        </p:nvSpPr>
        <p:spPr>
          <a:xfrm>
            <a:off x="548640" y="384048"/>
            <a:ext cx="8229600" cy="320040"/>
          </a:xfrm>
          <a:prstGeom prst="rect">
            <a:avLst/>
          </a:prstGeom>
          <a:noFill/>
          <a:ln/>
        </p:spPr>
        <p:txBody>
          <a:bodyPr wrap="square" lIns="0" tIns="0" rIns="0" bIns="0" rtlCol="0" anchor="t"/>
          <a:lstStyle/>
          <a:p>
            <a:pPr indent="0" marL="0">
              <a:buNone/>
            </a:pPr>
            <a:endParaRPr lang="en-US" sz="1300" dirty="0"/>
          </a:p>
        </p:txBody>
      </p:sp>
      <p:sp>
        <p:nvSpPr>
          <p:cNvPr id="4" name="Text 1"/>
          <p:cNvSpPr txBox="1"/>
          <p:nvPr/>
        </p:nvSpPr>
        <p:spPr>
          <a:xfrm>
            <a:off x="1600200" y="502920"/>
            <a:ext cx="9966960" cy="914400"/>
          </a:xfrm>
          <a:prstGeom prst="rect">
            <a:avLst/>
          </a:prstGeom>
          <a:noFill/>
          <a:ln/>
        </p:spPr>
        <p:txBody>
          <a:bodyPr wrap="square" lIns="0" tIns="0" rIns="0" bIns="0" rtlCol="0" anchor="t"/>
          <a:lstStyle/>
          <a:p>
            <a:pPr indent="0" marL="0">
              <a:buNone/>
            </a:pPr>
            <a:r>
              <a:rPr lang="en-US" sz="3000" b="1" dirty="0">
                <a:solidFill>
                  <a:srgbClr val="F8FAFC"/>
                </a:solidFill>
                <a:latin typeface="Georgia" pitchFamily="34" charset="0"/>
                <a:ea typeface="Georgia" pitchFamily="34" charset="-122"/>
                <a:cs typeface="Georgia" pitchFamily="34" charset="-120"/>
              </a:rPr>
              <a:t>Akayza makes informal businesses visible, and ready for tomorrow.</a:t>
            </a:r>
            <a:endParaRPr lang="en-US" sz="3000" dirty="0"/>
          </a:p>
        </p:txBody>
      </p:sp>
      <p:sp>
        <p:nvSpPr>
          <p:cNvPr id="5" name="Text 2"/>
          <p:cNvSpPr txBox="1"/>
          <p:nvPr/>
        </p:nvSpPr>
        <p:spPr>
          <a:xfrm>
            <a:off x="548640" y="1600200"/>
            <a:ext cx="11064240" cy="731520"/>
          </a:xfrm>
          <a:prstGeom prst="rect">
            <a:avLst/>
          </a:prstGeom>
          <a:noFill/>
          <a:ln/>
        </p:spPr>
        <p:txBody>
          <a:bodyPr wrap="square" lIns="0" tIns="0" rIns="0" bIns="0" rtlCol="0" anchor="t"/>
          <a:lstStyle/>
          <a:p>
            <a:pPr indent="0" marL="0">
              <a:buNone/>
            </a:pPr>
            <a:r>
              <a:rPr lang="en-US" sz="1800" dirty="0">
                <a:solidFill>
                  <a:srgbClr val="A3B3C9"/>
                </a:solidFill>
                <a:latin typeface="Calibri" pitchFamily="34" charset="0"/>
                <a:ea typeface="Calibri" pitchFamily="34" charset="-122"/>
                <a:cs typeface="Calibri" pitchFamily="34" charset="-120"/>
              </a:rPr>
              <a:t>One free app that runs the business and connects it to the suppliers it already trusts. Every sale, order and payment becomes a record the owner holds.</a:t>
            </a:r>
            <a:endParaRPr lang="en-US" sz="1800" dirty="0"/>
          </a:p>
        </p:txBody>
      </p:sp>
      <p:sp>
        <p:nvSpPr>
          <p:cNvPr id="6" name="Shape 3"/>
          <p:cNvSpPr/>
          <p:nvPr/>
        </p:nvSpPr>
        <p:spPr>
          <a:xfrm>
            <a:off x="548640" y="2606040"/>
            <a:ext cx="3474720" cy="3383280"/>
          </a:xfrm>
          <a:prstGeom prst="roundRect">
            <a:avLst>
              <a:gd name="adj" fmla="val 3243"/>
            </a:avLst>
          </a:prstGeom>
          <a:solidFill>
            <a:srgbClr val="17223A"/>
          </a:solidFill>
          <a:ln w="12700">
            <a:solidFill>
              <a:srgbClr val="17223A"/>
            </a:solidFill>
            <a:prstDash val="solid"/>
          </a:ln>
        </p:spPr>
      </p:sp>
      <p:sp>
        <p:nvSpPr>
          <p:cNvPr id="7" name="Text 4"/>
          <p:cNvSpPr txBox="1"/>
          <p:nvPr/>
        </p:nvSpPr>
        <p:spPr>
          <a:xfrm>
            <a:off x="868680" y="2834640"/>
            <a:ext cx="283464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TODAY</a:t>
            </a:r>
            <a:endParaRPr lang="en-US" sz="1300" dirty="0"/>
          </a:p>
        </p:txBody>
      </p:sp>
      <p:sp>
        <p:nvSpPr>
          <p:cNvPr id="8" name="Shape 5"/>
          <p:cNvSpPr/>
          <p:nvPr/>
        </p:nvSpPr>
        <p:spPr>
          <a:xfrm>
            <a:off x="3063240" y="2788920"/>
            <a:ext cx="685800" cy="685800"/>
          </a:xfrm>
          <a:prstGeom prst="ellipse">
            <a:avLst/>
          </a:prstGeom>
          <a:solidFill>
            <a:srgbClr val="1E2B45"/>
          </a:solidFill>
          <a:ln w="19050">
            <a:solidFill>
              <a:srgbClr val="10B981"/>
            </a:solidFill>
            <a:prstDash val="solid"/>
          </a:ln>
        </p:spPr>
      </p:sp>
      <p:pic>
        <p:nvPicPr>
          <p:cNvPr id="9" name="Image 1" descr="preencoded.png">    </p:cNvPr>
          <p:cNvPicPr>
            <a:picLocks noChangeAspect="1"/>
          </p:cNvPicPr>
          <p:nvPr/>
        </p:nvPicPr>
        <p:blipFill>
          <a:blip r:embed="rId2"/>
          <a:stretch>
            <a:fillRect/>
          </a:stretch>
        </p:blipFill>
        <p:spPr>
          <a:xfrm>
            <a:off x="3227832" y="2953512"/>
            <a:ext cx="356616" cy="356616"/>
          </a:xfrm>
          <a:prstGeom prst="rect">
            <a:avLst/>
          </a:prstGeom>
        </p:spPr>
      </p:pic>
      <p:sp>
        <p:nvSpPr>
          <p:cNvPr id="10" name="Text 6"/>
          <p:cNvSpPr txBox="1"/>
          <p:nvPr/>
        </p:nvSpPr>
        <p:spPr>
          <a:xfrm>
            <a:off x="868680" y="3611880"/>
            <a:ext cx="2926080" cy="822960"/>
          </a:xfrm>
          <a:prstGeom prst="rect">
            <a:avLst/>
          </a:prstGeom>
          <a:noFill/>
          <a:ln/>
        </p:spPr>
        <p:txBody>
          <a:bodyPr wrap="square" lIns="0" tIns="0" rIns="0" bIns="0" rtlCol="0" anchor="t"/>
          <a:lstStyle/>
          <a:p>
            <a:pPr indent="0" marL="0">
              <a:buNone/>
            </a:pPr>
            <a:r>
              <a:rPr lang="en-US" sz="2200" b="1" dirty="0">
                <a:solidFill>
                  <a:srgbClr val="F8FAFC"/>
                </a:solidFill>
                <a:latin typeface="Georgia" pitchFamily="34" charset="0"/>
                <a:ea typeface="Georgia" pitchFamily="34" charset="-122"/>
                <a:cs typeface="Georgia" pitchFamily="34" charset="-120"/>
              </a:rPr>
              <a:t>Run it with less stress</a:t>
            </a:r>
            <a:endParaRPr lang="en-US" sz="2200" dirty="0"/>
          </a:p>
        </p:txBody>
      </p:sp>
      <p:sp>
        <p:nvSpPr>
          <p:cNvPr id="11" name="Text 7"/>
          <p:cNvSpPr txBox="1"/>
          <p:nvPr/>
        </p:nvSpPr>
        <p:spPr>
          <a:xfrm>
            <a:off x="868680" y="4434840"/>
            <a:ext cx="2880360" cy="137160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Know who owes you, what sold and what's coming, without a notebook.</a:t>
            </a:r>
            <a:endParaRPr lang="en-US" sz="1500" dirty="0"/>
          </a:p>
        </p:txBody>
      </p:sp>
      <p:sp>
        <p:nvSpPr>
          <p:cNvPr id="12" name="Shape 8"/>
          <p:cNvSpPr/>
          <p:nvPr/>
        </p:nvSpPr>
        <p:spPr>
          <a:xfrm>
            <a:off x="4297680" y="2606040"/>
            <a:ext cx="3474720" cy="3383280"/>
          </a:xfrm>
          <a:prstGeom prst="roundRect">
            <a:avLst>
              <a:gd name="adj" fmla="val 3243"/>
            </a:avLst>
          </a:prstGeom>
          <a:solidFill>
            <a:srgbClr val="17223A"/>
          </a:solidFill>
          <a:ln w="12700">
            <a:solidFill>
              <a:srgbClr val="17223A"/>
            </a:solidFill>
            <a:prstDash val="solid"/>
          </a:ln>
        </p:spPr>
      </p:sp>
      <p:sp>
        <p:nvSpPr>
          <p:cNvPr id="13" name="Text 9"/>
          <p:cNvSpPr txBox="1"/>
          <p:nvPr/>
        </p:nvSpPr>
        <p:spPr>
          <a:xfrm>
            <a:off x="4617720" y="2834640"/>
            <a:ext cx="2834640" cy="320040"/>
          </a:xfrm>
          <a:prstGeom prst="rect">
            <a:avLst/>
          </a:prstGeom>
          <a:noFill/>
          <a:ln/>
        </p:spPr>
        <p:txBody>
          <a:bodyPr wrap="square" lIns="0" tIns="0" rIns="0" bIns="0" rtlCol="0" anchor="t"/>
          <a:lstStyle/>
          <a:p>
            <a:pPr indent="0" marL="0">
              <a:buNone/>
            </a:pPr>
            <a:r>
              <a:rPr lang="en-US" sz="1300" b="1" spc="300" kern="0" dirty="0">
                <a:solidFill>
                  <a:srgbClr val="FBBF24"/>
                </a:solidFill>
                <a:latin typeface="Calibri" pitchFamily="34" charset="0"/>
                <a:ea typeface="Calibri" pitchFamily="34" charset="-122"/>
                <a:cs typeface="Calibri" pitchFamily="34" charset="-120"/>
              </a:rPr>
              <a:t>THIS WEEK</a:t>
            </a:r>
            <a:endParaRPr lang="en-US" sz="1300" dirty="0"/>
          </a:p>
        </p:txBody>
      </p:sp>
      <p:sp>
        <p:nvSpPr>
          <p:cNvPr id="14" name="Shape 10"/>
          <p:cNvSpPr/>
          <p:nvPr/>
        </p:nvSpPr>
        <p:spPr>
          <a:xfrm>
            <a:off x="6812280" y="2788920"/>
            <a:ext cx="685800" cy="685800"/>
          </a:xfrm>
          <a:prstGeom prst="ellipse">
            <a:avLst/>
          </a:prstGeom>
          <a:solidFill>
            <a:srgbClr val="1E2B45"/>
          </a:solidFill>
          <a:ln w="19050">
            <a:solidFill>
              <a:srgbClr val="FBBF24"/>
            </a:solidFill>
            <a:prstDash val="solid"/>
          </a:ln>
        </p:spPr>
      </p:sp>
      <p:pic>
        <p:nvPicPr>
          <p:cNvPr id="15" name="Image 2" descr="preencoded.png">    </p:cNvPr>
          <p:cNvPicPr>
            <a:picLocks noChangeAspect="1"/>
          </p:cNvPicPr>
          <p:nvPr/>
        </p:nvPicPr>
        <p:blipFill>
          <a:blip r:embed="rId3"/>
          <a:stretch>
            <a:fillRect/>
          </a:stretch>
        </p:blipFill>
        <p:spPr>
          <a:xfrm>
            <a:off x="6976872" y="2953512"/>
            <a:ext cx="356616" cy="356616"/>
          </a:xfrm>
          <a:prstGeom prst="rect">
            <a:avLst/>
          </a:prstGeom>
        </p:spPr>
      </p:pic>
      <p:sp>
        <p:nvSpPr>
          <p:cNvPr id="16" name="Text 11"/>
          <p:cNvSpPr txBox="1"/>
          <p:nvPr/>
        </p:nvSpPr>
        <p:spPr>
          <a:xfrm>
            <a:off x="4617720" y="3611880"/>
            <a:ext cx="2926080" cy="822960"/>
          </a:xfrm>
          <a:prstGeom prst="rect">
            <a:avLst/>
          </a:prstGeom>
          <a:noFill/>
          <a:ln/>
        </p:spPr>
        <p:txBody>
          <a:bodyPr wrap="square" lIns="0" tIns="0" rIns="0" bIns="0" rtlCol="0" anchor="t"/>
          <a:lstStyle/>
          <a:p>
            <a:pPr indent="0" marL="0">
              <a:buNone/>
            </a:pPr>
            <a:r>
              <a:rPr lang="en-US" sz="2200" b="1" dirty="0">
                <a:solidFill>
                  <a:srgbClr val="F8FAFC"/>
                </a:solidFill>
                <a:latin typeface="Georgia" pitchFamily="34" charset="0"/>
                <a:ea typeface="Georgia" pitchFamily="34" charset="-122"/>
                <a:cs typeface="Georgia" pitchFamily="34" charset="-120"/>
              </a:rPr>
              <a:t>Buy better, pay safely</a:t>
            </a:r>
            <a:endParaRPr lang="en-US" sz="2200" dirty="0"/>
          </a:p>
        </p:txBody>
      </p:sp>
      <p:sp>
        <p:nvSpPr>
          <p:cNvPr id="17" name="Text 12"/>
          <p:cNvSpPr txBox="1"/>
          <p:nvPr/>
        </p:nvSpPr>
        <p:spPr>
          <a:xfrm>
            <a:off x="4617720" y="4434840"/>
            <a:ext cx="2880360" cy="137160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Order from your own suppliers, pay digitally or cash, get a proper invoice.</a:t>
            </a:r>
            <a:endParaRPr lang="en-US" sz="1500" dirty="0"/>
          </a:p>
        </p:txBody>
      </p:sp>
      <p:sp>
        <p:nvSpPr>
          <p:cNvPr id="18" name="Shape 13"/>
          <p:cNvSpPr/>
          <p:nvPr/>
        </p:nvSpPr>
        <p:spPr>
          <a:xfrm>
            <a:off x="8046720" y="2606040"/>
            <a:ext cx="3474720" cy="3383280"/>
          </a:xfrm>
          <a:prstGeom prst="roundRect">
            <a:avLst>
              <a:gd name="adj" fmla="val 3243"/>
            </a:avLst>
          </a:prstGeom>
          <a:solidFill>
            <a:srgbClr val="17223A"/>
          </a:solidFill>
          <a:ln w="12700">
            <a:solidFill>
              <a:srgbClr val="17223A"/>
            </a:solidFill>
            <a:prstDash val="solid"/>
          </a:ln>
        </p:spPr>
      </p:sp>
      <p:sp>
        <p:nvSpPr>
          <p:cNvPr id="19" name="Text 14"/>
          <p:cNvSpPr txBox="1"/>
          <p:nvPr/>
        </p:nvSpPr>
        <p:spPr>
          <a:xfrm>
            <a:off x="8366760" y="2834640"/>
            <a:ext cx="2834640" cy="320040"/>
          </a:xfrm>
          <a:prstGeom prst="rect">
            <a:avLst/>
          </a:prstGeom>
          <a:noFill/>
          <a:ln/>
        </p:spPr>
        <p:txBody>
          <a:bodyPr wrap="square" lIns="0" tIns="0" rIns="0" bIns="0" rtlCol="0" anchor="t"/>
          <a:lstStyle/>
          <a:p>
            <a:pPr indent="0" marL="0">
              <a:buNone/>
            </a:pPr>
            <a:r>
              <a:rPr lang="en-US" sz="1300" b="1" spc="300" kern="0" dirty="0">
                <a:solidFill>
                  <a:srgbClr val="34D399"/>
                </a:solidFill>
                <a:latin typeface="Calibri" pitchFamily="34" charset="0"/>
                <a:ea typeface="Calibri" pitchFamily="34" charset="-122"/>
                <a:cs typeface="Calibri" pitchFamily="34" charset="-120"/>
              </a:rPr>
              <a:t>TOMORROW</a:t>
            </a:r>
            <a:endParaRPr lang="en-US" sz="1300" dirty="0"/>
          </a:p>
        </p:txBody>
      </p:sp>
      <p:sp>
        <p:nvSpPr>
          <p:cNvPr id="20" name="Shape 15"/>
          <p:cNvSpPr/>
          <p:nvPr/>
        </p:nvSpPr>
        <p:spPr>
          <a:xfrm>
            <a:off x="10561320" y="2788920"/>
            <a:ext cx="685800" cy="685800"/>
          </a:xfrm>
          <a:prstGeom prst="ellipse">
            <a:avLst/>
          </a:prstGeom>
          <a:solidFill>
            <a:srgbClr val="1E2B45"/>
          </a:solidFill>
          <a:ln w="19050">
            <a:solidFill>
              <a:srgbClr val="34D399"/>
            </a:solidFill>
            <a:prstDash val="solid"/>
          </a:ln>
        </p:spPr>
      </p:sp>
      <p:pic>
        <p:nvPicPr>
          <p:cNvPr id="21" name="Image 3" descr="preencoded.png">    </p:cNvPr>
          <p:cNvPicPr>
            <a:picLocks noChangeAspect="1"/>
          </p:cNvPicPr>
          <p:nvPr/>
        </p:nvPicPr>
        <p:blipFill>
          <a:blip r:embed="rId4"/>
          <a:stretch>
            <a:fillRect/>
          </a:stretch>
        </p:blipFill>
        <p:spPr>
          <a:xfrm>
            <a:off x="10725912" y="2953512"/>
            <a:ext cx="356616" cy="356616"/>
          </a:xfrm>
          <a:prstGeom prst="rect">
            <a:avLst/>
          </a:prstGeom>
        </p:spPr>
      </p:pic>
      <p:sp>
        <p:nvSpPr>
          <p:cNvPr id="22" name="Text 16"/>
          <p:cNvSpPr txBox="1"/>
          <p:nvPr/>
        </p:nvSpPr>
        <p:spPr>
          <a:xfrm>
            <a:off x="8366760" y="3611880"/>
            <a:ext cx="2926080" cy="822960"/>
          </a:xfrm>
          <a:prstGeom prst="rect">
            <a:avLst/>
          </a:prstGeom>
          <a:noFill/>
          <a:ln/>
        </p:spPr>
        <p:txBody>
          <a:bodyPr wrap="square" lIns="0" tIns="0" rIns="0" bIns="0" rtlCol="0" anchor="t"/>
          <a:lstStyle/>
          <a:p>
            <a:pPr indent="0" marL="0">
              <a:buNone/>
            </a:pPr>
            <a:r>
              <a:rPr lang="en-US" sz="2200" b="1" dirty="0">
                <a:solidFill>
                  <a:srgbClr val="F8FAFC"/>
                </a:solidFill>
                <a:latin typeface="Georgia" pitchFamily="34" charset="0"/>
                <a:ea typeface="Georgia" pitchFamily="34" charset="-122"/>
                <a:cs typeface="Georgia" pitchFamily="34" charset="-120"/>
              </a:rPr>
              <a:t>Be ready to grow</a:t>
            </a:r>
            <a:endParaRPr lang="en-US" sz="2200" dirty="0"/>
          </a:p>
        </p:txBody>
      </p:sp>
      <p:sp>
        <p:nvSpPr>
          <p:cNvPr id="23" name="Text 17"/>
          <p:cNvSpPr txBox="1"/>
          <p:nvPr/>
        </p:nvSpPr>
        <p:spPr>
          <a:xfrm>
            <a:off x="8366760" y="4434840"/>
            <a:ext cx="2880360" cy="137160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A trading history you own: the first step to credit, support funds and formal registration.</a:t>
            </a:r>
            <a:endParaRPr lang="en-US" sz="1500" dirty="0"/>
          </a:p>
        </p:txBody>
      </p:sp>
      <p:pic>
        <p:nvPicPr>
          <p:cNvPr id="24" name="Image 4"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25" name="Text 18"/>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USER JOURNEY</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Thandi's week, with Akayza</a:t>
            </a:r>
            <a:endParaRPr lang="en-US" sz="3400" dirty="0"/>
          </a:p>
        </p:txBody>
      </p:sp>
      <p:sp>
        <p:nvSpPr>
          <p:cNvPr id="4" name="Text 2"/>
          <p:cNvSpPr txBox="1"/>
          <p:nvPr/>
        </p:nvSpPr>
        <p:spPr>
          <a:xfrm>
            <a:off x="548640" y="1508760"/>
            <a:ext cx="11064240" cy="457200"/>
          </a:xfrm>
          <a:prstGeom prst="rect">
            <a:avLst/>
          </a:prstGeom>
          <a:noFill/>
          <a:ln/>
        </p:spPr>
        <p:txBody>
          <a:bodyPr wrap="square" lIns="0" tIns="0" rIns="0" bIns="0" rtlCol="0" anchor="t"/>
          <a:lstStyle/>
          <a:p>
            <a:pPr indent="0" marL="0">
              <a:buNone/>
            </a:pPr>
            <a:r>
              <a:rPr lang="en-US" sz="1700" i="1" dirty="0">
                <a:solidFill>
                  <a:srgbClr val="A3B3C9"/>
                </a:solidFill>
                <a:latin typeface="Calibri" pitchFamily="34" charset="0"/>
                <a:ea typeface="Calibri" pitchFamily="34" charset="-122"/>
                <a:cs typeface="Calibri" pitchFamily="34" charset="-120"/>
              </a:rPr>
              <a:t>Thandi runs a small business. She's busy, she trusts her customers, and she's never had a record of it.</a:t>
            </a:r>
            <a:endParaRPr lang="en-US" sz="1700" dirty="0"/>
          </a:p>
        </p:txBody>
      </p:sp>
      <p:sp>
        <p:nvSpPr>
          <p:cNvPr id="5" name="Shape 3"/>
          <p:cNvSpPr/>
          <p:nvPr/>
        </p:nvSpPr>
        <p:spPr>
          <a:xfrm>
            <a:off x="548640" y="2286000"/>
            <a:ext cx="2606040" cy="3611880"/>
          </a:xfrm>
          <a:prstGeom prst="roundRect">
            <a:avLst>
              <a:gd name="adj" fmla="val 4211"/>
            </a:avLst>
          </a:prstGeom>
          <a:solidFill>
            <a:srgbClr val="17223A"/>
          </a:solidFill>
          <a:ln w="12700">
            <a:solidFill>
              <a:srgbClr val="17223A"/>
            </a:solidFill>
            <a:prstDash val="solid"/>
          </a:ln>
        </p:spPr>
      </p:sp>
      <p:sp>
        <p:nvSpPr>
          <p:cNvPr id="6" name="Shape 4"/>
          <p:cNvSpPr/>
          <p:nvPr/>
        </p:nvSpPr>
        <p:spPr>
          <a:xfrm>
            <a:off x="822960" y="2560320"/>
            <a:ext cx="731520" cy="731520"/>
          </a:xfrm>
          <a:prstGeom prst="ellipse">
            <a:avLst/>
          </a:prstGeom>
          <a:solidFill>
            <a:srgbClr val="1E2B45"/>
          </a:solidFill>
          <a:ln w="19050">
            <a:solidFill>
              <a:srgbClr val="10B981"/>
            </a:solidFill>
            <a:prstDash val="solid"/>
          </a:ln>
        </p:spPr>
      </p:sp>
      <p:pic>
        <p:nvPicPr>
          <p:cNvPr id="7" name="Image 0" descr="preencoded.png">    </p:cNvPr>
          <p:cNvPicPr>
            <a:picLocks noChangeAspect="1"/>
          </p:cNvPicPr>
          <p:nvPr/>
        </p:nvPicPr>
        <p:blipFill>
          <a:blip r:embed="rId1"/>
          <a:stretch>
            <a:fillRect/>
          </a:stretch>
        </p:blipFill>
        <p:spPr>
          <a:xfrm>
            <a:off x="998525" y="2735885"/>
            <a:ext cx="380390" cy="380390"/>
          </a:xfrm>
          <a:prstGeom prst="rect">
            <a:avLst/>
          </a:prstGeom>
        </p:spPr>
      </p:pic>
      <p:sp>
        <p:nvSpPr>
          <p:cNvPr id="8" name="Text 5"/>
          <p:cNvSpPr txBox="1"/>
          <p:nvPr/>
        </p:nvSpPr>
        <p:spPr>
          <a:xfrm>
            <a:off x="822960" y="3474720"/>
            <a:ext cx="2194560" cy="320040"/>
          </a:xfrm>
          <a:prstGeom prst="rect">
            <a:avLst/>
          </a:prstGeom>
          <a:noFill/>
          <a:ln/>
        </p:spPr>
        <p:txBody>
          <a:bodyPr wrap="square" lIns="0" tIns="0" rIns="0" bIns="0" rtlCol="0" anchor="t"/>
          <a:lstStyle/>
          <a:p>
            <a:pPr indent="0" marL="0">
              <a:buNone/>
            </a:pPr>
            <a:r>
              <a:rPr lang="en-US" sz="1300" b="1" spc="200" kern="0" dirty="0">
                <a:solidFill>
                  <a:srgbClr val="10B981"/>
                </a:solidFill>
                <a:latin typeface="Calibri" pitchFamily="34" charset="0"/>
                <a:ea typeface="Calibri" pitchFamily="34" charset="-122"/>
                <a:cs typeface="Calibri" pitchFamily="34" charset="-120"/>
              </a:rPr>
              <a:t>MONDAY</a:t>
            </a:r>
            <a:endParaRPr lang="en-US" sz="1300" dirty="0"/>
          </a:p>
        </p:txBody>
      </p:sp>
      <p:sp>
        <p:nvSpPr>
          <p:cNvPr id="9" name="Text 6"/>
          <p:cNvSpPr txBox="1"/>
          <p:nvPr/>
        </p:nvSpPr>
        <p:spPr>
          <a:xfrm>
            <a:off x="822960" y="3840480"/>
            <a:ext cx="2148840" cy="73152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Restocks in 2 minutes</a:t>
            </a:r>
            <a:endParaRPr lang="en-US" sz="1800" dirty="0"/>
          </a:p>
        </p:txBody>
      </p:sp>
      <p:sp>
        <p:nvSpPr>
          <p:cNvPr id="10" name="Text 7"/>
          <p:cNvSpPr txBox="1"/>
          <p:nvPr/>
        </p:nvSpPr>
        <p:spPr>
          <a:xfrm>
            <a:off x="822960" y="4617720"/>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Her usual supplier, their prices, delivered. No calls, no running out.</a:t>
            </a:r>
            <a:endParaRPr lang="en-US" sz="1350" dirty="0"/>
          </a:p>
        </p:txBody>
      </p:sp>
      <p:sp>
        <p:nvSpPr>
          <p:cNvPr id="11" name="Shape 8"/>
          <p:cNvSpPr/>
          <p:nvPr/>
        </p:nvSpPr>
        <p:spPr>
          <a:xfrm>
            <a:off x="3182112" y="4069080"/>
            <a:ext cx="164592" cy="0"/>
          </a:xfrm>
          <a:prstGeom prst="line">
            <a:avLst/>
          </a:prstGeom>
          <a:noFill/>
          <a:ln w="19050">
            <a:solidFill>
              <a:srgbClr val="64748B"/>
            </a:solidFill>
            <a:prstDash val="solid"/>
            <a:tailEnd type="triangle"/>
          </a:ln>
        </p:spPr>
      </p:sp>
      <p:sp>
        <p:nvSpPr>
          <p:cNvPr id="12" name="Shape 9"/>
          <p:cNvSpPr/>
          <p:nvPr/>
        </p:nvSpPr>
        <p:spPr>
          <a:xfrm>
            <a:off x="3364992" y="2286000"/>
            <a:ext cx="2606040" cy="3611880"/>
          </a:xfrm>
          <a:prstGeom prst="roundRect">
            <a:avLst>
              <a:gd name="adj" fmla="val 4211"/>
            </a:avLst>
          </a:prstGeom>
          <a:solidFill>
            <a:srgbClr val="17223A"/>
          </a:solidFill>
          <a:ln w="12700">
            <a:solidFill>
              <a:srgbClr val="17223A"/>
            </a:solidFill>
            <a:prstDash val="solid"/>
          </a:ln>
        </p:spPr>
      </p:sp>
      <p:sp>
        <p:nvSpPr>
          <p:cNvPr id="13" name="Shape 10"/>
          <p:cNvSpPr/>
          <p:nvPr/>
        </p:nvSpPr>
        <p:spPr>
          <a:xfrm>
            <a:off x="3639312" y="2560320"/>
            <a:ext cx="731520" cy="731520"/>
          </a:xfrm>
          <a:prstGeom prst="ellipse">
            <a:avLst/>
          </a:prstGeom>
          <a:solidFill>
            <a:srgbClr val="1E2B45"/>
          </a:solidFill>
          <a:ln w="19050">
            <a:solidFill>
              <a:srgbClr val="FBBF24"/>
            </a:solidFill>
            <a:prstDash val="solid"/>
          </a:ln>
        </p:spPr>
      </p:sp>
      <p:pic>
        <p:nvPicPr>
          <p:cNvPr id="14" name="Image 1" descr="preencoded.png">    </p:cNvPr>
          <p:cNvPicPr>
            <a:picLocks noChangeAspect="1"/>
          </p:cNvPicPr>
          <p:nvPr/>
        </p:nvPicPr>
        <p:blipFill>
          <a:blip r:embed="rId2"/>
          <a:stretch>
            <a:fillRect/>
          </a:stretch>
        </p:blipFill>
        <p:spPr>
          <a:xfrm>
            <a:off x="3814877" y="2735885"/>
            <a:ext cx="380390" cy="380390"/>
          </a:xfrm>
          <a:prstGeom prst="rect">
            <a:avLst/>
          </a:prstGeom>
        </p:spPr>
      </p:pic>
      <p:sp>
        <p:nvSpPr>
          <p:cNvPr id="15" name="Text 11"/>
          <p:cNvSpPr txBox="1"/>
          <p:nvPr/>
        </p:nvSpPr>
        <p:spPr>
          <a:xfrm>
            <a:off x="3639312" y="3474720"/>
            <a:ext cx="2194560" cy="320040"/>
          </a:xfrm>
          <a:prstGeom prst="rect">
            <a:avLst/>
          </a:prstGeom>
          <a:noFill/>
          <a:ln/>
        </p:spPr>
        <p:txBody>
          <a:bodyPr wrap="square" lIns="0" tIns="0" rIns="0" bIns="0" rtlCol="0" anchor="t"/>
          <a:lstStyle/>
          <a:p>
            <a:pPr indent="0" marL="0">
              <a:buNone/>
            </a:pPr>
            <a:r>
              <a:rPr lang="en-US" sz="1300" b="1" spc="200" kern="0" dirty="0">
                <a:solidFill>
                  <a:srgbClr val="FBBF24"/>
                </a:solidFill>
                <a:latin typeface="Calibri" pitchFamily="34" charset="0"/>
                <a:ea typeface="Calibri" pitchFamily="34" charset="-122"/>
                <a:cs typeface="Calibri" pitchFamily="34" charset="-120"/>
              </a:rPr>
              <a:t>WEDNESDAY</a:t>
            </a:r>
            <a:endParaRPr lang="en-US" sz="1300" dirty="0"/>
          </a:p>
        </p:txBody>
      </p:sp>
      <p:sp>
        <p:nvSpPr>
          <p:cNvPr id="16" name="Text 12"/>
          <p:cNvSpPr txBox="1"/>
          <p:nvPr/>
        </p:nvSpPr>
        <p:spPr>
          <a:xfrm>
            <a:off x="3639312" y="3840480"/>
            <a:ext cx="2148840" cy="73152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Gets paid back</a:t>
            </a:r>
            <a:endParaRPr lang="en-US" sz="1800" dirty="0"/>
          </a:p>
        </p:txBody>
      </p:sp>
      <p:sp>
        <p:nvSpPr>
          <p:cNvPr id="17" name="Text 13"/>
          <p:cNvSpPr txBox="1"/>
          <p:nvPr/>
        </p:nvSpPr>
        <p:spPr>
          <a:xfrm>
            <a:off x="3639312" y="4617720"/>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A customer settles his credit. It's written off her book on the spot.</a:t>
            </a:r>
            <a:endParaRPr lang="en-US" sz="1350" dirty="0"/>
          </a:p>
        </p:txBody>
      </p:sp>
      <p:sp>
        <p:nvSpPr>
          <p:cNvPr id="18" name="Shape 14"/>
          <p:cNvSpPr/>
          <p:nvPr/>
        </p:nvSpPr>
        <p:spPr>
          <a:xfrm>
            <a:off x="5998464" y="4069080"/>
            <a:ext cx="164592" cy="0"/>
          </a:xfrm>
          <a:prstGeom prst="line">
            <a:avLst/>
          </a:prstGeom>
          <a:noFill/>
          <a:ln w="19050">
            <a:solidFill>
              <a:srgbClr val="64748B"/>
            </a:solidFill>
            <a:prstDash val="solid"/>
            <a:tailEnd type="triangle"/>
          </a:ln>
        </p:spPr>
      </p:sp>
      <p:sp>
        <p:nvSpPr>
          <p:cNvPr id="19" name="Shape 15"/>
          <p:cNvSpPr/>
          <p:nvPr/>
        </p:nvSpPr>
        <p:spPr>
          <a:xfrm>
            <a:off x="6181344" y="2286000"/>
            <a:ext cx="2606040" cy="3611880"/>
          </a:xfrm>
          <a:prstGeom prst="roundRect">
            <a:avLst>
              <a:gd name="adj" fmla="val 4211"/>
            </a:avLst>
          </a:prstGeom>
          <a:solidFill>
            <a:srgbClr val="17223A"/>
          </a:solidFill>
          <a:ln w="12700">
            <a:solidFill>
              <a:srgbClr val="17223A"/>
            </a:solidFill>
            <a:prstDash val="solid"/>
          </a:ln>
        </p:spPr>
      </p:sp>
      <p:sp>
        <p:nvSpPr>
          <p:cNvPr id="20" name="Shape 16"/>
          <p:cNvSpPr/>
          <p:nvPr/>
        </p:nvSpPr>
        <p:spPr>
          <a:xfrm>
            <a:off x="6455664" y="2560320"/>
            <a:ext cx="731520" cy="731520"/>
          </a:xfrm>
          <a:prstGeom prst="ellipse">
            <a:avLst/>
          </a:prstGeom>
          <a:solidFill>
            <a:srgbClr val="1E2B45"/>
          </a:solidFill>
          <a:ln w="19050">
            <a:solidFill>
              <a:srgbClr val="34D399"/>
            </a:solidFill>
            <a:prstDash val="solid"/>
          </a:ln>
        </p:spPr>
      </p:sp>
      <p:pic>
        <p:nvPicPr>
          <p:cNvPr id="21" name="Image 2" descr="preencoded.png">    </p:cNvPr>
          <p:cNvPicPr>
            <a:picLocks noChangeAspect="1"/>
          </p:cNvPicPr>
          <p:nvPr/>
        </p:nvPicPr>
        <p:blipFill>
          <a:blip r:embed="rId3"/>
          <a:stretch>
            <a:fillRect/>
          </a:stretch>
        </p:blipFill>
        <p:spPr>
          <a:xfrm>
            <a:off x="6631229" y="2735885"/>
            <a:ext cx="380390" cy="380390"/>
          </a:xfrm>
          <a:prstGeom prst="rect">
            <a:avLst/>
          </a:prstGeom>
        </p:spPr>
      </p:pic>
      <p:sp>
        <p:nvSpPr>
          <p:cNvPr id="22" name="Text 17"/>
          <p:cNvSpPr txBox="1"/>
          <p:nvPr/>
        </p:nvSpPr>
        <p:spPr>
          <a:xfrm>
            <a:off x="6455664" y="3474720"/>
            <a:ext cx="2194560" cy="320040"/>
          </a:xfrm>
          <a:prstGeom prst="rect">
            <a:avLst/>
          </a:prstGeom>
          <a:noFill/>
          <a:ln/>
        </p:spPr>
        <p:txBody>
          <a:bodyPr wrap="square" lIns="0" tIns="0" rIns="0" bIns="0" rtlCol="0" anchor="t"/>
          <a:lstStyle/>
          <a:p>
            <a:pPr indent="0" marL="0">
              <a:buNone/>
            </a:pPr>
            <a:r>
              <a:rPr lang="en-US" sz="1300" b="1" spc="200" kern="0" dirty="0">
                <a:solidFill>
                  <a:srgbClr val="34D399"/>
                </a:solidFill>
                <a:latin typeface="Calibri" pitchFamily="34" charset="0"/>
                <a:ea typeface="Calibri" pitchFamily="34" charset="-122"/>
                <a:cs typeface="Calibri" pitchFamily="34" charset="-120"/>
              </a:rPr>
              <a:t>FRIDAY</a:t>
            </a:r>
            <a:endParaRPr lang="en-US" sz="1300" dirty="0"/>
          </a:p>
        </p:txBody>
      </p:sp>
      <p:sp>
        <p:nvSpPr>
          <p:cNvPr id="23" name="Text 18"/>
          <p:cNvSpPr txBox="1"/>
          <p:nvPr/>
        </p:nvSpPr>
        <p:spPr>
          <a:xfrm>
            <a:off x="6455664" y="3840480"/>
            <a:ext cx="2148840" cy="73152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Pays without cash risk</a:t>
            </a:r>
            <a:endParaRPr lang="en-US" sz="1800" dirty="0"/>
          </a:p>
        </p:txBody>
      </p:sp>
      <p:sp>
        <p:nvSpPr>
          <p:cNvPr id="24" name="Text 19"/>
          <p:cNvSpPr txBox="1"/>
          <p:nvPr/>
        </p:nvSpPr>
        <p:spPr>
          <a:xfrm>
            <a:off x="6455664" y="4617720"/>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Pays the supplier in the app. The payment is confirmed, the invoice arrives.</a:t>
            </a:r>
            <a:endParaRPr lang="en-US" sz="1350" dirty="0"/>
          </a:p>
        </p:txBody>
      </p:sp>
      <p:sp>
        <p:nvSpPr>
          <p:cNvPr id="25" name="Shape 20"/>
          <p:cNvSpPr/>
          <p:nvPr/>
        </p:nvSpPr>
        <p:spPr>
          <a:xfrm>
            <a:off x="8814816" y="4069080"/>
            <a:ext cx="164592" cy="0"/>
          </a:xfrm>
          <a:prstGeom prst="line">
            <a:avLst/>
          </a:prstGeom>
          <a:noFill/>
          <a:ln w="19050">
            <a:solidFill>
              <a:srgbClr val="64748B"/>
            </a:solidFill>
            <a:prstDash val="solid"/>
            <a:tailEnd type="triangle"/>
          </a:ln>
        </p:spPr>
      </p:sp>
      <p:sp>
        <p:nvSpPr>
          <p:cNvPr id="26" name="Shape 21"/>
          <p:cNvSpPr/>
          <p:nvPr/>
        </p:nvSpPr>
        <p:spPr>
          <a:xfrm>
            <a:off x="8997696" y="2286000"/>
            <a:ext cx="2606040" cy="3611880"/>
          </a:xfrm>
          <a:prstGeom prst="roundRect">
            <a:avLst>
              <a:gd name="adj" fmla="val 4211"/>
            </a:avLst>
          </a:prstGeom>
          <a:solidFill>
            <a:srgbClr val="17223A"/>
          </a:solidFill>
          <a:ln w="12700">
            <a:solidFill>
              <a:srgbClr val="17223A"/>
            </a:solidFill>
            <a:prstDash val="solid"/>
          </a:ln>
        </p:spPr>
      </p:sp>
      <p:sp>
        <p:nvSpPr>
          <p:cNvPr id="27" name="Shape 22"/>
          <p:cNvSpPr/>
          <p:nvPr/>
        </p:nvSpPr>
        <p:spPr>
          <a:xfrm>
            <a:off x="9272016" y="2560320"/>
            <a:ext cx="731520" cy="731520"/>
          </a:xfrm>
          <a:prstGeom prst="ellipse">
            <a:avLst/>
          </a:prstGeom>
          <a:solidFill>
            <a:srgbClr val="1E2B45"/>
          </a:solidFill>
          <a:ln w="19050">
            <a:solidFill>
              <a:srgbClr val="F59E0B"/>
            </a:solidFill>
            <a:prstDash val="solid"/>
          </a:ln>
        </p:spPr>
      </p:sp>
      <p:pic>
        <p:nvPicPr>
          <p:cNvPr id="28" name="Image 3" descr="preencoded.png">    </p:cNvPr>
          <p:cNvPicPr>
            <a:picLocks noChangeAspect="1"/>
          </p:cNvPicPr>
          <p:nvPr/>
        </p:nvPicPr>
        <p:blipFill>
          <a:blip r:embed="rId4"/>
          <a:stretch>
            <a:fillRect/>
          </a:stretch>
        </p:blipFill>
        <p:spPr>
          <a:xfrm>
            <a:off x="9447581" y="2735885"/>
            <a:ext cx="380390" cy="380390"/>
          </a:xfrm>
          <a:prstGeom prst="rect">
            <a:avLst/>
          </a:prstGeom>
        </p:spPr>
      </p:pic>
      <p:sp>
        <p:nvSpPr>
          <p:cNvPr id="29" name="Text 23"/>
          <p:cNvSpPr txBox="1"/>
          <p:nvPr/>
        </p:nvSpPr>
        <p:spPr>
          <a:xfrm>
            <a:off x="9272016" y="3474720"/>
            <a:ext cx="2194560" cy="320040"/>
          </a:xfrm>
          <a:prstGeom prst="rect">
            <a:avLst/>
          </a:prstGeom>
          <a:noFill/>
          <a:ln/>
        </p:spPr>
        <p:txBody>
          <a:bodyPr wrap="square" lIns="0" tIns="0" rIns="0" bIns="0" rtlCol="0" anchor="t"/>
          <a:lstStyle/>
          <a:p>
            <a:pPr indent="0" marL="0">
              <a:buNone/>
            </a:pPr>
            <a:r>
              <a:rPr lang="en-US" sz="1300" b="1" spc="200" kern="0" dirty="0">
                <a:solidFill>
                  <a:srgbClr val="F59E0B"/>
                </a:solidFill>
                <a:latin typeface="Calibri" pitchFamily="34" charset="0"/>
                <a:ea typeface="Calibri" pitchFamily="34" charset="-122"/>
                <a:cs typeface="Calibri" pitchFamily="34" charset="-120"/>
              </a:rPr>
              <a:t>MONTH END</a:t>
            </a:r>
            <a:endParaRPr lang="en-US" sz="1300" dirty="0"/>
          </a:p>
        </p:txBody>
      </p:sp>
      <p:sp>
        <p:nvSpPr>
          <p:cNvPr id="30" name="Text 24"/>
          <p:cNvSpPr txBox="1"/>
          <p:nvPr/>
        </p:nvSpPr>
        <p:spPr>
          <a:xfrm>
            <a:off x="9272016" y="3840480"/>
            <a:ext cx="2148840" cy="73152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Sees her business</a:t>
            </a:r>
            <a:endParaRPr lang="en-US" sz="1800" dirty="0"/>
          </a:p>
        </p:txBody>
      </p:sp>
      <p:sp>
        <p:nvSpPr>
          <p:cNvPr id="31" name="Text 25"/>
          <p:cNvSpPr txBox="1"/>
          <p:nvPr/>
        </p:nvSpPr>
        <p:spPr>
          <a:xfrm>
            <a:off x="9272016" y="4617720"/>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What she sold, what she's owed, what she bought: her own record.</a:t>
            </a:r>
            <a:endParaRPr lang="en-US" sz="1350" dirty="0"/>
          </a:p>
        </p:txBody>
      </p:sp>
      <p:sp>
        <p:nvSpPr>
          <p:cNvPr id="32" name="Text 26"/>
          <p:cNvSpPr txBox="1"/>
          <p:nvPr/>
        </p:nvSpPr>
        <p:spPr>
          <a:xfrm>
            <a:off x="548640" y="5943600"/>
            <a:ext cx="10972800" cy="320040"/>
          </a:xfrm>
          <a:prstGeom prst="rect">
            <a:avLst/>
          </a:prstGeom>
          <a:noFill/>
          <a:ln/>
        </p:spPr>
        <p:txBody>
          <a:bodyPr wrap="square" lIns="0" tIns="0" rIns="0" bIns="0" rtlCol="0" anchor="t"/>
          <a:lstStyle/>
          <a:p>
            <a:pPr indent="0" marL="0">
              <a:buNone/>
            </a:pPr>
            <a:r>
              <a:rPr lang="en-US" sz="1400" i="1" dirty="0">
                <a:solidFill>
                  <a:srgbClr val="10B981"/>
                </a:solidFill>
                <a:latin typeface="Calibri" pitchFamily="34" charset="0"/>
                <a:ea typeface="Calibri" pitchFamily="34" charset="-122"/>
                <a:cs typeface="Calibri" pitchFamily="34" charset="-120"/>
              </a:rPr>
              <a:t>The same week works for a builder, a food seller, a mechanic, a salon.</a:t>
            </a:r>
            <a:endParaRPr lang="en-US" sz="1400" dirty="0"/>
          </a:p>
        </p:txBody>
      </p:sp>
      <p:pic>
        <p:nvPicPr>
          <p:cNvPr id="33" name="Image 4"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34" name="Text 2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WHO WINS</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Everyone gains. Suppliers pay.</a:t>
            </a:r>
            <a:endParaRPr lang="en-US" sz="3400" dirty="0"/>
          </a:p>
        </p:txBody>
      </p:sp>
      <p:sp>
        <p:nvSpPr>
          <p:cNvPr id="4" name="Shape 2"/>
          <p:cNvSpPr/>
          <p:nvPr/>
        </p:nvSpPr>
        <p:spPr>
          <a:xfrm>
            <a:off x="548640" y="1783080"/>
            <a:ext cx="3474720" cy="4206240"/>
          </a:xfrm>
          <a:prstGeom prst="roundRect">
            <a:avLst>
              <a:gd name="adj" fmla="val 3158"/>
            </a:avLst>
          </a:prstGeom>
          <a:solidFill>
            <a:srgbClr val="17223A"/>
          </a:solidFill>
          <a:ln w="12700">
            <a:solidFill>
              <a:srgbClr val="17223A"/>
            </a:solidFill>
            <a:prstDash val="solid"/>
          </a:ln>
        </p:spPr>
      </p:sp>
      <p:sp>
        <p:nvSpPr>
          <p:cNvPr id="5" name="Shape 3"/>
          <p:cNvSpPr/>
          <p:nvPr/>
        </p:nvSpPr>
        <p:spPr>
          <a:xfrm>
            <a:off x="868680" y="2057400"/>
            <a:ext cx="777240" cy="777240"/>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1055218" y="2243938"/>
            <a:ext cx="404165" cy="404165"/>
          </a:xfrm>
          <a:prstGeom prst="rect">
            <a:avLst/>
          </a:prstGeom>
        </p:spPr>
      </p:pic>
      <p:sp>
        <p:nvSpPr>
          <p:cNvPr id="7" name="Text 4"/>
          <p:cNvSpPr txBox="1"/>
          <p:nvPr/>
        </p:nvSpPr>
        <p:spPr>
          <a:xfrm>
            <a:off x="1828800" y="2103120"/>
            <a:ext cx="2103120" cy="411480"/>
          </a:xfrm>
          <a:prstGeom prst="rect">
            <a:avLst/>
          </a:prstGeom>
          <a:noFill/>
          <a:ln/>
        </p:spPr>
        <p:txBody>
          <a:bodyPr wrap="square" lIns="0" tIns="0" rIns="0" bIns="0" rtlCol="0" anchor="t"/>
          <a:lstStyle/>
          <a:p>
            <a:pPr indent="0" marL="0">
              <a:buNone/>
            </a:pPr>
            <a:r>
              <a:rPr lang="en-US" sz="2100" b="1" dirty="0">
                <a:solidFill>
                  <a:srgbClr val="10B981"/>
                </a:solidFill>
                <a:latin typeface="Calibri" pitchFamily="34" charset="0"/>
                <a:ea typeface="Calibri" pitchFamily="34" charset="-122"/>
                <a:cs typeface="Calibri" pitchFamily="34" charset="-120"/>
              </a:rPr>
              <a:t>Businesses</a:t>
            </a:r>
            <a:endParaRPr lang="en-US" sz="2100" dirty="0"/>
          </a:p>
        </p:txBody>
      </p:sp>
      <p:sp>
        <p:nvSpPr>
          <p:cNvPr id="8" name="Text 5"/>
          <p:cNvSpPr txBox="1"/>
          <p:nvPr/>
        </p:nvSpPr>
        <p:spPr>
          <a:xfrm>
            <a:off x="1828800" y="2532888"/>
            <a:ext cx="2103120" cy="36576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Use it free, always</a:t>
            </a:r>
            <a:endParaRPr lang="en-US" sz="1350" dirty="0"/>
          </a:p>
        </p:txBody>
      </p:sp>
      <p:sp>
        <p:nvSpPr>
          <p:cNvPr id="9" name="Text 6"/>
          <p:cNvSpPr txBox="1"/>
          <p:nvPr/>
        </p:nvSpPr>
        <p:spPr>
          <a:xfrm>
            <a:off x="868680" y="3291840"/>
            <a:ext cx="2926080" cy="25603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Less stress, less lost money</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Better buying from their own suppliers</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A record they own, for tomorrow</a:t>
            </a:r>
            <a:endParaRPr lang="en-US" sz="1600" dirty="0"/>
          </a:p>
        </p:txBody>
      </p:sp>
      <p:sp>
        <p:nvSpPr>
          <p:cNvPr id="10" name="Shape 7"/>
          <p:cNvSpPr/>
          <p:nvPr/>
        </p:nvSpPr>
        <p:spPr>
          <a:xfrm>
            <a:off x="4297680" y="1783080"/>
            <a:ext cx="3474720" cy="4206240"/>
          </a:xfrm>
          <a:prstGeom prst="roundRect">
            <a:avLst>
              <a:gd name="adj" fmla="val 3158"/>
            </a:avLst>
          </a:prstGeom>
          <a:solidFill>
            <a:srgbClr val="1E2B45"/>
          </a:solidFill>
          <a:ln w="12700">
            <a:solidFill>
              <a:srgbClr val="1E2B45"/>
            </a:solidFill>
            <a:prstDash val="solid"/>
          </a:ln>
        </p:spPr>
      </p:sp>
      <p:sp>
        <p:nvSpPr>
          <p:cNvPr id="11" name="Shape 8"/>
          <p:cNvSpPr/>
          <p:nvPr/>
        </p:nvSpPr>
        <p:spPr>
          <a:xfrm>
            <a:off x="4617720" y="2057400"/>
            <a:ext cx="777240" cy="777240"/>
          </a:xfrm>
          <a:prstGeom prst="ellipse">
            <a:avLst/>
          </a:prstGeom>
          <a:solidFill>
            <a:srgbClr val="1E2B45"/>
          </a:solidFill>
          <a:ln w="19050">
            <a:solidFill>
              <a:srgbClr val="FBBF24"/>
            </a:solidFill>
            <a:prstDash val="solid"/>
          </a:ln>
        </p:spPr>
      </p:sp>
      <p:pic>
        <p:nvPicPr>
          <p:cNvPr id="12" name="Image 1" descr="preencoded.png">    </p:cNvPr>
          <p:cNvPicPr>
            <a:picLocks noChangeAspect="1"/>
          </p:cNvPicPr>
          <p:nvPr/>
        </p:nvPicPr>
        <p:blipFill>
          <a:blip r:embed="rId2"/>
          <a:stretch>
            <a:fillRect/>
          </a:stretch>
        </p:blipFill>
        <p:spPr>
          <a:xfrm>
            <a:off x="4804258" y="2243938"/>
            <a:ext cx="404165" cy="404165"/>
          </a:xfrm>
          <a:prstGeom prst="rect">
            <a:avLst/>
          </a:prstGeom>
        </p:spPr>
      </p:pic>
      <p:sp>
        <p:nvSpPr>
          <p:cNvPr id="13" name="Text 9"/>
          <p:cNvSpPr txBox="1"/>
          <p:nvPr/>
        </p:nvSpPr>
        <p:spPr>
          <a:xfrm>
            <a:off x="5577840" y="2103120"/>
            <a:ext cx="2103120" cy="411480"/>
          </a:xfrm>
          <a:prstGeom prst="rect">
            <a:avLst/>
          </a:prstGeom>
          <a:noFill/>
          <a:ln/>
        </p:spPr>
        <p:txBody>
          <a:bodyPr wrap="square" lIns="0" tIns="0" rIns="0" bIns="0" rtlCol="0" anchor="t"/>
          <a:lstStyle/>
          <a:p>
            <a:pPr indent="0" marL="0">
              <a:buNone/>
            </a:pPr>
            <a:r>
              <a:rPr lang="en-US" sz="2100" b="1" dirty="0">
                <a:solidFill>
                  <a:srgbClr val="FBBF24"/>
                </a:solidFill>
                <a:latin typeface="Calibri" pitchFamily="34" charset="0"/>
                <a:ea typeface="Calibri" pitchFamily="34" charset="-122"/>
                <a:cs typeface="Calibri" pitchFamily="34" charset="-120"/>
              </a:rPr>
              <a:t>Suppliers</a:t>
            </a:r>
            <a:endParaRPr lang="en-US" sz="2100" dirty="0"/>
          </a:p>
        </p:txBody>
      </p:sp>
      <p:sp>
        <p:nvSpPr>
          <p:cNvPr id="14" name="Text 10"/>
          <p:cNvSpPr txBox="1"/>
          <p:nvPr/>
        </p:nvSpPr>
        <p:spPr>
          <a:xfrm>
            <a:off x="5577840" y="2532888"/>
            <a:ext cx="2103120" cy="36576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Our paying customers</a:t>
            </a:r>
            <a:endParaRPr lang="en-US" sz="1350" dirty="0"/>
          </a:p>
        </p:txBody>
      </p:sp>
      <p:sp>
        <p:nvSpPr>
          <p:cNvPr id="15" name="Text 11"/>
          <p:cNvSpPr txBox="1"/>
          <p:nvPr/>
        </p:nvSpPr>
        <p:spPr>
          <a:xfrm>
            <a:off x="4617720" y="3291840"/>
            <a:ext cx="2926080" cy="25603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More orders from shops they already serve</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No cash lost between driver and depot</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See what their customers will need</a:t>
            </a:r>
            <a:endParaRPr lang="en-US" sz="1600" dirty="0"/>
          </a:p>
        </p:txBody>
      </p:sp>
      <p:sp>
        <p:nvSpPr>
          <p:cNvPr id="16" name="Shape 12"/>
          <p:cNvSpPr/>
          <p:nvPr/>
        </p:nvSpPr>
        <p:spPr>
          <a:xfrm>
            <a:off x="8046720" y="1783080"/>
            <a:ext cx="3474720" cy="4206240"/>
          </a:xfrm>
          <a:prstGeom prst="roundRect">
            <a:avLst>
              <a:gd name="adj" fmla="val 3158"/>
            </a:avLst>
          </a:prstGeom>
          <a:solidFill>
            <a:srgbClr val="17223A"/>
          </a:solidFill>
          <a:ln w="12700">
            <a:solidFill>
              <a:srgbClr val="17223A"/>
            </a:solidFill>
            <a:prstDash val="solid"/>
          </a:ln>
        </p:spPr>
      </p:sp>
      <p:sp>
        <p:nvSpPr>
          <p:cNvPr id="17" name="Shape 13"/>
          <p:cNvSpPr/>
          <p:nvPr/>
        </p:nvSpPr>
        <p:spPr>
          <a:xfrm>
            <a:off x="8366760" y="2057400"/>
            <a:ext cx="777240" cy="777240"/>
          </a:xfrm>
          <a:prstGeom prst="ellipse">
            <a:avLst/>
          </a:prstGeom>
          <a:solidFill>
            <a:srgbClr val="1E2B45"/>
          </a:solidFill>
          <a:ln w="19050">
            <a:solidFill>
              <a:srgbClr val="34D399"/>
            </a:solidFill>
            <a:prstDash val="solid"/>
          </a:ln>
        </p:spPr>
      </p:sp>
      <p:pic>
        <p:nvPicPr>
          <p:cNvPr id="18" name="Image 2" descr="preencoded.png">    </p:cNvPr>
          <p:cNvPicPr>
            <a:picLocks noChangeAspect="1"/>
          </p:cNvPicPr>
          <p:nvPr/>
        </p:nvPicPr>
        <p:blipFill>
          <a:blip r:embed="rId3"/>
          <a:stretch>
            <a:fillRect/>
          </a:stretch>
        </p:blipFill>
        <p:spPr>
          <a:xfrm>
            <a:off x="8553298" y="2243938"/>
            <a:ext cx="404165" cy="404165"/>
          </a:xfrm>
          <a:prstGeom prst="rect">
            <a:avLst/>
          </a:prstGeom>
        </p:spPr>
      </p:pic>
      <p:sp>
        <p:nvSpPr>
          <p:cNvPr id="19" name="Text 14"/>
          <p:cNvSpPr txBox="1"/>
          <p:nvPr/>
        </p:nvSpPr>
        <p:spPr>
          <a:xfrm>
            <a:off x="9326880" y="2103120"/>
            <a:ext cx="2103120" cy="411480"/>
          </a:xfrm>
          <a:prstGeom prst="rect">
            <a:avLst/>
          </a:prstGeom>
          <a:noFill/>
          <a:ln/>
        </p:spPr>
        <p:txBody>
          <a:bodyPr wrap="square" lIns="0" tIns="0" rIns="0" bIns="0" rtlCol="0" anchor="t"/>
          <a:lstStyle/>
          <a:p>
            <a:pPr indent="0" marL="0">
              <a:buNone/>
            </a:pPr>
            <a:r>
              <a:rPr lang="en-US" sz="2100" b="1" dirty="0">
                <a:solidFill>
                  <a:srgbClr val="34D399"/>
                </a:solidFill>
                <a:latin typeface="Calibri" pitchFamily="34" charset="0"/>
                <a:ea typeface="Calibri" pitchFamily="34" charset="-122"/>
                <a:cs typeface="Calibri" pitchFamily="34" charset="-120"/>
              </a:rPr>
              <a:t>Partners</a:t>
            </a:r>
            <a:endParaRPr lang="en-US" sz="2100" dirty="0"/>
          </a:p>
        </p:txBody>
      </p:sp>
      <p:sp>
        <p:nvSpPr>
          <p:cNvPr id="20" name="Text 15"/>
          <p:cNvSpPr txBox="1"/>
          <p:nvPr/>
        </p:nvSpPr>
        <p:spPr>
          <a:xfrm>
            <a:off x="9326880" y="2532888"/>
            <a:ext cx="2103120" cy="36576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Next: banks, funds, government</a:t>
            </a:r>
            <a:endParaRPr lang="en-US" sz="1350" dirty="0"/>
          </a:p>
        </p:txBody>
      </p:sp>
      <p:sp>
        <p:nvSpPr>
          <p:cNvPr id="21" name="Text 16"/>
          <p:cNvSpPr txBox="1"/>
          <p:nvPr/>
        </p:nvSpPr>
        <p:spPr>
          <a:xfrm>
            <a:off x="8366760" y="3291840"/>
            <a:ext cx="2926080" cy="25603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Businesses they can finally see</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Shared only with the owner's consent</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Faster, fairer verification</a:t>
            </a:r>
            <a:endParaRPr lang="en-US" sz="1600" dirty="0"/>
          </a:p>
        </p:txBody>
      </p:sp>
      <p:pic>
        <p:nvPicPr>
          <p:cNvPr id="22" name="Image 3" descr="preencoded.png">    </p:cNvPr>
          <p:cNvPicPr>
            <a:picLocks noChangeAspect="1"/>
          </p:cNvPicPr>
          <p:nvPr/>
        </p:nvPicPr>
        <p:blipFill>
          <a:blip r:embed="rId4"/>
          <a:stretch>
            <a:fillRect/>
          </a:stretch>
        </p:blipFill>
        <p:spPr>
          <a:xfrm>
            <a:off x="11231575" y="6291072"/>
            <a:ext cx="384048" cy="384048"/>
          </a:xfrm>
          <a:prstGeom prst="rect">
            <a:avLst/>
          </a:prstGeom>
        </p:spPr>
      </p:pic>
      <p:sp>
        <p:nvSpPr>
          <p:cNvPr id="23" name="Text 1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THE OPPORTUNITY</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Start where the money already moves</a:t>
            </a:r>
            <a:endParaRPr lang="en-US" sz="3400" dirty="0"/>
          </a:p>
        </p:txBody>
      </p:sp>
      <p:sp>
        <p:nvSpPr>
          <p:cNvPr id="4" name="Shape 2"/>
          <p:cNvSpPr/>
          <p:nvPr/>
        </p:nvSpPr>
        <p:spPr>
          <a:xfrm>
            <a:off x="548640" y="1783080"/>
            <a:ext cx="4206240" cy="4206240"/>
          </a:xfrm>
          <a:prstGeom prst="ellipse">
            <a:avLst/>
          </a:prstGeom>
          <a:solidFill>
            <a:srgbClr val="17223A"/>
          </a:solidFill>
          <a:ln w="19050">
            <a:solidFill>
              <a:srgbClr val="64748B"/>
            </a:solidFill>
            <a:prstDash val="solid"/>
          </a:ln>
        </p:spPr>
      </p:sp>
      <p:sp>
        <p:nvSpPr>
          <p:cNvPr id="5" name="Shape 3"/>
          <p:cNvSpPr/>
          <p:nvPr/>
        </p:nvSpPr>
        <p:spPr>
          <a:xfrm>
            <a:off x="1188720" y="2651760"/>
            <a:ext cx="2926080" cy="2926080"/>
          </a:xfrm>
          <a:prstGeom prst="ellipse">
            <a:avLst/>
          </a:prstGeom>
          <a:solidFill>
            <a:srgbClr val="1E2B45"/>
          </a:solidFill>
          <a:ln w="19050">
            <a:solidFill>
              <a:srgbClr val="F59E0B"/>
            </a:solidFill>
            <a:prstDash val="solid"/>
          </a:ln>
        </p:spPr>
      </p:sp>
      <p:sp>
        <p:nvSpPr>
          <p:cNvPr id="6" name="Shape 4"/>
          <p:cNvSpPr/>
          <p:nvPr/>
        </p:nvSpPr>
        <p:spPr>
          <a:xfrm>
            <a:off x="1783080" y="3474720"/>
            <a:ext cx="1737360" cy="1737360"/>
          </a:xfrm>
          <a:prstGeom prst="ellipse">
            <a:avLst/>
          </a:prstGeom>
          <a:solidFill>
            <a:srgbClr val="10B981"/>
          </a:solidFill>
          <a:ln w="19050">
            <a:solidFill>
              <a:srgbClr val="10B981"/>
            </a:solidFill>
            <a:prstDash val="solid"/>
          </a:ln>
        </p:spPr>
      </p:sp>
      <p:sp>
        <p:nvSpPr>
          <p:cNvPr id="7" name="Text 5"/>
          <p:cNvSpPr txBox="1"/>
          <p:nvPr/>
        </p:nvSpPr>
        <p:spPr>
          <a:xfrm>
            <a:off x="548640" y="2011680"/>
            <a:ext cx="4206240" cy="457200"/>
          </a:xfrm>
          <a:prstGeom prst="rect">
            <a:avLst/>
          </a:prstGeom>
          <a:noFill/>
          <a:ln/>
        </p:spPr>
        <p:txBody>
          <a:bodyPr wrap="square" lIns="0" tIns="0" rIns="0" bIns="0" rtlCol="0" anchor="t"/>
          <a:lstStyle/>
          <a:p>
            <a:pPr algn="ctr" indent="0" marL="0">
              <a:buNone/>
            </a:pPr>
            <a:r>
              <a:rPr lang="en-US" sz="2200" b="1" dirty="0">
                <a:solidFill>
                  <a:srgbClr val="A3B3C9"/>
                </a:solidFill>
                <a:latin typeface="Georgia" pitchFamily="34" charset="0"/>
                <a:ea typeface="Georgia" pitchFamily="34" charset="-122"/>
                <a:cs typeface="Georgia" pitchFamily="34" charset="-120"/>
              </a:rPr>
              <a:t>R900 bn</a:t>
            </a:r>
            <a:endParaRPr lang="en-US" sz="2200" dirty="0"/>
          </a:p>
        </p:txBody>
      </p:sp>
      <p:sp>
        <p:nvSpPr>
          <p:cNvPr id="8" name="Text 6"/>
          <p:cNvSpPr txBox="1"/>
          <p:nvPr/>
        </p:nvSpPr>
        <p:spPr>
          <a:xfrm>
            <a:off x="1188720" y="2880360"/>
            <a:ext cx="2926080" cy="457200"/>
          </a:xfrm>
          <a:prstGeom prst="rect">
            <a:avLst/>
          </a:prstGeom>
          <a:noFill/>
          <a:ln/>
        </p:spPr>
        <p:txBody>
          <a:bodyPr wrap="square" lIns="0" tIns="0" rIns="0" bIns="0" rtlCol="0" anchor="t"/>
          <a:lstStyle/>
          <a:p>
            <a:pPr algn="ctr" indent="0" marL="0">
              <a:buNone/>
            </a:pPr>
            <a:r>
              <a:rPr lang="en-US" sz="2000" b="1" dirty="0">
                <a:solidFill>
                  <a:srgbClr val="FBBF24"/>
                </a:solidFill>
                <a:latin typeface="Georgia" pitchFamily="34" charset="0"/>
                <a:ea typeface="Georgia" pitchFamily="34" charset="-122"/>
                <a:cs typeface="Georgia" pitchFamily="34" charset="-120"/>
              </a:rPr>
              <a:t>R180 bn</a:t>
            </a:r>
            <a:endParaRPr lang="en-US" sz="2000" dirty="0"/>
          </a:p>
        </p:txBody>
      </p:sp>
      <p:sp>
        <p:nvSpPr>
          <p:cNvPr id="9" name="Text 7"/>
          <p:cNvSpPr txBox="1"/>
          <p:nvPr/>
        </p:nvSpPr>
        <p:spPr>
          <a:xfrm>
            <a:off x="1783080" y="4114800"/>
            <a:ext cx="1737360" cy="457200"/>
          </a:xfrm>
          <a:prstGeom prst="rect">
            <a:avLst/>
          </a:prstGeom>
          <a:noFill/>
          <a:ln/>
        </p:spPr>
        <p:txBody>
          <a:bodyPr wrap="square" lIns="0" tIns="0" rIns="0" bIns="0" rtlCol="0" anchor="t"/>
          <a:lstStyle/>
          <a:p>
            <a:pPr algn="ctr" indent="0" marL="0">
              <a:buNone/>
            </a:pPr>
            <a:r>
              <a:rPr lang="en-US" sz="2000" b="1" dirty="0">
                <a:solidFill>
                  <a:srgbClr val="0F172A"/>
                </a:solidFill>
                <a:latin typeface="Georgia" pitchFamily="34" charset="0"/>
                <a:ea typeface="Georgia" pitchFamily="34" charset="-122"/>
                <a:cs typeface="Georgia" pitchFamily="34" charset="-120"/>
              </a:rPr>
              <a:t>20,000</a:t>
            </a:r>
            <a:endParaRPr lang="en-US" sz="2000" dirty="0"/>
          </a:p>
        </p:txBody>
      </p:sp>
      <p:sp>
        <p:nvSpPr>
          <p:cNvPr id="10" name="Text 8"/>
          <p:cNvSpPr txBox="1"/>
          <p:nvPr/>
        </p:nvSpPr>
        <p:spPr>
          <a:xfrm>
            <a:off x="5394960" y="1874520"/>
            <a:ext cx="2011680" cy="548640"/>
          </a:xfrm>
          <a:prstGeom prst="rect">
            <a:avLst/>
          </a:prstGeom>
          <a:noFill/>
          <a:ln/>
        </p:spPr>
        <p:txBody>
          <a:bodyPr wrap="square" lIns="0" tIns="0" rIns="0" bIns="0" rtlCol="0" anchor="t"/>
          <a:lstStyle/>
          <a:p>
            <a:pPr indent="0" marL="0">
              <a:buNone/>
            </a:pPr>
            <a:r>
              <a:rPr lang="en-US" sz="2800" b="1" dirty="0">
                <a:solidFill>
                  <a:srgbClr val="A3B3C9"/>
                </a:solidFill>
                <a:latin typeface="Georgia" pitchFamily="34" charset="0"/>
                <a:ea typeface="Georgia" pitchFamily="34" charset="-122"/>
                <a:cs typeface="Georgia" pitchFamily="34" charset="-120"/>
              </a:rPr>
              <a:t>R900 bn</a:t>
            </a:r>
            <a:endParaRPr lang="en-US" sz="2800" dirty="0"/>
          </a:p>
        </p:txBody>
      </p:sp>
      <p:sp>
        <p:nvSpPr>
          <p:cNvPr id="11" name="Text 9"/>
          <p:cNvSpPr txBox="1"/>
          <p:nvPr/>
        </p:nvSpPr>
        <p:spPr>
          <a:xfrm>
            <a:off x="7452360" y="1920240"/>
            <a:ext cx="4160520" cy="10972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The township economy a year: every informal and small business we can serve.</a:t>
            </a:r>
            <a:endParaRPr lang="en-US" sz="1600" dirty="0"/>
          </a:p>
        </p:txBody>
      </p:sp>
      <p:sp>
        <p:nvSpPr>
          <p:cNvPr id="12" name="Text 10"/>
          <p:cNvSpPr txBox="1"/>
          <p:nvPr/>
        </p:nvSpPr>
        <p:spPr>
          <a:xfrm>
            <a:off x="5394960" y="3246120"/>
            <a:ext cx="2011680" cy="548640"/>
          </a:xfrm>
          <a:prstGeom prst="rect">
            <a:avLst/>
          </a:prstGeom>
          <a:noFill/>
          <a:ln/>
        </p:spPr>
        <p:txBody>
          <a:bodyPr wrap="square" lIns="0" tIns="0" rIns="0" bIns="0" rtlCol="0" anchor="t"/>
          <a:lstStyle/>
          <a:p>
            <a:pPr indent="0" marL="0">
              <a:buNone/>
            </a:pPr>
            <a:r>
              <a:rPr lang="en-US" sz="2800" b="1" dirty="0">
                <a:solidFill>
                  <a:srgbClr val="FBBF24"/>
                </a:solidFill>
                <a:latin typeface="Georgia" pitchFamily="34" charset="0"/>
                <a:ea typeface="Georgia" pitchFamily="34" charset="-122"/>
                <a:cs typeface="Georgia" pitchFamily="34" charset="-120"/>
              </a:rPr>
              <a:t>R180 bn</a:t>
            </a:r>
            <a:endParaRPr lang="en-US" sz="2800" dirty="0"/>
          </a:p>
        </p:txBody>
      </p:sp>
      <p:sp>
        <p:nvSpPr>
          <p:cNvPr id="13" name="Text 11"/>
          <p:cNvSpPr txBox="1"/>
          <p:nvPr/>
        </p:nvSpPr>
        <p:spPr>
          <a:xfrm>
            <a:off x="7452360" y="3291840"/>
            <a:ext cx="4160520" cy="10972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Moves through spaza shops alone every year: one segment, already buying from suppliers every week.</a:t>
            </a:r>
            <a:endParaRPr lang="en-US" sz="1600" dirty="0"/>
          </a:p>
        </p:txBody>
      </p:sp>
      <p:sp>
        <p:nvSpPr>
          <p:cNvPr id="14" name="Text 12"/>
          <p:cNvSpPr txBox="1"/>
          <p:nvPr/>
        </p:nvSpPr>
        <p:spPr>
          <a:xfrm>
            <a:off x="5394960" y="4617720"/>
            <a:ext cx="2011680" cy="548640"/>
          </a:xfrm>
          <a:prstGeom prst="rect">
            <a:avLst/>
          </a:prstGeom>
          <a:noFill/>
          <a:ln/>
        </p:spPr>
        <p:txBody>
          <a:bodyPr wrap="square" lIns="0" tIns="0" rIns="0" bIns="0" rtlCol="0" anchor="t"/>
          <a:lstStyle/>
          <a:p>
            <a:pPr indent="0" marL="0">
              <a:buNone/>
            </a:pPr>
            <a:r>
              <a:rPr lang="en-US" sz="2800" b="1" dirty="0">
                <a:solidFill>
                  <a:srgbClr val="34D399"/>
                </a:solidFill>
                <a:latin typeface="Georgia" pitchFamily="34" charset="0"/>
                <a:ea typeface="Georgia" pitchFamily="34" charset="-122"/>
                <a:cs typeface="Georgia" pitchFamily="34" charset="-120"/>
              </a:rPr>
              <a:t>20,000</a:t>
            </a:r>
            <a:endParaRPr lang="en-US" sz="2800" dirty="0"/>
          </a:p>
        </p:txBody>
      </p:sp>
      <p:sp>
        <p:nvSpPr>
          <p:cNvPr id="15" name="Text 13"/>
          <p:cNvSpPr txBox="1"/>
          <p:nvPr/>
        </p:nvSpPr>
        <p:spPr>
          <a:xfrm>
            <a:off x="7452360" y="4663440"/>
            <a:ext cx="4160520" cy="10972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Businesses and 200 paying suppliers by year 3: about R13 million a year in revenue.</a:t>
            </a:r>
            <a:endParaRPr lang="en-US" sz="1600" dirty="0"/>
          </a:p>
        </p:txBody>
      </p:sp>
      <p:pic>
        <p:nvPicPr>
          <p:cNvPr id="16"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17" name="Text 14"/>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8</a:t>
            </a:r>
            <a:endParaRPr lang="en-US" sz="1000" dirty="0"/>
          </a:p>
        </p:txBody>
      </p:sp>
      <p:sp>
        <p:nvSpPr>
          <p:cNvPr id="18" name="Text 15"/>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2025 (economy size; spaza segment ~R180 bn a year). Year-3 figures are our estimates.</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WHY SOUTH AFRICA FIRST</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We know this market from the inside</a:t>
            </a:r>
            <a:endParaRPr lang="en-US" sz="3400" dirty="0"/>
          </a:p>
        </p:txBody>
      </p:sp>
      <p:sp>
        <p:nvSpPr>
          <p:cNvPr id="4" name="Shape 2"/>
          <p:cNvSpPr/>
          <p:nvPr/>
        </p:nvSpPr>
        <p:spPr>
          <a:xfrm>
            <a:off x="548640" y="1828800"/>
            <a:ext cx="5349240" cy="1874520"/>
          </a:xfrm>
          <a:prstGeom prst="roundRect">
            <a:avLst>
              <a:gd name="adj" fmla="val 5854"/>
            </a:avLst>
          </a:prstGeom>
          <a:solidFill>
            <a:srgbClr val="17223A"/>
          </a:solidFill>
          <a:ln w="12700">
            <a:solidFill>
              <a:srgbClr val="17223A"/>
            </a:solidFill>
            <a:prstDash val="solid"/>
          </a:ln>
        </p:spPr>
      </p:sp>
      <p:sp>
        <p:nvSpPr>
          <p:cNvPr id="5" name="Shape 3"/>
          <p:cNvSpPr/>
          <p:nvPr/>
        </p:nvSpPr>
        <p:spPr>
          <a:xfrm>
            <a:off x="822960" y="2121408"/>
            <a:ext cx="731520" cy="731520"/>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998525" y="2296973"/>
            <a:ext cx="380390" cy="380390"/>
          </a:xfrm>
          <a:prstGeom prst="rect">
            <a:avLst/>
          </a:prstGeom>
        </p:spPr>
      </p:pic>
      <p:sp>
        <p:nvSpPr>
          <p:cNvPr id="7" name="Text 4"/>
          <p:cNvSpPr txBox="1"/>
          <p:nvPr/>
        </p:nvSpPr>
        <p:spPr>
          <a:xfrm>
            <a:off x="1783080" y="2121408"/>
            <a:ext cx="384048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We live it</a:t>
            </a:r>
            <a:endParaRPr lang="en-US" sz="2000" dirty="0"/>
          </a:p>
        </p:txBody>
      </p:sp>
      <p:sp>
        <p:nvSpPr>
          <p:cNvPr id="8" name="Text 5"/>
          <p:cNvSpPr txBox="1"/>
          <p:nvPr/>
        </p:nvSpPr>
        <p:spPr>
          <a:xfrm>
            <a:off x="1783080" y="2606040"/>
            <a:ext cx="3886200" cy="100584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We grew up in these communities. We know how a business restocks, gives credit and gets paid.</a:t>
            </a:r>
            <a:endParaRPr lang="en-US" sz="1500" dirty="0"/>
          </a:p>
        </p:txBody>
      </p:sp>
      <p:sp>
        <p:nvSpPr>
          <p:cNvPr id="9" name="Shape 6"/>
          <p:cNvSpPr/>
          <p:nvPr/>
        </p:nvSpPr>
        <p:spPr>
          <a:xfrm>
            <a:off x="6172200" y="1828800"/>
            <a:ext cx="5349240" cy="1874520"/>
          </a:xfrm>
          <a:prstGeom prst="roundRect">
            <a:avLst>
              <a:gd name="adj" fmla="val 5854"/>
            </a:avLst>
          </a:prstGeom>
          <a:solidFill>
            <a:srgbClr val="17223A"/>
          </a:solidFill>
          <a:ln w="12700">
            <a:solidFill>
              <a:srgbClr val="17223A"/>
            </a:solidFill>
            <a:prstDash val="solid"/>
          </a:ln>
        </p:spPr>
      </p:sp>
      <p:sp>
        <p:nvSpPr>
          <p:cNvPr id="10" name="Shape 7"/>
          <p:cNvSpPr/>
          <p:nvPr/>
        </p:nvSpPr>
        <p:spPr>
          <a:xfrm>
            <a:off x="6446520" y="2121408"/>
            <a:ext cx="731520" cy="731520"/>
          </a:xfrm>
          <a:prstGeom prst="ellipse">
            <a:avLst/>
          </a:prstGeom>
          <a:solidFill>
            <a:srgbClr val="1E2B45"/>
          </a:solidFill>
          <a:ln w="19050">
            <a:solidFill>
              <a:srgbClr val="10B981"/>
            </a:solidFill>
            <a:prstDash val="solid"/>
          </a:ln>
        </p:spPr>
      </p:sp>
      <p:pic>
        <p:nvPicPr>
          <p:cNvPr id="11" name="Image 1" descr="preencoded.png">    </p:cNvPr>
          <p:cNvPicPr>
            <a:picLocks noChangeAspect="1"/>
          </p:cNvPicPr>
          <p:nvPr/>
        </p:nvPicPr>
        <p:blipFill>
          <a:blip r:embed="rId2"/>
          <a:stretch>
            <a:fillRect/>
          </a:stretch>
        </p:blipFill>
        <p:spPr>
          <a:xfrm>
            <a:off x="6622085" y="2296973"/>
            <a:ext cx="380390" cy="380390"/>
          </a:xfrm>
          <a:prstGeom prst="rect">
            <a:avLst/>
          </a:prstGeom>
        </p:spPr>
      </p:pic>
      <p:sp>
        <p:nvSpPr>
          <p:cNvPr id="12" name="Text 8"/>
          <p:cNvSpPr txBox="1"/>
          <p:nvPr/>
        </p:nvSpPr>
        <p:spPr>
          <a:xfrm>
            <a:off x="7406640" y="2121408"/>
            <a:ext cx="384048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Big and dense</a:t>
            </a:r>
            <a:endParaRPr lang="en-US" sz="2000" dirty="0"/>
          </a:p>
        </p:txBody>
      </p:sp>
      <p:sp>
        <p:nvSpPr>
          <p:cNvPr id="13" name="Text 9"/>
          <p:cNvSpPr txBox="1"/>
          <p:nvPr/>
        </p:nvSpPr>
        <p:spPr>
          <a:xfrm>
            <a:off x="7406640" y="2606040"/>
            <a:ext cx="3886200" cy="100584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R900 bn, in every province. One supplier serves hundreds of businesses on the same route.</a:t>
            </a:r>
            <a:endParaRPr lang="en-US" sz="1500" dirty="0"/>
          </a:p>
        </p:txBody>
      </p:sp>
      <p:sp>
        <p:nvSpPr>
          <p:cNvPr id="14" name="Shape 10"/>
          <p:cNvSpPr/>
          <p:nvPr/>
        </p:nvSpPr>
        <p:spPr>
          <a:xfrm>
            <a:off x="548640" y="3931920"/>
            <a:ext cx="5349240" cy="1874520"/>
          </a:xfrm>
          <a:prstGeom prst="roundRect">
            <a:avLst>
              <a:gd name="adj" fmla="val 5854"/>
            </a:avLst>
          </a:prstGeom>
          <a:solidFill>
            <a:srgbClr val="17223A"/>
          </a:solidFill>
          <a:ln w="12700">
            <a:solidFill>
              <a:srgbClr val="17223A"/>
            </a:solidFill>
            <a:prstDash val="solid"/>
          </a:ln>
        </p:spPr>
      </p:sp>
      <p:sp>
        <p:nvSpPr>
          <p:cNvPr id="15" name="Shape 11"/>
          <p:cNvSpPr/>
          <p:nvPr/>
        </p:nvSpPr>
        <p:spPr>
          <a:xfrm>
            <a:off x="822960" y="4224528"/>
            <a:ext cx="731520" cy="731520"/>
          </a:xfrm>
          <a:prstGeom prst="ellipse">
            <a:avLst/>
          </a:prstGeom>
          <a:solidFill>
            <a:srgbClr val="1E2B45"/>
          </a:solidFill>
          <a:ln w="19050">
            <a:solidFill>
              <a:srgbClr val="10B981"/>
            </a:solidFill>
            <a:prstDash val="solid"/>
          </a:ln>
        </p:spPr>
      </p:sp>
      <p:pic>
        <p:nvPicPr>
          <p:cNvPr id="16" name="Image 2" descr="preencoded.png">    </p:cNvPr>
          <p:cNvPicPr>
            <a:picLocks noChangeAspect="1"/>
          </p:cNvPicPr>
          <p:nvPr/>
        </p:nvPicPr>
        <p:blipFill>
          <a:blip r:embed="rId3"/>
          <a:stretch>
            <a:fillRect/>
          </a:stretch>
        </p:blipFill>
        <p:spPr>
          <a:xfrm>
            <a:off x="998525" y="4400093"/>
            <a:ext cx="380390" cy="380390"/>
          </a:xfrm>
          <a:prstGeom prst="rect">
            <a:avLst/>
          </a:prstGeom>
        </p:spPr>
      </p:pic>
      <p:sp>
        <p:nvSpPr>
          <p:cNvPr id="17" name="Text 12"/>
          <p:cNvSpPr txBox="1"/>
          <p:nvPr/>
        </p:nvSpPr>
        <p:spPr>
          <a:xfrm>
            <a:off x="1783080" y="4224528"/>
            <a:ext cx="384048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Ready for digital</a:t>
            </a:r>
            <a:endParaRPr lang="en-US" sz="2000" dirty="0"/>
          </a:p>
        </p:txBody>
      </p:sp>
      <p:sp>
        <p:nvSpPr>
          <p:cNvPr id="18" name="Text 13"/>
          <p:cNvSpPr txBox="1"/>
          <p:nvPr/>
        </p:nvSpPr>
        <p:spPr>
          <a:xfrm>
            <a:off x="1783080" y="4709160"/>
            <a:ext cx="3886200" cy="100584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56% already prefer EFT. Local payment rails and cheap Android phones are everywhere.</a:t>
            </a:r>
            <a:endParaRPr lang="en-US" sz="1500" dirty="0"/>
          </a:p>
        </p:txBody>
      </p:sp>
      <p:sp>
        <p:nvSpPr>
          <p:cNvPr id="19" name="Shape 14"/>
          <p:cNvSpPr/>
          <p:nvPr/>
        </p:nvSpPr>
        <p:spPr>
          <a:xfrm>
            <a:off x="6172200" y="3931920"/>
            <a:ext cx="5349240" cy="1874520"/>
          </a:xfrm>
          <a:prstGeom prst="roundRect">
            <a:avLst>
              <a:gd name="adj" fmla="val 5854"/>
            </a:avLst>
          </a:prstGeom>
          <a:solidFill>
            <a:srgbClr val="17223A"/>
          </a:solidFill>
          <a:ln w="12700">
            <a:solidFill>
              <a:srgbClr val="17223A"/>
            </a:solidFill>
            <a:prstDash val="solid"/>
          </a:ln>
        </p:spPr>
      </p:sp>
      <p:sp>
        <p:nvSpPr>
          <p:cNvPr id="20" name="Shape 15"/>
          <p:cNvSpPr/>
          <p:nvPr/>
        </p:nvSpPr>
        <p:spPr>
          <a:xfrm>
            <a:off x="6446520" y="4224528"/>
            <a:ext cx="731520" cy="731520"/>
          </a:xfrm>
          <a:prstGeom prst="ellipse">
            <a:avLst/>
          </a:prstGeom>
          <a:solidFill>
            <a:srgbClr val="1E2B45"/>
          </a:solidFill>
          <a:ln w="19050">
            <a:solidFill>
              <a:srgbClr val="FBBF24"/>
            </a:solidFill>
            <a:prstDash val="solid"/>
          </a:ln>
        </p:spPr>
      </p:sp>
      <p:pic>
        <p:nvPicPr>
          <p:cNvPr id="21" name="Image 3" descr="preencoded.png">    </p:cNvPr>
          <p:cNvPicPr>
            <a:picLocks noChangeAspect="1"/>
          </p:cNvPicPr>
          <p:nvPr/>
        </p:nvPicPr>
        <p:blipFill>
          <a:blip r:embed="rId4"/>
          <a:stretch>
            <a:fillRect/>
          </a:stretch>
        </p:blipFill>
        <p:spPr>
          <a:xfrm>
            <a:off x="6622085" y="4400093"/>
            <a:ext cx="380390" cy="380390"/>
          </a:xfrm>
          <a:prstGeom prst="rect">
            <a:avLst/>
          </a:prstGeom>
        </p:spPr>
      </p:pic>
      <p:sp>
        <p:nvSpPr>
          <p:cNvPr id="22" name="Text 16"/>
          <p:cNvSpPr txBox="1"/>
          <p:nvPr/>
        </p:nvSpPr>
        <p:spPr>
          <a:xfrm>
            <a:off x="7406640" y="4224528"/>
            <a:ext cx="384048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Clear rules</a:t>
            </a:r>
            <a:endParaRPr lang="en-US" sz="2000" dirty="0"/>
          </a:p>
        </p:txBody>
      </p:sp>
      <p:sp>
        <p:nvSpPr>
          <p:cNvPr id="23" name="Text 17"/>
          <p:cNvSpPr txBox="1"/>
          <p:nvPr/>
        </p:nvSpPr>
        <p:spPr>
          <a:xfrm>
            <a:off x="7406640" y="4709160"/>
            <a:ext cx="3886200" cy="100584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POPIA, CIPC, VAT invoicing: we built to them from day one. Then: the rest of Africa.</a:t>
            </a:r>
            <a:endParaRPr lang="en-US" sz="1500" dirty="0"/>
          </a:p>
        </p:txBody>
      </p:sp>
      <p:pic>
        <p:nvPicPr>
          <p:cNvPr id="24" name="Image 4"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25" name="Text 18"/>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9</a:t>
            </a:r>
            <a:endParaRPr lang="en-US" sz="1000" dirty="0"/>
          </a:p>
        </p:txBody>
      </p:sp>
      <p:sp>
        <p:nvSpPr>
          <p:cNvPr id="26" name="Text 19"/>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2025 (56% prefer EFT or bank transfer).</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DON'T TAKE OUR WORD FOR IT</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See it working</a:t>
            </a:r>
            <a:endParaRPr lang="en-US" sz="3400" dirty="0"/>
          </a:p>
        </p:txBody>
      </p:sp>
      <p:sp>
        <p:nvSpPr>
          <p:cNvPr id="4" name="Shape 2"/>
          <p:cNvSpPr/>
          <p:nvPr/>
        </p:nvSpPr>
        <p:spPr>
          <a:xfrm>
            <a:off x="548640" y="1783080"/>
            <a:ext cx="7315200" cy="4160520"/>
          </a:xfrm>
          <a:prstGeom prst="roundRect">
            <a:avLst>
              <a:gd name="adj" fmla="val 2637"/>
            </a:avLst>
          </a:prstGeom>
          <a:solidFill>
            <a:srgbClr val="1E2B45"/>
          </a:solidFill>
          <a:ln w="12700">
            <a:solidFill>
              <a:srgbClr val="1E2B45"/>
            </a:solidFill>
            <a:prstDash val="solid"/>
          </a:ln>
        </p:spPr>
      </p:sp>
      <p:sp>
        <p:nvSpPr>
          <p:cNvPr id="5" name="Shape 3"/>
          <p:cNvSpPr/>
          <p:nvPr/>
        </p:nvSpPr>
        <p:spPr>
          <a:xfrm>
            <a:off x="3520440" y="2926080"/>
            <a:ext cx="1371600" cy="1371600"/>
          </a:xfrm>
          <a:prstGeom prst="ellipse">
            <a:avLst/>
          </a:prstGeom>
          <a:solidFill>
            <a:srgbClr val="1E2B45"/>
          </a:solidFill>
          <a:ln w="19050">
            <a:solidFill>
              <a:srgbClr val="FBBF24"/>
            </a:solidFill>
            <a:prstDash val="solid"/>
          </a:ln>
        </p:spPr>
      </p:sp>
      <p:pic>
        <p:nvPicPr>
          <p:cNvPr id="6" name="Image 0" descr="preencoded.png">    </p:cNvPr>
          <p:cNvPicPr>
            <a:picLocks noChangeAspect="1"/>
          </p:cNvPicPr>
          <p:nvPr/>
        </p:nvPicPr>
        <p:blipFill>
          <a:blip r:embed="rId1"/>
          <a:stretch>
            <a:fillRect/>
          </a:stretch>
        </p:blipFill>
        <p:spPr>
          <a:xfrm>
            <a:off x="3849624" y="3255264"/>
            <a:ext cx="713232" cy="713232"/>
          </a:xfrm>
          <a:prstGeom prst="rect">
            <a:avLst/>
          </a:prstGeom>
        </p:spPr>
      </p:pic>
      <p:sp>
        <p:nvSpPr>
          <p:cNvPr id="7" name="Text 4"/>
          <p:cNvSpPr txBox="1"/>
          <p:nvPr/>
        </p:nvSpPr>
        <p:spPr>
          <a:xfrm>
            <a:off x="548640" y="4526280"/>
            <a:ext cx="7315200" cy="411480"/>
          </a:xfrm>
          <a:prstGeom prst="rect">
            <a:avLst/>
          </a:prstGeom>
          <a:noFill/>
          <a:ln/>
        </p:spPr>
        <p:txBody>
          <a:bodyPr wrap="square" lIns="0" tIns="0" rIns="0" bIns="0" rtlCol="0" anchor="t"/>
          <a:lstStyle/>
          <a:p>
            <a:pPr algn="ctr" indent="0" marL="0">
              <a:buNone/>
            </a:pPr>
            <a:r>
              <a:rPr lang="en-US" sz="1600" b="1" dirty="0">
                <a:solidFill>
                  <a:srgbClr val="F8FAFC"/>
                </a:solidFill>
                <a:latin typeface="Calibri" pitchFamily="34" charset="0"/>
                <a:ea typeface="Calibri" pitchFamily="34" charset="-122"/>
                <a:cs typeface="Calibri" pitchFamily="34" charset="-120"/>
              </a:rPr>
              <a:t>90-second demo, on a real phone, against our real system</a:t>
            </a:r>
            <a:endParaRPr lang="en-US" sz="1600" dirty="0"/>
          </a:p>
        </p:txBody>
      </p:sp>
      <p:sp>
        <p:nvSpPr>
          <p:cNvPr id="8" name="Text 5"/>
          <p:cNvSpPr txBox="1"/>
          <p:nvPr/>
        </p:nvSpPr>
        <p:spPr>
          <a:xfrm>
            <a:off x="548640" y="4983480"/>
            <a:ext cx="7315200" cy="365760"/>
          </a:xfrm>
          <a:prstGeom prst="rect">
            <a:avLst/>
          </a:prstGeom>
          <a:noFill/>
          <a:ln/>
        </p:spPr>
        <p:txBody>
          <a:bodyPr wrap="square" lIns="0" tIns="0" rIns="0" bIns="0" rtlCol="0" anchor="t"/>
          <a:lstStyle/>
          <a:p>
            <a:pPr algn="ctr" indent="0" marL="0">
              <a:buNone/>
            </a:pPr>
            <a:r>
              <a:rPr lang="en-US" sz="1300" dirty="0">
                <a:solidFill>
                  <a:srgbClr val="A3B3C9"/>
                </a:solidFill>
                <a:latin typeface="Calibri" pitchFamily="34" charset="0"/>
                <a:ea typeface="Calibri" pitchFamily="34" charset="-122"/>
                <a:cs typeface="Calibri" pitchFamily="34" charset="-120"/>
              </a:rPr>
              <a:t>Video link: [paste here]</a:t>
            </a:r>
            <a:endParaRPr lang="en-US" sz="1300" dirty="0"/>
          </a:p>
        </p:txBody>
      </p:sp>
      <p:sp>
        <p:nvSpPr>
          <p:cNvPr id="9" name="Text 6"/>
          <p:cNvSpPr txBox="1"/>
          <p:nvPr/>
        </p:nvSpPr>
        <p:spPr>
          <a:xfrm>
            <a:off x="8229600" y="1828800"/>
            <a:ext cx="3383280" cy="411480"/>
          </a:xfrm>
          <a:prstGeom prst="rect">
            <a:avLst/>
          </a:prstGeom>
          <a:noFill/>
          <a:ln/>
        </p:spPr>
        <p:txBody>
          <a:bodyPr wrap="square" lIns="0" tIns="0" rIns="0" bIns="0" rtlCol="0" anchor="t"/>
          <a:lstStyle/>
          <a:p>
            <a:pPr indent="0" marL="0">
              <a:buNone/>
            </a:pPr>
            <a:r>
              <a:rPr lang="en-US" sz="1800" b="1" dirty="0">
                <a:solidFill>
                  <a:srgbClr val="10B981"/>
                </a:solidFill>
                <a:latin typeface="Calibri" pitchFamily="34" charset="0"/>
                <a:ea typeface="Calibri" pitchFamily="34" charset="-122"/>
                <a:cs typeface="Calibri" pitchFamily="34" charset="-120"/>
              </a:rPr>
              <a:t>Watch for</a:t>
            </a:r>
            <a:endParaRPr lang="en-US" sz="1800" dirty="0"/>
          </a:p>
        </p:txBody>
      </p:sp>
      <p:sp>
        <p:nvSpPr>
          <p:cNvPr id="10" name="Text 7"/>
          <p:cNvSpPr txBox="1"/>
          <p:nvPr/>
        </p:nvSpPr>
        <p:spPr>
          <a:xfrm>
            <a:off x="8229600" y="2331720"/>
            <a:ext cx="3383280" cy="3566160"/>
          </a:xfrm>
          <a:prstGeom prst="rect">
            <a:avLst/>
          </a:prstGeom>
          <a:noFill/>
          <a:ln/>
        </p:spPr>
        <p:txBody>
          <a:bodyPr wrap="square" lIns="0" tIns="0" rIns="0" bIns="0" rtlCol="0" anchor="t"/>
          <a:lstStyle/>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Sign-up in under a minute</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Suppliers matched to the business, with the reason why</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An order paid and confirmed</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A proper invoice with a QR check</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A client signing off a builder's work</a:t>
            </a:r>
            <a:endParaRPr lang="en-US" sz="1550" dirty="0"/>
          </a:p>
        </p:txBody>
      </p:sp>
      <p:pic>
        <p:nvPicPr>
          <p:cNvPr id="11" name="Image 1" descr="preencoded.png">    </p:cNvPr>
          <p:cNvPicPr>
            <a:picLocks noChangeAspect="1"/>
          </p:cNvPicPr>
          <p:nvPr/>
        </p:nvPicPr>
        <p:blipFill>
          <a:blip r:embed="rId2"/>
          <a:stretch>
            <a:fillRect/>
          </a:stretch>
        </p:blipFill>
        <p:spPr>
          <a:xfrm>
            <a:off x="11231575" y="6291072"/>
            <a:ext cx="384048" cy="384048"/>
          </a:xfrm>
          <a:prstGeom prst="rect">
            <a:avLst/>
          </a:prstGeom>
        </p:spPr>
      </p:pic>
      <p:sp>
        <p:nvSpPr>
          <p:cNvPr id="12" name="Text 8"/>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BUSINESS MODEL</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Suppliers pay. Businesses never do.</a:t>
            </a:r>
            <a:endParaRPr lang="en-US" sz="3400" dirty="0"/>
          </a:p>
        </p:txBody>
      </p:sp>
      <p:sp>
        <p:nvSpPr>
          <p:cNvPr id="4" name="Shape 2"/>
          <p:cNvSpPr/>
          <p:nvPr/>
        </p:nvSpPr>
        <p:spPr>
          <a:xfrm>
            <a:off x="548640" y="1783080"/>
            <a:ext cx="4663440" cy="896112"/>
          </a:xfrm>
          <a:prstGeom prst="roundRect">
            <a:avLst>
              <a:gd name="adj" fmla="val 12245"/>
            </a:avLst>
          </a:prstGeom>
          <a:solidFill>
            <a:srgbClr val="17223A"/>
          </a:solidFill>
          <a:ln w="12700">
            <a:solidFill>
              <a:srgbClr val="17223A"/>
            </a:solidFill>
            <a:prstDash val="solid"/>
          </a:ln>
        </p:spPr>
      </p:sp>
      <p:sp>
        <p:nvSpPr>
          <p:cNvPr id="5" name="Text 3"/>
          <p:cNvSpPr txBox="1"/>
          <p:nvPr/>
        </p:nvSpPr>
        <p:spPr>
          <a:xfrm>
            <a:off x="822960" y="2039112"/>
            <a:ext cx="2103120" cy="411480"/>
          </a:xfrm>
          <a:prstGeom prst="rect">
            <a:avLst/>
          </a:prstGeom>
          <a:noFill/>
          <a:ln/>
        </p:spPr>
        <p:txBody>
          <a:bodyPr wrap="square" lIns="0" tIns="0" rIns="0" bIns="0" rtlCol="0" anchor="t"/>
          <a:lstStyle/>
          <a:p>
            <a:pPr indent="0" marL="0">
              <a:buNone/>
            </a:pPr>
            <a:r>
              <a:rPr lang="en-US" sz="1800" b="1" dirty="0">
                <a:solidFill>
                  <a:srgbClr val="A3B3C9"/>
                </a:solidFill>
                <a:latin typeface="Calibri" pitchFamily="34" charset="0"/>
                <a:ea typeface="Calibri" pitchFamily="34" charset="-122"/>
                <a:cs typeface="Calibri" pitchFamily="34" charset="-120"/>
              </a:rPr>
              <a:t>Starter</a:t>
            </a:r>
            <a:endParaRPr lang="en-US" sz="1800" dirty="0"/>
          </a:p>
        </p:txBody>
      </p:sp>
      <p:sp>
        <p:nvSpPr>
          <p:cNvPr id="6" name="Text 4"/>
          <p:cNvSpPr txBox="1"/>
          <p:nvPr/>
        </p:nvSpPr>
        <p:spPr>
          <a:xfrm>
            <a:off x="2468880" y="1874520"/>
            <a:ext cx="1737360" cy="685800"/>
          </a:xfrm>
          <a:prstGeom prst="rect">
            <a:avLst/>
          </a:prstGeom>
          <a:noFill/>
          <a:ln/>
        </p:spPr>
        <p:txBody>
          <a:bodyPr wrap="square" lIns="0" tIns="0" rIns="0" bIns="0" rtlCol="0" anchor="t"/>
          <a:lstStyle/>
          <a:p>
            <a:pPr algn="r" indent="0" marL="0">
              <a:buNone/>
            </a:pPr>
            <a:r>
              <a:rPr lang="en-US" sz="3000" b="1" dirty="0">
                <a:solidFill>
                  <a:srgbClr val="34D399"/>
                </a:solidFill>
                <a:latin typeface="Georgia" pitchFamily="34" charset="0"/>
                <a:ea typeface="Georgia" pitchFamily="34" charset="-122"/>
                <a:cs typeface="Georgia" pitchFamily="34" charset="-120"/>
              </a:rPr>
              <a:t>R299</a:t>
            </a:r>
            <a:endParaRPr lang="en-US" sz="3000" dirty="0"/>
          </a:p>
        </p:txBody>
      </p:sp>
      <p:sp>
        <p:nvSpPr>
          <p:cNvPr id="7" name="Text 5"/>
          <p:cNvSpPr txBox="1"/>
          <p:nvPr/>
        </p:nvSpPr>
        <p:spPr>
          <a:xfrm>
            <a:off x="4251960" y="2103120"/>
            <a:ext cx="914400" cy="36576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/month</a:t>
            </a:r>
            <a:endParaRPr lang="en-US" sz="1100" dirty="0"/>
          </a:p>
        </p:txBody>
      </p:sp>
      <p:sp>
        <p:nvSpPr>
          <p:cNvPr id="8" name="Shape 6"/>
          <p:cNvSpPr/>
          <p:nvPr/>
        </p:nvSpPr>
        <p:spPr>
          <a:xfrm>
            <a:off x="548640" y="2834640"/>
            <a:ext cx="4663440" cy="896112"/>
          </a:xfrm>
          <a:prstGeom prst="roundRect">
            <a:avLst>
              <a:gd name="adj" fmla="val 12245"/>
            </a:avLst>
          </a:prstGeom>
          <a:solidFill>
            <a:srgbClr val="17223A"/>
          </a:solidFill>
          <a:ln w="12700">
            <a:solidFill>
              <a:srgbClr val="17223A"/>
            </a:solidFill>
            <a:prstDash val="solid"/>
          </a:ln>
        </p:spPr>
      </p:sp>
      <p:sp>
        <p:nvSpPr>
          <p:cNvPr id="9" name="Text 7"/>
          <p:cNvSpPr txBox="1"/>
          <p:nvPr/>
        </p:nvSpPr>
        <p:spPr>
          <a:xfrm>
            <a:off x="822960" y="3090672"/>
            <a:ext cx="2103120" cy="411480"/>
          </a:xfrm>
          <a:prstGeom prst="rect">
            <a:avLst/>
          </a:prstGeom>
          <a:noFill/>
          <a:ln/>
        </p:spPr>
        <p:txBody>
          <a:bodyPr wrap="square" lIns="0" tIns="0" rIns="0" bIns="0" rtlCol="0" anchor="t"/>
          <a:lstStyle/>
          <a:p>
            <a:pPr indent="0" marL="0">
              <a:buNone/>
            </a:pPr>
            <a:r>
              <a:rPr lang="en-US" sz="1800" b="1" dirty="0">
                <a:solidFill>
                  <a:srgbClr val="A3B3C9"/>
                </a:solidFill>
                <a:latin typeface="Calibri" pitchFamily="34" charset="0"/>
                <a:ea typeface="Calibri" pitchFamily="34" charset="-122"/>
                <a:cs typeface="Calibri" pitchFamily="34" charset="-120"/>
              </a:rPr>
              <a:t>Pro</a:t>
            </a:r>
            <a:endParaRPr lang="en-US" sz="1800" dirty="0"/>
          </a:p>
        </p:txBody>
      </p:sp>
      <p:sp>
        <p:nvSpPr>
          <p:cNvPr id="10" name="Text 8"/>
          <p:cNvSpPr txBox="1"/>
          <p:nvPr/>
        </p:nvSpPr>
        <p:spPr>
          <a:xfrm>
            <a:off x="2468880" y="2926080"/>
            <a:ext cx="1737360" cy="685800"/>
          </a:xfrm>
          <a:prstGeom prst="rect">
            <a:avLst/>
          </a:prstGeom>
          <a:noFill/>
          <a:ln/>
        </p:spPr>
        <p:txBody>
          <a:bodyPr wrap="square" lIns="0" tIns="0" rIns="0" bIns="0" rtlCol="0" anchor="t"/>
          <a:lstStyle/>
          <a:p>
            <a:pPr algn="r" indent="0" marL="0">
              <a:buNone/>
            </a:pPr>
            <a:r>
              <a:rPr lang="en-US" sz="3000" b="1" dirty="0">
                <a:solidFill>
                  <a:srgbClr val="34D399"/>
                </a:solidFill>
                <a:latin typeface="Georgia" pitchFamily="34" charset="0"/>
                <a:ea typeface="Georgia" pitchFamily="34" charset="-122"/>
                <a:cs typeface="Georgia" pitchFamily="34" charset="-120"/>
              </a:rPr>
              <a:t>R1,499</a:t>
            </a:r>
            <a:endParaRPr lang="en-US" sz="3000" dirty="0"/>
          </a:p>
        </p:txBody>
      </p:sp>
      <p:sp>
        <p:nvSpPr>
          <p:cNvPr id="11" name="Text 9"/>
          <p:cNvSpPr txBox="1"/>
          <p:nvPr/>
        </p:nvSpPr>
        <p:spPr>
          <a:xfrm>
            <a:off x="4251960" y="3154680"/>
            <a:ext cx="914400" cy="36576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/month</a:t>
            </a:r>
            <a:endParaRPr lang="en-US" sz="1100" dirty="0"/>
          </a:p>
        </p:txBody>
      </p:sp>
      <p:sp>
        <p:nvSpPr>
          <p:cNvPr id="12" name="Shape 10"/>
          <p:cNvSpPr/>
          <p:nvPr/>
        </p:nvSpPr>
        <p:spPr>
          <a:xfrm>
            <a:off x="548640" y="3886200"/>
            <a:ext cx="4663440" cy="896112"/>
          </a:xfrm>
          <a:prstGeom prst="roundRect">
            <a:avLst>
              <a:gd name="adj" fmla="val 12245"/>
            </a:avLst>
          </a:prstGeom>
          <a:solidFill>
            <a:srgbClr val="17223A"/>
          </a:solidFill>
          <a:ln w="12700">
            <a:solidFill>
              <a:srgbClr val="17223A"/>
            </a:solidFill>
            <a:prstDash val="solid"/>
          </a:ln>
        </p:spPr>
      </p:sp>
      <p:sp>
        <p:nvSpPr>
          <p:cNvPr id="13" name="Text 11"/>
          <p:cNvSpPr txBox="1"/>
          <p:nvPr/>
        </p:nvSpPr>
        <p:spPr>
          <a:xfrm>
            <a:off x="822960" y="4142232"/>
            <a:ext cx="2103120" cy="411480"/>
          </a:xfrm>
          <a:prstGeom prst="rect">
            <a:avLst/>
          </a:prstGeom>
          <a:noFill/>
          <a:ln/>
        </p:spPr>
        <p:txBody>
          <a:bodyPr wrap="square" lIns="0" tIns="0" rIns="0" bIns="0" rtlCol="0" anchor="t"/>
          <a:lstStyle/>
          <a:p>
            <a:pPr indent="0" marL="0">
              <a:buNone/>
            </a:pPr>
            <a:r>
              <a:rPr lang="en-US" sz="1800" b="1" dirty="0">
                <a:solidFill>
                  <a:srgbClr val="A3B3C9"/>
                </a:solidFill>
                <a:latin typeface="Calibri" pitchFamily="34" charset="0"/>
                <a:ea typeface="Calibri" pitchFamily="34" charset="-122"/>
                <a:cs typeface="Calibri" pitchFamily="34" charset="-120"/>
              </a:rPr>
              <a:t>ERP link</a:t>
            </a:r>
            <a:endParaRPr lang="en-US" sz="1800" dirty="0"/>
          </a:p>
        </p:txBody>
      </p:sp>
      <p:sp>
        <p:nvSpPr>
          <p:cNvPr id="14" name="Text 12"/>
          <p:cNvSpPr txBox="1"/>
          <p:nvPr/>
        </p:nvSpPr>
        <p:spPr>
          <a:xfrm>
            <a:off x="2468880" y="3977640"/>
            <a:ext cx="1737360" cy="685800"/>
          </a:xfrm>
          <a:prstGeom prst="rect">
            <a:avLst/>
          </a:prstGeom>
          <a:noFill/>
          <a:ln/>
        </p:spPr>
        <p:txBody>
          <a:bodyPr wrap="square" lIns="0" tIns="0" rIns="0" bIns="0" rtlCol="0" anchor="t"/>
          <a:lstStyle/>
          <a:p>
            <a:pPr algn="r" indent="0" marL="0">
              <a:buNone/>
            </a:pPr>
            <a:r>
              <a:rPr lang="en-US" sz="3000" b="1" dirty="0">
                <a:solidFill>
                  <a:srgbClr val="34D399"/>
                </a:solidFill>
                <a:latin typeface="Georgia" pitchFamily="34" charset="0"/>
                <a:ea typeface="Georgia" pitchFamily="34" charset="-122"/>
                <a:cs typeface="Georgia" pitchFamily="34" charset="-120"/>
              </a:rPr>
              <a:t>R4,999</a:t>
            </a:r>
            <a:endParaRPr lang="en-US" sz="3000" dirty="0"/>
          </a:p>
        </p:txBody>
      </p:sp>
      <p:sp>
        <p:nvSpPr>
          <p:cNvPr id="15" name="Text 13"/>
          <p:cNvSpPr txBox="1"/>
          <p:nvPr/>
        </p:nvSpPr>
        <p:spPr>
          <a:xfrm>
            <a:off x="4251960" y="4206240"/>
            <a:ext cx="914400" cy="36576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/month + setup</a:t>
            </a:r>
            <a:endParaRPr lang="en-US" sz="1100" dirty="0"/>
          </a:p>
        </p:txBody>
      </p:sp>
      <p:sp>
        <p:nvSpPr>
          <p:cNvPr id="16" name="Shape 14"/>
          <p:cNvSpPr/>
          <p:nvPr/>
        </p:nvSpPr>
        <p:spPr>
          <a:xfrm>
            <a:off x="548640" y="4937760"/>
            <a:ext cx="4663440" cy="896112"/>
          </a:xfrm>
          <a:prstGeom prst="roundRect">
            <a:avLst>
              <a:gd name="adj" fmla="val 12245"/>
            </a:avLst>
          </a:prstGeom>
          <a:solidFill>
            <a:srgbClr val="17223A"/>
          </a:solidFill>
          <a:ln w="12700">
            <a:solidFill>
              <a:srgbClr val="17223A"/>
            </a:solidFill>
            <a:prstDash val="solid"/>
          </a:ln>
        </p:spPr>
      </p:sp>
      <p:sp>
        <p:nvSpPr>
          <p:cNvPr id="17" name="Text 15"/>
          <p:cNvSpPr txBox="1"/>
          <p:nvPr/>
        </p:nvSpPr>
        <p:spPr>
          <a:xfrm>
            <a:off x="822960" y="5193792"/>
            <a:ext cx="2103120" cy="411480"/>
          </a:xfrm>
          <a:prstGeom prst="rect">
            <a:avLst/>
          </a:prstGeom>
          <a:noFill/>
          <a:ln/>
        </p:spPr>
        <p:txBody>
          <a:bodyPr wrap="square" lIns="0" tIns="0" rIns="0" bIns="0" rtlCol="0" anchor="t"/>
          <a:lstStyle/>
          <a:p>
            <a:pPr indent="0" marL="0">
              <a:buNone/>
            </a:pPr>
            <a:r>
              <a:rPr lang="en-US" sz="1800" b="1" dirty="0">
                <a:solidFill>
                  <a:srgbClr val="A3B3C9"/>
                </a:solidFill>
                <a:latin typeface="Calibri" pitchFamily="34" charset="0"/>
                <a:ea typeface="Calibri" pitchFamily="34" charset="-122"/>
                <a:cs typeface="Calibri" pitchFamily="34" charset="-120"/>
              </a:rPr>
              <a:t>Digital orders</a:t>
            </a:r>
            <a:endParaRPr lang="en-US" sz="1800" dirty="0"/>
          </a:p>
        </p:txBody>
      </p:sp>
      <p:sp>
        <p:nvSpPr>
          <p:cNvPr id="18" name="Text 16"/>
          <p:cNvSpPr txBox="1"/>
          <p:nvPr/>
        </p:nvSpPr>
        <p:spPr>
          <a:xfrm>
            <a:off x="2468880" y="5029200"/>
            <a:ext cx="1737360" cy="685800"/>
          </a:xfrm>
          <a:prstGeom prst="rect">
            <a:avLst/>
          </a:prstGeom>
          <a:noFill/>
          <a:ln/>
        </p:spPr>
        <p:txBody>
          <a:bodyPr wrap="square" lIns="0" tIns="0" rIns="0" bIns="0" rtlCol="0" anchor="t"/>
          <a:lstStyle/>
          <a:p>
            <a:pPr algn="r" indent="0" marL="0">
              <a:buNone/>
            </a:pPr>
            <a:r>
              <a:rPr lang="en-US" sz="3000" b="1" dirty="0">
                <a:solidFill>
                  <a:srgbClr val="FBBF24"/>
                </a:solidFill>
                <a:latin typeface="Georgia" pitchFamily="34" charset="0"/>
                <a:ea typeface="Georgia" pitchFamily="34" charset="-122"/>
                <a:cs typeface="Georgia" pitchFamily="34" charset="-120"/>
              </a:rPr>
              <a:t>~1%</a:t>
            </a:r>
            <a:endParaRPr lang="en-US" sz="3000" dirty="0"/>
          </a:p>
        </p:txBody>
      </p:sp>
      <p:sp>
        <p:nvSpPr>
          <p:cNvPr id="19" name="Text 17"/>
          <p:cNvSpPr txBox="1"/>
          <p:nvPr/>
        </p:nvSpPr>
        <p:spPr>
          <a:xfrm>
            <a:off x="4251960" y="5257800"/>
            <a:ext cx="914400" cy="36576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cash stays free</a:t>
            </a:r>
            <a:endParaRPr lang="en-US" sz="1100" dirty="0"/>
          </a:p>
        </p:txBody>
      </p:sp>
      <p:sp>
        <p:nvSpPr>
          <p:cNvPr id="20" name="Shape 18"/>
          <p:cNvSpPr/>
          <p:nvPr/>
        </p:nvSpPr>
        <p:spPr>
          <a:xfrm>
            <a:off x="5486400" y="1783080"/>
            <a:ext cx="6126480" cy="4206240"/>
          </a:xfrm>
          <a:prstGeom prst="roundRect">
            <a:avLst>
              <a:gd name="adj" fmla="val 2609"/>
            </a:avLst>
          </a:prstGeom>
          <a:solidFill>
            <a:srgbClr val="17223A"/>
          </a:solidFill>
          <a:ln w="12700">
            <a:solidFill>
              <a:srgbClr val="17223A"/>
            </a:solidFill>
            <a:prstDash val="solid"/>
          </a:ln>
        </p:spPr>
      </p:sp>
      <p:graphicFrame>
        <p:nvGraphicFramePr>
          <p:cNvPr id="21" name="Chart 0" descr=""/>
          <p:cNvGraphicFramePr/>
          <p:nvPr/>
        </p:nvGraphicFramePr>
        <p:xfrm>
          <a:off x="5623560" y="1874520"/>
          <a:ext cx="5852160" cy="342900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txBox="1"/>
          <p:nvPr/>
        </p:nvSpPr>
        <p:spPr>
          <a:xfrm>
            <a:off x="5669280" y="5349240"/>
            <a:ext cx="5760720" cy="320040"/>
          </a:xfrm>
          <a:prstGeom prst="rect">
            <a:avLst/>
          </a:prstGeom>
          <a:noFill/>
          <a:ln/>
        </p:spPr>
        <p:txBody>
          <a:bodyPr wrap="square" lIns="0" tIns="0" rIns="0" bIns="0" rtlCol="0" anchor="t"/>
          <a:lstStyle/>
          <a:p>
            <a:pPr algn="ctr" indent="0" marL="0">
              <a:buNone/>
            </a:pPr>
            <a:r>
              <a:rPr lang="en-US" sz="1400" b="1" dirty="0">
                <a:solidFill>
                  <a:srgbClr val="F8FAFC"/>
                </a:solidFill>
                <a:latin typeface="Calibri" pitchFamily="34" charset="0"/>
                <a:ea typeface="Calibri" pitchFamily="34" charset="-122"/>
                <a:cs typeface="Calibri" pitchFamily="34" charset="-120"/>
              </a:rPr>
              <a:t>Y1 ≈ R56k  ·  Y2 ≈ R283k  ·  Y3 ≈ R1.1m a month</a:t>
            </a:r>
            <a:endParaRPr lang="en-US" sz="1400" dirty="0"/>
          </a:p>
        </p:txBody>
      </p:sp>
      <p:sp>
        <p:nvSpPr>
          <p:cNvPr id="23" name="Text 20"/>
          <p:cNvSpPr txBox="1"/>
          <p:nvPr/>
        </p:nvSpPr>
        <p:spPr>
          <a:xfrm>
            <a:off x="5669280" y="5650992"/>
            <a:ext cx="5760720" cy="274320"/>
          </a:xfrm>
          <a:prstGeom prst="rect">
            <a:avLst/>
          </a:prstGeom>
          <a:noFill/>
          <a:ln/>
        </p:spPr>
        <p:txBody>
          <a:bodyPr wrap="square" lIns="0" tIns="0" rIns="0" bIns="0" rtlCol="0" anchor="t"/>
          <a:lstStyle/>
          <a:p>
            <a:pPr algn="ctr" indent="0" marL="0">
              <a:buNone/>
            </a:pPr>
            <a:r>
              <a:rPr lang="en-US" sz="1150" dirty="0">
                <a:solidFill>
                  <a:srgbClr val="A3B3C9"/>
                </a:solidFill>
                <a:latin typeface="Calibri" pitchFamily="34" charset="0"/>
                <a:ea typeface="Calibri" pitchFamily="34" charset="-122"/>
                <a:cs typeface="Calibri" pitchFamily="34" charset="-120"/>
              </a:rPr>
              <a:t>15 → 60 → 200 suppliers  ·  1,000 → 5,000 → 20,000 businesses</a:t>
            </a:r>
            <a:endParaRPr lang="en-US" sz="1150" dirty="0"/>
          </a:p>
        </p:txBody>
      </p:sp>
      <p:pic>
        <p:nvPicPr>
          <p:cNvPr id="24" name="Image 0" descr="preencoded.png">    </p:cNvPr>
          <p:cNvPicPr>
            <a:picLocks noChangeAspect="1"/>
          </p:cNvPicPr>
          <p:nvPr/>
        </p:nvPicPr>
        <p:blipFill>
          <a:blip r:embed="rId2"/>
          <a:stretch>
            <a:fillRect/>
          </a:stretch>
        </p:blipFill>
        <p:spPr>
          <a:xfrm>
            <a:off x="11231575" y="6291072"/>
            <a:ext cx="384048" cy="384048"/>
          </a:xfrm>
          <a:prstGeom prst="rect">
            <a:avLst/>
          </a:prstGeom>
        </p:spPr>
      </p:pic>
      <p:sp>
        <p:nvSpPr>
          <p:cNvPr id="25" name="Text 21"/>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11</a:t>
            </a:r>
            <a:endParaRPr lang="en-US" sz="1000" dirty="0"/>
          </a:p>
        </p:txBody>
      </p:sp>
      <p:sp>
        <p:nvSpPr>
          <p:cNvPr id="26" name="Text 22"/>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Estimates. Commission assumes ~R4,000 of digital orders per business per month.</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COMPETITION</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They serve a slice. We serve it all.</a:t>
            </a:r>
            <a:endParaRPr lang="en-US" sz="3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3657600"/>
                <a:gridCol w="1828800"/>
                <a:gridCol w="1920240"/>
                <a:gridCol w="1828800"/>
                <a:gridCol w="1828800"/>
              </a:tblGrid>
              <a:tr h="621792">
                <a:tc>
                  <a:txBody>
                    <a:bodyPr/>
                    <a:lstStyle/>
                    <a:p>
                      <a:pPr algn="l" indent="0" marL="0">
                        <a:buNone/>
                      </a:pP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b="1" dirty="0">
                          <a:solidFill>
                            <a:srgbClr val="34D399"/>
                          </a:solidFill>
                          <a:latin typeface="Calibri" pitchFamily="34" charset="0"/>
                          <a:ea typeface="Calibri" pitchFamily="34" charset="-122"/>
                          <a:cs typeface="Calibri" pitchFamily="34" charset="-120"/>
                        </a:rPr>
                        <a:t>Runs the business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b="1" dirty="0">
                          <a:solidFill>
                            <a:srgbClr val="34D399"/>
                          </a:solidFill>
                          <a:latin typeface="Calibri" pitchFamily="34" charset="0"/>
                          <a:ea typeface="Calibri" pitchFamily="34" charset="-122"/>
                          <a:cs typeface="Calibri" pitchFamily="34" charset="-120"/>
                        </a:rPr>
                        <a:t>Your own suppliers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b="1" dirty="0">
                          <a:solidFill>
                            <a:srgbClr val="34D399"/>
                          </a:solidFill>
                          <a:latin typeface="Calibri" pitchFamily="34" charset="0"/>
                          <a:ea typeface="Calibri" pitchFamily="34" charset="-122"/>
                          <a:cs typeface="Calibri" pitchFamily="34" charset="-120"/>
                        </a:rPr>
                        <a:t>Any kind of business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b="1" dirty="0">
                          <a:solidFill>
                            <a:srgbClr val="34D399"/>
                          </a:solidFill>
                          <a:latin typeface="Calibri" pitchFamily="34" charset="0"/>
                          <a:ea typeface="Calibri" pitchFamily="34" charset="-122"/>
                          <a:cs typeface="Calibri" pitchFamily="34" charset="-120"/>
                        </a:rPr>
                        <a:t>Verified payment</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621792">
                <a:tc>
                  <a:txBody>
                    <a:bodyPr/>
                    <a:lstStyle/>
                    <a:p>
                      <a:pPr algn="l" indent="0" marL="0">
                        <a:buNone/>
                      </a:pPr>
                      <a:r>
                        <a:rPr lang="en-US" sz="1350" b="1" dirty="0">
                          <a:solidFill>
                            <a:srgbClr val="F8FAFC"/>
                          </a:solidFill>
                          <a:latin typeface="Calibri" pitchFamily="34" charset="0"/>
                          <a:ea typeface="Calibri" pitchFamily="34" charset="-122"/>
                          <a:cs typeface="Calibri" pitchFamily="34" charset="-120"/>
                        </a:rPr>
                        <a:t>WhatsApp + notebook (today)</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by voice note</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r>
              <a:tr h="621792">
                <a:tc>
                  <a:txBody>
                    <a:bodyPr/>
                    <a:lstStyle/>
                    <a:p>
                      <a:pPr algn="l" indent="0" marL="0">
                        <a:buNone/>
                      </a:pPr>
                      <a:r>
                        <a:rPr lang="en-US" sz="1350" b="1" dirty="0">
                          <a:solidFill>
                            <a:srgbClr val="F8FAFC"/>
                          </a:solidFill>
                          <a:latin typeface="Calibri" pitchFamily="34" charset="0"/>
                          <a:ea typeface="Calibri" pitchFamily="34" charset="-122"/>
                          <a:cs typeface="Calibri" pitchFamily="34" charset="-120"/>
                        </a:rPr>
                        <a:t>A wholesaler's own app (e.g. Shoprite Cash &amp; Carry)</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one wholesaler</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shops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621792">
                <a:tc>
                  <a:txBody>
                    <a:bodyPr/>
                    <a:lstStyle/>
                    <a:p>
                      <a:pPr algn="l" indent="0" marL="0">
                        <a:buNone/>
                      </a:pPr>
                      <a:r>
                        <a:rPr lang="en-US" sz="1350" b="1" dirty="0">
                          <a:solidFill>
                            <a:srgbClr val="F8FAFC"/>
                          </a:solidFill>
                          <a:latin typeface="Calibri" pitchFamily="34" charset="0"/>
                          <a:ea typeface="Calibri" pitchFamily="34" charset="-122"/>
                          <a:cs typeface="Calibri" pitchFamily="34" charset="-120"/>
                        </a:rPr>
                        <a:t>Payments / POS (iKhokha, Yoco)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sales only</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cards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r>
              <a:tr h="621792">
                <a:tc>
                  <a:txBody>
                    <a:bodyPr/>
                    <a:lstStyle/>
                    <a:p>
                      <a:pPr algn="l" indent="0" marL="0">
                        <a:buNone/>
                      </a:pPr>
                      <a:r>
                        <a:rPr lang="en-US" sz="1350" b="1" dirty="0">
                          <a:solidFill>
                            <a:srgbClr val="F8FAFC"/>
                          </a:solidFill>
                          <a:latin typeface="Calibri" pitchFamily="34" charset="0"/>
                          <a:ea typeface="Calibri" pitchFamily="34" charset="-122"/>
                          <a:cs typeface="Calibri" pitchFamily="34" charset="-120"/>
                        </a:rPr>
                        <a:t>Bulk buying (Spazapp)</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their range</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shops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621792">
                <a:tc>
                  <a:txBody>
                    <a:bodyPr/>
                    <a:lstStyle/>
                    <a:p>
                      <a:pPr algn="l" indent="0" marL="0">
                        <a:buNone/>
                      </a:pPr>
                      <a:r>
                        <a:rPr lang="en-US" sz="1350" b="1" dirty="0">
                          <a:solidFill>
                            <a:srgbClr val="0F172A"/>
                          </a:solidFill>
                          <a:latin typeface="Calibri" pitchFamily="34" charset="0"/>
                          <a:ea typeface="Calibri" pitchFamily="34" charset="-122"/>
                          <a:cs typeface="Calibri" pitchFamily="34" charset="-120"/>
                        </a:rPr>
                        <a:t>Akayza</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350" b="1" dirty="0">
                          <a:solidFill>
                            <a:srgbClr val="0F172A"/>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350" b="1" dirty="0">
                          <a:solidFill>
                            <a:srgbClr val="0F172A"/>
                          </a:solidFill>
                          <a:latin typeface="Calibri" pitchFamily="34" charset="0"/>
                          <a:ea typeface="Calibri" pitchFamily="34" charset="-122"/>
                          <a:cs typeface="Calibri" pitchFamily="34" charset="-120"/>
                        </a:rPr>
                        <a:t>any supplier</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350" b="1" dirty="0">
                          <a:solidFill>
                            <a:srgbClr val="0F172A"/>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350" b="1" dirty="0">
                          <a:solidFill>
                            <a:srgbClr val="0F172A"/>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r>
            </a:tbl>
          </a:graphicData>
        </a:graphic>
      </p:graphicFrame>
      <p:sp>
        <p:nvSpPr>
          <p:cNvPr id="5" name="Text 2"/>
          <p:cNvSpPr txBox="1"/>
          <p:nvPr/>
        </p:nvSpPr>
        <p:spPr>
          <a:xfrm>
            <a:off x="548640" y="5669280"/>
            <a:ext cx="11064240" cy="457200"/>
          </a:xfrm>
          <a:prstGeom prst="rect">
            <a:avLst/>
          </a:prstGeom>
          <a:noFill/>
          <a:ln/>
        </p:spPr>
        <p:txBody>
          <a:bodyPr wrap="square" lIns="0" tIns="0" rIns="0" bIns="0" rtlCol="0" anchor="t"/>
          <a:lstStyle/>
          <a:p>
            <a:pPr indent="0" marL="0">
              <a:buNone/>
            </a:pPr>
            <a:r>
              <a:rPr lang="en-US" sz="1500" i="1" dirty="0">
                <a:solidFill>
                  <a:srgbClr val="FBBF24"/>
                </a:solidFill>
                <a:latin typeface="Calibri" pitchFamily="34" charset="0"/>
                <a:ea typeface="Calibri" pitchFamily="34" charset="-122"/>
                <a:cs typeface="Calibri" pitchFamily="34" charset="-120"/>
              </a:rPr>
              <a:t>And it gets smarter with use: what a business does today shapes the suppliers it's matched with tomorrow.</a:t>
            </a:r>
            <a:endParaRPr lang="en-US" sz="1500" dirty="0"/>
          </a:p>
        </p:txBody>
      </p:sp>
      <p:pic>
        <p:nvPicPr>
          <p:cNvPr id="6"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7" name="Text 3"/>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GO-TO-MARKET</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One supplier brings hundreds of businesses</a:t>
            </a:r>
            <a:endParaRPr lang="en-US" sz="3400" dirty="0"/>
          </a:p>
        </p:txBody>
      </p:sp>
      <p:sp>
        <p:nvSpPr>
          <p:cNvPr id="4" name="Shape 2"/>
          <p:cNvSpPr/>
          <p:nvPr/>
        </p:nvSpPr>
        <p:spPr>
          <a:xfrm>
            <a:off x="548640" y="1783080"/>
            <a:ext cx="3474720" cy="3977640"/>
          </a:xfrm>
          <a:prstGeom prst="roundRect">
            <a:avLst>
              <a:gd name="adj" fmla="val 3158"/>
            </a:avLst>
          </a:prstGeom>
          <a:solidFill>
            <a:srgbClr val="17223A"/>
          </a:solidFill>
          <a:ln w="12700">
            <a:solidFill>
              <a:srgbClr val="17223A"/>
            </a:solidFill>
            <a:prstDash val="solid"/>
          </a:ln>
        </p:spPr>
      </p:sp>
      <p:sp>
        <p:nvSpPr>
          <p:cNvPr id="5" name="Text 3"/>
          <p:cNvSpPr txBox="1"/>
          <p:nvPr/>
        </p:nvSpPr>
        <p:spPr>
          <a:xfrm>
            <a:off x="868680" y="2011680"/>
            <a:ext cx="283464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0-6 months</a:t>
            </a:r>
            <a:endParaRPr lang="en-US" sz="1400" dirty="0"/>
          </a:p>
        </p:txBody>
      </p:sp>
      <p:sp>
        <p:nvSpPr>
          <p:cNvPr id="6" name="Text 4"/>
          <p:cNvSpPr txBox="1"/>
          <p:nvPr/>
        </p:nvSpPr>
        <p:spPr>
          <a:xfrm>
            <a:off x="868680" y="2377440"/>
            <a:ext cx="2834640" cy="685800"/>
          </a:xfrm>
          <a:prstGeom prst="rect">
            <a:avLst/>
          </a:prstGeom>
          <a:noFill/>
          <a:ln/>
        </p:spPr>
        <p:txBody>
          <a:bodyPr wrap="square" lIns="0" tIns="0" rIns="0" bIns="0" rtlCol="0" anchor="t"/>
          <a:lstStyle/>
          <a:p>
            <a:pPr indent="0" marL="0">
              <a:buNone/>
            </a:pPr>
            <a:r>
              <a:rPr lang="en-US" sz="3200" b="1" dirty="0">
                <a:solidFill>
                  <a:srgbClr val="10B981"/>
                </a:solidFill>
                <a:latin typeface="Georgia" pitchFamily="34" charset="0"/>
                <a:ea typeface="Georgia" pitchFamily="34" charset="-122"/>
                <a:cs typeface="Georgia" pitchFamily="34" charset="-120"/>
              </a:rPr>
              <a:t>Pilot</a:t>
            </a:r>
            <a:endParaRPr lang="en-US" sz="3200" dirty="0"/>
          </a:p>
        </p:txBody>
      </p:sp>
      <p:sp>
        <p:nvSpPr>
          <p:cNvPr id="7" name="Text 5"/>
          <p:cNvSpPr txBox="1"/>
          <p:nvPr/>
        </p:nvSpPr>
        <p:spPr>
          <a:xfrm>
            <a:off x="868680" y="3246120"/>
            <a:ext cx="2926080" cy="2377440"/>
          </a:xfrm>
          <a:prstGeom prst="rect">
            <a:avLst/>
          </a:prstGeom>
          <a:noFill/>
          <a:ln/>
        </p:spPr>
        <p:txBody>
          <a:bodyPr wrap="square" lIns="0" tIns="0" rIns="0" bIns="0" rtlCol="0" anchor="t"/>
          <a:lstStyle/>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2 suppliers</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The 50-100 businesses they already serve</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A field agent at the counter and on the route</a:t>
            </a:r>
            <a:endParaRPr lang="en-US" sz="1600" dirty="0"/>
          </a:p>
        </p:txBody>
      </p:sp>
      <p:sp>
        <p:nvSpPr>
          <p:cNvPr id="8" name="Shape 6"/>
          <p:cNvSpPr/>
          <p:nvPr/>
        </p:nvSpPr>
        <p:spPr>
          <a:xfrm>
            <a:off x="4041648" y="3749040"/>
            <a:ext cx="237744" cy="0"/>
          </a:xfrm>
          <a:prstGeom prst="line">
            <a:avLst/>
          </a:prstGeom>
          <a:noFill/>
          <a:ln w="19050">
            <a:solidFill>
              <a:srgbClr val="64748B"/>
            </a:solidFill>
            <a:prstDash val="solid"/>
            <a:tailEnd type="triangle"/>
          </a:ln>
        </p:spPr>
      </p:sp>
      <p:sp>
        <p:nvSpPr>
          <p:cNvPr id="9" name="Shape 7"/>
          <p:cNvSpPr/>
          <p:nvPr/>
        </p:nvSpPr>
        <p:spPr>
          <a:xfrm>
            <a:off x="4297680" y="1783080"/>
            <a:ext cx="3474720" cy="3977640"/>
          </a:xfrm>
          <a:prstGeom prst="roundRect">
            <a:avLst>
              <a:gd name="adj" fmla="val 3158"/>
            </a:avLst>
          </a:prstGeom>
          <a:solidFill>
            <a:srgbClr val="17223A"/>
          </a:solidFill>
          <a:ln w="12700">
            <a:solidFill>
              <a:srgbClr val="17223A"/>
            </a:solidFill>
            <a:prstDash val="solid"/>
          </a:ln>
        </p:spPr>
      </p:sp>
      <p:sp>
        <p:nvSpPr>
          <p:cNvPr id="10" name="Text 8"/>
          <p:cNvSpPr txBox="1"/>
          <p:nvPr/>
        </p:nvSpPr>
        <p:spPr>
          <a:xfrm>
            <a:off x="4617720" y="2011680"/>
            <a:ext cx="283464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6-18 months</a:t>
            </a:r>
            <a:endParaRPr lang="en-US" sz="1400" dirty="0"/>
          </a:p>
        </p:txBody>
      </p:sp>
      <p:sp>
        <p:nvSpPr>
          <p:cNvPr id="11" name="Text 9"/>
          <p:cNvSpPr txBox="1"/>
          <p:nvPr/>
        </p:nvSpPr>
        <p:spPr>
          <a:xfrm>
            <a:off x="4617720" y="2377440"/>
            <a:ext cx="2834640" cy="685800"/>
          </a:xfrm>
          <a:prstGeom prst="rect">
            <a:avLst/>
          </a:prstGeom>
          <a:noFill/>
          <a:ln/>
        </p:spPr>
        <p:txBody>
          <a:bodyPr wrap="square" lIns="0" tIns="0" rIns="0" bIns="0" rtlCol="0" anchor="t"/>
          <a:lstStyle/>
          <a:p>
            <a:pPr indent="0" marL="0">
              <a:buNone/>
            </a:pPr>
            <a:r>
              <a:rPr lang="en-US" sz="3200" b="1" dirty="0">
                <a:solidFill>
                  <a:srgbClr val="FBBF24"/>
                </a:solidFill>
                <a:latin typeface="Georgia" pitchFamily="34" charset="0"/>
                <a:ea typeface="Georgia" pitchFamily="34" charset="-122"/>
                <a:cs typeface="Georgia" pitchFamily="34" charset="-120"/>
              </a:rPr>
              <a:t>Grow</a:t>
            </a:r>
            <a:endParaRPr lang="en-US" sz="3200" dirty="0"/>
          </a:p>
        </p:txBody>
      </p:sp>
      <p:sp>
        <p:nvSpPr>
          <p:cNvPr id="12" name="Text 10"/>
          <p:cNvSpPr txBox="1"/>
          <p:nvPr/>
        </p:nvSpPr>
        <p:spPr>
          <a:xfrm>
            <a:off x="4617720" y="3246120"/>
            <a:ext cx="2926080" cy="2377440"/>
          </a:xfrm>
          <a:prstGeom prst="rect">
            <a:avLst/>
          </a:prstGeom>
          <a:noFill/>
          <a:ln/>
        </p:spPr>
        <p:txBody>
          <a:bodyPr wrap="square" lIns="0" tIns="0" rIns="0" bIns="0" rtlCol="0" anchor="t"/>
          <a:lstStyle/>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15 paying suppliers</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1,000 active businesses</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Owners invite the suppliers they use</a:t>
            </a:r>
            <a:endParaRPr lang="en-US" sz="1600" dirty="0"/>
          </a:p>
        </p:txBody>
      </p:sp>
      <p:sp>
        <p:nvSpPr>
          <p:cNvPr id="13" name="Shape 11"/>
          <p:cNvSpPr/>
          <p:nvPr/>
        </p:nvSpPr>
        <p:spPr>
          <a:xfrm>
            <a:off x="7790688" y="3749040"/>
            <a:ext cx="237744" cy="0"/>
          </a:xfrm>
          <a:prstGeom prst="line">
            <a:avLst/>
          </a:prstGeom>
          <a:noFill/>
          <a:ln w="19050">
            <a:solidFill>
              <a:srgbClr val="64748B"/>
            </a:solidFill>
            <a:prstDash val="solid"/>
            <a:tailEnd type="triangle"/>
          </a:ln>
        </p:spPr>
      </p:sp>
      <p:sp>
        <p:nvSpPr>
          <p:cNvPr id="14" name="Shape 12"/>
          <p:cNvSpPr/>
          <p:nvPr/>
        </p:nvSpPr>
        <p:spPr>
          <a:xfrm>
            <a:off x="8046720" y="1783080"/>
            <a:ext cx="3474720" cy="3977640"/>
          </a:xfrm>
          <a:prstGeom prst="roundRect">
            <a:avLst>
              <a:gd name="adj" fmla="val 3158"/>
            </a:avLst>
          </a:prstGeom>
          <a:solidFill>
            <a:srgbClr val="17223A"/>
          </a:solidFill>
          <a:ln w="12700">
            <a:solidFill>
              <a:srgbClr val="17223A"/>
            </a:solidFill>
            <a:prstDash val="solid"/>
          </a:ln>
        </p:spPr>
      </p:sp>
      <p:sp>
        <p:nvSpPr>
          <p:cNvPr id="15" name="Text 13"/>
          <p:cNvSpPr txBox="1"/>
          <p:nvPr/>
        </p:nvSpPr>
        <p:spPr>
          <a:xfrm>
            <a:off x="8366760" y="2011680"/>
            <a:ext cx="283464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18-36 months</a:t>
            </a:r>
            <a:endParaRPr lang="en-US" sz="1400" dirty="0"/>
          </a:p>
        </p:txBody>
      </p:sp>
      <p:sp>
        <p:nvSpPr>
          <p:cNvPr id="16" name="Text 14"/>
          <p:cNvSpPr txBox="1"/>
          <p:nvPr/>
        </p:nvSpPr>
        <p:spPr>
          <a:xfrm>
            <a:off x="8366760" y="2377440"/>
            <a:ext cx="2834640" cy="685800"/>
          </a:xfrm>
          <a:prstGeom prst="rect">
            <a:avLst/>
          </a:prstGeom>
          <a:noFill/>
          <a:ln/>
        </p:spPr>
        <p:txBody>
          <a:bodyPr wrap="square" lIns="0" tIns="0" rIns="0" bIns="0" rtlCol="0" anchor="t"/>
          <a:lstStyle/>
          <a:p>
            <a:pPr indent="0" marL="0">
              <a:buNone/>
            </a:pPr>
            <a:r>
              <a:rPr lang="en-US" sz="3200" b="1" dirty="0">
                <a:solidFill>
                  <a:srgbClr val="34D399"/>
                </a:solidFill>
                <a:latin typeface="Georgia" pitchFamily="34" charset="0"/>
                <a:ea typeface="Georgia" pitchFamily="34" charset="-122"/>
                <a:cs typeface="Georgia" pitchFamily="34" charset="-120"/>
              </a:rPr>
              <a:t>Scale</a:t>
            </a:r>
            <a:endParaRPr lang="en-US" sz="3200" dirty="0"/>
          </a:p>
        </p:txBody>
      </p:sp>
      <p:sp>
        <p:nvSpPr>
          <p:cNvPr id="17" name="Text 15"/>
          <p:cNvSpPr txBox="1"/>
          <p:nvPr/>
        </p:nvSpPr>
        <p:spPr>
          <a:xfrm>
            <a:off x="8366760" y="3246120"/>
            <a:ext cx="2926080" cy="2377440"/>
          </a:xfrm>
          <a:prstGeom prst="rect">
            <a:avLst/>
          </a:prstGeom>
          <a:noFill/>
          <a:ln/>
        </p:spPr>
        <p:txBody>
          <a:bodyPr wrap="square" lIns="0" tIns="0" rIns="0" bIns="0" rtlCol="0" anchor="t"/>
          <a:lstStyle/>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200 suppliers, all 9 provinces</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Business associations, trade events</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Then other African markets</a:t>
            </a:r>
            <a:endParaRPr lang="en-US" sz="1600" dirty="0"/>
          </a:p>
        </p:txBody>
      </p:sp>
      <p:sp>
        <p:nvSpPr>
          <p:cNvPr id="18" name="Text 16"/>
          <p:cNvSpPr txBox="1"/>
          <p:nvPr/>
        </p:nvSpPr>
        <p:spPr>
          <a:xfrm>
            <a:off x="548640" y="5897880"/>
            <a:ext cx="11064240" cy="365760"/>
          </a:xfrm>
          <a:prstGeom prst="rect">
            <a:avLst/>
          </a:prstGeom>
          <a:noFill/>
          <a:ln/>
        </p:spPr>
        <p:txBody>
          <a:bodyPr wrap="square" lIns="0" tIns="0" rIns="0" bIns="0" rtlCol="0" anchor="t"/>
          <a:lstStyle/>
          <a:p>
            <a:pPr indent="0" marL="0">
              <a:buNone/>
            </a:pPr>
            <a:r>
              <a:rPr lang="en-US" sz="1500" i="1" dirty="0">
                <a:solidFill>
                  <a:srgbClr val="10B981"/>
                </a:solidFill>
                <a:latin typeface="Calibri" pitchFamily="34" charset="0"/>
                <a:ea typeface="Calibri" pitchFamily="34" charset="-122"/>
                <a:cs typeface="Calibri" pitchFamily="34" charset="-120"/>
              </a:rPr>
              <a:t>Suppliers are both our customer and our channel: no expensive ads, one relationship at a time.</a:t>
            </a:r>
            <a:endParaRPr lang="en-US" sz="1500" dirty="0"/>
          </a:p>
        </p:txBody>
      </p:sp>
      <p:pic>
        <p:nvPicPr>
          <p:cNvPr id="19"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20" name="Text 1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TRACTION</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Not an idea. It's built, and it works.</a:t>
            </a:r>
            <a:endParaRPr lang="en-US" sz="3400" dirty="0"/>
          </a:p>
        </p:txBody>
      </p:sp>
      <p:sp>
        <p:nvSpPr>
          <p:cNvPr id="4" name="Shape 2"/>
          <p:cNvSpPr/>
          <p:nvPr/>
        </p:nvSpPr>
        <p:spPr>
          <a:xfrm>
            <a:off x="548640" y="1783080"/>
            <a:ext cx="2606040" cy="1828800"/>
          </a:xfrm>
          <a:prstGeom prst="roundRect">
            <a:avLst>
              <a:gd name="adj" fmla="val 6000"/>
            </a:avLst>
          </a:prstGeom>
          <a:solidFill>
            <a:srgbClr val="17223A"/>
          </a:solidFill>
          <a:ln w="12700">
            <a:solidFill>
              <a:srgbClr val="17223A"/>
            </a:solidFill>
            <a:prstDash val="solid"/>
          </a:ln>
        </p:spPr>
      </p:sp>
      <p:sp>
        <p:nvSpPr>
          <p:cNvPr id="5" name="Text 3"/>
          <p:cNvSpPr txBox="1"/>
          <p:nvPr/>
        </p:nvSpPr>
        <p:spPr>
          <a:xfrm>
            <a:off x="685800" y="1965960"/>
            <a:ext cx="2331720" cy="868680"/>
          </a:xfrm>
          <a:prstGeom prst="rect">
            <a:avLst/>
          </a:prstGeom>
          <a:noFill/>
          <a:ln/>
        </p:spPr>
        <p:txBody>
          <a:bodyPr wrap="square" lIns="0" tIns="0" rIns="0" bIns="0" rtlCol="0" anchor="t"/>
          <a:lstStyle/>
          <a:p>
            <a:pPr algn="ctr" indent="0" marL="0">
              <a:buNone/>
            </a:pPr>
            <a:r>
              <a:rPr lang="en-US" sz="4400" b="1" dirty="0">
                <a:solidFill>
                  <a:srgbClr val="34D399"/>
                </a:solidFill>
                <a:latin typeface="Georgia" pitchFamily="34" charset="0"/>
                <a:ea typeface="Georgia" pitchFamily="34" charset="-122"/>
                <a:cs typeface="Georgia" pitchFamily="34" charset="-120"/>
              </a:rPr>
              <a:t>1,239</a:t>
            </a:r>
            <a:endParaRPr lang="en-US" sz="4400" dirty="0"/>
          </a:p>
        </p:txBody>
      </p:sp>
      <p:sp>
        <p:nvSpPr>
          <p:cNvPr id="6" name="Text 4"/>
          <p:cNvSpPr txBox="1"/>
          <p:nvPr/>
        </p:nvSpPr>
        <p:spPr>
          <a:xfrm>
            <a:off x="731520" y="2834640"/>
            <a:ext cx="2240280" cy="685800"/>
          </a:xfrm>
          <a:prstGeom prst="rect">
            <a:avLst/>
          </a:prstGeom>
          <a:noFill/>
          <a:ln/>
        </p:spPr>
        <p:txBody>
          <a:bodyPr wrap="square" lIns="0" tIns="0" rIns="0" bIns="0" rtlCol="0" anchor="t"/>
          <a:lstStyle/>
          <a:p>
            <a:pPr algn="ctr" indent="0" marL="0">
              <a:buNone/>
            </a:pPr>
            <a:r>
              <a:rPr lang="en-US" sz="1400" dirty="0">
                <a:solidFill>
                  <a:srgbClr val="A3B3C9"/>
                </a:solidFill>
                <a:latin typeface="Calibri" pitchFamily="34" charset="0"/>
                <a:ea typeface="Calibri" pitchFamily="34" charset="-122"/>
                <a:cs typeface="Calibri" pitchFamily="34" charset="-120"/>
              </a:rPr>
              <a:t>automated system tests pass</a:t>
            </a:r>
            <a:endParaRPr lang="en-US" sz="1400" dirty="0"/>
          </a:p>
        </p:txBody>
      </p:sp>
      <p:sp>
        <p:nvSpPr>
          <p:cNvPr id="7" name="Shape 5"/>
          <p:cNvSpPr/>
          <p:nvPr/>
        </p:nvSpPr>
        <p:spPr>
          <a:xfrm>
            <a:off x="3364992" y="1783080"/>
            <a:ext cx="2606040" cy="1828800"/>
          </a:xfrm>
          <a:prstGeom prst="roundRect">
            <a:avLst>
              <a:gd name="adj" fmla="val 6000"/>
            </a:avLst>
          </a:prstGeom>
          <a:solidFill>
            <a:srgbClr val="17223A"/>
          </a:solidFill>
          <a:ln w="12700">
            <a:solidFill>
              <a:srgbClr val="17223A"/>
            </a:solidFill>
            <a:prstDash val="solid"/>
          </a:ln>
        </p:spPr>
      </p:sp>
      <p:sp>
        <p:nvSpPr>
          <p:cNvPr id="8" name="Text 6"/>
          <p:cNvSpPr txBox="1"/>
          <p:nvPr/>
        </p:nvSpPr>
        <p:spPr>
          <a:xfrm>
            <a:off x="3502152" y="1965960"/>
            <a:ext cx="2331720" cy="868680"/>
          </a:xfrm>
          <a:prstGeom prst="rect">
            <a:avLst/>
          </a:prstGeom>
          <a:noFill/>
          <a:ln/>
        </p:spPr>
        <p:txBody>
          <a:bodyPr wrap="square" lIns="0" tIns="0" rIns="0" bIns="0" rtlCol="0" anchor="t"/>
          <a:lstStyle/>
          <a:p>
            <a:pPr algn="ctr" indent="0" marL="0">
              <a:buNone/>
            </a:pPr>
            <a:r>
              <a:rPr lang="en-US" sz="4400" b="1" dirty="0">
                <a:solidFill>
                  <a:srgbClr val="34D399"/>
                </a:solidFill>
                <a:latin typeface="Georgia" pitchFamily="34" charset="0"/>
                <a:ea typeface="Georgia" pitchFamily="34" charset="-122"/>
                <a:cs typeface="Georgia" pitchFamily="34" charset="-120"/>
              </a:rPr>
              <a:t>197</a:t>
            </a:r>
            <a:endParaRPr lang="en-US" sz="4400" dirty="0"/>
          </a:p>
        </p:txBody>
      </p:sp>
      <p:sp>
        <p:nvSpPr>
          <p:cNvPr id="9" name="Text 7"/>
          <p:cNvSpPr txBox="1"/>
          <p:nvPr/>
        </p:nvSpPr>
        <p:spPr>
          <a:xfrm>
            <a:off x="3547872" y="2834640"/>
            <a:ext cx="2240280" cy="685800"/>
          </a:xfrm>
          <a:prstGeom prst="rect">
            <a:avLst/>
          </a:prstGeom>
          <a:noFill/>
          <a:ln/>
        </p:spPr>
        <p:txBody>
          <a:bodyPr wrap="square" lIns="0" tIns="0" rIns="0" bIns="0" rtlCol="0" anchor="t"/>
          <a:lstStyle/>
          <a:p>
            <a:pPr algn="ctr" indent="0" marL="0">
              <a:buNone/>
            </a:pPr>
            <a:r>
              <a:rPr lang="en-US" sz="1400" dirty="0">
                <a:solidFill>
                  <a:srgbClr val="A3B3C9"/>
                </a:solidFill>
                <a:latin typeface="Calibri" pitchFamily="34" charset="0"/>
                <a:ea typeface="Calibri" pitchFamily="34" charset="-122"/>
                <a:cs typeface="Calibri" pitchFamily="34" charset="-120"/>
              </a:rPr>
              <a:t>app tests pass</a:t>
            </a:r>
            <a:endParaRPr lang="en-US" sz="1400" dirty="0"/>
          </a:p>
        </p:txBody>
      </p:sp>
      <p:sp>
        <p:nvSpPr>
          <p:cNvPr id="10" name="Shape 8"/>
          <p:cNvSpPr/>
          <p:nvPr/>
        </p:nvSpPr>
        <p:spPr>
          <a:xfrm>
            <a:off x="6181344" y="1783080"/>
            <a:ext cx="2606040" cy="1828800"/>
          </a:xfrm>
          <a:prstGeom prst="roundRect">
            <a:avLst>
              <a:gd name="adj" fmla="val 6000"/>
            </a:avLst>
          </a:prstGeom>
          <a:solidFill>
            <a:srgbClr val="17223A"/>
          </a:solidFill>
          <a:ln w="12700">
            <a:solidFill>
              <a:srgbClr val="17223A"/>
            </a:solidFill>
            <a:prstDash val="solid"/>
          </a:ln>
        </p:spPr>
      </p:sp>
      <p:sp>
        <p:nvSpPr>
          <p:cNvPr id="11" name="Text 9"/>
          <p:cNvSpPr txBox="1"/>
          <p:nvPr/>
        </p:nvSpPr>
        <p:spPr>
          <a:xfrm>
            <a:off x="6318504" y="1965960"/>
            <a:ext cx="2331720" cy="868680"/>
          </a:xfrm>
          <a:prstGeom prst="rect">
            <a:avLst/>
          </a:prstGeom>
          <a:noFill/>
          <a:ln/>
        </p:spPr>
        <p:txBody>
          <a:bodyPr wrap="square" lIns="0" tIns="0" rIns="0" bIns="0" rtlCol="0" anchor="t"/>
          <a:lstStyle/>
          <a:p>
            <a:pPr algn="ctr" indent="0" marL="0">
              <a:buNone/>
            </a:pPr>
            <a:r>
              <a:rPr lang="en-US" sz="4400" b="1" dirty="0">
                <a:solidFill>
                  <a:srgbClr val="34D399"/>
                </a:solidFill>
                <a:latin typeface="Georgia" pitchFamily="34" charset="0"/>
                <a:ea typeface="Georgia" pitchFamily="34" charset="-122"/>
                <a:cs typeface="Georgia" pitchFamily="34" charset="-120"/>
              </a:rPr>
              <a:t>1,672</a:t>
            </a:r>
            <a:endParaRPr lang="en-US" sz="4400" dirty="0"/>
          </a:p>
        </p:txBody>
      </p:sp>
      <p:sp>
        <p:nvSpPr>
          <p:cNvPr id="12" name="Text 10"/>
          <p:cNvSpPr txBox="1"/>
          <p:nvPr/>
        </p:nvSpPr>
        <p:spPr>
          <a:xfrm>
            <a:off x="6364224" y="2834640"/>
            <a:ext cx="2240280" cy="685800"/>
          </a:xfrm>
          <a:prstGeom prst="rect">
            <a:avLst/>
          </a:prstGeom>
          <a:noFill/>
          <a:ln/>
        </p:spPr>
        <p:txBody>
          <a:bodyPr wrap="square" lIns="0" tIns="0" rIns="0" bIns="0" rtlCol="0" anchor="t"/>
          <a:lstStyle/>
          <a:p>
            <a:pPr algn="ctr" indent="0" marL="0">
              <a:buNone/>
            </a:pPr>
            <a:r>
              <a:rPr lang="en-US" sz="1400" dirty="0">
                <a:solidFill>
                  <a:srgbClr val="A3B3C9"/>
                </a:solidFill>
                <a:latin typeface="Calibri" pitchFamily="34" charset="0"/>
                <a:ea typeface="Calibri" pitchFamily="34" charset="-122"/>
                <a:cs typeface="Calibri" pitchFamily="34" charset="-120"/>
              </a:rPr>
              <a:t>products from 11 sample suppliers</a:t>
            </a:r>
            <a:endParaRPr lang="en-US" sz="1400" dirty="0"/>
          </a:p>
        </p:txBody>
      </p:sp>
      <p:sp>
        <p:nvSpPr>
          <p:cNvPr id="13" name="Shape 11"/>
          <p:cNvSpPr/>
          <p:nvPr/>
        </p:nvSpPr>
        <p:spPr>
          <a:xfrm>
            <a:off x="8997696" y="1783080"/>
            <a:ext cx="2606040" cy="1828800"/>
          </a:xfrm>
          <a:prstGeom prst="roundRect">
            <a:avLst>
              <a:gd name="adj" fmla="val 6000"/>
            </a:avLst>
          </a:prstGeom>
          <a:solidFill>
            <a:srgbClr val="17223A"/>
          </a:solidFill>
          <a:ln w="12700">
            <a:solidFill>
              <a:srgbClr val="17223A"/>
            </a:solidFill>
            <a:prstDash val="solid"/>
          </a:ln>
        </p:spPr>
      </p:sp>
      <p:sp>
        <p:nvSpPr>
          <p:cNvPr id="14" name="Text 12"/>
          <p:cNvSpPr txBox="1"/>
          <p:nvPr/>
        </p:nvSpPr>
        <p:spPr>
          <a:xfrm>
            <a:off x="9134856" y="1965960"/>
            <a:ext cx="2331720" cy="868680"/>
          </a:xfrm>
          <a:prstGeom prst="rect">
            <a:avLst/>
          </a:prstGeom>
          <a:noFill/>
          <a:ln/>
        </p:spPr>
        <p:txBody>
          <a:bodyPr wrap="square" lIns="0" tIns="0" rIns="0" bIns="0" rtlCol="0" anchor="t"/>
          <a:lstStyle/>
          <a:p>
            <a:pPr algn="ctr" indent="0" marL="0">
              <a:buNone/>
            </a:pPr>
            <a:r>
              <a:rPr lang="en-US" sz="4400" b="1" dirty="0">
                <a:solidFill>
                  <a:srgbClr val="FBBF24"/>
                </a:solidFill>
                <a:latin typeface="Georgia" pitchFamily="34" charset="0"/>
                <a:ea typeface="Georgia" pitchFamily="34" charset="-122"/>
                <a:cs typeface="Georgia" pitchFamily="34" charset="-120"/>
              </a:rPr>
              <a:t>0</a:t>
            </a:r>
            <a:endParaRPr lang="en-US" sz="4400" dirty="0"/>
          </a:p>
        </p:txBody>
      </p:sp>
      <p:sp>
        <p:nvSpPr>
          <p:cNvPr id="15" name="Text 13"/>
          <p:cNvSpPr txBox="1"/>
          <p:nvPr/>
        </p:nvSpPr>
        <p:spPr>
          <a:xfrm>
            <a:off x="9180576" y="2834640"/>
            <a:ext cx="2240280" cy="685800"/>
          </a:xfrm>
          <a:prstGeom prst="rect">
            <a:avLst/>
          </a:prstGeom>
          <a:noFill/>
          <a:ln/>
        </p:spPr>
        <p:txBody>
          <a:bodyPr wrap="square" lIns="0" tIns="0" rIns="0" bIns="0" rtlCol="0" anchor="t"/>
          <a:lstStyle/>
          <a:p>
            <a:pPr algn="ctr" indent="0" marL="0">
              <a:buNone/>
            </a:pPr>
            <a:r>
              <a:rPr lang="en-US" sz="1400" dirty="0">
                <a:solidFill>
                  <a:srgbClr val="A3B3C9"/>
                </a:solidFill>
                <a:latin typeface="Calibri" pitchFamily="34" charset="0"/>
                <a:ea typeface="Calibri" pitchFamily="34" charset="-122"/>
                <a:cs typeface="Calibri" pitchFamily="34" charset="-120"/>
              </a:rPr>
              <a:t>card numbers ever touch our servers</a:t>
            </a:r>
            <a:endParaRPr lang="en-US" sz="1400" dirty="0"/>
          </a:p>
        </p:txBody>
      </p:sp>
      <p:sp>
        <p:nvSpPr>
          <p:cNvPr id="16" name="Shape 14"/>
          <p:cNvSpPr/>
          <p:nvPr/>
        </p:nvSpPr>
        <p:spPr>
          <a:xfrm>
            <a:off x="594360" y="4069080"/>
            <a:ext cx="329184" cy="329184"/>
          </a:xfrm>
          <a:prstGeom prst="ellipse">
            <a:avLst/>
          </a:prstGeom>
          <a:solidFill>
            <a:srgbClr val="10B981"/>
          </a:solidFill>
          <a:ln w="12700">
            <a:solidFill>
              <a:srgbClr val="10B981"/>
            </a:solidFill>
            <a:prstDash val="solid"/>
          </a:ln>
        </p:spPr>
      </p:sp>
      <p:sp>
        <p:nvSpPr>
          <p:cNvPr id="17" name="Text 15"/>
          <p:cNvSpPr txBox="1"/>
          <p:nvPr/>
        </p:nvSpPr>
        <p:spPr>
          <a:xfrm>
            <a:off x="1097280" y="4032504"/>
            <a:ext cx="2651760" cy="411480"/>
          </a:xfrm>
          <a:prstGeom prst="rect">
            <a:avLst/>
          </a:prstGeom>
          <a:noFill/>
          <a:ln/>
        </p:spPr>
        <p:txBody>
          <a:bodyPr wrap="square" lIns="0" tIns="0" rIns="0" bIns="0" rtlCol="0" anchor="t"/>
          <a:lstStyle/>
          <a:p>
            <a:pPr indent="0" marL="0">
              <a:buNone/>
            </a:pPr>
            <a:r>
              <a:rPr lang="en-US" sz="1600" b="1" dirty="0">
                <a:solidFill>
                  <a:srgbClr val="10B981"/>
                </a:solidFill>
                <a:latin typeface="Calibri" pitchFamily="34" charset="0"/>
                <a:ea typeface="Calibri" pitchFamily="34" charset="-122"/>
                <a:cs typeface="Calibri" pitchFamily="34" charset="-120"/>
              </a:rPr>
              <a:t>TRL 4  ·  today</a:t>
            </a:r>
            <a:endParaRPr lang="en-US" sz="1600" dirty="0"/>
          </a:p>
        </p:txBody>
      </p:sp>
      <p:sp>
        <p:nvSpPr>
          <p:cNvPr id="18" name="Text 16"/>
          <p:cNvSpPr txBox="1"/>
          <p:nvPr/>
        </p:nvSpPr>
        <p:spPr>
          <a:xfrm>
            <a:off x="3749040" y="4032504"/>
            <a:ext cx="7863840" cy="457200"/>
          </a:xfrm>
          <a:prstGeom prst="rect">
            <a:avLst/>
          </a:prstGeom>
          <a:noFill/>
          <a:ln/>
        </p:spPr>
        <p:txBody>
          <a:bodyPr wrap="square" lIns="0" tIns="0" rIns="0" bIns="0" rtlCol="0" anchor="t"/>
          <a:lstStyle/>
          <a:p>
            <a:pPr indent="0" marL="0">
              <a:buNone/>
            </a:pPr>
            <a:r>
              <a:rPr lang="en-US" sz="1500" dirty="0">
                <a:solidFill>
                  <a:srgbClr val="F8FAFC"/>
                </a:solidFill>
                <a:latin typeface="Calibri" pitchFamily="34" charset="0"/>
                <a:ea typeface="Calibri" pitchFamily="34" charset="-122"/>
                <a:cs typeface="Calibri" pitchFamily="34" charset="-120"/>
              </a:rPr>
              <a:t>Every flow works end to end in our own environment, with real payments in the provider's sandbox.</a:t>
            </a:r>
            <a:endParaRPr lang="en-US" sz="1500" dirty="0"/>
          </a:p>
        </p:txBody>
      </p:sp>
      <p:sp>
        <p:nvSpPr>
          <p:cNvPr id="19" name="Shape 17"/>
          <p:cNvSpPr/>
          <p:nvPr/>
        </p:nvSpPr>
        <p:spPr>
          <a:xfrm>
            <a:off x="594360" y="4754880"/>
            <a:ext cx="329184" cy="329184"/>
          </a:xfrm>
          <a:prstGeom prst="ellipse">
            <a:avLst/>
          </a:prstGeom>
          <a:solidFill>
            <a:srgbClr val="FBBF24"/>
          </a:solidFill>
          <a:ln w="12700">
            <a:solidFill>
              <a:srgbClr val="FBBF24"/>
            </a:solidFill>
            <a:prstDash val="solid"/>
          </a:ln>
        </p:spPr>
      </p:sp>
      <p:sp>
        <p:nvSpPr>
          <p:cNvPr id="20" name="Text 18"/>
          <p:cNvSpPr txBox="1"/>
          <p:nvPr/>
        </p:nvSpPr>
        <p:spPr>
          <a:xfrm>
            <a:off x="1097280" y="4718304"/>
            <a:ext cx="2651760" cy="411480"/>
          </a:xfrm>
          <a:prstGeom prst="rect">
            <a:avLst/>
          </a:prstGeom>
          <a:noFill/>
          <a:ln/>
        </p:spPr>
        <p:txBody>
          <a:bodyPr wrap="square" lIns="0" tIns="0" rIns="0" bIns="0" rtlCol="0" anchor="t"/>
          <a:lstStyle/>
          <a:p>
            <a:pPr indent="0" marL="0">
              <a:buNone/>
            </a:pPr>
            <a:r>
              <a:rPr lang="en-US" sz="1600" b="1" dirty="0">
                <a:solidFill>
                  <a:srgbClr val="FBBF24"/>
                </a:solidFill>
                <a:latin typeface="Calibri" pitchFamily="34" charset="0"/>
                <a:ea typeface="Calibri" pitchFamily="34" charset="-122"/>
                <a:cs typeface="Calibri" pitchFamily="34" charset="-120"/>
              </a:rPr>
              <a:t>TRL 5-6  ·  pilot</a:t>
            </a:r>
            <a:endParaRPr lang="en-US" sz="1600" dirty="0"/>
          </a:p>
        </p:txBody>
      </p:sp>
      <p:sp>
        <p:nvSpPr>
          <p:cNvPr id="21" name="Text 19"/>
          <p:cNvSpPr txBox="1"/>
          <p:nvPr/>
        </p:nvSpPr>
        <p:spPr>
          <a:xfrm>
            <a:off x="3749040" y="4718304"/>
            <a:ext cx="7863840" cy="457200"/>
          </a:xfrm>
          <a:prstGeom prst="rect">
            <a:avLst/>
          </a:prstGeom>
          <a:noFill/>
          <a:ln/>
        </p:spPr>
        <p:txBody>
          <a:bodyPr wrap="square" lIns="0" tIns="0" rIns="0" bIns="0" rtlCol="0" anchor="t"/>
          <a:lstStyle/>
          <a:p>
            <a:pPr indent="0" marL="0">
              <a:buNone/>
            </a:pPr>
            <a:r>
              <a:rPr lang="en-US" sz="1500" dirty="0">
                <a:solidFill>
                  <a:srgbClr val="F8FAFC"/>
                </a:solidFill>
                <a:latin typeface="Calibri" pitchFamily="34" charset="0"/>
                <a:ea typeface="Calibri" pitchFamily="34" charset="-122"/>
                <a:cs typeface="Calibri" pitchFamily="34" charset="-120"/>
              </a:rPr>
              <a:t>Real suppliers and businesses, live payments, in their own shops and sites.</a:t>
            </a:r>
            <a:endParaRPr lang="en-US" sz="1500" dirty="0"/>
          </a:p>
        </p:txBody>
      </p:sp>
      <p:sp>
        <p:nvSpPr>
          <p:cNvPr id="22" name="Shape 20"/>
          <p:cNvSpPr/>
          <p:nvPr/>
        </p:nvSpPr>
        <p:spPr>
          <a:xfrm>
            <a:off x="594360" y="5440680"/>
            <a:ext cx="329184" cy="329184"/>
          </a:xfrm>
          <a:prstGeom prst="ellipse">
            <a:avLst/>
          </a:prstGeom>
          <a:solidFill>
            <a:srgbClr val="34D399"/>
          </a:solidFill>
          <a:ln w="12700">
            <a:solidFill>
              <a:srgbClr val="34D399"/>
            </a:solidFill>
            <a:prstDash val="solid"/>
          </a:ln>
        </p:spPr>
      </p:sp>
      <p:sp>
        <p:nvSpPr>
          <p:cNvPr id="23" name="Text 21"/>
          <p:cNvSpPr txBox="1"/>
          <p:nvPr/>
        </p:nvSpPr>
        <p:spPr>
          <a:xfrm>
            <a:off x="1097280" y="5404104"/>
            <a:ext cx="2651760" cy="411480"/>
          </a:xfrm>
          <a:prstGeom prst="rect">
            <a:avLst/>
          </a:prstGeom>
          <a:noFill/>
          <a:ln/>
        </p:spPr>
        <p:txBody>
          <a:bodyPr wrap="square" lIns="0" tIns="0" rIns="0" bIns="0" rtlCol="0" anchor="t"/>
          <a:lstStyle/>
          <a:p>
            <a:pPr indent="0" marL="0">
              <a:buNone/>
            </a:pPr>
            <a:r>
              <a:rPr lang="en-US" sz="1600" b="1" dirty="0">
                <a:solidFill>
                  <a:srgbClr val="34D399"/>
                </a:solidFill>
                <a:latin typeface="Calibri" pitchFamily="34" charset="0"/>
                <a:ea typeface="Calibri" pitchFamily="34" charset="-122"/>
                <a:cs typeface="Calibri" pitchFamily="34" charset="-120"/>
              </a:rPr>
              <a:t>TRL 7+  ·  year 1</a:t>
            </a:r>
            <a:endParaRPr lang="en-US" sz="1600" dirty="0"/>
          </a:p>
        </p:txBody>
      </p:sp>
      <p:sp>
        <p:nvSpPr>
          <p:cNvPr id="24" name="Text 22"/>
          <p:cNvSpPr txBox="1"/>
          <p:nvPr/>
        </p:nvSpPr>
        <p:spPr>
          <a:xfrm>
            <a:off x="3749040" y="5404104"/>
            <a:ext cx="7863840" cy="457200"/>
          </a:xfrm>
          <a:prstGeom prst="rect">
            <a:avLst/>
          </a:prstGeom>
          <a:noFill/>
          <a:ln/>
        </p:spPr>
        <p:txBody>
          <a:bodyPr wrap="square" lIns="0" tIns="0" rIns="0" bIns="0" rtlCol="0" anchor="t"/>
          <a:lstStyle/>
          <a:p>
            <a:pPr indent="0" marL="0">
              <a:buNone/>
            </a:pPr>
            <a:r>
              <a:rPr lang="en-US" sz="1500" dirty="0">
                <a:solidFill>
                  <a:srgbClr val="F8FAFC"/>
                </a:solidFill>
                <a:latin typeface="Calibri" pitchFamily="34" charset="0"/>
                <a:ea typeface="Calibri" pitchFamily="34" charset="-122"/>
                <a:cs typeface="Calibri" pitchFamily="34" charset="-120"/>
              </a:rPr>
              <a:t>All nine provinces; suppliers' stock systems connected.</a:t>
            </a:r>
            <a:endParaRPr lang="en-US" sz="1500" dirty="0"/>
          </a:p>
        </p:txBody>
      </p:sp>
      <p:pic>
        <p:nvPicPr>
          <p:cNvPr id="25"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26" name="Text 23"/>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THE ASK</a:t>
            </a:r>
            <a:endParaRPr lang="en-US" sz="1300" dirty="0"/>
          </a:p>
        </p:txBody>
      </p:sp>
      <p:sp>
        <p:nvSpPr>
          <p:cNvPr id="3" name="Text 1"/>
          <p:cNvSpPr txBox="1"/>
          <p:nvPr/>
        </p:nvSpPr>
        <p:spPr>
          <a:xfrm>
            <a:off x="548640" y="960120"/>
            <a:ext cx="5486400" cy="1280160"/>
          </a:xfrm>
          <a:prstGeom prst="rect">
            <a:avLst/>
          </a:prstGeom>
          <a:noFill/>
          <a:ln/>
        </p:spPr>
        <p:txBody>
          <a:bodyPr wrap="square" lIns="0" tIns="0" rIns="0" bIns="0" rtlCol="0" anchor="t"/>
          <a:lstStyle/>
          <a:p>
            <a:pPr indent="0" marL="0">
              <a:buNone/>
            </a:pPr>
            <a:r>
              <a:rPr lang="en-US" sz="7200" b="1" dirty="0">
                <a:solidFill>
                  <a:srgbClr val="FBBF24"/>
                </a:solidFill>
                <a:latin typeface="Georgia" pitchFamily="34" charset="0"/>
                <a:ea typeface="Georgia" pitchFamily="34" charset="-122"/>
                <a:cs typeface="Georgia" pitchFamily="34" charset="-120"/>
              </a:rPr>
              <a:t>R300,000</a:t>
            </a:r>
            <a:endParaRPr lang="en-US" sz="7200" dirty="0"/>
          </a:p>
        </p:txBody>
      </p:sp>
      <p:sp>
        <p:nvSpPr>
          <p:cNvPr id="4" name="Text 2"/>
          <p:cNvSpPr txBox="1"/>
          <p:nvPr/>
        </p:nvSpPr>
        <p:spPr>
          <a:xfrm>
            <a:off x="548640" y="2286000"/>
            <a:ext cx="5486400" cy="457200"/>
          </a:xfrm>
          <a:prstGeom prst="rect">
            <a:avLst/>
          </a:prstGeom>
          <a:noFill/>
          <a:ln/>
        </p:spPr>
        <p:txBody>
          <a:bodyPr wrap="square" lIns="0" tIns="0" rIns="0" bIns="0" rtlCol="0" anchor="t"/>
          <a:lstStyle/>
          <a:p>
            <a:pPr indent="0" marL="0">
              <a:buNone/>
            </a:pPr>
            <a:r>
              <a:rPr lang="en-US" sz="2200" b="1" dirty="0">
                <a:solidFill>
                  <a:srgbClr val="F8FAFC"/>
                </a:solidFill>
                <a:latin typeface="Calibri" pitchFamily="34" charset="0"/>
                <a:ea typeface="Calibri" pitchFamily="34" charset="-122"/>
                <a:cs typeface="Calibri" pitchFamily="34" charset="-120"/>
              </a:rPr>
              <a:t>for a 6-month pilot</a:t>
            </a:r>
            <a:endParaRPr lang="en-US" sz="2200" dirty="0"/>
          </a:p>
        </p:txBody>
      </p:sp>
      <p:sp>
        <p:nvSpPr>
          <p:cNvPr id="5" name="Shape 3"/>
          <p:cNvSpPr/>
          <p:nvPr/>
        </p:nvSpPr>
        <p:spPr>
          <a:xfrm>
            <a:off x="548640" y="2971800"/>
            <a:ext cx="502920" cy="502920"/>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669341" y="3092501"/>
            <a:ext cx="261518" cy="261518"/>
          </a:xfrm>
          <a:prstGeom prst="rect">
            <a:avLst/>
          </a:prstGeom>
        </p:spPr>
      </p:pic>
      <p:sp>
        <p:nvSpPr>
          <p:cNvPr id="7" name="Text 4"/>
          <p:cNvSpPr txBox="1"/>
          <p:nvPr/>
        </p:nvSpPr>
        <p:spPr>
          <a:xfrm>
            <a:off x="1234440" y="3044952"/>
            <a:ext cx="2103120" cy="36576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2 suppliers</a:t>
            </a:r>
            <a:endParaRPr lang="en-US" sz="1700" dirty="0"/>
          </a:p>
        </p:txBody>
      </p:sp>
      <p:sp>
        <p:nvSpPr>
          <p:cNvPr id="8" name="Text 5"/>
          <p:cNvSpPr txBox="1"/>
          <p:nvPr/>
        </p:nvSpPr>
        <p:spPr>
          <a:xfrm>
            <a:off x="3291840" y="3063240"/>
            <a:ext cx="274320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signed and live</a:t>
            </a:r>
            <a:endParaRPr lang="en-US" sz="1400" dirty="0"/>
          </a:p>
        </p:txBody>
      </p:sp>
      <p:sp>
        <p:nvSpPr>
          <p:cNvPr id="9" name="Shape 6"/>
          <p:cNvSpPr/>
          <p:nvPr/>
        </p:nvSpPr>
        <p:spPr>
          <a:xfrm>
            <a:off x="548640" y="3721608"/>
            <a:ext cx="502920" cy="502920"/>
          </a:xfrm>
          <a:prstGeom prst="ellipse">
            <a:avLst/>
          </a:prstGeom>
          <a:solidFill>
            <a:srgbClr val="1E2B45"/>
          </a:solidFill>
          <a:ln w="19050">
            <a:solidFill>
              <a:srgbClr val="10B981"/>
            </a:solidFill>
            <a:prstDash val="solid"/>
          </a:ln>
        </p:spPr>
      </p:sp>
      <p:pic>
        <p:nvPicPr>
          <p:cNvPr id="10" name="Image 1" descr="preencoded.png">    </p:cNvPr>
          <p:cNvPicPr>
            <a:picLocks noChangeAspect="1"/>
          </p:cNvPicPr>
          <p:nvPr/>
        </p:nvPicPr>
        <p:blipFill>
          <a:blip r:embed="rId2"/>
          <a:stretch>
            <a:fillRect/>
          </a:stretch>
        </p:blipFill>
        <p:spPr>
          <a:xfrm>
            <a:off x="669341" y="3842309"/>
            <a:ext cx="261518" cy="261518"/>
          </a:xfrm>
          <a:prstGeom prst="rect">
            <a:avLst/>
          </a:prstGeom>
        </p:spPr>
      </p:pic>
      <p:sp>
        <p:nvSpPr>
          <p:cNvPr id="11" name="Text 7"/>
          <p:cNvSpPr txBox="1"/>
          <p:nvPr/>
        </p:nvSpPr>
        <p:spPr>
          <a:xfrm>
            <a:off x="1234440" y="3794760"/>
            <a:ext cx="2103120" cy="36576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50-100 businesses</a:t>
            </a:r>
            <a:endParaRPr lang="en-US" sz="1700" dirty="0"/>
          </a:p>
        </p:txBody>
      </p:sp>
      <p:sp>
        <p:nvSpPr>
          <p:cNvPr id="12" name="Text 8"/>
          <p:cNvSpPr txBox="1"/>
          <p:nvPr/>
        </p:nvSpPr>
        <p:spPr>
          <a:xfrm>
            <a:off x="3291840" y="3813048"/>
            <a:ext cx="274320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using it every week</a:t>
            </a:r>
            <a:endParaRPr lang="en-US" sz="1400" dirty="0"/>
          </a:p>
        </p:txBody>
      </p:sp>
      <p:sp>
        <p:nvSpPr>
          <p:cNvPr id="13" name="Shape 9"/>
          <p:cNvSpPr/>
          <p:nvPr/>
        </p:nvSpPr>
        <p:spPr>
          <a:xfrm>
            <a:off x="548640" y="4471416"/>
            <a:ext cx="502920" cy="502920"/>
          </a:xfrm>
          <a:prstGeom prst="ellipse">
            <a:avLst/>
          </a:prstGeom>
          <a:solidFill>
            <a:srgbClr val="1E2B45"/>
          </a:solidFill>
          <a:ln w="19050">
            <a:solidFill>
              <a:srgbClr val="10B981"/>
            </a:solidFill>
            <a:prstDash val="solid"/>
          </a:ln>
        </p:spPr>
      </p:sp>
      <p:pic>
        <p:nvPicPr>
          <p:cNvPr id="14" name="Image 2" descr="preencoded.png">    </p:cNvPr>
          <p:cNvPicPr>
            <a:picLocks noChangeAspect="1"/>
          </p:cNvPicPr>
          <p:nvPr/>
        </p:nvPicPr>
        <p:blipFill>
          <a:blip r:embed="rId3"/>
          <a:stretch>
            <a:fillRect/>
          </a:stretch>
        </p:blipFill>
        <p:spPr>
          <a:xfrm>
            <a:off x="669341" y="4592117"/>
            <a:ext cx="261518" cy="261518"/>
          </a:xfrm>
          <a:prstGeom prst="rect">
            <a:avLst/>
          </a:prstGeom>
        </p:spPr>
      </p:pic>
      <p:sp>
        <p:nvSpPr>
          <p:cNvPr id="15" name="Text 10"/>
          <p:cNvSpPr txBox="1"/>
          <p:nvPr/>
        </p:nvSpPr>
        <p:spPr>
          <a:xfrm>
            <a:off x="1234440" y="4544568"/>
            <a:ext cx="2103120" cy="36576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TRL 6</a:t>
            </a:r>
            <a:endParaRPr lang="en-US" sz="1700" dirty="0"/>
          </a:p>
        </p:txBody>
      </p:sp>
      <p:sp>
        <p:nvSpPr>
          <p:cNvPr id="16" name="Text 11"/>
          <p:cNvSpPr txBox="1"/>
          <p:nvPr/>
        </p:nvSpPr>
        <p:spPr>
          <a:xfrm>
            <a:off x="3291840" y="4562856"/>
            <a:ext cx="274320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proven in real shops and sites</a:t>
            </a:r>
            <a:endParaRPr lang="en-US" sz="1400" dirty="0"/>
          </a:p>
        </p:txBody>
      </p:sp>
      <p:sp>
        <p:nvSpPr>
          <p:cNvPr id="17" name="Shape 12"/>
          <p:cNvSpPr/>
          <p:nvPr/>
        </p:nvSpPr>
        <p:spPr>
          <a:xfrm>
            <a:off x="548640" y="5221224"/>
            <a:ext cx="502920" cy="502920"/>
          </a:xfrm>
          <a:prstGeom prst="ellipse">
            <a:avLst/>
          </a:prstGeom>
          <a:solidFill>
            <a:srgbClr val="1E2B45"/>
          </a:solidFill>
          <a:ln w="19050">
            <a:solidFill>
              <a:srgbClr val="10B981"/>
            </a:solidFill>
            <a:prstDash val="solid"/>
          </a:ln>
        </p:spPr>
      </p:sp>
      <p:pic>
        <p:nvPicPr>
          <p:cNvPr id="18" name="Image 3" descr="preencoded.png">    </p:cNvPr>
          <p:cNvPicPr>
            <a:picLocks noChangeAspect="1"/>
          </p:cNvPicPr>
          <p:nvPr/>
        </p:nvPicPr>
        <p:blipFill>
          <a:blip r:embed="rId4"/>
          <a:stretch>
            <a:fillRect/>
          </a:stretch>
        </p:blipFill>
        <p:spPr>
          <a:xfrm>
            <a:off x="669341" y="5341925"/>
            <a:ext cx="261518" cy="261518"/>
          </a:xfrm>
          <a:prstGeom prst="rect">
            <a:avLst/>
          </a:prstGeom>
        </p:spPr>
      </p:pic>
      <p:sp>
        <p:nvSpPr>
          <p:cNvPr id="19" name="Text 13"/>
          <p:cNvSpPr txBox="1"/>
          <p:nvPr/>
        </p:nvSpPr>
        <p:spPr>
          <a:xfrm>
            <a:off x="1234440" y="5294376"/>
            <a:ext cx="2103120" cy="36576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Break-even</a:t>
            </a:r>
            <a:endParaRPr lang="en-US" sz="1700" dirty="0"/>
          </a:p>
        </p:txBody>
      </p:sp>
      <p:sp>
        <p:nvSpPr>
          <p:cNvPr id="20" name="Text 14"/>
          <p:cNvSpPr txBox="1"/>
          <p:nvPr/>
        </p:nvSpPr>
        <p:spPr>
          <a:xfrm>
            <a:off x="3291840" y="5312664"/>
            <a:ext cx="274320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at 2 suppliers on Starter (~R460/month to run)</a:t>
            </a:r>
            <a:endParaRPr lang="en-US" sz="1400" dirty="0"/>
          </a:p>
        </p:txBody>
      </p:sp>
      <p:sp>
        <p:nvSpPr>
          <p:cNvPr id="21" name="Shape 15"/>
          <p:cNvSpPr/>
          <p:nvPr/>
        </p:nvSpPr>
        <p:spPr>
          <a:xfrm>
            <a:off x="6309360" y="1097280"/>
            <a:ext cx="5303520" cy="4892040"/>
          </a:xfrm>
          <a:prstGeom prst="roundRect">
            <a:avLst>
              <a:gd name="adj" fmla="val 2243"/>
            </a:avLst>
          </a:prstGeom>
          <a:solidFill>
            <a:srgbClr val="17223A"/>
          </a:solidFill>
          <a:ln w="12700">
            <a:solidFill>
              <a:srgbClr val="17223A"/>
            </a:solidFill>
            <a:prstDash val="solid"/>
          </a:ln>
        </p:spPr>
      </p:sp>
      <p:graphicFrame>
        <p:nvGraphicFramePr>
          <p:cNvPr id="22" name="Chart 0" descr=""/>
          <p:cNvGraphicFramePr/>
          <p:nvPr/>
        </p:nvGraphicFramePr>
        <p:xfrm>
          <a:off x="6400800" y="1188720"/>
          <a:ext cx="5120640" cy="4709160"/>
        </p:xfrm>
        <a:graphic xmlns:a="http://schemas.openxmlformats.org/drawingml/2006/main">
          <a:graphicData uri="http://schemas.openxmlformats.org/drawingml/2006/chart">
            <c:chart xmlns:c="http://schemas.openxmlformats.org/drawingml/2006/chart" r:id="rId5"/>
          </a:graphicData>
        </a:graphic>
      </p:graphicFrame>
      <p:pic>
        <p:nvPicPr>
          <p:cNvPr id="23" name="Image 4" descr="preencoded.png">    </p:cNvPr>
          <p:cNvPicPr>
            <a:picLocks noChangeAspect="1"/>
          </p:cNvPicPr>
          <p:nvPr/>
        </p:nvPicPr>
        <p:blipFill>
          <a:blip r:embed="rId6"/>
          <a:stretch>
            <a:fillRect/>
          </a:stretch>
        </p:blipFill>
        <p:spPr>
          <a:xfrm>
            <a:off x="11231575" y="6291072"/>
            <a:ext cx="384048" cy="384048"/>
          </a:xfrm>
          <a:prstGeom prst="rect">
            <a:avLst/>
          </a:prstGeom>
        </p:spPr>
      </p:pic>
      <p:sp>
        <p:nvSpPr>
          <p:cNvPr id="24" name="Text 16"/>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WHAT IT COSTS</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Small to start. Profitable by year 3.</a:t>
            </a:r>
            <a:endParaRPr lang="en-US" sz="3400" dirty="0"/>
          </a:p>
        </p:txBody>
      </p:sp>
      <p:sp>
        <p:nvSpPr>
          <p:cNvPr id="4" name="Shape 2"/>
          <p:cNvSpPr/>
          <p:nvPr/>
        </p:nvSpPr>
        <p:spPr>
          <a:xfrm>
            <a:off x="548640" y="1828800"/>
            <a:ext cx="4846320" cy="1188720"/>
          </a:xfrm>
          <a:prstGeom prst="roundRect">
            <a:avLst>
              <a:gd name="adj" fmla="val 9231"/>
            </a:avLst>
          </a:prstGeom>
          <a:solidFill>
            <a:srgbClr val="17223A"/>
          </a:solidFill>
          <a:ln w="12700">
            <a:solidFill>
              <a:srgbClr val="17223A"/>
            </a:solidFill>
            <a:prstDash val="solid"/>
          </a:ln>
        </p:spPr>
      </p:sp>
      <p:sp>
        <p:nvSpPr>
          <p:cNvPr id="5" name="Text 3"/>
          <p:cNvSpPr txBox="1"/>
          <p:nvPr/>
        </p:nvSpPr>
        <p:spPr>
          <a:xfrm>
            <a:off x="777240" y="1938528"/>
            <a:ext cx="2011680" cy="320040"/>
          </a:xfrm>
          <a:prstGeom prst="rect">
            <a:avLst/>
          </a:prstGeom>
          <a:noFill/>
          <a:ln/>
        </p:spPr>
        <p:txBody>
          <a:bodyPr wrap="square" lIns="0" tIns="0" rIns="0" bIns="0" rtlCol="0" anchor="t"/>
          <a:lstStyle/>
          <a:p>
            <a:pPr indent="0" marL="0">
              <a:buNone/>
            </a:pPr>
            <a:r>
              <a:rPr lang="en-US" sz="1200" b="1" spc="200" kern="0" dirty="0">
                <a:solidFill>
                  <a:srgbClr val="A3B3C9"/>
                </a:solidFill>
                <a:latin typeface="Calibri" pitchFamily="34" charset="0"/>
                <a:ea typeface="Calibri" pitchFamily="34" charset="-122"/>
                <a:cs typeface="Calibri" pitchFamily="34" charset="-120"/>
              </a:rPr>
              <a:t>START</a:t>
            </a:r>
            <a:endParaRPr lang="en-US" sz="1200" dirty="0"/>
          </a:p>
        </p:txBody>
      </p:sp>
      <p:sp>
        <p:nvSpPr>
          <p:cNvPr id="6" name="Text 4"/>
          <p:cNvSpPr txBox="1"/>
          <p:nvPr/>
        </p:nvSpPr>
        <p:spPr>
          <a:xfrm>
            <a:off x="777240" y="2240280"/>
            <a:ext cx="2011680" cy="594360"/>
          </a:xfrm>
          <a:prstGeom prst="rect">
            <a:avLst/>
          </a:prstGeom>
          <a:noFill/>
          <a:ln/>
        </p:spPr>
        <p:txBody>
          <a:bodyPr wrap="square" lIns="0" tIns="0" rIns="0" bIns="0" rtlCol="0" anchor="t"/>
          <a:lstStyle/>
          <a:p>
            <a:pPr indent="0" marL="0">
              <a:buNone/>
            </a:pPr>
            <a:r>
              <a:rPr lang="en-US" sz="3000" b="1" dirty="0">
                <a:solidFill>
                  <a:srgbClr val="FBBF24"/>
                </a:solidFill>
                <a:latin typeface="Georgia" pitchFamily="34" charset="0"/>
                <a:ea typeface="Georgia" pitchFamily="34" charset="-122"/>
                <a:cs typeface="Georgia" pitchFamily="34" charset="-120"/>
              </a:rPr>
              <a:t>R300k</a:t>
            </a:r>
            <a:endParaRPr lang="en-US" sz="3000" dirty="0"/>
          </a:p>
        </p:txBody>
      </p:sp>
      <p:sp>
        <p:nvSpPr>
          <p:cNvPr id="7" name="Text 5"/>
          <p:cNvSpPr txBox="1"/>
          <p:nvPr/>
        </p:nvSpPr>
        <p:spPr>
          <a:xfrm>
            <a:off x="2743200" y="2011680"/>
            <a:ext cx="2514600" cy="868680"/>
          </a:xfrm>
          <a:prstGeom prst="rect">
            <a:avLst/>
          </a:prstGeom>
          <a:noFill/>
          <a:ln/>
        </p:spPr>
        <p:txBody>
          <a:bodyPr wrap="square" lIns="0" tIns="0" rIns="0" bIns="0" rtlCol="0" anchor="ctr"/>
          <a:lstStyle/>
          <a:p>
            <a:pPr indent="0" marL="0">
              <a:buNone/>
            </a:pPr>
            <a:r>
              <a:rPr lang="en-US" sz="1350" dirty="0">
                <a:solidFill>
                  <a:srgbClr val="F8FAFC"/>
                </a:solidFill>
                <a:latin typeface="Calibri" pitchFamily="34" charset="0"/>
                <a:ea typeface="Calibri" pitchFamily="34" charset="-122"/>
                <a:cs typeface="Calibri" pitchFamily="34" charset="-120"/>
              </a:rPr>
              <a:t>One-off: the 6-month pilot (the ask)</a:t>
            </a:r>
            <a:endParaRPr lang="en-US" sz="1350" dirty="0"/>
          </a:p>
        </p:txBody>
      </p:sp>
      <p:sp>
        <p:nvSpPr>
          <p:cNvPr id="8" name="Shape 6"/>
          <p:cNvSpPr/>
          <p:nvPr/>
        </p:nvSpPr>
        <p:spPr>
          <a:xfrm>
            <a:off x="548640" y="3200400"/>
            <a:ext cx="4846320" cy="1188720"/>
          </a:xfrm>
          <a:prstGeom prst="roundRect">
            <a:avLst>
              <a:gd name="adj" fmla="val 9231"/>
            </a:avLst>
          </a:prstGeom>
          <a:solidFill>
            <a:srgbClr val="17223A"/>
          </a:solidFill>
          <a:ln w="12700">
            <a:solidFill>
              <a:srgbClr val="17223A"/>
            </a:solidFill>
            <a:prstDash val="solid"/>
          </a:ln>
        </p:spPr>
      </p:sp>
      <p:sp>
        <p:nvSpPr>
          <p:cNvPr id="9" name="Text 7"/>
          <p:cNvSpPr txBox="1"/>
          <p:nvPr/>
        </p:nvSpPr>
        <p:spPr>
          <a:xfrm>
            <a:off x="777240" y="3310128"/>
            <a:ext cx="2011680" cy="320040"/>
          </a:xfrm>
          <a:prstGeom prst="rect">
            <a:avLst/>
          </a:prstGeom>
          <a:noFill/>
          <a:ln/>
        </p:spPr>
        <p:txBody>
          <a:bodyPr wrap="square" lIns="0" tIns="0" rIns="0" bIns="0" rtlCol="0" anchor="t"/>
          <a:lstStyle/>
          <a:p>
            <a:pPr indent="0" marL="0">
              <a:buNone/>
            </a:pPr>
            <a:r>
              <a:rPr lang="en-US" sz="1200" b="1" spc="200" kern="0" dirty="0">
                <a:solidFill>
                  <a:srgbClr val="A3B3C9"/>
                </a:solidFill>
                <a:latin typeface="Calibri" pitchFamily="34" charset="0"/>
                <a:ea typeface="Calibri" pitchFamily="34" charset="-122"/>
                <a:cs typeface="Calibri" pitchFamily="34" charset="-120"/>
              </a:rPr>
              <a:t>GROW</a:t>
            </a:r>
            <a:endParaRPr lang="en-US" sz="1200" dirty="0"/>
          </a:p>
        </p:txBody>
      </p:sp>
      <p:sp>
        <p:nvSpPr>
          <p:cNvPr id="10" name="Text 8"/>
          <p:cNvSpPr txBox="1"/>
          <p:nvPr/>
        </p:nvSpPr>
        <p:spPr>
          <a:xfrm>
            <a:off x="777240" y="3611880"/>
            <a:ext cx="2011680" cy="594360"/>
          </a:xfrm>
          <a:prstGeom prst="rect">
            <a:avLst/>
          </a:prstGeom>
          <a:noFill/>
          <a:ln/>
        </p:spPr>
        <p:txBody>
          <a:bodyPr wrap="square" lIns="0" tIns="0" rIns="0" bIns="0" rtlCol="0" anchor="t"/>
          <a:lstStyle/>
          <a:p>
            <a:pPr indent="0" marL="0">
              <a:buNone/>
            </a:pPr>
            <a:r>
              <a:rPr lang="en-US" sz="3000" b="1" dirty="0">
                <a:solidFill>
                  <a:srgbClr val="34D399"/>
                </a:solidFill>
                <a:latin typeface="Georgia" pitchFamily="34" charset="0"/>
                <a:ea typeface="Georgia" pitchFamily="34" charset="-122"/>
                <a:cs typeface="Georgia" pitchFamily="34" charset="-120"/>
              </a:rPr>
              <a:t>~R1.5m</a:t>
            </a:r>
            <a:endParaRPr lang="en-US" sz="3000" dirty="0"/>
          </a:p>
        </p:txBody>
      </p:sp>
      <p:sp>
        <p:nvSpPr>
          <p:cNvPr id="11" name="Text 9"/>
          <p:cNvSpPr txBox="1"/>
          <p:nvPr/>
        </p:nvSpPr>
        <p:spPr>
          <a:xfrm>
            <a:off x="2743200" y="3383280"/>
            <a:ext cx="2514600" cy="868680"/>
          </a:xfrm>
          <a:prstGeom prst="rect">
            <a:avLst/>
          </a:prstGeom>
          <a:noFill/>
          <a:ln/>
        </p:spPr>
        <p:txBody>
          <a:bodyPr wrap="square" lIns="0" tIns="0" rIns="0" bIns="0" rtlCol="0" anchor="ctr"/>
          <a:lstStyle/>
          <a:p>
            <a:pPr indent="0" marL="0">
              <a:buNone/>
            </a:pPr>
            <a:r>
              <a:rPr lang="en-US" sz="1350" dirty="0">
                <a:solidFill>
                  <a:srgbClr val="F8FAFC"/>
                </a:solidFill>
                <a:latin typeface="Calibri" pitchFamily="34" charset="0"/>
                <a:ea typeface="Calibri" pitchFamily="34" charset="-122"/>
                <a:cs typeface="Calibri" pitchFamily="34" charset="-120"/>
              </a:rPr>
              <a:t>Raised after the pilot, to hire ahead of revenue</a:t>
            </a:r>
            <a:endParaRPr lang="en-US" sz="1350" dirty="0"/>
          </a:p>
        </p:txBody>
      </p:sp>
      <p:sp>
        <p:nvSpPr>
          <p:cNvPr id="12" name="Shape 10"/>
          <p:cNvSpPr/>
          <p:nvPr/>
        </p:nvSpPr>
        <p:spPr>
          <a:xfrm>
            <a:off x="548640" y="4572000"/>
            <a:ext cx="4846320" cy="1188720"/>
          </a:xfrm>
          <a:prstGeom prst="roundRect">
            <a:avLst>
              <a:gd name="adj" fmla="val 9231"/>
            </a:avLst>
          </a:prstGeom>
          <a:solidFill>
            <a:srgbClr val="17223A"/>
          </a:solidFill>
          <a:ln w="12700">
            <a:solidFill>
              <a:srgbClr val="17223A"/>
            </a:solidFill>
            <a:prstDash val="solid"/>
          </a:ln>
        </p:spPr>
      </p:sp>
      <p:sp>
        <p:nvSpPr>
          <p:cNvPr id="13" name="Text 11"/>
          <p:cNvSpPr txBox="1"/>
          <p:nvPr/>
        </p:nvSpPr>
        <p:spPr>
          <a:xfrm>
            <a:off x="777240" y="4681728"/>
            <a:ext cx="2011680" cy="320040"/>
          </a:xfrm>
          <a:prstGeom prst="rect">
            <a:avLst/>
          </a:prstGeom>
          <a:noFill/>
          <a:ln/>
        </p:spPr>
        <p:txBody>
          <a:bodyPr wrap="square" lIns="0" tIns="0" rIns="0" bIns="0" rtlCol="0" anchor="t"/>
          <a:lstStyle/>
          <a:p>
            <a:pPr indent="0" marL="0">
              <a:buNone/>
            </a:pPr>
            <a:r>
              <a:rPr lang="en-US" sz="1200" b="1" spc="200" kern="0" dirty="0">
                <a:solidFill>
                  <a:srgbClr val="A3B3C9"/>
                </a:solidFill>
                <a:latin typeface="Calibri" pitchFamily="34" charset="0"/>
                <a:ea typeface="Calibri" pitchFamily="34" charset="-122"/>
                <a:cs typeface="Calibri" pitchFamily="34" charset="-120"/>
              </a:rPr>
              <a:t>BREAK EVEN</a:t>
            </a:r>
            <a:endParaRPr lang="en-US" sz="1200" dirty="0"/>
          </a:p>
        </p:txBody>
      </p:sp>
      <p:sp>
        <p:nvSpPr>
          <p:cNvPr id="14" name="Text 12"/>
          <p:cNvSpPr txBox="1"/>
          <p:nvPr/>
        </p:nvSpPr>
        <p:spPr>
          <a:xfrm>
            <a:off x="777240" y="4983480"/>
            <a:ext cx="2011680" cy="594360"/>
          </a:xfrm>
          <a:prstGeom prst="rect">
            <a:avLst/>
          </a:prstGeom>
          <a:noFill/>
          <a:ln/>
        </p:spPr>
        <p:txBody>
          <a:bodyPr wrap="square" lIns="0" tIns="0" rIns="0" bIns="0" rtlCol="0" anchor="t"/>
          <a:lstStyle/>
          <a:p>
            <a:pPr indent="0" marL="0">
              <a:buNone/>
            </a:pPr>
            <a:r>
              <a:rPr lang="en-US" sz="3000" b="1" dirty="0">
                <a:solidFill>
                  <a:srgbClr val="10B981"/>
                </a:solidFill>
                <a:latin typeface="Georgia" pitchFamily="34" charset="0"/>
                <a:ea typeface="Georgia" pitchFamily="34" charset="-122"/>
                <a:cs typeface="Georgia" pitchFamily="34" charset="-120"/>
              </a:rPr>
              <a:t>Year 2</a:t>
            </a:r>
            <a:endParaRPr lang="en-US" sz="3000" dirty="0"/>
          </a:p>
        </p:txBody>
      </p:sp>
      <p:sp>
        <p:nvSpPr>
          <p:cNvPr id="15" name="Text 13"/>
          <p:cNvSpPr txBox="1"/>
          <p:nvPr/>
        </p:nvSpPr>
        <p:spPr>
          <a:xfrm>
            <a:off x="2743200" y="4754880"/>
            <a:ext cx="2514600" cy="868680"/>
          </a:xfrm>
          <a:prstGeom prst="rect">
            <a:avLst/>
          </a:prstGeom>
          <a:noFill/>
          <a:ln/>
        </p:spPr>
        <p:txBody>
          <a:bodyPr wrap="square" lIns="0" tIns="0" rIns="0" bIns="0" rtlCol="0" anchor="ctr"/>
          <a:lstStyle/>
          <a:p>
            <a:pPr indent="0" marL="0">
              <a:buNone/>
            </a:pPr>
            <a:r>
              <a:rPr lang="en-US" sz="1350" dirty="0">
                <a:solidFill>
                  <a:srgbClr val="F8FAFC"/>
                </a:solidFill>
                <a:latin typeface="Calibri" pitchFamily="34" charset="0"/>
                <a:ea typeface="Calibri" pitchFamily="34" charset="-122"/>
                <a:cs typeface="Calibri" pitchFamily="34" charset="-120"/>
              </a:rPr>
              <a:t>Suppliers' fees cover all costs</a:t>
            </a:r>
            <a:endParaRPr lang="en-US" sz="1350" dirty="0"/>
          </a:p>
        </p:txBody>
      </p:sp>
      <p:sp>
        <p:nvSpPr>
          <p:cNvPr id="16" name="Shape 14"/>
          <p:cNvSpPr/>
          <p:nvPr/>
        </p:nvSpPr>
        <p:spPr>
          <a:xfrm>
            <a:off x="5760720" y="1737360"/>
            <a:ext cx="5852160" cy="4023360"/>
          </a:xfrm>
          <a:prstGeom prst="roundRect">
            <a:avLst>
              <a:gd name="adj" fmla="val 2727"/>
            </a:avLst>
          </a:prstGeom>
          <a:solidFill>
            <a:srgbClr val="17223A"/>
          </a:solidFill>
          <a:ln w="12700">
            <a:solidFill>
              <a:srgbClr val="17223A"/>
            </a:solidFill>
            <a:prstDash val="solid"/>
          </a:ln>
        </p:spPr>
      </p:sp>
      <p:graphicFrame>
        <p:nvGraphicFramePr>
          <p:cNvPr id="17" name="Chart 0" descr=""/>
          <p:cNvGraphicFramePr/>
          <p:nvPr/>
        </p:nvGraphicFramePr>
        <p:xfrm>
          <a:off x="5852160" y="1828800"/>
          <a:ext cx="5669280" cy="384048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760720" y="5852160"/>
            <a:ext cx="5852160" cy="365760"/>
          </a:xfrm>
          <a:prstGeom prst="rect">
            <a:avLst/>
          </a:prstGeom>
          <a:noFill/>
          <a:ln/>
        </p:spPr>
        <p:txBody>
          <a:bodyPr wrap="square" lIns="0" tIns="0" rIns="0" bIns="0" rtlCol="0" anchor="t"/>
          <a:lstStyle/>
          <a:p>
            <a:pPr indent="0" marL="0">
              <a:buNone/>
            </a:pPr>
            <a:r>
              <a:rPr lang="en-US" sz="1250" i="1" dirty="0">
                <a:solidFill>
                  <a:srgbClr val="FBBF24"/>
                </a:solidFill>
                <a:latin typeface="Calibri" pitchFamily="34" charset="0"/>
                <a:ea typeface="Calibri" pitchFamily="34" charset="-122"/>
                <a:cs typeface="Calibri" pitchFamily="34" charset="-120"/>
              </a:rPr>
              <a:t>Most of the cost is people: the team and field agents.</a:t>
            </a:r>
            <a:endParaRPr lang="en-US" sz="1250" dirty="0"/>
          </a:p>
        </p:txBody>
      </p:sp>
      <p:pic>
        <p:nvPicPr>
          <p:cNvPr id="19" name="Image 0" descr="preencoded.png">    </p:cNvPr>
          <p:cNvPicPr>
            <a:picLocks noChangeAspect="1"/>
          </p:cNvPicPr>
          <p:nvPr/>
        </p:nvPicPr>
        <p:blipFill>
          <a:blip r:embed="rId2"/>
          <a:stretch>
            <a:fillRect/>
          </a:stretch>
        </p:blipFill>
        <p:spPr>
          <a:xfrm>
            <a:off x="11231575" y="6291072"/>
            <a:ext cx="384048" cy="384048"/>
          </a:xfrm>
          <a:prstGeom prst="rect">
            <a:avLst/>
          </a:prstGeom>
        </p:spPr>
      </p:pic>
      <p:sp>
        <p:nvSpPr>
          <p:cNvPr id="20" name="Text 16"/>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16</a:t>
            </a:r>
            <a:endParaRPr lang="en-US" sz="1000" dirty="0"/>
          </a:p>
        </p:txBody>
      </p:sp>
      <p:sp>
        <p:nvSpPr>
          <p:cNvPr id="21" name="Text 17"/>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Estimates. Costs: team, field agents, sales, hosting and messaging, security and POPIA.</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TEAM PR</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Builders who know the kasi</a:t>
            </a:r>
            <a:endParaRPr lang="en-US" sz="3400" dirty="0"/>
          </a:p>
        </p:txBody>
      </p:sp>
      <p:sp>
        <p:nvSpPr>
          <p:cNvPr id="4" name="Shape 2"/>
          <p:cNvSpPr/>
          <p:nvPr/>
        </p:nvSpPr>
        <p:spPr>
          <a:xfrm>
            <a:off x="548640" y="1783080"/>
            <a:ext cx="5349240" cy="2926080"/>
          </a:xfrm>
          <a:prstGeom prst="roundRect">
            <a:avLst>
              <a:gd name="adj" fmla="val 3750"/>
            </a:avLst>
          </a:prstGeom>
          <a:solidFill>
            <a:srgbClr val="17223A"/>
          </a:solidFill>
          <a:ln w="12700">
            <a:solidFill>
              <a:srgbClr val="17223A"/>
            </a:solidFill>
            <a:prstDash val="solid"/>
          </a:ln>
        </p:spPr>
      </p:sp>
      <p:sp>
        <p:nvSpPr>
          <p:cNvPr id="5" name="Shape 3"/>
          <p:cNvSpPr/>
          <p:nvPr/>
        </p:nvSpPr>
        <p:spPr>
          <a:xfrm>
            <a:off x="914400" y="2103120"/>
            <a:ext cx="1234440" cy="1234440"/>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1210666" y="2399386"/>
            <a:ext cx="641909" cy="641909"/>
          </a:xfrm>
          <a:prstGeom prst="rect">
            <a:avLst/>
          </a:prstGeom>
        </p:spPr>
      </p:pic>
      <p:sp>
        <p:nvSpPr>
          <p:cNvPr id="7" name="Text 4"/>
          <p:cNvSpPr txBox="1"/>
          <p:nvPr/>
        </p:nvSpPr>
        <p:spPr>
          <a:xfrm>
            <a:off x="2423160" y="2148840"/>
            <a:ext cx="3291840" cy="640080"/>
          </a:xfrm>
          <a:prstGeom prst="rect">
            <a:avLst/>
          </a:prstGeom>
          <a:noFill/>
          <a:ln/>
        </p:spPr>
        <p:txBody>
          <a:bodyPr wrap="square" lIns="0" tIns="0" rIns="0" bIns="0" rtlCol="0" anchor="t"/>
          <a:lstStyle/>
          <a:p>
            <a:pPr indent="0" marL="0">
              <a:buNone/>
            </a:pPr>
            <a:r>
              <a:rPr lang="en-US" sz="3200" b="1" dirty="0">
                <a:solidFill>
                  <a:srgbClr val="10B981"/>
                </a:solidFill>
                <a:latin typeface="Georgia" pitchFamily="34" charset="0"/>
                <a:ea typeface="Georgia" pitchFamily="34" charset="-122"/>
                <a:cs typeface="Georgia" pitchFamily="34" charset="-120"/>
              </a:rPr>
              <a:t>Mandla</a:t>
            </a:r>
            <a:endParaRPr lang="en-US" sz="3200" dirty="0"/>
          </a:p>
        </p:txBody>
      </p:sp>
      <p:sp>
        <p:nvSpPr>
          <p:cNvPr id="8" name="Text 5"/>
          <p:cNvSpPr txBox="1"/>
          <p:nvPr/>
        </p:nvSpPr>
        <p:spPr>
          <a:xfrm>
            <a:off x="2423160" y="2788920"/>
            <a:ext cx="3291840" cy="36576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Team lead</a:t>
            </a:r>
            <a:endParaRPr lang="en-US" sz="1600" dirty="0"/>
          </a:p>
        </p:txBody>
      </p:sp>
      <p:sp>
        <p:nvSpPr>
          <p:cNvPr id="9" name="Text 6"/>
          <p:cNvSpPr txBox="1"/>
          <p:nvPr/>
        </p:nvSpPr>
        <p:spPr>
          <a:xfrm>
            <a:off x="2423160" y="3200400"/>
            <a:ext cx="3291840" cy="128016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Product, backend, payments and the supplier engine</a:t>
            </a:r>
            <a:endParaRPr lang="en-US" sz="1500" dirty="0"/>
          </a:p>
        </p:txBody>
      </p:sp>
      <p:sp>
        <p:nvSpPr>
          <p:cNvPr id="10" name="Shape 7"/>
          <p:cNvSpPr/>
          <p:nvPr/>
        </p:nvSpPr>
        <p:spPr>
          <a:xfrm>
            <a:off x="6172200" y="1783080"/>
            <a:ext cx="5349240" cy="2926080"/>
          </a:xfrm>
          <a:prstGeom prst="roundRect">
            <a:avLst>
              <a:gd name="adj" fmla="val 3750"/>
            </a:avLst>
          </a:prstGeom>
          <a:solidFill>
            <a:srgbClr val="17223A"/>
          </a:solidFill>
          <a:ln w="12700">
            <a:solidFill>
              <a:srgbClr val="17223A"/>
            </a:solidFill>
            <a:prstDash val="solid"/>
          </a:ln>
        </p:spPr>
      </p:sp>
      <p:sp>
        <p:nvSpPr>
          <p:cNvPr id="11" name="Shape 8"/>
          <p:cNvSpPr/>
          <p:nvPr/>
        </p:nvSpPr>
        <p:spPr>
          <a:xfrm>
            <a:off x="6537960" y="2103120"/>
            <a:ext cx="1234440" cy="1234440"/>
          </a:xfrm>
          <a:prstGeom prst="ellipse">
            <a:avLst/>
          </a:prstGeom>
          <a:solidFill>
            <a:srgbClr val="1E2B45"/>
          </a:solidFill>
          <a:ln w="19050">
            <a:solidFill>
              <a:srgbClr val="FBBF24"/>
            </a:solidFill>
            <a:prstDash val="solid"/>
          </a:ln>
        </p:spPr>
      </p:sp>
      <p:pic>
        <p:nvPicPr>
          <p:cNvPr id="12" name="Image 1" descr="preencoded.png">    </p:cNvPr>
          <p:cNvPicPr>
            <a:picLocks noChangeAspect="1"/>
          </p:cNvPicPr>
          <p:nvPr/>
        </p:nvPicPr>
        <p:blipFill>
          <a:blip r:embed="rId2"/>
          <a:stretch>
            <a:fillRect/>
          </a:stretch>
        </p:blipFill>
        <p:spPr>
          <a:xfrm>
            <a:off x="6834226" y="2399386"/>
            <a:ext cx="641909" cy="641909"/>
          </a:xfrm>
          <a:prstGeom prst="rect">
            <a:avLst/>
          </a:prstGeom>
        </p:spPr>
      </p:pic>
      <p:sp>
        <p:nvSpPr>
          <p:cNvPr id="13" name="Text 9"/>
          <p:cNvSpPr txBox="1"/>
          <p:nvPr/>
        </p:nvSpPr>
        <p:spPr>
          <a:xfrm>
            <a:off x="8046720" y="2148840"/>
            <a:ext cx="3291840" cy="640080"/>
          </a:xfrm>
          <a:prstGeom prst="rect">
            <a:avLst/>
          </a:prstGeom>
          <a:noFill/>
          <a:ln/>
        </p:spPr>
        <p:txBody>
          <a:bodyPr wrap="square" lIns="0" tIns="0" rIns="0" bIns="0" rtlCol="0" anchor="t"/>
          <a:lstStyle/>
          <a:p>
            <a:pPr indent="0" marL="0">
              <a:buNone/>
            </a:pPr>
            <a:r>
              <a:rPr lang="en-US" sz="3200" b="1" dirty="0">
                <a:solidFill>
                  <a:srgbClr val="FBBF24"/>
                </a:solidFill>
                <a:latin typeface="Georgia" pitchFamily="34" charset="0"/>
                <a:ea typeface="Georgia" pitchFamily="34" charset="-122"/>
                <a:cs typeface="Georgia" pitchFamily="34" charset="-120"/>
              </a:rPr>
              <a:t>Risuna</a:t>
            </a:r>
            <a:endParaRPr lang="en-US" sz="3200" dirty="0"/>
          </a:p>
        </p:txBody>
      </p:sp>
      <p:sp>
        <p:nvSpPr>
          <p:cNvPr id="14" name="Text 10"/>
          <p:cNvSpPr txBox="1"/>
          <p:nvPr/>
        </p:nvSpPr>
        <p:spPr>
          <a:xfrm>
            <a:off x="8046720" y="2788920"/>
            <a:ext cx="3291840" cy="36576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Business tools</a:t>
            </a:r>
            <a:endParaRPr lang="en-US" sz="1600" dirty="0"/>
          </a:p>
        </p:txBody>
      </p:sp>
      <p:sp>
        <p:nvSpPr>
          <p:cNvPr id="15" name="Text 11"/>
          <p:cNvSpPr txBox="1"/>
          <p:nvPr/>
        </p:nvSpPr>
        <p:spPr>
          <a:xfrm>
            <a:off x="8046720" y="3200400"/>
            <a:ext cx="3291840" cy="128016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Credit book, order book, jobs, builder network, notifications</a:t>
            </a:r>
            <a:endParaRPr lang="en-US" sz="1500" dirty="0"/>
          </a:p>
        </p:txBody>
      </p:sp>
      <p:sp>
        <p:nvSpPr>
          <p:cNvPr id="16" name="Shape 12"/>
          <p:cNvSpPr/>
          <p:nvPr/>
        </p:nvSpPr>
        <p:spPr>
          <a:xfrm>
            <a:off x="548640" y="4983480"/>
            <a:ext cx="11064240" cy="1005840"/>
          </a:xfrm>
          <a:prstGeom prst="roundRect">
            <a:avLst>
              <a:gd name="adj" fmla="val 10909"/>
            </a:avLst>
          </a:prstGeom>
          <a:solidFill>
            <a:srgbClr val="1E2B45"/>
          </a:solidFill>
          <a:ln w="12700">
            <a:solidFill>
              <a:srgbClr val="1E2B45"/>
            </a:solidFill>
            <a:prstDash val="solid"/>
          </a:ln>
        </p:spPr>
      </p:sp>
      <p:sp>
        <p:nvSpPr>
          <p:cNvPr id="17" name="Text 13"/>
          <p:cNvSpPr txBox="1"/>
          <p:nvPr/>
        </p:nvSpPr>
        <p:spPr>
          <a:xfrm>
            <a:off x="868680" y="5230368"/>
            <a:ext cx="10424160" cy="548640"/>
          </a:xfrm>
          <a:prstGeom prst="rect">
            <a:avLst/>
          </a:prstGeom>
          <a:noFill/>
          <a:ln/>
        </p:spPr>
        <p:txBody>
          <a:bodyPr wrap="square" lIns="0" tIns="0" rIns="0" bIns="0" rtlCol="0" anchor="ctr"/>
          <a:lstStyle/>
          <a:p>
            <a:pPr indent="0" marL="0">
              <a:buNone/>
            </a:pPr>
            <a:r>
              <a:rPr lang="en-US" sz="1600" dirty="0">
                <a:solidFill>
                  <a:srgbClr val="F8FAFC"/>
                </a:solidFill>
                <a:latin typeface="Calibri" pitchFamily="34" charset="0"/>
                <a:ea typeface="Calibri" pitchFamily="34" charset="-122"/>
                <a:cs typeface="Calibri" pitchFamily="34" charset="-120"/>
              </a:rPr>
              <a:t>Built this weekend, end to end: the app, the system behind it and real payments, with over 1,400 automated tests.</a:t>
            </a:r>
            <a:endParaRPr lang="en-US" sz="1600" dirty="0"/>
          </a:p>
        </p:txBody>
      </p:sp>
      <p:pic>
        <p:nvPicPr>
          <p:cNvPr id="18" name="Image 2" descr="preencoded.png">    </p:cNvPr>
          <p:cNvPicPr>
            <a:picLocks noChangeAspect="1"/>
          </p:cNvPicPr>
          <p:nvPr/>
        </p:nvPicPr>
        <p:blipFill>
          <a:blip r:embed="rId3"/>
          <a:stretch>
            <a:fillRect/>
          </a:stretch>
        </p:blipFill>
        <p:spPr>
          <a:xfrm>
            <a:off x="11231575" y="6291072"/>
            <a:ext cx="384048" cy="384048"/>
          </a:xfrm>
          <a:prstGeom prst="rect">
            <a:avLst/>
          </a:prstGeom>
        </p:spPr>
      </p:pic>
      <p:sp>
        <p:nvSpPr>
          <p:cNvPr id="19" name="Text 14"/>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960120"/>
            <a:ext cx="1280160" cy="1280160"/>
          </a:xfrm>
          <a:prstGeom prst="rect">
            <a:avLst/>
          </a:prstGeom>
        </p:spPr>
      </p:pic>
      <p:sp>
        <p:nvSpPr>
          <p:cNvPr id="3" name="Text 0"/>
          <p:cNvSpPr txBox="1"/>
          <p:nvPr/>
        </p:nvSpPr>
        <p:spPr>
          <a:xfrm>
            <a:off x="685800" y="2423160"/>
            <a:ext cx="10058400" cy="1188720"/>
          </a:xfrm>
          <a:prstGeom prst="rect">
            <a:avLst/>
          </a:prstGeom>
          <a:noFill/>
          <a:ln/>
        </p:spPr>
        <p:txBody>
          <a:bodyPr wrap="square" lIns="0" tIns="0" rIns="0" bIns="0" rtlCol="0" anchor="t"/>
          <a:lstStyle/>
          <a:p>
            <a:pPr indent="0" marL="0">
              <a:buNone/>
            </a:pPr>
            <a:r>
              <a:rPr lang="en-US" sz="6600" b="1" dirty="0">
                <a:solidFill>
                  <a:srgbClr val="F8FAFC"/>
                </a:solidFill>
                <a:latin typeface="Georgia" pitchFamily="34" charset="0"/>
                <a:ea typeface="Georgia" pitchFamily="34" charset="-122"/>
                <a:cs typeface="Georgia" pitchFamily="34" charset="-120"/>
              </a:rPr>
              <a:t>Thank you</a:t>
            </a:r>
            <a:endParaRPr lang="en-US" sz="6600" dirty="0"/>
          </a:p>
        </p:txBody>
      </p:sp>
      <p:sp>
        <p:nvSpPr>
          <p:cNvPr id="4" name="Text 1"/>
          <p:cNvSpPr txBox="1"/>
          <p:nvPr/>
        </p:nvSpPr>
        <p:spPr>
          <a:xfrm>
            <a:off x="731520" y="3611880"/>
            <a:ext cx="10058400" cy="640080"/>
          </a:xfrm>
          <a:prstGeom prst="rect">
            <a:avLst/>
          </a:prstGeom>
          <a:noFill/>
          <a:ln/>
        </p:spPr>
        <p:txBody>
          <a:bodyPr wrap="square" lIns="0" tIns="0" rIns="0" bIns="0" rtlCol="0" anchor="t"/>
          <a:lstStyle/>
          <a:p>
            <a:pPr indent="0" marL="0">
              <a:buNone/>
            </a:pPr>
            <a:r>
              <a:rPr lang="en-US" sz="2800" i="1" dirty="0">
                <a:solidFill>
                  <a:srgbClr val="FBBF24"/>
                </a:solidFill>
                <a:latin typeface="Georgia" pitchFamily="34" charset="0"/>
                <a:ea typeface="Georgia" pitchFamily="34" charset="-122"/>
                <a:cs typeface="Georgia" pitchFamily="34" charset="-120"/>
              </a:rPr>
              <a:t>Keep it in the kasi.</a:t>
            </a:r>
            <a:endParaRPr lang="en-US" sz="2800" dirty="0"/>
          </a:p>
        </p:txBody>
      </p:sp>
      <p:sp>
        <p:nvSpPr>
          <p:cNvPr id="5" name="Text 2"/>
          <p:cNvSpPr txBox="1"/>
          <p:nvPr/>
        </p:nvSpPr>
        <p:spPr>
          <a:xfrm>
            <a:off x="731520" y="4526280"/>
            <a:ext cx="10515600" cy="457200"/>
          </a:xfrm>
          <a:prstGeom prst="rect">
            <a:avLst/>
          </a:prstGeom>
          <a:noFill/>
          <a:ln/>
        </p:spPr>
        <p:txBody>
          <a:bodyPr wrap="square" lIns="0" tIns="0" rIns="0" bIns="0" rtlCol="0" anchor="t"/>
          <a:lstStyle/>
          <a:p>
            <a:pPr indent="0" marL="0">
              <a:buNone/>
            </a:pPr>
            <a:r>
              <a:rPr lang="en-US" sz="2000" b="1" dirty="0">
                <a:solidFill>
                  <a:srgbClr val="34D399"/>
                </a:solidFill>
                <a:latin typeface="Calibri" pitchFamily="34" charset="0"/>
                <a:ea typeface="Calibri" pitchFamily="34" charset="-122"/>
                <a:cs typeface="Calibri" pitchFamily="34" charset="-120"/>
              </a:rPr>
              <a:t>R300,000  ·  6-month pilot  ·  making informal businesses visible</a:t>
            </a:r>
            <a:endParaRPr lang="en-US" sz="2000" dirty="0"/>
          </a:p>
        </p:txBody>
      </p:sp>
      <p:sp>
        <p:nvSpPr>
          <p:cNvPr id="6" name="Text 3"/>
          <p:cNvSpPr txBox="1"/>
          <p:nvPr/>
        </p:nvSpPr>
        <p:spPr>
          <a:xfrm>
            <a:off x="731520" y="5669280"/>
            <a:ext cx="10058400" cy="36576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Akayza  ·  prepared by Team PR  ·  GKHack26</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APPENDIX</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How it's built</a:t>
            </a:r>
            <a:endParaRPr lang="en-US" sz="3400" dirty="0"/>
          </a:p>
        </p:txBody>
      </p:sp>
      <p:pic>
        <p:nvPicPr>
          <p:cNvPr id="4"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5" name="Text 2"/>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19</a:t>
            </a:r>
            <a:endParaRPr lang="en-US" sz="1000" dirty="0"/>
          </a:p>
        </p:txBody>
      </p:sp>
      <p:sp>
        <p:nvSpPr>
          <p:cNvPr id="6" name="Shape 3"/>
          <p:cNvSpPr/>
          <p:nvPr/>
        </p:nvSpPr>
        <p:spPr>
          <a:xfrm>
            <a:off x="548640" y="1783080"/>
            <a:ext cx="3291840" cy="1920240"/>
          </a:xfrm>
          <a:prstGeom prst="roundRect">
            <a:avLst>
              <a:gd name="adj" fmla="val 5714"/>
            </a:avLst>
          </a:prstGeom>
          <a:solidFill>
            <a:srgbClr val="17223A"/>
          </a:solidFill>
          <a:ln w="12700">
            <a:solidFill>
              <a:srgbClr val="17223A"/>
            </a:solidFill>
            <a:prstDash val="solid"/>
          </a:ln>
        </p:spPr>
      </p:sp>
      <p:sp>
        <p:nvSpPr>
          <p:cNvPr id="7" name="Shape 4"/>
          <p:cNvSpPr/>
          <p:nvPr/>
        </p:nvSpPr>
        <p:spPr>
          <a:xfrm>
            <a:off x="777240" y="2039112"/>
            <a:ext cx="640080" cy="640080"/>
          </a:xfrm>
          <a:prstGeom prst="ellipse">
            <a:avLst/>
          </a:prstGeom>
          <a:solidFill>
            <a:srgbClr val="1E2B45"/>
          </a:solidFill>
          <a:ln w="19050">
            <a:solidFill>
              <a:srgbClr val="10B981"/>
            </a:solidFill>
            <a:prstDash val="solid"/>
          </a:ln>
        </p:spPr>
      </p:sp>
      <p:pic>
        <p:nvPicPr>
          <p:cNvPr id="8" name="Image 1" descr="preencoded.png">    </p:cNvPr>
          <p:cNvPicPr>
            <a:picLocks noChangeAspect="1"/>
          </p:cNvPicPr>
          <p:nvPr/>
        </p:nvPicPr>
        <p:blipFill>
          <a:blip r:embed="rId2"/>
          <a:stretch>
            <a:fillRect/>
          </a:stretch>
        </p:blipFill>
        <p:spPr>
          <a:xfrm>
            <a:off x="930859" y="2192731"/>
            <a:ext cx="332842" cy="332842"/>
          </a:xfrm>
          <a:prstGeom prst="rect">
            <a:avLst/>
          </a:prstGeom>
        </p:spPr>
      </p:pic>
      <p:sp>
        <p:nvSpPr>
          <p:cNvPr id="9" name="Text 5"/>
          <p:cNvSpPr txBox="1"/>
          <p:nvPr/>
        </p:nvSpPr>
        <p:spPr>
          <a:xfrm>
            <a:off x="1554480" y="2039112"/>
            <a:ext cx="2103120" cy="365760"/>
          </a:xfrm>
          <a:prstGeom prst="rect">
            <a:avLst/>
          </a:prstGeom>
          <a:noFill/>
          <a:ln/>
        </p:spPr>
        <p:txBody>
          <a:bodyPr wrap="square" lIns="0" tIns="0" rIns="0" bIns="0" rtlCol="0" anchor="t"/>
          <a:lstStyle/>
          <a:p>
            <a:pPr indent="0" marL="0">
              <a:buNone/>
            </a:pPr>
            <a:r>
              <a:rPr lang="en-US" sz="1800" b="1" dirty="0">
                <a:solidFill>
                  <a:srgbClr val="10B981"/>
                </a:solidFill>
                <a:latin typeface="Calibri" pitchFamily="34" charset="0"/>
                <a:ea typeface="Calibri" pitchFamily="34" charset="-122"/>
                <a:cs typeface="Calibri" pitchFamily="34" charset="-120"/>
              </a:rPr>
              <a:t>Mobile app</a:t>
            </a:r>
            <a:endParaRPr lang="en-US" sz="1800" dirty="0"/>
          </a:p>
        </p:txBody>
      </p:sp>
      <p:sp>
        <p:nvSpPr>
          <p:cNvPr id="10" name="Text 6"/>
          <p:cNvSpPr txBox="1"/>
          <p:nvPr/>
        </p:nvSpPr>
        <p:spPr>
          <a:xfrm>
            <a:off x="1554480" y="2468880"/>
            <a:ext cx="2103120" cy="114300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React Native + Expo (TypeScript). Android first. Secure sign-in storage; works offline at the counter.</a:t>
            </a:r>
            <a:endParaRPr lang="en-US" sz="1350" dirty="0"/>
          </a:p>
        </p:txBody>
      </p:sp>
      <p:sp>
        <p:nvSpPr>
          <p:cNvPr id="11" name="Shape 7"/>
          <p:cNvSpPr/>
          <p:nvPr/>
        </p:nvSpPr>
        <p:spPr>
          <a:xfrm>
            <a:off x="4434840" y="1783080"/>
            <a:ext cx="3291840" cy="1920240"/>
          </a:xfrm>
          <a:prstGeom prst="roundRect">
            <a:avLst>
              <a:gd name="adj" fmla="val 5714"/>
            </a:avLst>
          </a:prstGeom>
          <a:solidFill>
            <a:srgbClr val="17223A"/>
          </a:solidFill>
          <a:ln w="12700">
            <a:solidFill>
              <a:srgbClr val="17223A"/>
            </a:solidFill>
            <a:prstDash val="solid"/>
          </a:ln>
        </p:spPr>
      </p:sp>
      <p:sp>
        <p:nvSpPr>
          <p:cNvPr id="12" name="Shape 8"/>
          <p:cNvSpPr/>
          <p:nvPr/>
        </p:nvSpPr>
        <p:spPr>
          <a:xfrm>
            <a:off x="4663440" y="2039112"/>
            <a:ext cx="640080" cy="640080"/>
          </a:xfrm>
          <a:prstGeom prst="ellipse">
            <a:avLst/>
          </a:prstGeom>
          <a:solidFill>
            <a:srgbClr val="1E2B45"/>
          </a:solidFill>
          <a:ln w="19050">
            <a:solidFill>
              <a:srgbClr val="FBBF24"/>
            </a:solidFill>
            <a:prstDash val="solid"/>
          </a:ln>
        </p:spPr>
      </p:sp>
      <p:pic>
        <p:nvPicPr>
          <p:cNvPr id="13" name="Image 2" descr="preencoded.png">    </p:cNvPr>
          <p:cNvPicPr>
            <a:picLocks noChangeAspect="1"/>
          </p:cNvPicPr>
          <p:nvPr/>
        </p:nvPicPr>
        <p:blipFill>
          <a:blip r:embed="rId3"/>
          <a:stretch>
            <a:fillRect/>
          </a:stretch>
        </p:blipFill>
        <p:spPr>
          <a:xfrm>
            <a:off x="4817059" y="2192731"/>
            <a:ext cx="332842" cy="332842"/>
          </a:xfrm>
          <a:prstGeom prst="rect">
            <a:avLst/>
          </a:prstGeom>
        </p:spPr>
      </p:pic>
      <p:sp>
        <p:nvSpPr>
          <p:cNvPr id="14" name="Text 9"/>
          <p:cNvSpPr txBox="1"/>
          <p:nvPr/>
        </p:nvSpPr>
        <p:spPr>
          <a:xfrm>
            <a:off x="5440680" y="2039112"/>
            <a:ext cx="2103120" cy="365760"/>
          </a:xfrm>
          <a:prstGeom prst="rect">
            <a:avLst/>
          </a:prstGeom>
          <a:noFill/>
          <a:ln/>
        </p:spPr>
        <p:txBody>
          <a:bodyPr wrap="square" lIns="0" tIns="0" rIns="0" bIns="0" rtlCol="0" anchor="t"/>
          <a:lstStyle/>
          <a:p>
            <a:pPr indent="0" marL="0">
              <a:buNone/>
            </a:pPr>
            <a:r>
              <a:rPr lang="en-US" sz="1800" b="1" dirty="0">
                <a:solidFill>
                  <a:srgbClr val="FBBF24"/>
                </a:solidFill>
                <a:latin typeface="Calibri" pitchFamily="34" charset="0"/>
                <a:ea typeface="Calibri" pitchFamily="34" charset="-122"/>
                <a:cs typeface="Calibri" pitchFamily="34" charset="-120"/>
              </a:rPr>
              <a:t>API</a:t>
            </a:r>
            <a:endParaRPr lang="en-US" sz="1800" dirty="0"/>
          </a:p>
        </p:txBody>
      </p:sp>
      <p:sp>
        <p:nvSpPr>
          <p:cNvPr id="15" name="Text 10"/>
          <p:cNvSpPr txBox="1"/>
          <p:nvPr/>
        </p:nvSpPr>
        <p:spPr>
          <a:xfrm>
            <a:off x="5440680" y="2468880"/>
            <a:ext cx="2103120" cy="114300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Python + Flask. Strict input checks, rate limits, orders that can't double. Rule-based supplier engine.</a:t>
            </a:r>
            <a:endParaRPr lang="en-US" sz="1350" dirty="0"/>
          </a:p>
        </p:txBody>
      </p:sp>
      <p:sp>
        <p:nvSpPr>
          <p:cNvPr id="16" name="Shape 11"/>
          <p:cNvSpPr/>
          <p:nvPr/>
        </p:nvSpPr>
        <p:spPr>
          <a:xfrm>
            <a:off x="8321040" y="1783080"/>
            <a:ext cx="3291840" cy="1920240"/>
          </a:xfrm>
          <a:prstGeom prst="roundRect">
            <a:avLst>
              <a:gd name="adj" fmla="val 5714"/>
            </a:avLst>
          </a:prstGeom>
          <a:solidFill>
            <a:srgbClr val="17223A"/>
          </a:solidFill>
          <a:ln w="12700">
            <a:solidFill>
              <a:srgbClr val="17223A"/>
            </a:solidFill>
            <a:prstDash val="solid"/>
          </a:ln>
        </p:spPr>
      </p:sp>
      <p:sp>
        <p:nvSpPr>
          <p:cNvPr id="17" name="Shape 12"/>
          <p:cNvSpPr/>
          <p:nvPr/>
        </p:nvSpPr>
        <p:spPr>
          <a:xfrm>
            <a:off x="8549640" y="2039112"/>
            <a:ext cx="640080" cy="640080"/>
          </a:xfrm>
          <a:prstGeom prst="ellipse">
            <a:avLst/>
          </a:prstGeom>
          <a:solidFill>
            <a:srgbClr val="1E2B45"/>
          </a:solidFill>
          <a:ln w="19050">
            <a:solidFill>
              <a:srgbClr val="34D399"/>
            </a:solidFill>
            <a:prstDash val="solid"/>
          </a:ln>
        </p:spPr>
      </p:sp>
      <p:pic>
        <p:nvPicPr>
          <p:cNvPr id="18" name="Image 3" descr="preencoded.png">    </p:cNvPr>
          <p:cNvPicPr>
            <a:picLocks noChangeAspect="1"/>
          </p:cNvPicPr>
          <p:nvPr/>
        </p:nvPicPr>
        <p:blipFill>
          <a:blip r:embed="rId4"/>
          <a:stretch>
            <a:fillRect/>
          </a:stretch>
        </p:blipFill>
        <p:spPr>
          <a:xfrm>
            <a:off x="8703259" y="2192731"/>
            <a:ext cx="332842" cy="332842"/>
          </a:xfrm>
          <a:prstGeom prst="rect">
            <a:avLst/>
          </a:prstGeom>
        </p:spPr>
      </p:pic>
      <p:sp>
        <p:nvSpPr>
          <p:cNvPr id="19" name="Text 13"/>
          <p:cNvSpPr txBox="1"/>
          <p:nvPr/>
        </p:nvSpPr>
        <p:spPr>
          <a:xfrm>
            <a:off x="9326880" y="2039112"/>
            <a:ext cx="2103120" cy="365760"/>
          </a:xfrm>
          <a:prstGeom prst="rect">
            <a:avLst/>
          </a:prstGeom>
          <a:noFill/>
          <a:ln/>
        </p:spPr>
        <p:txBody>
          <a:bodyPr wrap="square" lIns="0" tIns="0" rIns="0" bIns="0" rtlCol="0" anchor="t"/>
          <a:lstStyle/>
          <a:p>
            <a:pPr indent="0" marL="0">
              <a:buNone/>
            </a:pPr>
            <a:r>
              <a:rPr lang="en-US" sz="1800" b="1" dirty="0">
                <a:solidFill>
                  <a:srgbClr val="34D399"/>
                </a:solidFill>
                <a:latin typeface="Calibri" pitchFamily="34" charset="0"/>
                <a:ea typeface="Calibri" pitchFamily="34" charset="-122"/>
                <a:cs typeface="Calibri" pitchFamily="34" charset="-120"/>
              </a:rPr>
              <a:t>Database</a:t>
            </a:r>
            <a:endParaRPr lang="en-US" sz="1800" dirty="0"/>
          </a:p>
        </p:txBody>
      </p:sp>
      <p:sp>
        <p:nvSpPr>
          <p:cNvPr id="20" name="Text 14"/>
          <p:cNvSpPr txBox="1"/>
          <p:nvPr/>
        </p:nvSpPr>
        <p:spPr>
          <a:xfrm>
            <a:off x="9326880" y="2468880"/>
            <a:ext cx="2103120" cy="114300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PostgreSQL, one area per schema, versioned migrations, audit trail with no personal data.</a:t>
            </a:r>
            <a:endParaRPr lang="en-US" sz="1350" dirty="0"/>
          </a:p>
        </p:txBody>
      </p:sp>
      <p:sp>
        <p:nvSpPr>
          <p:cNvPr id="21" name="Shape 15"/>
          <p:cNvSpPr/>
          <p:nvPr/>
        </p:nvSpPr>
        <p:spPr>
          <a:xfrm>
            <a:off x="3886200" y="2743200"/>
            <a:ext cx="502920" cy="0"/>
          </a:xfrm>
          <a:prstGeom prst="line">
            <a:avLst/>
          </a:prstGeom>
          <a:noFill/>
          <a:ln w="25400">
            <a:solidFill>
              <a:srgbClr val="10B981"/>
            </a:solidFill>
            <a:prstDash val="solid"/>
            <a:headEnd type="triangle"/>
            <a:tailEnd type="triangle"/>
          </a:ln>
        </p:spPr>
      </p:sp>
      <p:sp>
        <p:nvSpPr>
          <p:cNvPr id="22" name="Shape 16"/>
          <p:cNvSpPr/>
          <p:nvPr/>
        </p:nvSpPr>
        <p:spPr>
          <a:xfrm>
            <a:off x="7772400" y="2743200"/>
            <a:ext cx="502920" cy="0"/>
          </a:xfrm>
          <a:prstGeom prst="line">
            <a:avLst/>
          </a:prstGeom>
          <a:noFill/>
          <a:ln w="25400">
            <a:solidFill>
              <a:srgbClr val="10B981"/>
            </a:solidFill>
            <a:prstDash val="solid"/>
            <a:headEnd type="triangle"/>
            <a:tailEnd type="triangle"/>
          </a:ln>
        </p:spPr>
      </p:sp>
      <p:sp>
        <p:nvSpPr>
          <p:cNvPr id="23" name="Shape 17"/>
          <p:cNvSpPr/>
          <p:nvPr/>
        </p:nvSpPr>
        <p:spPr>
          <a:xfrm>
            <a:off x="548640" y="4160520"/>
            <a:ext cx="2606040" cy="1554480"/>
          </a:xfrm>
          <a:prstGeom prst="roundRect">
            <a:avLst>
              <a:gd name="adj" fmla="val 7059"/>
            </a:avLst>
          </a:prstGeom>
          <a:solidFill>
            <a:srgbClr val="1E2B45"/>
          </a:solidFill>
          <a:ln w="12700">
            <a:solidFill>
              <a:srgbClr val="1E2B45"/>
            </a:solidFill>
            <a:prstDash val="solid"/>
          </a:ln>
        </p:spPr>
      </p:sp>
      <p:sp>
        <p:nvSpPr>
          <p:cNvPr id="24" name="Shape 18"/>
          <p:cNvSpPr/>
          <p:nvPr/>
        </p:nvSpPr>
        <p:spPr>
          <a:xfrm>
            <a:off x="749808" y="4370832"/>
            <a:ext cx="566928" cy="566928"/>
          </a:xfrm>
          <a:prstGeom prst="ellipse">
            <a:avLst/>
          </a:prstGeom>
          <a:solidFill>
            <a:srgbClr val="1E2B45"/>
          </a:solidFill>
          <a:ln w="19050">
            <a:solidFill>
              <a:srgbClr val="10B981"/>
            </a:solidFill>
            <a:prstDash val="solid"/>
          </a:ln>
        </p:spPr>
      </p:sp>
      <p:pic>
        <p:nvPicPr>
          <p:cNvPr id="25" name="Image 4" descr="preencoded.png">    </p:cNvPr>
          <p:cNvPicPr>
            <a:picLocks noChangeAspect="1"/>
          </p:cNvPicPr>
          <p:nvPr/>
        </p:nvPicPr>
        <p:blipFill>
          <a:blip r:embed="rId5"/>
          <a:stretch>
            <a:fillRect/>
          </a:stretch>
        </p:blipFill>
        <p:spPr>
          <a:xfrm>
            <a:off x="885871" y="4506895"/>
            <a:ext cx="294803" cy="294803"/>
          </a:xfrm>
          <a:prstGeom prst="rect">
            <a:avLst/>
          </a:prstGeom>
        </p:spPr>
      </p:pic>
      <p:sp>
        <p:nvSpPr>
          <p:cNvPr id="26" name="Text 19"/>
          <p:cNvSpPr txBox="1"/>
          <p:nvPr/>
        </p:nvSpPr>
        <p:spPr>
          <a:xfrm>
            <a:off x="1463040" y="4462272"/>
            <a:ext cx="1645920" cy="365760"/>
          </a:xfrm>
          <a:prstGeom prst="rect">
            <a:avLst/>
          </a:prstGeom>
          <a:noFill/>
          <a:ln/>
        </p:spPr>
        <p:txBody>
          <a:bodyPr wrap="square" lIns="0" tIns="0" rIns="0" bIns="0" rtlCol="0" anchor="t"/>
          <a:lstStyle/>
          <a:p>
            <a:pPr indent="0" marL="0">
              <a:buNone/>
            </a:pPr>
            <a:r>
              <a:rPr lang="en-US" sz="1500" b="1" dirty="0">
                <a:solidFill>
                  <a:srgbClr val="F8FAFC"/>
                </a:solidFill>
                <a:latin typeface="Calibri" pitchFamily="34" charset="0"/>
                <a:ea typeface="Calibri" pitchFamily="34" charset="-122"/>
                <a:cs typeface="Calibri" pitchFamily="34" charset="-120"/>
              </a:rPr>
              <a:t>PayFast</a:t>
            </a:r>
            <a:endParaRPr lang="en-US" sz="1500" dirty="0"/>
          </a:p>
        </p:txBody>
      </p:sp>
      <p:sp>
        <p:nvSpPr>
          <p:cNvPr id="27" name="Text 20"/>
          <p:cNvSpPr txBox="1"/>
          <p:nvPr/>
        </p:nvSpPr>
        <p:spPr>
          <a:xfrm>
            <a:off x="749808" y="5074920"/>
            <a:ext cx="2240280" cy="5486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payments, confirmed by 4 checks</a:t>
            </a:r>
            <a:endParaRPr lang="en-US" sz="1300" dirty="0"/>
          </a:p>
        </p:txBody>
      </p:sp>
      <p:sp>
        <p:nvSpPr>
          <p:cNvPr id="28" name="Shape 21"/>
          <p:cNvSpPr/>
          <p:nvPr/>
        </p:nvSpPr>
        <p:spPr>
          <a:xfrm>
            <a:off x="3364992" y="4160520"/>
            <a:ext cx="2606040" cy="1554480"/>
          </a:xfrm>
          <a:prstGeom prst="roundRect">
            <a:avLst>
              <a:gd name="adj" fmla="val 7059"/>
            </a:avLst>
          </a:prstGeom>
          <a:solidFill>
            <a:srgbClr val="1E2B45"/>
          </a:solidFill>
          <a:ln w="12700">
            <a:solidFill>
              <a:srgbClr val="1E2B45"/>
            </a:solidFill>
            <a:prstDash val="solid"/>
          </a:ln>
        </p:spPr>
      </p:sp>
      <p:sp>
        <p:nvSpPr>
          <p:cNvPr id="29" name="Shape 22"/>
          <p:cNvSpPr/>
          <p:nvPr/>
        </p:nvSpPr>
        <p:spPr>
          <a:xfrm>
            <a:off x="3566160" y="4370832"/>
            <a:ext cx="566928" cy="566928"/>
          </a:xfrm>
          <a:prstGeom prst="ellipse">
            <a:avLst/>
          </a:prstGeom>
          <a:solidFill>
            <a:srgbClr val="1E2B45"/>
          </a:solidFill>
          <a:ln w="19050">
            <a:solidFill>
              <a:srgbClr val="10B981"/>
            </a:solidFill>
            <a:prstDash val="solid"/>
          </a:ln>
        </p:spPr>
      </p:sp>
      <p:pic>
        <p:nvPicPr>
          <p:cNvPr id="30" name="Image 5" descr="preencoded.png">    </p:cNvPr>
          <p:cNvPicPr>
            <a:picLocks noChangeAspect="1"/>
          </p:cNvPicPr>
          <p:nvPr/>
        </p:nvPicPr>
        <p:blipFill>
          <a:blip r:embed="rId6"/>
          <a:stretch>
            <a:fillRect/>
          </a:stretch>
        </p:blipFill>
        <p:spPr>
          <a:xfrm>
            <a:off x="3702223" y="4506895"/>
            <a:ext cx="294803" cy="294803"/>
          </a:xfrm>
          <a:prstGeom prst="rect">
            <a:avLst/>
          </a:prstGeom>
        </p:spPr>
      </p:pic>
      <p:sp>
        <p:nvSpPr>
          <p:cNvPr id="31" name="Text 23"/>
          <p:cNvSpPr txBox="1"/>
          <p:nvPr/>
        </p:nvSpPr>
        <p:spPr>
          <a:xfrm>
            <a:off x="4279392" y="4462272"/>
            <a:ext cx="1645920" cy="365760"/>
          </a:xfrm>
          <a:prstGeom prst="rect">
            <a:avLst/>
          </a:prstGeom>
          <a:noFill/>
          <a:ln/>
        </p:spPr>
        <p:txBody>
          <a:bodyPr wrap="square" lIns="0" tIns="0" rIns="0" bIns="0" rtlCol="0" anchor="t"/>
          <a:lstStyle/>
          <a:p>
            <a:pPr indent="0" marL="0">
              <a:buNone/>
            </a:pPr>
            <a:r>
              <a:rPr lang="en-US" sz="1500" b="1" dirty="0">
                <a:solidFill>
                  <a:srgbClr val="F8FAFC"/>
                </a:solidFill>
                <a:latin typeface="Calibri" pitchFamily="34" charset="0"/>
                <a:ea typeface="Calibri" pitchFamily="34" charset="-122"/>
                <a:cs typeface="Calibri" pitchFamily="34" charset="-120"/>
              </a:rPr>
              <a:t>Cloudinary</a:t>
            </a:r>
            <a:endParaRPr lang="en-US" sz="1500" dirty="0"/>
          </a:p>
        </p:txBody>
      </p:sp>
      <p:sp>
        <p:nvSpPr>
          <p:cNvPr id="32" name="Text 24"/>
          <p:cNvSpPr txBox="1"/>
          <p:nvPr/>
        </p:nvSpPr>
        <p:spPr>
          <a:xfrm>
            <a:off x="3566160" y="5074920"/>
            <a:ext cx="2240280" cy="5486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signed photo uploads</a:t>
            </a:r>
            <a:endParaRPr lang="en-US" sz="1300" dirty="0"/>
          </a:p>
        </p:txBody>
      </p:sp>
      <p:sp>
        <p:nvSpPr>
          <p:cNvPr id="33" name="Shape 25"/>
          <p:cNvSpPr/>
          <p:nvPr/>
        </p:nvSpPr>
        <p:spPr>
          <a:xfrm>
            <a:off x="6181344" y="4160520"/>
            <a:ext cx="2606040" cy="1554480"/>
          </a:xfrm>
          <a:prstGeom prst="roundRect">
            <a:avLst>
              <a:gd name="adj" fmla="val 7059"/>
            </a:avLst>
          </a:prstGeom>
          <a:solidFill>
            <a:srgbClr val="1E2B45"/>
          </a:solidFill>
          <a:ln w="12700">
            <a:solidFill>
              <a:srgbClr val="1E2B45"/>
            </a:solidFill>
            <a:prstDash val="solid"/>
          </a:ln>
        </p:spPr>
      </p:sp>
      <p:sp>
        <p:nvSpPr>
          <p:cNvPr id="34" name="Shape 26"/>
          <p:cNvSpPr/>
          <p:nvPr/>
        </p:nvSpPr>
        <p:spPr>
          <a:xfrm>
            <a:off x="6382512" y="4370832"/>
            <a:ext cx="566928" cy="566928"/>
          </a:xfrm>
          <a:prstGeom prst="ellipse">
            <a:avLst/>
          </a:prstGeom>
          <a:solidFill>
            <a:srgbClr val="1E2B45"/>
          </a:solidFill>
          <a:ln w="19050">
            <a:solidFill>
              <a:srgbClr val="10B981"/>
            </a:solidFill>
            <a:prstDash val="solid"/>
          </a:ln>
        </p:spPr>
      </p:sp>
      <p:pic>
        <p:nvPicPr>
          <p:cNvPr id="35" name="Image 6" descr="preencoded.png">    </p:cNvPr>
          <p:cNvPicPr>
            <a:picLocks noChangeAspect="1"/>
          </p:cNvPicPr>
          <p:nvPr/>
        </p:nvPicPr>
        <p:blipFill>
          <a:blip r:embed="rId7"/>
          <a:stretch>
            <a:fillRect/>
          </a:stretch>
        </p:blipFill>
        <p:spPr>
          <a:xfrm>
            <a:off x="6518575" y="4506895"/>
            <a:ext cx="294803" cy="294803"/>
          </a:xfrm>
          <a:prstGeom prst="rect">
            <a:avLst/>
          </a:prstGeom>
        </p:spPr>
      </p:pic>
      <p:sp>
        <p:nvSpPr>
          <p:cNvPr id="36" name="Text 27"/>
          <p:cNvSpPr txBox="1"/>
          <p:nvPr/>
        </p:nvSpPr>
        <p:spPr>
          <a:xfrm>
            <a:off x="7095744" y="4462272"/>
            <a:ext cx="1645920" cy="365760"/>
          </a:xfrm>
          <a:prstGeom prst="rect">
            <a:avLst/>
          </a:prstGeom>
          <a:noFill/>
          <a:ln/>
        </p:spPr>
        <p:txBody>
          <a:bodyPr wrap="square" lIns="0" tIns="0" rIns="0" bIns="0" rtlCol="0" anchor="t"/>
          <a:lstStyle/>
          <a:p>
            <a:pPr indent="0" marL="0">
              <a:buNone/>
            </a:pPr>
            <a:r>
              <a:rPr lang="en-US" sz="1500" b="1" dirty="0">
                <a:solidFill>
                  <a:srgbClr val="F8FAFC"/>
                </a:solidFill>
                <a:latin typeface="Calibri" pitchFamily="34" charset="0"/>
                <a:ea typeface="Calibri" pitchFamily="34" charset="-122"/>
                <a:cs typeface="Calibri" pitchFamily="34" charset="-120"/>
              </a:rPr>
              <a:t>Mapbox</a:t>
            </a:r>
            <a:endParaRPr lang="en-US" sz="1500" dirty="0"/>
          </a:p>
        </p:txBody>
      </p:sp>
      <p:sp>
        <p:nvSpPr>
          <p:cNvPr id="37" name="Text 28"/>
          <p:cNvSpPr txBox="1"/>
          <p:nvPr/>
        </p:nvSpPr>
        <p:spPr>
          <a:xfrm>
            <a:off x="6382512" y="5074920"/>
            <a:ext cx="2240280" cy="5486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address search</a:t>
            </a:r>
            <a:endParaRPr lang="en-US" sz="1300" dirty="0"/>
          </a:p>
        </p:txBody>
      </p:sp>
      <p:sp>
        <p:nvSpPr>
          <p:cNvPr id="38" name="Shape 29"/>
          <p:cNvSpPr/>
          <p:nvPr/>
        </p:nvSpPr>
        <p:spPr>
          <a:xfrm>
            <a:off x="8997696" y="4160520"/>
            <a:ext cx="2606040" cy="1554480"/>
          </a:xfrm>
          <a:prstGeom prst="roundRect">
            <a:avLst>
              <a:gd name="adj" fmla="val 7059"/>
            </a:avLst>
          </a:prstGeom>
          <a:solidFill>
            <a:srgbClr val="1E2B45"/>
          </a:solidFill>
          <a:ln w="12700">
            <a:solidFill>
              <a:srgbClr val="1E2B45"/>
            </a:solidFill>
            <a:prstDash val="solid"/>
          </a:ln>
        </p:spPr>
      </p:sp>
      <p:sp>
        <p:nvSpPr>
          <p:cNvPr id="39" name="Shape 30"/>
          <p:cNvSpPr/>
          <p:nvPr/>
        </p:nvSpPr>
        <p:spPr>
          <a:xfrm>
            <a:off x="9198864" y="4370832"/>
            <a:ext cx="566928" cy="566928"/>
          </a:xfrm>
          <a:prstGeom prst="ellipse">
            <a:avLst/>
          </a:prstGeom>
          <a:solidFill>
            <a:srgbClr val="1E2B45"/>
          </a:solidFill>
          <a:ln w="19050">
            <a:solidFill>
              <a:srgbClr val="10B981"/>
            </a:solidFill>
            <a:prstDash val="solid"/>
          </a:ln>
        </p:spPr>
      </p:sp>
      <p:pic>
        <p:nvPicPr>
          <p:cNvPr id="40" name="Image 7" descr="preencoded.png">    </p:cNvPr>
          <p:cNvPicPr>
            <a:picLocks noChangeAspect="1"/>
          </p:cNvPicPr>
          <p:nvPr/>
        </p:nvPicPr>
        <p:blipFill>
          <a:blip r:embed="rId8"/>
          <a:stretch>
            <a:fillRect/>
          </a:stretch>
        </p:blipFill>
        <p:spPr>
          <a:xfrm>
            <a:off x="9334927" y="4506895"/>
            <a:ext cx="294803" cy="294803"/>
          </a:xfrm>
          <a:prstGeom prst="rect">
            <a:avLst/>
          </a:prstGeom>
        </p:spPr>
      </p:pic>
      <p:sp>
        <p:nvSpPr>
          <p:cNvPr id="41" name="Text 31"/>
          <p:cNvSpPr txBox="1"/>
          <p:nvPr/>
        </p:nvSpPr>
        <p:spPr>
          <a:xfrm>
            <a:off x="9912096" y="4462272"/>
            <a:ext cx="1645920" cy="365760"/>
          </a:xfrm>
          <a:prstGeom prst="rect">
            <a:avLst/>
          </a:prstGeom>
          <a:noFill/>
          <a:ln/>
        </p:spPr>
        <p:txBody>
          <a:bodyPr wrap="square" lIns="0" tIns="0" rIns="0" bIns="0" rtlCol="0" anchor="t"/>
          <a:lstStyle/>
          <a:p>
            <a:pPr indent="0" marL="0">
              <a:buNone/>
            </a:pPr>
            <a:r>
              <a:rPr lang="en-US" sz="1500" b="1" dirty="0">
                <a:solidFill>
                  <a:srgbClr val="F8FAFC"/>
                </a:solidFill>
                <a:latin typeface="Calibri" pitchFamily="34" charset="0"/>
                <a:ea typeface="Calibri" pitchFamily="34" charset="-122"/>
                <a:cs typeface="Calibri" pitchFamily="34" charset="-120"/>
              </a:rPr>
              <a:t>Email</a:t>
            </a:r>
            <a:endParaRPr lang="en-US" sz="1500" dirty="0"/>
          </a:p>
        </p:txBody>
      </p:sp>
      <p:sp>
        <p:nvSpPr>
          <p:cNvPr id="42" name="Text 32"/>
          <p:cNvSpPr txBox="1"/>
          <p:nvPr/>
        </p:nvSpPr>
        <p:spPr>
          <a:xfrm>
            <a:off x="9198864" y="5074920"/>
            <a:ext cx="2240280" cy="5486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codes, receipts, alerts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APPENDIX</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Security and data privacy</a:t>
            </a:r>
            <a:endParaRPr lang="en-US" sz="3400" dirty="0"/>
          </a:p>
        </p:txBody>
      </p:sp>
      <p:pic>
        <p:nvPicPr>
          <p:cNvPr id="4"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5" name="Text 2"/>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20</a:t>
            </a:r>
            <a:endParaRPr lang="en-US" sz="1000" dirty="0"/>
          </a:p>
        </p:txBody>
      </p:sp>
      <p:sp>
        <p:nvSpPr>
          <p:cNvPr id="6" name="Shape 3"/>
          <p:cNvSpPr/>
          <p:nvPr/>
        </p:nvSpPr>
        <p:spPr>
          <a:xfrm>
            <a:off x="548640" y="1783080"/>
            <a:ext cx="3474720" cy="1965960"/>
          </a:xfrm>
          <a:prstGeom prst="roundRect">
            <a:avLst>
              <a:gd name="adj" fmla="val 5581"/>
            </a:avLst>
          </a:prstGeom>
          <a:solidFill>
            <a:srgbClr val="17223A"/>
          </a:solidFill>
          <a:ln w="12700">
            <a:solidFill>
              <a:srgbClr val="17223A"/>
            </a:solidFill>
            <a:prstDash val="solid"/>
          </a:ln>
        </p:spPr>
      </p:sp>
      <p:sp>
        <p:nvSpPr>
          <p:cNvPr id="7" name="Shape 4"/>
          <p:cNvSpPr/>
          <p:nvPr/>
        </p:nvSpPr>
        <p:spPr>
          <a:xfrm>
            <a:off x="822960" y="2057400"/>
            <a:ext cx="640080" cy="640080"/>
          </a:xfrm>
          <a:prstGeom prst="ellipse">
            <a:avLst/>
          </a:prstGeom>
          <a:solidFill>
            <a:srgbClr val="1E2B45"/>
          </a:solidFill>
          <a:ln w="19050">
            <a:solidFill>
              <a:srgbClr val="10B981"/>
            </a:solidFill>
            <a:prstDash val="solid"/>
          </a:ln>
        </p:spPr>
      </p:sp>
      <p:pic>
        <p:nvPicPr>
          <p:cNvPr id="8" name="Image 1" descr="preencoded.png">    </p:cNvPr>
          <p:cNvPicPr>
            <a:picLocks noChangeAspect="1"/>
          </p:cNvPicPr>
          <p:nvPr/>
        </p:nvPicPr>
        <p:blipFill>
          <a:blip r:embed="rId2"/>
          <a:stretch>
            <a:fillRect/>
          </a:stretch>
        </p:blipFill>
        <p:spPr>
          <a:xfrm>
            <a:off x="976579" y="2211019"/>
            <a:ext cx="332842" cy="332842"/>
          </a:xfrm>
          <a:prstGeom prst="rect">
            <a:avLst/>
          </a:prstGeom>
        </p:spPr>
      </p:pic>
      <p:sp>
        <p:nvSpPr>
          <p:cNvPr id="9" name="Text 5"/>
          <p:cNvSpPr txBox="1"/>
          <p:nvPr/>
        </p:nvSpPr>
        <p:spPr>
          <a:xfrm>
            <a:off x="1600200" y="214884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Your data is yours</a:t>
            </a:r>
            <a:endParaRPr lang="en-US" sz="1600" dirty="0"/>
          </a:p>
        </p:txBody>
      </p:sp>
      <p:sp>
        <p:nvSpPr>
          <p:cNvPr id="10" name="Text 6"/>
          <p:cNvSpPr txBox="1"/>
          <p:nvPr/>
        </p:nvSpPr>
        <p:spPr>
          <a:xfrm>
            <a:off x="822960" y="278892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Every request is limited to the owner. Anyone else's record answers 'not found'.</a:t>
            </a:r>
            <a:endParaRPr lang="en-US" sz="1300" dirty="0"/>
          </a:p>
        </p:txBody>
      </p:sp>
      <p:sp>
        <p:nvSpPr>
          <p:cNvPr id="11" name="Shape 7"/>
          <p:cNvSpPr/>
          <p:nvPr/>
        </p:nvSpPr>
        <p:spPr>
          <a:xfrm>
            <a:off x="4297680" y="1783080"/>
            <a:ext cx="3474720" cy="1965960"/>
          </a:xfrm>
          <a:prstGeom prst="roundRect">
            <a:avLst>
              <a:gd name="adj" fmla="val 5581"/>
            </a:avLst>
          </a:prstGeom>
          <a:solidFill>
            <a:srgbClr val="17223A"/>
          </a:solidFill>
          <a:ln w="12700">
            <a:solidFill>
              <a:srgbClr val="17223A"/>
            </a:solidFill>
            <a:prstDash val="solid"/>
          </a:ln>
        </p:spPr>
      </p:sp>
      <p:sp>
        <p:nvSpPr>
          <p:cNvPr id="12" name="Shape 8"/>
          <p:cNvSpPr/>
          <p:nvPr/>
        </p:nvSpPr>
        <p:spPr>
          <a:xfrm>
            <a:off x="4572000" y="2057400"/>
            <a:ext cx="640080" cy="640080"/>
          </a:xfrm>
          <a:prstGeom prst="ellipse">
            <a:avLst/>
          </a:prstGeom>
          <a:solidFill>
            <a:srgbClr val="1E2B45"/>
          </a:solidFill>
          <a:ln w="19050">
            <a:solidFill>
              <a:srgbClr val="10B981"/>
            </a:solidFill>
            <a:prstDash val="solid"/>
          </a:ln>
        </p:spPr>
      </p:sp>
      <p:pic>
        <p:nvPicPr>
          <p:cNvPr id="13" name="Image 2" descr="preencoded.png">    </p:cNvPr>
          <p:cNvPicPr>
            <a:picLocks noChangeAspect="1"/>
          </p:cNvPicPr>
          <p:nvPr/>
        </p:nvPicPr>
        <p:blipFill>
          <a:blip r:embed="rId3"/>
          <a:stretch>
            <a:fillRect/>
          </a:stretch>
        </p:blipFill>
        <p:spPr>
          <a:xfrm>
            <a:off x="4725619" y="2211019"/>
            <a:ext cx="332842" cy="332842"/>
          </a:xfrm>
          <a:prstGeom prst="rect">
            <a:avLst/>
          </a:prstGeom>
        </p:spPr>
      </p:pic>
      <p:sp>
        <p:nvSpPr>
          <p:cNvPr id="14" name="Text 9"/>
          <p:cNvSpPr txBox="1"/>
          <p:nvPr/>
        </p:nvSpPr>
        <p:spPr>
          <a:xfrm>
            <a:off x="5349240" y="214884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Simple, still safe</a:t>
            </a:r>
            <a:endParaRPr lang="en-US" sz="1600" dirty="0"/>
          </a:p>
        </p:txBody>
      </p:sp>
      <p:sp>
        <p:nvSpPr>
          <p:cNvPr id="15" name="Text 10"/>
          <p:cNvSpPr txBox="1"/>
          <p:nvPr/>
        </p:nvSpPr>
        <p:spPr>
          <a:xfrm>
            <a:off x="4572000" y="278892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Email and password; one code only on a new phone. The rest runs on our side.</a:t>
            </a:r>
            <a:endParaRPr lang="en-US" sz="1300" dirty="0"/>
          </a:p>
        </p:txBody>
      </p:sp>
      <p:sp>
        <p:nvSpPr>
          <p:cNvPr id="16" name="Shape 11"/>
          <p:cNvSpPr/>
          <p:nvPr/>
        </p:nvSpPr>
        <p:spPr>
          <a:xfrm>
            <a:off x="8046720" y="1783080"/>
            <a:ext cx="3474720" cy="1965960"/>
          </a:xfrm>
          <a:prstGeom prst="roundRect">
            <a:avLst>
              <a:gd name="adj" fmla="val 5581"/>
            </a:avLst>
          </a:prstGeom>
          <a:solidFill>
            <a:srgbClr val="17223A"/>
          </a:solidFill>
          <a:ln w="12700">
            <a:solidFill>
              <a:srgbClr val="17223A"/>
            </a:solidFill>
            <a:prstDash val="solid"/>
          </a:ln>
        </p:spPr>
      </p:sp>
      <p:sp>
        <p:nvSpPr>
          <p:cNvPr id="17" name="Shape 12"/>
          <p:cNvSpPr/>
          <p:nvPr/>
        </p:nvSpPr>
        <p:spPr>
          <a:xfrm>
            <a:off x="8321040" y="2057400"/>
            <a:ext cx="640080" cy="640080"/>
          </a:xfrm>
          <a:prstGeom prst="ellipse">
            <a:avLst/>
          </a:prstGeom>
          <a:solidFill>
            <a:srgbClr val="1E2B45"/>
          </a:solidFill>
          <a:ln w="19050">
            <a:solidFill>
              <a:srgbClr val="10B981"/>
            </a:solidFill>
            <a:prstDash val="solid"/>
          </a:ln>
        </p:spPr>
      </p:sp>
      <p:pic>
        <p:nvPicPr>
          <p:cNvPr id="18" name="Image 3" descr="preencoded.png">    </p:cNvPr>
          <p:cNvPicPr>
            <a:picLocks noChangeAspect="1"/>
          </p:cNvPicPr>
          <p:nvPr/>
        </p:nvPicPr>
        <p:blipFill>
          <a:blip r:embed="rId4"/>
          <a:stretch>
            <a:fillRect/>
          </a:stretch>
        </p:blipFill>
        <p:spPr>
          <a:xfrm>
            <a:off x="8474659" y="2211019"/>
            <a:ext cx="332842" cy="332842"/>
          </a:xfrm>
          <a:prstGeom prst="rect">
            <a:avLst/>
          </a:prstGeom>
        </p:spPr>
      </p:pic>
      <p:sp>
        <p:nvSpPr>
          <p:cNvPr id="19" name="Text 13"/>
          <p:cNvSpPr txBox="1"/>
          <p:nvPr/>
        </p:nvSpPr>
        <p:spPr>
          <a:xfrm>
            <a:off x="9098280" y="214884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No card data</a:t>
            </a:r>
            <a:endParaRPr lang="en-US" sz="1600" dirty="0"/>
          </a:p>
        </p:txBody>
      </p:sp>
      <p:sp>
        <p:nvSpPr>
          <p:cNvPr id="20" name="Text 14"/>
          <p:cNvSpPr txBox="1"/>
          <p:nvPr/>
        </p:nvSpPr>
        <p:spPr>
          <a:xfrm>
            <a:off x="8321040" y="278892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The payment provider's own page. A payment counts only after 4 checks.</a:t>
            </a:r>
            <a:endParaRPr lang="en-US" sz="1300" dirty="0"/>
          </a:p>
        </p:txBody>
      </p:sp>
      <p:sp>
        <p:nvSpPr>
          <p:cNvPr id="21" name="Shape 15"/>
          <p:cNvSpPr/>
          <p:nvPr/>
        </p:nvSpPr>
        <p:spPr>
          <a:xfrm>
            <a:off x="548640" y="3931920"/>
            <a:ext cx="3474720" cy="1965960"/>
          </a:xfrm>
          <a:prstGeom prst="roundRect">
            <a:avLst>
              <a:gd name="adj" fmla="val 5581"/>
            </a:avLst>
          </a:prstGeom>
          <a:solidFill>
            <a:srgbClr val="17223A"/>
          </a:solidFill>
          <a:ln w="12700">
            <a:solidFill>
              <a:srgbClr val="17223A"/>
            </a:solidFill>
            <a:prstDash val="solid"/>
          </a:ln>
        </p:spPr>
      </p:sp>
      <p:sp>
        <p:nvSpPr>
          <p:cNvPr id="22" name="Shape 16"/>
          <p:cNvSpPr/>
          <p:nvPr/>
        </p:nvSpPr>
        <p:spPr>
          <a:xfrm>
            <a:off x="822960" y="4206240"/>
            <a:ext cx="640080" cy="640080"/>
          </a:xfrm>
          <a:prstGeom prst="ellipse">
            <a:avLst/>
          </a:prstGeom>
          <a:solidFill>
            <a:srgbClr val="1E2B45"/>
          </a:solidFill>
          <a:ln w="19050">
            <a:solidFill>
              <a:srgbClr val="10B981"/>
            </a:solidFill>
            <a:prstDash val="solid"/>
          </a:ln>
        </p:spPr>
      </p:sp>
      <p:pic>
        <p:nvPicPr>
          <p:cNvPr id="23" name="Image 4" descr="preencoded.png">    </p:cNvPr>
          <p:cNvPicPr>
            <a:picLocks noChangeAspect="1"/>
          </p:cNvPicPr>
          <p:nvPr/>
        </p:nvPicPr>
        <p:blipFill>
          <a:blip r:embed="rId5"/>
          <a:stretch>
            <a:fillRect/>
          </a:stretch>
        </p:blipFill>
        <p:spPr>
          <a:xfrm>
            <a:off x="976579" y="4359859"/>
            <a:ext cx="332842" cy="332842"/>
          </a:xfrm>
          <a:prstGeom prst="rect">
            <a:avLst/>
          </a:prstGeom>
        </p:spPr>
      </p:pic>
      <p:sp>
        <p:nvSpPr>
          <p:cNvPr id="24" name="Text 17"/>
          <p:cNvSpPr txBox="1"/>
          <p:nvPr/>
        </p:nvSpPr>
        <p:spPr>
          <a:xfrm>
            <a:off x="1600200" y="429768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POPIA by design</a:t>
            </a:r>
            <a:endParaRPr lang="en-US" sz="1600" dirty="0"/>
          </a:p>
        </p:txBody>
      </p:sp>
      <p:sp>
        <p:nvSpPr>
          <p:cNvPr id="25" name="Text 18"/>
          <p:cNvSpPr txBox="1"/>
          <p:nvPr/>
        </p:nvSpPr>
        <p:spPr>
          <a:xfrm>
            <a:off x="822960" y="493776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Aggregates only in the engine; no names or addresses in logs; data export and account closure.</a:t>
            </a:r>
            <a:endParaRPr lang="en-US" sz="1300" dirty="0"/>
          </a:p>
        </p:txBody>
      </p:sp>
      <p:sp>
        <p:nvSpPr>
          <p:cNvPr id="26" name="Shape 19"/>
          <p:cNvSpPr/>
          <p:nvPr/>
        </p:nvSpPr>
        <p:spPr>
          <a:xfrm>
            <a:off x="4297680" y="3931920"/>
            <a:ext cx="3474720" cy="1965960"/>
          </a:xfrm>
          <a:prstGeom prst="roundRect">
            <a:avLst>
              <a:gd name="adj" fmla="val 5581"/>
            </a:avLst>
          </a:prstGeom>
          <a:solidFill>
            <a:srgbClr val="17223A"/>
          </a:solidFill>
          <a:ln w="12700">
            <a:solidFill>
              <a:srgbClr val="17223A"/>
            </a:solidFill>
            <a:prstDash val="solid"/>
          </a:ln>
        </p:spPr>
      </p:sp>
      <p:sp>
        <p:nvSpPr>
          <p:cNvPr id="27" name="Shape 20"/>
          <p:cNvSpPr/>
          <p:nvPr/>
        </p:nvSpPr>
        <p:spPr>
          <a:xfrm>
            <a:off x="4572000" y="4206240"/>
            <a:ext cx="640080" cy="640080"/>
          </a:xfrm>
          <a:prstGeom prst="ellipse">
            <a:avLst/>
          </a:prstGeom>
          <a:solidFill>
            <a:srgbClr val="1E2B45"/>
          </a:solidFill>
          <a:ln w="19050">
            <a:solidFill>
              <a:srgbClr val="FBBF24"/>
            </a:solidFill>
            <a:prstDash val="solid"/>
          </a:ln>
        </p:spPr>
      </p:sp>
      <p:pic>
        <p:nvPicPr>
          <p:cNvPr id="28" name="Image 5" descr="preencoded.png">    </p:cNvPr>
          <p:cNvPicPr>
            <a:picLocks noChangeAspect="1"/>
          </p:cNvPicPr>
          <p:nvPr/>
        </p:nvPicPr>
        <p:blipFill>
          <a:blip r:embed="rId6"/>
          <a:stretch>
            <a:fillRect/>
          </a:stretch>
        </p:blipFill>
        <p:spPr>
          <a:xfrm>
            <a:off x="4725619" y="4359859"/>
            <a:ext cx="332842" cy="332842"/>
          </a:xfrm>
          <a:prstGeom prst="rect">
            <a:avLst/>
          </a:prstGeom>
        </p:spPr>
      </p:pic>
      <p:sp>
        <p:nvSpPr>
          <p:cNvPr id="29" name="Text 21"/>
          <p:cNvSpPr txBox="1"/>
          <p:nvPr/>
        </p:nvSpPr>
        <p:spPr>
          <a:xfrm>
            <a:off x="5349240" y="429768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Honest proof</a:t>
            </a:r>
            <a:endParaRPr lang="en-US" sz="1600" dirty="0"/>
          </a:p>
        </p:txBody>
      </p:sp>
      <p:sp>
        <p:nvSpPr>
          <p:cNvPr id="30" name="Text 22"/>
          <p:cNvSpPr txBox="1"/>
          <p:nvPr/>
        </p:nvSpPr>
        <p:spPr>
          <a:xfrm>
            <a:off x="4572000" y="493776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Only provider-confirmed payments are proof. The rest is the owner's own record.</a:t>
            </a:r>
            <a:endParaRPr lang="en-US" sz="1300" dirty="0"/>
          </a:p>
        </p:txBody>
      </p:sp>
      <p:sp>
        <p:nvSpPr>
          <p:cNvPr id="31" name="Shape 23"/>
          <p:cNvSpPr/>
          <p:nvPr/>
        </p:nvSpPr>
        <p:spPr>
          <a:xfrm>
            <a:off x="8046720" y="3931920"/>
            <a:ext cx="3474720" cy="1965960"/>
          </a:xfrm>
          <a:prstGeom prst="roundRect">
            <a:avLst>
              <a:gd name="adj" fmla="val 5581"/>
            </a:avLst>
          </a:prstGeom>
          <a:solidFill>
            <a:srgbClr val="17223A"/>
          </a:solidFill>
          <a:ln w="12700">
            <a:solidFill>
              <a:srgbClr val="17223A"/>
            </a:solidFill>
            <a:prstDash val="solid"/>
          </a:ln>
        </p:spPr>
      </p:sp>
      <p:sp>
        <p:nvSpPr>
          <p:cNvPr id="32" name="Shape 24"/>
          <p:cNvSpPr/>
          <p:nvPr/>
        </p:nvSpPr>
        <p:spPr>
          <a:xfrm>
            <a:off x="8321040" y="4206240"/>
            <a:ext cx="640080" cy="640080"/>
          </a:xfrm>
          <a:prstGeom prst="ellipse">
            <a:avLst/>
          </a:prstGeom>
          <a:solidFill>
            <a:srgbClr val="1E2B45"/>
          </a:solidFill>
          <a:ln w="19050">
            <a:solidFill>
              <a:srgbClr val="10B981"/>
            </a:solidFill>
            <a:prstDash val="solid"/>
          </a:ln>
        </p:spPr>
      </p:sp>
      <p:pic>
        <p:nvPicPr>
          <p:cNvPr id="33" name="Image 6" descr="preencoded.png">    </p:cNvPr>
          <p:cNvPicPr>
            <a:picLocks noChangeAspect="1"/>
          </p:cNvPicPr>
          <p:nvPr/>
        </p:nvPicPr>
        <p:blipFill>
          <a:blip r:embed="rId7"/>
          <a:stretch>
            <a:fillRect/>
          </a:stretch>
        </p:blipFill>
        <p:spPr>
          <a:xfrm>
            <a:off x="8474659" y="4359859"/>
            <a:ext cx="332842" cy="332842"/>
          </a:xfrm>
          <a:prstGeom prst="rect">
            <a:avLst/>
          </a:prstGeom>
        </p:spPr>
      </p:pic>
      <p:sp>
        <p:nvSpPr>
          <p:cNvPr id="34" name="Text 25"/>
          <p:cNvSpPr txBox="1"/>
          <p:nvPr/>
        </p:nvSpPr>
        <p:spPr>
          <a:xfrm>
            <a:off x="9098280" y="429768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Tested like an attacker</a:t>
            </a:r>
            <a:endParaRPr lang="en-US" sz="1600" dirty="0"/>
          </a:p>
        </p:txBody>
      </p:sp>
      <p:sp>
        <p:nvSpPr>
          <p:cNvPr id="35" name="Text 26"/>
          <p:cNvSpPr txBox="1"/>
          <p:nvPr/>
        </p:nvSpPr>
        <p:spPr>
          <a:xfrm>
            <a:off x="8321040" y="493776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Hostile-input tests on every endpoint, rate limits, OWASP API Top 10, incident plan.</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APPENDIX</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What's next</a:t>
            </a:r>
            <a:endParaRPr lang="en-US" sz="3400" dirty="0"/>
          </a:p>
        </p:txBody>
      </p:sp>
      <p:pic>
        <p:nvPicPr>
          <p:cNvPr id="4"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5" name="Text 2"/>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21</a:t>
            </a:r>
            <a:endParaRPr lang="en-US" sz="1000" dirty="0"/>
          </a:p>
        </p:txBody>
      </p:sp>
      <p:sp>
        <p:nvSpPr>
          <p:cNvPr id="6" name="Shape 3"/>
          <p:cNvSpPr/>
          <p:nvPr/>
        </p:nvSpPr>
        <p:spPr>
          <a:xfrm>
            <a:off x="548640" y="1783080"/>
            <a:ext cx="3474720" cy="4023360"/>
          </a:xfrm>
          <a:prstGeom prst="roundRect">
            <a:avLst>
              <a:gd name="adj" fmla="val 3158"/>
            </a:avLst>
          </a:prstGeom>
          <a:solidFill>
            <a:srgbClr val="17223A"/>
          </a:solidFill>
          <a:ln w="12700">
            <a:solidFill>
              <a:srgbClr val="17223A"/>
            </a:solidFill>
            <a:prstDash val="solid"/>
          </a:ln>
        </p:spPr>
      </p:sp>
      <p:sp>
        <p:nvSpPr>
          <p:cNvPr id="7" name="Text 4"/>
          <p:cNvSpPr txBox="1"/>
          <p:nvPr/>
        </p:nvSpPr>
        <p:spPr>
          <a:xfrm>
            <a:off x="868680" y="2011680"/>
            <a:ext cx="2926080" cy="457200"/>
          </a:xfrm>
          <a:prstGeom prst="rect">
            <a:avLst/>
          </a:prstGeom>
          <a:noFill/>
          <a:ln/>
        </p:spPr>
        <p:txBody>
          <a:bodyPr wrap="square" lIns="0" tIns="0" rIns="0" bIns="0" rtlCol="0" anchor="t"/>
          <a:lstStyle/>
          <a:p>
            <a:pPr indent="0" marL="0">
              <a:buNone/>
            </a:pPr>
            <a:r>
              <a:rPr lang="en-US" sz="2200" b="1" dirty="0">
                <a:solidFill>
                  <a:srgbClr val="10B981"/>
                </a:solidFill>
                <a:latin typeface="Georgia" pitchFamily="34" charset="0"/>
                <a:ea typeface="Georgia" pitchFamily="34" charset="-122"/>
                <a:cs typeface="Georgia" pitchFamily="34" charset="-120"/>
              </a:rPr>
              <a:t>Next 3 months</a:t>
            </a:r>
            <a:endParaRPr lang="en-US" sz="2200" dirty="0"/>
          </a:p>
        </p:txBody>
      </p:sp>
      <p:sp>
        <p:nvSpPr>
          <p:cNvPr id="8" name="Text 5"/>
          <p:cNvSpPr txBox="1"/>
          <p:nvPr/>
        </p:nvSpPr>
        <p:spPr>
          <a:xfrm>
            <a:off x="868680" y="2697480"/>
            <a:ext cx="2926080" cy="2926080"/>
          </a:xfrm>
          <a:prstGeom prst="rect">
            <a:avLst/>
          </a:prstGeom>
          <a:noFill/>
          <a:ln/>
        </p:spPr>
        <p:txBody>
          <a:bodyPr wrap="square" lIns="0" tIns="0" rIns="0" bIns="0" rtlCol="0" anchor="t"/>
          <a:lstStyle/>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Google sign-in, phone push alerts</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Two-phone cash confirmation</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Cloudflare protection on our own domain</a:t>
            </a:r>
            <a:endParaRPr lang="en-US" sz="1550" dirty="0"/>
          </a:p>
        </p:txBody>
      </p:sp>
      <p:sp>
        <p:nvSpPr>
          <p:cNvPr id="9" name="Shape 6"/>
          <p:cNvSpPr/>
          <p:nvPr/>
        </p:nvSpPr>
        <p:spPr>
          <a:xfrm>
            <a:off x="4297680" y="1783080"/>
            <a:ext cx="3474720" cy="4023360"/>
          </a:xfrm>
          <a:prstGeom prst="roundRect">
            <a:avLst>
              <a:gd name="adj" fmla="val 3158"/>
            </a:avLst>
          </a:prstGeom>
          <a:solidFill>
            <a:srgbClr val="17223A"/>
          </a:solidFill>
          <a:ln w="12700">
            <a:solidFill>
              <a:srgbClr val="17223A"/>
            </a:solidFill>
            <a:prstDash val="solid"/>
          </a:ln>
        </p:spPr>
      </p:sp>
      <p:sp>
        <p:nvSpPr>
          <p:cNvPr id="10" name="Text 7"/>
          <p:cNvSpPr txBox="1"/>
          <p:nvPr/>
        </p:nvSpPr>
        <p:spPr>
          <a:xfrm>
            <a:off x="4617720" y="2011680"/>
            <a:ext cx="2926080" cy="457200"/>
          </a:xfrm>
          <a:prstGeom prst="rect">
            <a:avLst/>
          </a:prstGeom>
          <a:noFill/>
          <a:ln/>
        </p:spPr>
        <p:txBody>
          <a:bodyPr wrap="square" lIns="0" tIns="0" rIns="0" bIns="0" rtlCol="0" anchor="t"/>
          <a:lstStyle/>
          <a:p>
            <a:pPr indent="0" marL="0">
              <a:buNone/>
            </a:pPr>
            <a:r>
              <a:rPr lang="en-US" sz="2200" b="1" dirty="0">
                <a:solidFill>
                  <a:srgbClr val="FBBF24"/>
                </a:solidFill>
                <a:latin typeface="Georgia" pitchFamily="34" charset="0"/>
                <a:ea typeface="Georgia" pitchFamily="34" charset="-122"/>
                <a:cs typeface="Georgia" pitchFamily="34" charset="-120"/>
              </a:rPr>
              <a:t>Next 12 months</a:t>
            </a:r>
            <a:endParaRPr lang="en-US" sz="2200" dirty="0"/>
          </a:p>
        </p:txBody>
      </p:sp>
      <p:sp>
        <p:nvSpPr>
          <p:cNvPr id="11" name="Text 8"/>
          <p:cNvSpPr txBox="1"/>
          <p:nvPr/>
        </p:nvSpPr>
        <p:spPr>
          <a:xfrm>
            <a:off x="4617720" y="2697480"/>
            <a:ext cx="2926080" cy="2926080"/>
          </a:xfrm>
          <a:prstGeom prst="rect">
            <a:avLst/>
          </a:prstGeom>
          <a:noFill/>
          <a:ln/>
        </p:spPr>
        <p:txBody>
          <a:bodyPr wrap="square" lIns="0" tIns="0" rIns="0" bIns="0" rtlCol="0" anchor="t"/>
          <a:lstStyle/>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Direct links to suppliers' stock systems</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Split payouts straight to suppliers</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Share your record with a lender, by consent</a:t>
            </a:r>
            <a:endParaRPr lang="en-US" sz="1550" dirty="0"/>
          </a:p>
        </p:txBody>
      </p:sp>
      <p:sp>
        <p:nvSpPr>
          <p:cNvPr id="12" name="Shape 9"/>
          <p:cNvSpPr/>
          <p:nvPr/>
        </p:nvSpPr>
        <p:spPr>
          <a:xfrm>
            <a:off x="8046720" y="1783080"/>
            <a:ext cx="3474720" cy="4023360"/>
          </a:xfrm>
          <a:prstGeom prst="roundRect">
            <a:avLst>
              <a:gd name="adj" fmla="val 3158"/>
            </a:avLst>
          </a:prstGeom>
          <a:solidFill>
            <a:srgbClr val="1E2B45"/>
          </a:solidFill>
          <a:ln w="12700">
            <a:solidFill>
              <a:srgbClr val="1E2B45"/>
            </a:solidFill>
            <a:prstDash val="solid"/>
          </a:ln>
        </p:spPr>
      </p:sp>
      <p:sp>
        <p:nvSpPr>
          <p:cNvPr id="13" name="Text 10"/>
          <p:cNvSpPr txBox="1"/>
          <p:nvPr/>
        </p:nvSpPr>
        <p:spPr>
          <a:xfrm>
            <a:off x="8366760" y="2011680"/>
            <a:ext cx="2926080" cy="457200"/>
          </a:xfrm>
          <a:prstGeom prst="rect">
            <a:avLst/>
          </a:prstGeom>
          <a:noFill/>
          <a:ln/>
        </p:spPr>
        <p:txBody>
          <a:bodyPr wrap="square" lIns="0" tIns="0" rIns="0" bIns="0" rtlCol="0" anchor="t"/>
          <a:lstStyle/>
          <a:p>
            <a:pPr indent="0" marL="0">
              <a:buNone/>
            </a:pPr>
            <a:r>
              <a:rPr lang="en-US" sz="2200" b="1" dirty="0">
                <a:solidFill>
                  <a:srgbClr val="34D399"/>
                </a:solidFill>
                <a:latin typeface="Georgia" pitchFamily="34" charset="0"/>
                <a:ea typeface="Georgia" pitchFamily="34" charset="-122"/>
                <a:cs typeface="Georgia" pitchFamily="34" charset="-120"/>
              </a:rPr>
              <a:t>Quantum-safe</a:t>
            </a:r>
            <a:endParaRPr lang="en-US" sz="2200" dirty="0"/>
          </a:p>
        </p:txBody>
      </p:sp>
      <p:sp>
        <p:nvSpPr>
          <p:cNvPr id="14" name="Text 11"/>
          <p:cNvSpPr txBox="1"/>
          <p:nvPr/>
        </p:nvSpPr>
        <p:spPr>
          <a:xfrm>
            <a:off x="8366760" y="2697480"/>
            <a:ext cx="2926080" cy="2926080"/>
          </a:xfrm>
          <a:prstGeom prst="rect">
            <a:avLst/>
          </a:prstGeom>
          <a:noFill/>
          <a:ln/>
        </p:spPr>
        <p:txBody>
          <a:bodyPr wrap="square" lIns="0" tIns="0" rIns="0" bIns="0" rtlCol="0" anchor="t"/>
          <a:lstStyle/>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Built: the owner seals their record with ML-DSA-65 (NIST FIPS 204) plus Ed25519</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A check shows any record changed or deleted</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Next: invoices and receipts too</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Akayza - prepared by Team PR</dc:title>
  <dc:subject>PptxGenJS Presentation</dc:subject>
  <dc:creator>Team PR</dc:creator>
  <cp:lastModifiedBy>Team PR</cp:lastModifiedBy>
  <cp:revision>1</cp:revision>
  <dcterms:created xsi:type="dcterms:W3CDTF">2026-09-26T22:00:46Z</dcterms:created>
  <dcterms:modified xsi:type="dcterms:W3CDTF">2026-09-26T22:00:46Z</dcterms:modified>
</cp:coreProperties>
</file>