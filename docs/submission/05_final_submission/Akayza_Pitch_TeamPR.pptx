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That's about 12% of our GDP and one in five jobs: shops, builders, food sellers, salons. And it's hidden in plain sight.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12.3% of GDP and ~19.5% of employment: same report.
MORE EVIDENCE if pushed: DSBD (May 2026): ~82,000 spaza shops registered, 44,696 verified, ~15,000 licensed. NIQ (Mar 2026): traditional trade ~R170.1 bn in sales, growing faster than the big chains.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runs the business the way it already works, and turns every sale, order and payment into a record the owner holds. Today, less stress. This week, they buy better from their own suppliers and pay safely. Tomorrow, a trading history they own: the first step to credit and funding. Businesses never pay. Suppliers pay us, because we bring them more orders.'
Honest wording if pushed: payments made in the app are confirmed by the payment provider; the rest is the owner's own record. Never call tool records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Monday she restocks from her usual supplier in two minutes. Wednesday a customer pays back his credit. Friday she pays her supplier in the app: no cash on the road, the payment is confirmed and the invoice arrives. And at month end, for the first time, she can see her business, and it's hers.'
Thandi and Sipho are illustrations, not real customers. If asked: 'they're the owners we built for; the pilot puts real names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of WhatsApp and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'Privacy is built in, not added on. We collect only what we need or can verify. Only the owner sees their data. We never touch card numbers or hold money. Nothing personal goes into logs. Nothing is shared without consent. And we're honest about proof: only a provider-verified payment counts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Replace '[paste link here]' with the real link, and link the play button too (Insert &gt; Link).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5" Type="http://schemas.openxmlformats.org/officeDocument/2006/relationships/image" Target="../media/image-2-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tomorrow.</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Mandla and Risuna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2267712"/>
          </a:xfrm>
          <a:prstGeom prst="rect">
            <a:avLst/>
          </a:prstGeom>
        </p:spPr>
      </p:pic>
      <p:pic>
        <p:nvPicPr>
          <p:cNvPr id="3" name="Image 1" descr="preencoded.png">    </p:cNvPr>
          <p:cNvPicPr>
            <a:picLocks noChangeAspect="1"/>
          </p:cNvPicPr>
          <p:nvPr/>
        </p:nvPicPr>
        <p:blipFill>
          <a:blip r:embed="rId2"/>
          <a:stretch>
            <a:fillRect/>
          </a:stretch>
        </p:blipFill>
        <p:spPr>
          <a:xfrm>
            <a:off x="7863840" y="2304288"/>
            <a:ext cx="4327855" cy="2267712"/>
          </a:xfrm>
          <a:prstGeom prst="rect">
            <a:avLst/>
          </a:prstGeom>
        </p:spPr>
      </p:pic>
      <p:pic>
        <p:nvPicPr>
          <p:cNvPr id="4" name="Image 2" descr="preencoded.png">    </p:cNvPr>
          <p:cNvPicPr>
            <a:picLocks noChangeAspect="1"/>
          </p:cNvPicPr>
          <p:nvPr/>
        </p:nvPicPr>
        <p:blipFill>
          <a:blip r:embed="rId3"/>
          <a:stretch>
            <a:fillRect/>
          </a:stretch>
        </p:blipFill>
        <p:spPr>
          <a:xfrm>
            <a:off x="7863840" y="4608576"/>
            <a:ext cx="4327855" cy="2267712"/>
          </a:xfrm>
          <a:prstGeom prst="rect">
            <a:avLst/>
          </a:prstGeom>
        </p:spPr>
      </p:pic>
      <p:sp>
        <p:nvSpPr>
          <p:cNvPr id="5"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6" name="Text 1"/>
          <p:cNvSpPr txBox="1"/>
          <p:nvPr/>
        </p:nvSpPr>
        <p:spPr>
          <a:xfrm>
            <a:off x="548640" y="731520"/>
            <a:ext cx="6949440" cy="11430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hidden in plain sight</a:t>
            </a:r>
            <a:endParaRPr lang="en-US" sz="3200" dirty="0"/>
          </a:p>
        </p:txBody>
      </p:sp>
      <p:sp>
        <p:nvSpPr>
          <p:cNvPr id="7" name="Text 2"/>
          <p:cNvSpPr txBox="1"/>
          <p:nvPr/>
        </p:nvSpPr>
        <p:spPr>
          <a:xfrm>
            <a:off x="548640" y="1874520"/>
            <a:ext cx="6949440" cy="365760"/>
          </a:xfrm>
          <a:prstGeom prst="rect">
            <a:avLst/>
          </a:prstGeom>
          <a:noFill/>
          <a:ln/>
        </p:spPr>
        <p:txBody>
          <a:bodyPr wrap="square" lIns="0" tIns="0" rIns="0" bIns="0" rtlCol="0" anchor="t"/>
          <a:lstStyle/>
          <a:p>
            <a:pPr indent="0" marL="0">
              <a:buNone/>
            </a:pPr>
            <a:r>
              <a:rPr lang="en-US" sz="1800" dirty="0">
                <a:solidFill>
                  <a:srgbClr val="FBBF24"/>
                </a:solidFill>
                <a:latin typeface="Calibri" pitchFamily="34" charset="0"/>
                <a:ea typeface="Calibri" pitchFamily="34" charset="-122"/>
                <a:cs typeface="Calibri" pitchFamily="34" charset="-120"/>
              </a:rPr>
              <a:t>About 12% of South Africa's GDP, and 1 in 5 jobs.</a:t>
            </a:r>
            <a:endParaRPr lang="en-US" sz="1800" dirty="0"/>
          </a:p>
        </p:txBody>
      </p:sp>
      <p:sp>
        <p:nvSpPr>
          <p:cNvPr id="8" name="Shape 3"/>
          <p:cNvSpPr/>
          <p:nvPr/>
        </p:nvSpPr>
        <p:spPr>
          <a:xfrm>
            <a:off x="548640" y="2423160"/>
            <a:ext cx="2194560" cy="1417320"/>
          </a:xfrm>
          <a:prstGeom prst="roundRect">
            <a:avLst>
              <a:gd name="adj" fmla="val 7742"/>
            </a:avLst>
          </a:prstGeom>
          <a:solidFill>
            <a:srgbClr val="17223A"/>
          </a:solidFill>
          <a:ln w="12700">
            <a:solidFill>
              <a:srgbClr val="17223A"/>
            </a:solidFill>
            <a:prstDash val="solid"/>
          </a:ln>
        </p:spPr>
      </p:sp>
      <p:sp>
        <p:nvSpPr>
          <p:cNvPr id="9" name="Text 4"/>
          <p:cNvSpPr txBox="1"/>
          <p:nvPr/>
        </p:nvSpPr>
        <p:spPr>
          <a:xfrm>
            <a:off x="777240" y="251460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10" name="Text 5"/>
          <p:cNvSpPr txBox="1"/>
          <p:nvPr/>
        </p:nvSpPr>
        <p:spPr>
          <a:xfrm>
            <a:off x="77724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11" name="Shape 6"/>
          <p:cNvSpPr/>
          <p:nvPr/>
        </p:nvSpPr>
        <p:spPr>
          <a:xfrm>
            <a:off x="2926080" y="2423160"/>
            <a:ext cx="2194560" cy="1417320"/>
          </a:xfrm>
          <a:prstGeom prst="roundRect">
            <a:avLst>
              <a:gd name="adj" fmla="val 7742"/>
            </a:avLst>
          </a:prstGeom>
          <a:solidFill>
            <a:srgbClr val="17223A"/>
          </a:solidFill>
          <a:ln w="12700">
            <a:solidFill>
              <a:srgbClr val="17223A"/>
            </a:solidFill>
            <a:prstDash val="solid"/>
          </a:ln>
        </p:spPr>
      </p:sp>
      <p:sp>
        <p:nvSpPr>
          <p:cNvPr id="12" name="Text 7"/>
          <p:cNvSpPr txBox="1"/>
          <p:nvPr/>
        </p:nvSpPr>
        <p:spPr>
          <a:xfrm>
            <a:off x="3154680" y="251460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3" name="Text 8"/>
          <p:cNvSpPr txBox="1"/>
          <p:nvPr/>
        </p:nvSpPr>
        <p:spPr>
          <a:xfrm>
            <a:off x="315468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4" name="Shape 9"/>
          <p:cNvSpPr/>
          <p:nvPr/>
        </p:nvSpPr>
        <p:spPr>
          <a:xfrm>
            <a:off x="5303520" y="2423160"/>
            <a:ext cx="2194560" cy="1417320"/>
          </a:xfrm>
          <a:prstGeom prst="roundRect">
            <a:avLst>
              <a:gd name="adj" fmla="val 7742"/>
            </a:avLst>
          </a:prstGeom>
          <a:solidFill>
            <a:srgbClr val="17223A"/>
          </a:solidFill>
          <a:ln w="12700">
            <a:solidFill>
              <a:srgbClr val="17223A"/>
            </a:solidFill>
            <a:prstDash val="solid"/>
          </a:ln>
        </p:spPr>
      </p:sp>
      <p:sp>
        <p:nvSpPr>
          <p:cNvPr id="15" name="Text 10"/>
          <p:cNvSpPr txBox="1"/>
          <p:nvPr/>
        </p:nvSpPr>
        <p:spPr>
          <a:xfrm>
            <a:off x="5532120" y="251460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6" name="Text 11"/>
          <p:cNvSpPr txBox="1"/>
          <p:nvPr/>
        </p:nvSpPr>
        <p:spPr>
          <a:xfrm>
            <a:off x="553212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7" name="Shape 12"/>
          <p:cNvSpPr/>
          <p:nvPr/>
        </p:nvSpPr>
        <p:spPr>
          <a:xfrm>
            <a:off x="548640" y="4023360"/>
            <a:ext cx="6949440" cy="2148840"/>
          </a:xfrm>
          <a:prstGeom prst="roundRect">
            <a:avLst>
              <a:gd name="adj" fmla="val 5106"/>
            </a:avLst>
          </a:prstGeom>
          <a:solidFill>
            <a:srgbClr val="17223A"/>
          </a:solidFill>
          <a:ln w="12700">
            <a:solidFill>
              <a:srgbClr val="17223A"/>
            </a:solidFill>
            <a:prstDash val="solid"/>
          </a:ln>
        </p:spPr>
      </p:sp>
      <p:graphicFrame>
        <p:nvGraphicFramePr>
          <p:cNvPr id="18" name="Chart 0" descr=""/>
          <p:cNvGraphicFramePr/>
          <p:nvPr/>
        </p:nvGraphicFramePr>
        <p:xfrm>
          <a:off x="685800" y="4096512"/>
          <a:ext cx="4206240" cy="201168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4983480" y="4206240"/>
            <a:ext cx="2331720" cy="182880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20" name="Image 3"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1"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2" name="Text 15"/>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Oct 2025; DSBD, May 2026. Photos: Business Explainer; SABC News.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One free app that makes the business visible</a:t>
            </a:r>
            <a:endParaRPr lang="en-US" sz="3200" dirty="0"/>
          </a:p>
        </p:txBody>
      </p:sp>
      <p:sp>
        <p:nvSpPr>
          <p:cNvPr id="4" name="Text 2"/>
          <p:cNvSpPr txBox="1"/>
          <p:nvPr/>
        </p:nvSpPr>
        <p:spPr>
          <a:xfrm>
            <a:off x="548640" y="1600200"/>
            <a:ext cx="11064240" cy="685800"/>
          </a:xfrm>
          <a:prstGeom prst="rect">
            <a:avLst/>
          </a:prstGeom>
          <a:noFill/>
          <a:ln/>
        </p:spPr>
        <p:txBody>
          <a:bodyPr wrap="square" lIns="0" tIns="0" rIns="0" bIns="0" rtlCol="0" anchor="t"/>
          <a:lstStyle/>
          <a:p>
            <a:pPr indent="0" marL="0">
              <a:buNone/>
            </a:pPr>
            <a:r>
              <a:rPr lang="en-US" sz="1700" dirty="0">
                <a:solidFill>
                  <a:srgbClr val="A3B3C9"/>
                </a:solidFill>
                <a:latin typeface="Calibri" pitchFamily="34" charset="0"/>
                <a:ea typeface="Calibri" pitchFamily="34" charset="-122"/>
                <a:cs typeface="Calibri" pitchFamily="34" charset="-120"/>
              </a:rPr>
              <a:t>It works the way they already do (cash, credit on trust, the same suppliers), and turns every sale, order and payment into a record the owner holds.</a:t>
            </a:r>
            <a:endParaRPr lang="en-US" sz="1700" dirty="0"/>
          </a:p>
        </p:txBody>
      </p:sp>
      <p:sp>
        <p:nvSpPr>
          <p:cNvPr id="5" name="Shape 3"/>
          <p:cNvSpPr/>
          <p:nvPr/>
        </p:nvSpPr>
        <p:spPr>
          <a:xfrm>
            <a:off x="548640" y="2468880"/>
            <a:ext cx="3474720" cy="2788920"/>
          </a:xfrm>
          <a:prstGeom prst="roundRect">
            <a:avLst>
              <a:gd name="adj" fmla="val 3934"/>
            </a:avLst>
          </a:prstGeom>
          <a:solidFill>
            <a:srgbClr val="17223A"/>
          </a:solidFill>
          <a:ln w="12700">
            <a:solidFill>
              <a:srgbClr val="17223A"/>
            </a:solidFill>
            <a:prstDash val="solid"/>
          </a:ln>
        </p:spPr>
      </p:sp>
      <p:sp>
        <p:nvSpPr>
          <p:cNvPr id="6" name="Text 4"/>
          <p:cNvSpPr txBox="1"/>
          <p:nvPr/>
        </p:nvSpPr>
        <p:spPr>
          <a:xfrm>
            <a:off x="868680" y="2697480"/>
            <a:ext cx="22860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TODAY</a:t>
            </a:r>
            <a:endParaRPr lang="en-US" sz="1300" dirty="0"/>
          </a:p>
        </p:txBody>
      </p:sp>
      <p:sp>
        <p:nvSpPr>
          <p:cNvPr id="7" name="Shape 5"/>
          <p:cNvSpPr/>
          <p:nvPr/>
        </p:nvSpPr>
        <p:spPr>
          <a:xfrm>
            <a:off x="3063240" y="2651760"/>
            <a:ext cx="658368" cy="65836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221248" y="2809768"/>
            <a:ext cx="342351" cy="342351"/>
          </a:xfrm>
          <a:prstGeom prst="rect">
            <a:avLst/>
          </a:prstGeom>
        </p:spPr>
      </p:pic>
      <p:sp>
        <p:nvSpPr>
          <p:cNvPr id="9" name="Text 6"/>
          <p:cNvSpPr txBox="1"/>
          <p:nvPr/>
        </p:nvSpPr>
        <p:spPr>
          <a:xfrm>
            <a:off x="868680" y="3383280"/>
            <a:ext cx="3017520" cy="457200"/>
          </a:xfrm>
          <a:prstGeom prst="rect">
            <a:avLst/>
          </a:prstGeom>
          <a:noFill/>
          <a:ln/>
        </p:spPr>
        <p:txBody>
          <a:bodyPr wrap="square" lIns="0" tIns="0" rIns="0" bIns="0" rtlCol="0" anchor="t"/>
          <a:lstStyle/>
          <a:p>
            <a:pPr indent="0" marL="0">
              <a:buNone/>
            </a:pPr>
            <a:r>
              <a:rPr lang="en-US" sz="1900" b="1" dirty="0">
                <a:solidFill>
                  <a:srgbClr val="F8FAFC"/>
                </a:solidFill>
                <a:latin typeface="Georgia" pitchFamily="34" charset="0"/>
                <a:ea typeface="Georgia" pitchFamily="34" charset="-122"/>
                <a:cs typeface="Georgia" pitchFamily="34" charset="-120"/>
              </a:rPr>
              <a:t>Less stress</a:t>
            </a:r>
            <a:endParaRPr lang="en-US" sz="1900" dirty="0"/>
          </a:p>
        </p:txBody>
      </p:sp>
      <p:sp>
        <p:nvSpPr>
          <p:cNvPr id="10" name="Text 7"/>
          <p:cNvSpPr txBox="1"/>
          <p:nvPr/>
        </p:nvSpPr>
        <p:spPr>
          <a:xfrm>
            <a:off x="868680" y="3931920"/>
            <a:ext cx="2880360" cy="123444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 credit book, an order book and jobs in stages: who owes you, what sold, what's due.</a:t>
            </a:r>
            <a:endParaRPr lang="en-US" sz="1400" dirty="0"/>
          </a:p>
        </p:txBody>
      </p:sp>
      <p:sp>
        <p:nvSpPr>
          <p:cNvPr id="11" name="Shape 8"/>
          <p:cNvSpPr/>
          <p:nvPr/>
        </p:nvSpPr>
        <p:spPr>
          <a:xfrm>
            <a:off x="4297680" y="2468880"/>
            <a:ext cx="3474720" cy="2788920"/>
          </a:xfrm>
          <a:prstGeom prst="roundRect">
            <a:avLst>
              <a:gd name="adj" fmla="val 3934"/>
            </a:avLst>
          </a:prstGeom>
          <a:solidFill>
            <a:srgbClr val="17223A"/>
          </a:solidFill>
          <a:ln w="12700">
            <a:solidFill>
              <a:srgbClr val="17223A"/>
            </a:solidFill>
            <a:prstDash val="solid"/>
          </a:ln>
        </p:spPr>
      </p:sp>
      <p:sp>
        <p:nvSpPr>
          <p:cNvPr id="12" name="Text 9"/>
          <p:cNvSpPr txBox="1"/>
          <p:nvPr/>
        </p:nvSpPr>
        <p:spPr>
          <a:xfrm>
            <a:off x="4617720" y="2697480"/>
            <a:ext cx="2286000" cy="320040"/>
          </a:xfrm>
          <a:prstGeom prst="rect">
            <a:avLst/>
          </a:prstGeom>
          <a:noFill/>
          <a:ln/>
        </p:spPr>
        <p:txBody>
          <a:bodyPr wrap="square" lIns="0" tIns="0" rIns="0" bIns="0" rtlCol="0" anchor="t"/>
          <a:lstStyle/>
          <a:p>
            <a:pPr indent="0" marL="0">
              <a:buNone/>
            </a:pPr>
            <a:r>
              <a:rPr lang="en-US" sz="1300" b="1" spc="300" kern="0" dirty="0">
                <a:solidFill>
                  <a:srgbClr val="FBBF24"/>
                </a:solidFill>
                <a:latin typeface="Calibri" pitchFamily="34" charset="0"/>
                <a:ea typeface="Calibri" pitchFamily="34" charset="-122"/>
                <a:cs typeface="Calibri" pitchFamily="34" charset="-120"/>
              </a:rPr>
              <a:t>THIS WEEK</a:t>
            </a:r>
            <a:endParaRPr lang="en-US" sz="1300" dirty="0"/>
          </a:p>
        </p:txBody>
      </p:sp>
      <p:sp>
        <p:nvSpPr>
          <p:cNvPr id="13" name="Shape 10"/>
          <p:cNvSpPr/>
          <p:nvPr/>
        </p:nvSpPr>
        <p:spPr>
          <a:xfrm>
            <a:off x="6812280" y="2651760"/>
            <a:ext cx="658368" cy="65836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6970288" y="2809768"/>
            <a:ext cx="342351" cy="342351"/>
          </a:xfrm>
          <a:prstGeom prst="rect">
            <a:avLst/>
          </a:prstGeom>
        </p:spPr>
      </p:pic>
      <p:sp>
        <p:nvSpPr>
          <p:cNvPr id="15" name="Text 11"/>
          <p:cNvSpPr txBox="1"/>
          <p:nvPr/>
        </p:nvSpPr>
        <p:spPr>
          <a:xfrm>
            <a:off x="4617720" y="3383280"/>
            <a:ext cx="3017520" cy="457200"/>
          </a:xfrm>
          <a:prstGeom prst="rect">
            <a:avLst/>
          </a:prstGeom>
          <a:noFill/>
          <a:ln/>
        </p:spPr>
        <p:txBody>
          <a:bodyPr wrap="square" lIns="0" tIns="0" rIns="0" bIns="0" rtlCol="0" anchor="t"/>
          <a:lstStyle/>
          <a:p>
            <a:pPr indent="0" marL="0">
              <a:buNone/>
            </a:pPr>
            <a:r>
              <a:rPr lang="en-US" sz="1900" b="1" dirty="0">
                <a:solidFill>
                  <a:srgbClr val="F8FAFC"/>
                </a:solidFill>
                <a:latin typeface="Georgia" pitchFamily="34" charset="0"/>
                <a:ea typeface="Georgia" pitchFamily="34" charset="-122"/>
                <a:cs typeface="Georgia" pitchFamily="34" charset="-120"/>
              </a:rPr>
              <a:t>Buy better, pay safely</a:t>
            </a:r>
            <a:endParaRPr lang="en-US" sz="1900" dirty="0"/>
          </a:p>
        </p:txBody>
      </p:sp>
      <p:sp>
        <p:nvSpPr>
          <p:cNvPr id="16" name="Text 12"/>
          <p:cNvSpPr txBox="1"/>
          <p:nvPr/>
        </p:nvSpPr>
        <p:spPr>
          <a:xfrm>
            <a:off x="4617720" y="3931920"/>
            <a:ext cx="2880360" cy="123444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400" dirty="0"/>
          </a:p>
        </p:txBody>
      </p:sp>
      <p:sp>
        <p:nvSpPr>
          <p:cNvPr id="17" name="Shape 13"/>
          <p:cNvSpPr/>
          <p:nvPr/>
        </p:nvSpPr>
        <p:spPr>
          <a:xfrm>
            <a:off x="8046720" y="2468880"/>
            <a:ext cx="3474720" cy="2788920"/>
          </a:xfrm>
          <a:prstGeom prst="roundRect">
            <a:avLst>
              <a:gd name="adj" fmla="val 3934"/>
            </a:avLst>
          </a:prstGeom>
          <a:solidFill>
            <a:srgbClr val="17223A"/>
          </a:solidFill>
          <a:ln w="12700">
            <a:solidFill>
              <a:srgbClr val="17223A"/>
            </a:solidFill>
            <a:prstDash val="solid"/>
          </a:ln>
        </p:spPr>
      </p:sp>
      <p:sp>
        <p:nvSpPr>
          <p:cNvPr id="18" name="Text 14"/>
          <p:cNvSpPr txBox="1"/>
          <p:nvPr/>
        </p:nvSpPr>
        <p:spPr>
          <a:xfrm>
            <a:off x="8366760" y="2697480"/>
            <a:ext cx="2286000" cy="320040"/>
          </a:xfrm>
          <a:prstGeom prst="rect">
            <a:avLst/>
          </a:prstGeom>
          <a:noFill/>
          <a:ln/>
        </p:spPr>
        <p:txBody>
          <a:bodyPr wrap="square" lIns="0" tIns="0" rIns="0" bIns="0" rtlCol="0" anchor="t"/>
          <a:lstStyle/>
          <a:p>
            <a:pPr indent="0" marL="0">
              <a:buNone/>
            </a:pPr>
            <a:r>
              <a:rPr lang="en-US" sz="1300" b="1" spc="300" kern="0" dirty="0">
                <a:solidFill>
                  <a:srgbClr val="34D399"/>
                </a:solidFill>
                <a:latin typeface="Calibri" pitchFamily="34" charset="0"/>
                <a:ea typeface="Calibri" pitchFamily="34" charset="-122"/>
                <a:cs typeface="Calibri" pitchFamily="34" charset="-120"/>
              </a:rPr>
              <a:t>TOMORROW</a:t>
            </a:r>
            <a:endParaRPr lang="en-US" sz="1300" dirty="0"/>
          </a:p>
        </p:txBody>
      </p:sp>
      <p:sp>
        <p:nvSpPr>
          <p:cNvPr id="19" name="Shape 15"/>
          <p:cNvSpPr/>
          <p:nvPr/>
        </p:nvSpPr>
        <p:spPr>
          <a:xfrm>
            <a:off x="10561320" y="2651760"/>
            <a:ext cx="658368" cy="65836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719328" y="2809768"/>
            <a:ext cx="342351" cy="342351"/>
          </a:xfrm>
          <a:prstGeom prst="rect">
            <a:avLst/>
          </a:prstGeom>
        </p:spPr>
      </p:pic>
      <p:sp>
        <p:nvSpPr>
          <p:cNvPr id="21" name="Text 16"/>
          <p:cNvSpPr txBox="1"/>
          <p:nvPr/>
        </p:nvSpPr>
        <p:spPr>
          <a:xfrm>
            <a:off x="8366760" y="3383280"/>
            <a:ext cx="3017520" cy="457200"/>
          </a:xfrm>
          <a:prstGeom prst="rect">
            <a:avLst/>
          </a:prstGeom>
          <a:noFill/>
          <a:ln/>
        </p:spPr>
        <p:txBody>
          <a:bodyPr wrap="square" lIns="0" tIns="0" rIns="0" bIns="0" rtlCol="0" anchor="t"/>
          <a:lstStyle/>
          <a:p>
            <a:pPr indent="0" marL="0">
              <a:buNone/>
            </a:pPr>
            <a:r>
              <a:rPr lang="en-US" sz="1900" b="1" dirty="0">
                <a:solidFill>
                  <a:srgbClr val="F8FAFC"/>
                </a:solidFill>
                <a:latin typeface="Georgia" pitchFamily="34" charset="0"/>
                <a:ea typeface="Georgia" pitchFamily="34" charset="-122"/>
                <a:cs typeface="Georgia" pitchFamily="34" charset="-120"/>
              </a:rPr>
              <a:t>Ready to grow</a:t>
            </a:r>
            <a:endParaRPr lang="en-US" sz="1900" dirty="0"/>
          </a:p>
        </p:txBody>
      </p:sp>
      <p:sp>
        <p:nvSpPr>
          <p:cNvPr id="22" name="Text 17"/>
          <p:cNvSpPr txBox="1"/>
          <p:nvPr/>
        </p:nvSpPr>
        <p:spPr>
          <a:xfrm>
            <a:off x="8366760" y="3931920"/>
            <a:ext cx="2880360" cy="123444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 sealed trading history you own and choose to share: the first step to credit, funds and registration.</a:t>
            </a:r>
            <a:endParaRPr lang="en-US" sz="1400" dirty="0"/>
          </a:p>
        </p:txBody>
      </p:sp>
      <p:sp>
        <p:nvSpPr>
          <p:cNvPr id="23" name="Shape 18"/>
          <p:cNvSpPr/>
          <p:nvPr/>
        </p:nvSpPr>
        <p:spPr>
          <a:xfrm>
            <a:off x="548640" y="5440680"/>
            <a:ext cx="11064240" cy="731520"/>
          </a:xfrm>
          <a:prstGeom prst="roundRect">
            <a:avLst>
              <a:gd name="adj" fmla="val 15000"/>
            </a:avLst>
          </a:prstGeom>
          <a:solidFill>
            <a:srgbClr val="1E2B45"/>
          </a:solidFill>
          <a:ln w="12700">
            <a:solidFill>
              <a:srgbClr val="1E2B45"/>
            </a:solidFill>
            <a:prstDash val="solid"/>
          </a:ln>
        </p:spPr>
      </p:sp>
      <p:sp>
        <p:nvSpPr>
          <p:cNvPr id="24" name="Text 19"/>
          <p:cNvSpPr txBox="1"/>
          <p:nvPr/>
        </p:nvSpPr>
        <p:spPr>
          <a:xfrm>
            <a:off x="777240" y="5577840"/>
            <a:ext cx="3566160" cy="457200"/>
          </a:xfrm>
          <a:prstGeom prst="rect">
            <a:avLst/>
          </a:prstGeom>
          <a:noFill/>
          <a:ln/>
        </p:spPr>
        <p:txBody>
          <a:bodyPr wrap="square" lIns="0" tIns="0" rIns="0" bIns="0" rtlCol="0" anchor="ctr"/>
          <a:lstStyle/>
          <a:p>
            <a:pPr indent="0" marL="0">
              <a:buNone/>
            </a:pPr>
            <a:r>
              <a:rPr lang="en-US" sz="1350" b="1" dirty="0">
                <a:solidFill>
                  <a:srgbClr val="10B981"/>
                </a:solidFill>
                <a:latin typeface="Calibri" pitchFamily="34" charset="0"/>
                <a:ea typeface="Calibri" pitchFamily="34" charset="-122"/>
                <a:cs typeface="Calibri" pitchFamily="34" charset="-120"/>
              </a:rPr>
              <a:t>Businesses  </a:t>
            </a:r>
            <a:pPr indent="0" marL="0">
              <a:buNone/>
            </a:pPr>
            <a:r>
              <a:rPr lang="en-US" sz="1350" dirty="0">
                <a:solidFill>
                  <a:srgbClr val="F8FAFC"/>
                </a:solidFill>
                <a:latin typeface="Calibri" pitchFamily="34" charset="0"/>
                <a:ea typeface="Calibri" pitchFamily="34" charset="-122"/>
                <a:cs typeface="Calibri" pitchFamily="34" charset="-120"/>
              </a:rPr>
              <a:t>use it free, always</a:t>
            </a:r>
            <a:endParaRPr lang="en-US" sz="1350" dirty="0"/>
          </a:p>
        </p:txBody>
      </p:sp>
      <p:sp>
        <p:nvSpPr>
          <p:cNvPr id="25" name="Text 20"/>
          <p:cNvSpPr txBox="1"/>
          <p:nvPr/>
        </p:nvSpPr>
        <p:spPr>
          <a:xfrm>
            <a:off x="4480560" y="5577840"/>
            <a:ext cx="3566160" cy="457200"/>
          </a:xfrm>
          <a:prstGeom prst="rect">
            <a:avLst/>
          </a:prstGeom>
          <a:noFill/>
          <a:ln/>
        </p:spPr>
        <p:txBody>
          <a:bodyPr wrap="square" lIns="0" tIns="0" rIns="0" bIns="0" rtlCol="0" anchor="ctr"/>
          <a:lstStyle/>
          <a:p>
            <a:pPr indent="0" marL="0">
              <a:buNone/>
            </a:pPr>
            <a:r>
              <a:rPr lang="en-US" sz="1350" b="1" dirty="0">
                <a:solidFill>
                  <a:srgbClr val="FBBF24"/>
                </a:solidFill>
                <a:latin typeface="Calibri" pitchFamily="34" charset="0"/>
                <a:ea typeface="Calibri" pitchFamily="34" charset="-122"/>
                <a:cs typeface="Calibri" pitchFamily="34" charset="-120"/>
              </a:rPr>
              <a:t>Suppliers  </a:t>
            </a:r>
            <a:pPr indent="0" marL="0">
              <a:buNone/>
            </a:pPr>
            <a:r>
              <a:rPr lang="en-US" sz="1350" dirty="0">
                <a:solidFill>
                  <a:srgbClr val="F8FAFC"/>
                </a:solidFill>
                <a:latin typeface="Calibri" pitchFamily="34" charset="0"/>
                <a:ea typeface="Calibri" pitchFamily="34" charset="-122"/>
                <a:cs typeface="Calibri" pitchFamily="34" charset="-120"/>
              </a:rPr>
              <a:t>pay us: more orders, no cash lost on the road</a:t>
            </a:r>
            <a:endParaRPr lang="en-US" sz="1350" dirty="0"/>
          </a:p>
        </p:txBody>
      </p:sp>
      <p:sp>
        <p:nvSpPr>
          <p:cNvPr id="26" name="Text 21"/>
          <p:cNvSpPr txBox="1"/>
          <p:nvPr/>
        </p:nvSpPr>
        <p:spPr>
          <a:xfrm>
            <a:off x="8183880" y="5577840"/>
            <a:ext cx="3566160" cy="457200"/>
          </a:xfrm>
          <a:prstGeom prst="rect">
            <a:avLst/>
          </a:prstGeom>
          <a:noFill/>
          <a:ln/>
        </p:spPr>
        <p:txBody>
          <a:bodyPr wrap="square" lIns="0" tIns="0" rIns="0" bIns="0" rtlCol="0" anchor="ctr"/>
          <a:lstStyle/>
          <a:p>
            <a:pPr indent="0" marL="0">
              <a:buNone/>
            </a:pPr>
            <a:r>
              <a:rPr lang="en-US" sz="1350" b="1" dirty="0">
                <a:solidFill>
                  <a:srgbClr val="34D399"/>
                </a:solidFill>
                <a:latin typeface="Calibri" pitchFamily="34" charset="0"/>
                <a:ea typeface="Calibri" pitchFamily="34" charset="-122"/>
                <a:cs typeface="Calibri" pitchFamily="34" charset="-120"/>
              </a:rPr>
              <a:t>Banks and funds  </a:t>
            </a:r>
            <a:pPr indent="0" marL="0">
              <a:buNone/>
            </a:pPr>
            <a:r>
              <a:rPr lang="en-US" sz="1350" dirty="0">
                <a:solidFill>
                  <a:srgbClr val="F8FAFC"/>
                </a:solidFill>
                <a:latin typeface="Calibri" pitchFamily="34" charset="0"/>
                <a:ea typeface="Calibri" pitchFamily="34" charset="-122"/>
                <a:cs typeface="Calibri" pitchFamily="34" charset="-120"/>
              </a:rPr>
              <a:t>next, only with the owner's consent</a:t>
            </a:r>
            <a:endParaRPr lang="en-US" sz="1350" dirty="0"/>
          </a:p>
        </p:txBody>
      </p:sp>
      <p:pic>
        <p:nvPicPr>
          <p:cNvPr id="27"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8"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457200"/>
          </a:xfrm>
          <a:prstGeom prst="rect">
            <a:avLst/>
          </a:prstGeom>
          <a:noFill/>
          <a:ln/>
        </p:spPr>
        <p:txBody>
          <a:bodyPr wrap="square" lIns="0" tIns="0" rIns="0" bIns="0" rtlCol="0" anchor="t"/>
          <a:lstStyle/>
          <a:p>
            <a:pPr indent="0" marL="0">
              <a:buNone/>
            </a:pPr>
            <a:r>
              <a:rPr lang="en-US" sz="1700" i="1" dirty="0">
                <a:solidFill>
                  <a:srgbClr val="A3B3C9"/>
                </a:solidFill>
                <a:latin typeface="Calibri" pitchFamily="34" charset="0"/>
                <a:ea typeface="Calibri" pitchFamily="34" charset="-122"/>
                <a:cs typeface="Calibri" pitchFamily="34" charset="-120"/>
              </a:rPr>
              <a:t>Thandi runs a small shop. She's busy, she trusts her customers, and she's never had a record of any of it.</a:t>
            </a:r>
            <a:endParaRPr lang="en-US" sz="1700" dirty="0"/>
          </a:p>
        </p:txBody>
      </p:sp>
      <p:sp>
        <p:nvSpPr>
          <p:cNvPr id="5" name="Shape 3"/>
          <p:cNvSpPr/>
          <p:nvPr/>
        </p:nvSpPr>
        <p:spPr>
          <a:xfrm>
            <a:off x="548640" y="2240280"/>
            <a:ext cx="2606040" cy="356616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14600"/>
            <a:ext cx="731520" cy="73152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8525" y="2690165"/>
            <a:ext cx="380390" cy="380390"/>
          </a:xfrm>
          <a:prstGeom prst="rect">
            <a:avLst/>
          </a:prstGeom>
        </p:spPr>
      </p:pic>
      <p:sp>
        <p:nvSpPr>
          <p:cNvPr id="8" name="Text 5"/>
          <p:cNvSpPr txBox="1"/>
          <p:nvPr/>
        </p:nvSpPr>
        <p:spPr>
          <a:xfrm>
            <a:off x="822960" y="342900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79476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Restocks in 2 minutes</a:t>
            </a:r>
            <a:endParaRPr lang="en-US" sz="1800" dirty="0"/>
          </a:p>
        </p:txBody>
      </p:sp>
      <p:sp>
        <p:nvSpPr>
          <p:cNvPr id="10" name="Text 7"/>
          <p:cNvSpPr txBox="1"/>
          <p:nvPr/>
        </p:nvSpPr>
        <p:spPr>
          <a:xfrm>
            <a:off x="822960" y="457200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23360"/>
            <a:ext cx="164592" cy="0"/>
          </a:xfrm>
          <a:prstGeom prst="line">
            <a:avLst/>
          </a:prstGeom>
          <a:noFill/>
          <a:ln w="19050">
            <a:solidFill>
              <a:srgbClr val="64748B"/>
            </a:solidFill>
            <a:prstDash val="solid"/>
            <a:tailEnd type="triangle"/>
          </a:ln>
        </p:spPr>
      </p:sp>
      <p:sp>
        <p:nvSpPr>
          <p:cNvPr id="12" name="Shape 9"/>
          <p:cNvSpPr/>
          <p:nvPr/>
        </p:nvSpPr>
        <p:spPr>
          <a:xfrm>
            <a:off x="3364992" y="2240280"/>
            <a:ext cx="2606040" cy="356616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14600"/>
            <a:ext cx="731520" cy="731520"/>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4877" y="2690165"/>
            <a:ext cx="380390" cy="380390"/>
          </a:xfrm>
          <a:prstGeom prst="rect">
            <a:avLst/>
          </a:prstGeom>
        </p:spPr>
      </p:pic>
      <p:sp>
        <p:nvSpPr>
          <p:cNvPr id="15" name="Text 11"/>
          <p:cNvSpPr txBox="1"/>
          <p:nvPr/>
        </p:nvSpPr>
        <p:spPr>
          <a:xfrm>
            <a:off x="3639312" y="342900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79476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Gets paid back</a:t>
            </a:r>
            <a:endParaRPr lang="en-US" sz="1800" dirty="0"/>
          </a:p>
        </p:txBody>
      </p:sp>
      <p:sp>
        <p:nvSpPr>
          <p:cNvPr id="17" name="Text 13"/>
          <p:cNvSpPr txBox="1"/>
          <p:nvPr/>
        </p:nvSpPr>
        <p:spPr>
          <a:xfrm>
            <a:off x="3639312" y="457200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It's off her book on the spot.</a:t>
            </a:r>
            <a:endParaRPr lang="en-US" sz="1350" dirty="0"/>
          </a:p>
        </p:txBody>
      </p:sp>
      <p:sp>
        <p:nvSpPr>
          <p:cNvPr id="18" name="Shape 14"/>
          <p:cNvSpPr/>
          <p:nvPr/>
        </p:nvSpPr>
        <p:spPr>
          <a:xfrm>
            <a:off x="5998464" y="4023360"/>
            <a:ext cx="164592" cy="0"/>
          </a:xfrm>
          <a:prstGeom prst="line">
            <a:avLst/>
          </a:prstGeom>
          <a:noFill/>
          <a:ln w="19050">
            <a:solidFill>
              <a:srgbClr val="64748B"/>
            </a:solidFill>
            <a:prstDash val="solid"/>
            <a:tailEnd type="triangle"/>
          </a:ln>
        </p:spPr>
      </p:sp>
      <p:sp>
        <p:nvSpPr>
          <p:cNvPr id="19" name="Shape 15"/>
          <p:cNvSpPr/>
          <p:nvPr/>
        </p:nvSpPr>
        <p:spPr>
          <a:xfrm>
            <a:off x="6181344" y="2240280"/>
            <a:ext cx="2606040" cy="356616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14600"/>
            <a:ext cx="731520" cy="731520"/>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31229" y="2690165"/>
            <a:ext cx="380390" cy="380390"/>
          </a:xfrm>
          <a:prstGeom prst="rect">
            <a:avLst/>
          </a:prstGeom>
        </p:spPr>
      </p:pic>
      <p:sp>
        <p:nvSpPr>
          <p:cNvPr id="22" name="Text 17"/>
          <p:cNvSpPr txBox="1"/>
          <p:nvPr/>
        </p:nvSpPr>
        <p:spPr>
          <a:xfrm>
            <a:off x="6455664" y="342900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79476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Pays without cash risk</a:t>
            </a:r>
            <a:endParaRPr lang="en-US" sz="1800" dirty="0"/>
          </a:p>
        </p:txBody>
      </p:sp>
      <p:sp>
        <p:nvSpPr>
          <p:cNvPr id="24" name="Text 19"/>
          <p:cNvSpPr txBox="1"/>
          <p:nvPr/>
        </p:nvSpPr>
        <p:spPr>
          <a:xfrm>
            <a:off x="6455664" y="457200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23360"/>
            <a:ext cx="164592" cy="0"/>
          </a:xfrm>
          <a:prstGeom prst="line">
            <a:avLst/>
          </a:prstGeom>
          <a:noFill/>
          <a:ln w="19050">
            <a:solidFill>
              <a:srgbClr val="64748B"/>
            </a:solidFill>
            <a:prstDash val="solid"/>
            <a:tailEnd type="triangle"/>
          </a:ln>
        </p:spPr>
      </p:sp>
      <p:sp>
        <p:nvSpPr>
          <p:cNvPr id="26" name="Shape 21"/>
          <p:cNvSpPr/>
          <p:nvPr/>
        </p:nvSpPr>
        <p:spPr>
          <a:xfrm>
            <a:off x="8997696" y="2240280"/>
            <a:ext cx="2606040" cy="356616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14600"/>
            <a:ext cx="731520" cy="731520"/>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7581" y="2690165"/>
            <a:ext cx="380390" cy="380390"/>
          </a:xfrm>
          <a:prstGeom prst="rect">
            <a:avLst/>
          </a:prstGeom>
        </p:spPr>
      </p:pic>
      <p:sp>
        <p:nvSpPr>
          <p:cNvPr id="29" name="Text 23"/>
          <p:cNvSpPr txBox="1"/>
          <p:nvPr/>
        </p:nvSpPr>
        <p:spPr>
          <a:xfrm>
            <a:off x="9272016" y="342900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79476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Sees her business</a:t>
            </a:r>
            <a:endParaRPr lang="en-US" sz="1800" dirty="0"/>
          </a:p>
        </p:txBody>
      </p:sp>
      <p:sp>
        <p:nvSpPr>
          <p:cNvPr id="31" name="Text 25"/>
          <p:cNvSpPr txBox="1"/>
          <p:nvPr/>
        </p:nvSpPr>
        <p:spPr>
          <a:xfrm>
            <a:off x="9272016" y="457200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What she sold, what she's owed, what she bought. She seals it, and it's hers.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Sipho the builder has the same week: stock for the site, jobs in stages, the client signs off each stage from a link.</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never do.</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47488"/>
            <a:ext cx="4572000" cy="1005840"/>
          </a:xfrm>
          <a:prstGeom prst="rect">
            <a:avLst/>
          </a:prstGeom>
          <a:noFill/>
          <a:ln/>
        </p:spPr>
        <p:txBody>
          <a:bodyPr wrap="square" lIns="0" tIns="0" rIns="0" bIns="0" rtlCol="0" anchor="ctr"/>
          <a:lstStyle/>
          <a:p>
            <a:pPr indent="0" marL="0">
              <a:buNone/>
            </a:pPr>
            <a:r>
              <a:rPr lang="en-US" sz="1350" b="1" dirty="0">
                <a:solidFill>
                  <a:srgbClr val="FBBF24"/>
                </a:solidFill>
                <a:latin typeface="Calibri" pitchFamily="34" charset="0"/>
                <a:ea typeface="Calibri" pitchFamily="34" charset="-122"/>
                <a:cs typeface="Calibri" pitchFamily="34" charset="-120"/>
              </a:rPr>
              <a:t>Go-to-market  </a:t>
            </a:r>
            <a:pPr indent="0" marL="0">
              <a:buNone/>
            </a:pPr>
            <a:r>
              <a:rPr lang="en-US" sz="1350" dirty="0">
                <a:solidFill>
                  <a:srgbClr val="F8FAFC"/>
                </a:solidFill>
                <a:latin typeface="Calibri" pitchFamily="34" charset="0"/>
                <a:ea typeface="Calibri" pitchFamily="34" charset="-122"/>
                <a:cs typeface="Calibri" pitchFamily="34" charset="-120"/>
              </a:rPr>
              <a:t>Sign a supplier, and it brings the businesses it already delivers to. 2 suppliers in the pilot, 15 in year 1, 200 by year 3.</a:t>
            </a:r>
            <a:endParaRPr lang="en-US" sz="13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85216">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Any kind of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Verified payment</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394960"/>
            <a:ext cx="5440680" cy="777240"/>
          </a:xfrm>
          <a:prstGeom prst="roundRect">
            <a:avLst>
              <a:gd name="adj" fmla="val 14118"/>
            </a:avLst>
          </a:prstGeom>
          <a:solidFill>
            <a:srgbClr val="1E2B45"/>
          </a:solidFill>
          <a:ln w="12700">
            <a:solidFill>
              <a:srgbClr val="1E2B45"/>
            </a:solidFill>
            <a:prstDash val="solid"/>
          </a:ln>
        </p:spPr>
      </p:sp>
      <p:sp>
        <p:nvSpPr>
          <p:cNvPr id="6" name="Text 3"/>
          <p:cNvSpPr txBox="1"/>
          <p:nvPr/>
        </p:nvSpPr>
        <p:spPr>
          <a:xfrm>
            <a:off x="777240" y="5440680"/>
            <a:ext cx="5029200" cy="68580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Gets smarter with use  </a:t>
            </a:r>
            <a:pPr indent="0" marL="0">
              <a:buNone/>
            </a:pPr>
            <a:r>
              <a:rPr lang="en-US" sz="1300" dirty="0">
                <a:solidFill>
                  <a:srgbClr val="F8FAFC"/>
                </a:solidFill>
                <a:latin typeface="Calibri" pitchFamily="34" charset="0"/>
                <a:ea typeface="Calibri" pitchFamily="34" charset="-122"/>
                <a:cs typeface="Calibri" pitchFamily="34" charset="-120"/>
              </a:rPr>
              <a:t>What a business does today shapes the suppliers it's matched with tomorrow.</a:t>
            </a:r>
            <a:endParaRPr lang="en-US" sz="1300" dirty="0"/>
          </a:p>
        </p:txBody>
      </p:sp>
      <p:sp>
        <p:nvSpPr>
          <p:cNvPr id="7" name="Shape 4"/>
          <p:cNvSpPr/>
          <p:nvPr/>
        </p:nvSpPr>
        <p:spPr>
          <a:xfrm>
            <a:off x="6172200" y="5394960"/>
            <a:ext cx="5440680" cy="777240"/>
          </a:xfrm>
          <a:prstGeom prst="roundRect">
            <a:avLst>
              <a:gd name="adj" fmla="val 14118"/>
            </a:avLst>
          </a:prstGeom>
          <a:solidFill>
            <a:srgbClr val="1E2B45"/>
          </a:solidFill>
          <a:ln w="12700">
            <a:solidFill>
              <a:srgbClr val="1E2B45"/>
            </a:solidFill>
            <a:prstDash val="solid"/>
          </a:ln>
        </p:spPr>
      </p:sp>
      <p:sp>
        <p:nvSpPr>
          <p:cNvPr id="8" name="Text 5"/>
          <p:cNvSpPr txBox="1"/>
          <p:nvPr/>
        </p:nvSpPr>
        <p:spPr>
          <a:xfrm>
            <a:off x="6400800" y="5440680"/>
            <a:ext cx="5029200" cy="68580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A record that holds up  </a:t>
            </a:r>
            <a:pPr indent="0" marL="0">
              <a:buNone/>
            </a:pPr>
            <a:r>
              <a:rPr lang="en-US" sz="1300" dirty="0">
                <a:solidFill>
                  <a:srgbClr val="F8FAFC"/>
                </a:solidFill>
                <a:latin typeface="Calibri" pitchFamily="34" charset="0"/>
                <a:ea typeface="Calibri" pitchFamily="34" charset="-122"/>
                <a:cs typeface="Calibri" pitchFamily="34" charset="-120"/>
              </a:rPr>
              <a:t>Provider-verified payments, and a sealed history nobody can quietly change.</a:t>
            </a:r>
            <a:endParaRPr lang="en-US" sz="130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PayFast</a:t>
            </a:r>
            <a:endParaRPr lang="en-US" sz="145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payments,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Cloudinary</a:t>
            </a:r>
            <a:endParaRPr lang="en-US" sz="145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signed photo uploads</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Mapbox</a:t>
            </a:r>
            <a:endParaRPr lang="en-US" sz="145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Supplier engine</a:t>
            </a:r>
            <a:endParaRPr lang="en-US" sz="145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204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POPIA by design: their data stays theirs</a:t>
            </a:r>
            <a:endParaRPr lang="en-US" sz="3200" dirty="0"/>
          </a:p>
        </p:txBody>
      </p:sp>
      <p:sp>
        <p:nvSpPr>
          <p:cNvPr id="4" name="Shape 2"/>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5" name="Shape 3"/>
          <p:cNvSpPr/>
          <p:nvPr/>
        </p:nvSpPr>
        <p:spPr>
          <a:xfrm>
            <a:off x="822960" y="1993392"/>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7" name="Text 4"/>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8" name="Text 5"/>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9" name="Shape 6"/>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0" name="Shape 7"/>
          <p:cNvSpPr/>
          <p:nvPr/>
        </p:nvSpPr>
        <p:spPr>
          <a:xfrm>
            <a:off x="4572000" y="1993392"/>
            <a:ext cx="603504" cy="603504"/>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2" name="Text 8"/>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3" name="Text 9"/>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4" name="Shape 10"/>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5" name="Shape 11"/>
          <p:cNvSpPr/>
          <p:nvPr/>
        </p:nvSpPr>
        <p:spPr>
          <a:xfrm>
            <a:off x="8321040" y="1993392"/>
            <a:ext cx="603504" cy="603504"/>
          </a:xfrm>
          <a:prstGeom prst="ellipse">
            <a:avLst/>
          </a:prstGeom>
          <a:solidFill>
            <a:srgbClr val="1E2B45"/>
          </a:solidFill>
          <a:ln w="19050">
            <a:solidFill>
              <a:srgbClr val="FBBF24"/>
            </a:solidFill>
            <a:prstDash val="solid"/>
          </a:ln>
        </p:spPr>
      </p:sp>
      <p:pic>
        <p:nvPicPr>
          <p:cNvPr id="16"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7" name="Text 12"/>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8" name="Text 13"/>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19" name="Shape 14"/>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0" name="Shape 15"/>
          <p:cNvSpPr/>
          <p:nvPr/>
        </p:nvSpPr>
        <p:spPr>
          <a:xfrm>
            <a:off x="822960" y="3913632"/>
            <a:ext cx="603504" cy="603504"/>
          </a:xfrm>
          <a:prstGeom prst="ellipse">
            <a:avLst/>
          </a:prstGeom>
          <a:solidFill>
            <a:srgbClr val="1E2B45"/>
          </a:solidFill>
          <a:ln w="19050">
            <a:solidFill>
              <a:srgbClr val="10B981"/>
            </a:solidFill>
            <a:prstDash val="solid"/>
          </a:ln>
        </p:spPr>
      </p:sp>
      <p:pic>
        <p:nvPicPr>
          <p:cNvPr id="21"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2" name="Text 16"/>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3" name="Text 17"/>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4" name="Shape 18"/>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5" name="Shape 19"/>
          <p:cNvSpPr/>
          <p:nvPr/>
        </p:nvSpPr>
        <p:spPr>
          <a:xfrm>
            <a:off x="4572000" y="3913632"/>
            <a:ext cx="603504" cy="603504"/>
          </a:xfrm>
          <a:prstGeom prst="ellipse">
            <a:avLst/>
          </a:prstGeom>
          <a:solidFill>
            <a:srgbClr val="1E2B45"/>
          </a:solidFill>
          <a:ln w="19050">
            <a:solidFill>
              <a:srgbClr val="10B981"/>
            </a:solidFill>
            <a:prstDash val="solid"/>
          </a:ln>
        </p:spPr>
      </p:sp>
      <p:pic>
        <p:nvPicPr>
          <p:cNvPr id="26"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7" name="Text 20"/>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8" name="Text 21"/>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29" name="Shape 22"/>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0" name="Shape 23"/>
          <p:cNvSpPr/>
          <p:nvPr/>
        </p:nvSpPr>
        <p:spPr>
          <a:xfrm>
            <a:off x="8321040" y="3913632"/>
            <a:ext cx="603504" cy="603504"/>
          </a:xfrm>
          <a:prstGeom prst="ellipse">
            <a:avLst/>
          </a:prstGeom>
          <a:solidFill>
            <a:srgbClr val="1E2B45"/>
          </a:solidFill>
          <a:ln w="19050">
            <a:solidFill>
              <a:srgbClr val="10B981"/>
            </a:solidFill>
            <a:prstDash val="solid"/>
          </a:ln>
        </p:spPr>
      </p:sp>
      <p:pic>
        <p:nvPicPr>
          <p:cNvPr id="31"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2" name="Text 24"/>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3" name="Text 25"/>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4" name="Shape 26"/>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5" name="Text 27"/>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a payment verified by the provider is proof. Cash is at most 'confirmed by both'; tool records are the owner's own. Never added together.</a:t>
            </a:r>
            <a:endParaRPr lang="en-US" sz="1300" dirty="0"/>
          </a:p>
        </p:txBody>
      </p:sp>
      <p:pic>
        <p:nvPicPr>
          <p:cNvPr id="36"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7" name="Text 2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548640" y="914400"/>
            <a:ext cx="6035040" cy="4206240"/>
          </a:xfrm>
          <a:prstGeom prst="roundRect">
            <a:avLst>
              <a:gd name="adj" fmla="val 2609"/>
            </a:avLst>
          </a:prstGeom>
          <a:solidFill>
            <a:srgbClr val="1E2B45"/>
          </a:solidFill>
          <a:ln w="12700">
            <a:solidFill>
              <a:srgbClr val="1E2B45"/>
            </a:solidFill>
            <a:prstDash val="solid"/>
          </a:ln>
        </p:spPr>
      </p:sp>
      <p:sp>
        <p:nvSpPr>
          <p:cNvPr id="4" name="Shape 2"/>
          <p:cNvSpPr/>
          <p:nvPr/>
        </p:nvSpPr>
        <p:spPr>
          <a:xfrm>
            <a:off x="2926080" y="1828800"/>
            <a:ext cx="1280160" cy="1280160"/>
          </a:xfrm>
          <a:prstGeom prst="ellipse">
            <a:avLst/>
          </a:prstGeom>
          <a:solidFill>
            <a:srgbClr val="1E2B45"/>
          </a:solidFill>
          <a:ln w="19050">
            <a:solidFill>
              <a:srgbClr val="FBBF24"/>
            </a:solidFill>
            <a:prstDash val="solid"/>
          </a:ln>
        </p:spPr>
      </p:sp>
      <p:pic>
        <p:nvPicPr>
          <p:cNvPr id="5" name="Image 0" descr="preencoded.png">    </p:cNvPr>
          <p:cNvPicPr>
            <a:picLocks noChangeAspect="1"/>
          </p:cNvPicPr>
          <p:nvPr/>
        </p:nvPicPr>
        <p:blipFill>
          <a:blip r:embed="rId1"/>
          <a:stretch>
            <a:fillRect/>
          </a:stretch>
        </p:blipFill>
        <p:spPr>
          <a:xfrm>
            <a:off x="3233318" y="2136038"/>
            <a:ext cx="665683" cy="665683"/>
          </a:xfrm>
          <a:prstGeom prst="rect">
            <a:avLst/>
          </a:prstGeom>
        </p:spPr>
      </p:pic>
      <p:sp>
        <p:nvSpPr>
          <p:cNvPr id="6" name="Text 3"/>
          <p:cNvSpPr txBox="1"/>
          <p:nvPr/>
        </p:nvSpPr>
        <p:spPr>
          <a:xfrm>
            <a:off x="731520" y="3429000"/>
            <a:ext cx="5669280" cy="411480"/>
          </a:xfrm>
          <a:prstGeom prst="rect">
            <a:avLst/>
          </a:prstGeom>
          <a:noFill/>
          <a:ln/>
        </p:spPr>
        <p:txBody>
          <a:bodyPr wrap="square" lIns="0" tIns="0" rIns="0" bIns="0" rtlCol="0" anchor="t"/>
          <a:lstStyle/>
          <a:p>
            <a:pPr algn="ctr" indent="0" marL="0">
              <a:buNone/>
            </a:pPr>
            <a:r>
              <a:rPr lang="en-US" sz="15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500" dirty="0"/>
          </a:p>
        </p:txBody>
      </p:sp>
      <p:sp>
        <p:nvSpPr>
          <p:cNvPr id="7" name="Text 4"/>
          <p:cNvSpPr txBox="1"/>
          <p:nvPr/>
        </p:nvSpPr>
        <p:spPr>
          <a:xfrm>
            <a:off x="731520" y="3931920"/>
            <a:ext cx="5669280" cy="365760"/>
          </a:xfrm>
          <a:prstGeom prst="rect">
            <a:avLst/>
          </a:prstGeom>
          <a:noFill/>
          <a:ln/>
        </p:spPr>
        <p:txBody>
          <a:bodyPr wrap="square" lIns="0" tIns="0" rIns="0" bIns="0" rtlCol="0" anchor="t"/>
          <a:lstStyle/>
          <a:p>
            <a:pPr algn="ctr" indent="0" marL="0">
              <a:buNone/>
            </a:pPr>
            <a:r>
              <a:rPr lang="en-US" sz="1400" dirty="0">
                <a:solidFill>
                  <a:srgbClr val="FBBF24"/>
                </a:solidFill>
                <a:latin typeface="Calibri" pitchFamily="34" charset="0"/>
                <a:ea typeface="Calibri" pitchFamily="34" charset="-122"/>
                <a:cs typeface="Calibri" pitchFamily="34" charset="-120"/>
              </a:rPr>
              <a:t>Video: [paste link here]</a:t>
            </a:r>
            <a:endParaRPr lang="en-US" sz="1400" dirty="0"/>
          </a:p>
        </p:txBody>
      </p:sp>
      <p:sp>
        <p:nvSpPr>
          <p:cNvPr id="8" name="Text 5"/>
          <p:cNvSpPr txBox="1"/>
          <p:nvPr/>
        </p:nvSpPr>
        <p:spPr>
          <a:xfrm>
            <a:off x="731520" y="4480560"/>
            <a:ext cx="5669280" cy="457200"/>
          </a:xfrm>
          <a:prstGeom prst="rect">
            <a:avLst/>
          </a:prstGeom>
          <a:noFill/>
          <a:ln/>
        </p:spPr>
        <p:txBody>
          <a:bodyPr wrap="square" lIns="0" tIns="0" rIns="0" bIns="0" rtlCol="0" anchor="t"/>
          <a:lstStyle/>
          <a:p>
            <a:pPr algn="ctr" indent="0" marL="0">
              <a:buNone/>
            </a:pPr>
            <a:r>
              <a:rPr lang="en-US" sz="1200" dirty="0">
                <a:solidFill>
                  <a:srgbClr val="A3B3C9"/>
                </a:solidFill>
                <a:latin typeface="Calibri" pitchFamily="34" charset="0"/>
                <a:ea typeface="Calibri" pitchFamily="34" charset="-122"/>
                <a:cs typeface="Calibri" pitchFamily="34" charset="-120"/>
              </a:rPr>
              <a:t>Home at a glance  ·  suppliers matched  ·  paid and confirmed  ·  a sealed record</a:t>
            </a:r>
            <a:endParaRPr lang="en-US" sz="1200" dirty="0"/>
          </a:p>
        </p:txBody>
      </p:sp>
      <p:pic>
        <p:nvPicPr>
          <p:cNvPr id="9" name="Image 1" descr="preencoded.png">    </p:cNvPr>
          <p:cNvPicPr>
            <a:picLocks noChangeAspect="1"/>
          </p:cNvPicPr>
          <p:nvPr/>
        </p:nvPicPr>
        <p:blipFill>
          <a:blip r:embed="rId2"/>
          <a:stretch>
            <a:fillRect/>
          </a:stretch>
        </p:blipFill>
        <p:spPr>
          <a:xfrm>
            <a:off x="7086600" y="914400"/>
            <a:ext cx="1005840" cy="1005840"/>
          </a:xfrm>
          <a:prstGeom prst="rect">
            <a:avLst/>
          </a:prstGeom>
        </p:spPr>
      </p:pic>
      <p:sp>
        <p:nvSpPr>
          <p:cNvPr id="10" name="Text 6"/>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1" name="Text 7"/>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2" name="Text 8"/>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3" name="Text 9"/>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a:t>
            </a:r>
            <a:endParaRPr lang="en-US" sz="1500" dirty="0"/>
          </a:p>
        </p:txBody>
      </p:sp>
      <p:sp>
        <p:nvSpPr>
          <p:cNvPr id="14" name="Text 10"/>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Team PR  ·  Mandla (lead)  ·  Risuna</a:t>
            </a:r>
            <a:endParaRPr lang="en-US" sz="1400" dirty="0"/>
          </a:p>
        </p:txBody>
      </p:sp>
      <p:pic>
        <p:nvPicPr>
          <p:cNvPr id="15"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6" name="Text 1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2026-09-27T04:41:25Z</dcterms:created>
  <dcterms:modified xsi:type="dcterms:W3CDTF">2026-09-27T04:41:25Z</dcterms:modified>
</cp:coreProperties>
</file>