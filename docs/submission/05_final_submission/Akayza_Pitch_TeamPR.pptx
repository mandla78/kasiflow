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Where the R300,000 goes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 s): 'Good morning. We're Team PR, and this is Akayza. Keep it in the kasi.'
Then go straight to the next slide. No introductions of ourselves yet: the problem earns the attention, the team comes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That's how much moves through South Africa's township economy every year: shops, builders, food sellers, salons, mechanics. It feeds communities and creates jobs. And almost none of it can be seen. Not by banks, not by suppliers, not by support funds, not even by the owner, who runs it on cash and memory.'
IF ASKED where R900 bn comes from: Standard Bank's first Township Informal Economy Report, launched October 2025, research by Foshizi, over 250 businesses across Gauteng, KwaZulu-Natal, Western Cape, Limpopo and North West. Say 'about R900 billion', never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'Being invisible has a price. Fewer than 9% of these businesses can get a bank loan. When government put R500 million on the table for spaza shops, 354 applications failed verification and only R179.6 million reached shops. And 80% are unregistered, so there are no supplier terms, no credit, and every cash dispute is one person's word against another's.'
NOTE: the Spaza fund figures are specifically about spaza shops (DSBD, May 2026): say 'spaza shops' only for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'That's where Akayza comes in. It makes informal businesses visible, and ready for tomorrow. One free app that runs the business and connects it to the suppliers it already trusts. Today, the owner runs it with less stress. This week, she buys better and pays safely. And tomorrow, she has a trading history she owns: the first step to credit, support funds and registration.'
Honest wording if pushed: payments made in the app are confirmed by the payment provider; the rest is the owner's own record. We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tell it as a story: 'Meet Thandi. Monday she restocks from her usual supplier in two minutes. Wednesday a customer pays back his credit, and it's off her book on the spot. Friday she pays her supplier in the app: no cash on the road, the payment is confirmed and the invoice arrives. And at month end, for the first time, she can see her business.' Then: 'The same week works for a builder, a food seller, a mechanic.'
Thandi is an illustration, not a real customer. If asked: 'she's the kind of owner we built for; the pilot puts real names to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health link green. Replace '[paste here]' with the real link and add it to the play button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'Suppliers pay, businesses never do. R299 or R1,499 a month for suppliers, and about 1% only on digital orders, never on cash. End of year one: about R56,000 a month. Year three: about R1.1 million a month.'
IF ASKED how: subscriptions = supplier mix × price; commission = active businesses × ~R4,000 digital orders a month × 1%. Year 1: 5 Starter + 10 Pro suppliers, 1,000 businesses.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And it gets smarter with use.'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'We're asking for R300,000 for a six-month pilot. It buys two suppliers live, fifty to a hundred businesses using it every week, and proof in real shops and sites. Running it costs about R460 a month, so two suppliers on our Starter plan already cover it.'
Use of funds: stipends R96k, field agent R60k, data R60k, running costs R24k, POPIA review + external security test R30k, devices + contingency R30k.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App -&gt; API -&gt; database; payments, photos, maps and email behind the API. Each feature is its own module, and an automated test stops one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1143000"/>
            <a:ext cx="10972800" cy="1463040"/>
          </a:xfrm>
          <a:prstGeom prst="rect">
            <a:avLst/>
          </a:prstGeom>
          <a:noFill/>
          <a:ln/>
        </p:spPr>
        <p:txBody>
          <a:bodyPr wrap="square" lIns="0" tIns="0" rIns="0" bIns="0" rtlCol="0" anchor="t"/>
          <a:lstStyle/>
          <a:p>
            <a:pPr indent="0" marL="0">
              <a:buNone/>
            </a:pPr>
            <a:r>
              <a:rPr lang="en-US" sz="9600" b="1" dirty="0">
                <a:solidFill>
                  <a:srgbClr val="FBBF24"/>
                </a:solidFill>
                <a:latin typeface="Georgia" pitchFamily="34" charset="0"/>
                <a:ea typeface="Georgia" pitchFamily="34" charset="-122"/>
                <a:cs typeface="Georgia" pitchFamily="34" charset="-120"/>
              </a:rPr>
              <a:t>R900 billion</a:t>
            </a:r>
            <a:endParaRPr lang="en-US" sz="9600" dirty="0"/>
          </a:p>
        </p:txBody>
      </p:sp>
      <p:sp>
        <p:nvSpPr>
          <p:cNvPr id="4" name="Text 2"/>
          <p:cNvSpPr txBox="1"/>
          <p:nvPr/>
        </p:nvSpPr>
        <p:spPr>
          <a:xfrm>
            <a:off x="548640" y="2651760"/>
            <a:ext cx="10972800" cy="548640"/>
          </a:xfrm>
          <a:prstGeom prst="rect">
            <a:avLst/>
          </a:prstGeom>
          <a:noFill/>
          <a:ln/>
        </p:spPr>
        <p:txBody>
          <a:bodyPr wrap="square" lIns="0" tIns="0" rIns="0" bIns="0" rtlCol="0" anchor="t"/>
          <a:lstStyle/>
          <a:p>
            <a:pPr indent="0" marL="0">
              <a:buNone/>
            </a:pPr>
            <a:r>
              <a:rPr lang="en-US" sz="2600" dirty="0">
                <a:solidFill>
                  <a:srgbClr val="F8FAFC"/>
                </a:solidFill>
                <a:latin typeface="Calibri" pitchFamily="34" charset="0"/>
                <a:ea typeface="Calibri" pitchFamily="34" charset="-122"/>
                <a:cs typeface="Calibri" pitchFamily="34" charset="-120"/>
              </a:rPr>
              <a:t>moves through South Africa's township economy every year.</a:t>
            </a:r>
            <a:endParaRPr lang="en-US" sz="2600" dirty="0"/>
          </a:p>
        </p:txBody>
      </p:sp>
      <p:sp>
        <p:nvSpPr>
          <p:cNvPr id="5" name="Text 3"/>
          <p:cNvSpPr txBox="1"/>
          <p:nvPr/>
        </p:nvSpPr>
        <p:spPr>
          <a:xfrm>
            <a:off x="548640" y="3429000"/>
            <a:ext cx="10972800" cy="640080"/>
          </a:xfrm>
          <a:prstGeom prst="rect">
            <a:avLst/>
          </a:prstGeom>
          <a:noFill/>
          <a:ln/>
        </p:spPr>
        <p:txBody>
          <a:bodyPr wrap="square" lIns="0" tIns="0" rIns="0" bIns="0" rtlCol="0" anchor="t"/>
          <a:lstStyle/>
          <a:p>
            <a:pPr indent="0" marL="0">
              <a:buNone/>
            </a:pPr>
            <a:r>
              <a:rPr lang="en-US" sz="3400" b="1" i="1" dirty="0">
                <a:solidFill>
                  <a:srgbClr val="F8FAFC"/>
                </a:solidFill>
                <a:latin typeface="Georgia" pitchFamily="34" charset="0"/>
                <a:ea typeface="Georgia" pitchFamily="34" charset="-122"/>
                <a:cs typeface="Georgia" pitchFamily="34" charset="-120"/>
              </a:rPr>
              <a:t>And almost none of it can be seen.</a:t>
            </a:r>
            <a:endParaRPr lang="en-US" sz="3400" dirty="0"/>
          </a:p>
        </p:txBody>
      </p:sp>
      <p:sp>
        <p:nvSpPr>
          <p:cNvPr id="6" name="Shape 4"/>
          <p:cNvSpPr/>
          <p:nvPr/>
        </p:nvSpPr>
        <p:spPr>
          <a:xfrm>
            <a:off x="548640" y="4526280"/>
            <a:ext cx="640080" cy="64008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702259" y="4679899"/>
            <a:ext cx="332842" cy="332842"/>
          </a:xfrm>
          <a:prstGeom prst="rect">
            <a:avLst/>
          </a:prstGeom>
        </p:spPr>
      </p:pic>
      <p:sp>
        <p:nvSpPr>
          <p:cNvPr id="8" name="Text 5"/>
          <p:cNvSpPr txBox="1"/>
          <p:nvPr/>
        </p:nvSpPr>
        <p:spPr>
          <a:xfrm>
            <a:off x="1325880"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banks</a:t>
            </a:r>
            <a:endParaRPr lang="en-US" sz="1600" dirty="0"/>
          </a:p>
        </p:txBody>
      </p:sp>
      <p:sp>
        <p:nvSpPr>
          <p:cNvPr id="9" name="Shape 6"/>
          <p:cNvSpPr/>
          <p:nvPr/>
        </p:nvSpPr>
        <p:spPr>
          <a:xfrm>
            <a:off x="3364992" y="4526280"/>
            <a:ext cx="640080" cy="64008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3518611" y="4679899"/>
            <a:ext cx="332842" cy="332842"/>
          </a:xfrm>
          <a:prstGeom prst="rect">
            <a:avLst/>
          </a:prstGeom>
        </p:spPr>
      </p:pic>
      <p:sp>
        <p:nvSpPr>
          <p:cNvPr id="11" name="Text 7"/>
          <p:cNvSpPr txBox="1"/>
          <p:nvPr/>
        </p:nvSpPr>
        <p:spPr>
          <a:xfrm>
            <a:off x="4142232"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suppliers</a:t>
            </a:r>
            <a:endParaRPr lang="en-US" sz="1600" dirty="0"/>
          </a:p>
        </p:txBody>
      </p:sp>
      <p:sp>
        <p:nvSpPr>
          <p:cNvPr id="12" name="Shape 8"/>
          <p:cNvSpPr/>
          <p:nvPr/>
        </p:nvSpPr>
        <p:spPr>
          <a:xfrm>
            <a:off x="6181344" y="452628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6334963" y="4679899"/>
            <a:ext cx="332842" cy="332842"/>
          </a:xfrm>
          <a:prstGeom prst="rect">
            <a:avLst/>
          </a:prstGeom>
        </p:spPr>
      </p:pic>
      <p:sp>
        <p:nvSpPr>
          <p:cNvPr id="14" name="Text 9"/>
          <p:cNvSpPr txBox="1"/>
          <p:nvPr/>
        </p:nvSpPr>
        <p:spPr>
          <a:xfrm>
            <a:off x="6958584"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support funds</a:t>
            </a:r>
            <a:endParaRPr lang="en-US" sz="1600" dirty="0"/>
          </a:p>
        </p:txBody>
      </p:sp>
      <p:sp>
        <p:nvSpPr>
          <p:cNvPr id="15" name="Shape 10"/>
          <p:cNvSpPr/>
          <p:nvPr/>
        </p:nvSpPr>
        <p:spPr>
          <a:xfrm>
            <a:off x="8997696" y="4526280"/>
            <a:ext cx="640080" cy="640080"/>
          </a:xfrm>
          <a:prstGeom prst="ellipse">
            <a:avLst/>
          </a:prstGeom>
          <a:solidFill>
            <a:srgbClr val="1E2B45"/>
          </a:solidFill>
          <a:ln w="19050">
            <a:solidFill>
              <a:srgbClr val="F59E0B"/>
            </a:solidFill>
            <a:prstDash val="solid"/>
          </a:ln>
        </p:spPr>
      </p:sp>
      <p:pic>
        <p:nvPicPr>
          <p:cNvPr id="16" name="Image 3" descr="preencoded.png">    </p:cNvPr>
          <p:cNvPicPr>
            <a:picLocks noChangeAspect="1"/>
          </p:cNvPicPr>
          <p:nvPr/>
        </p:nvPicPr>
        <p:blipFill>
          <a:blip r:embed="rId4"/>
          <a:stretch>
            <a:fillRect/>
          </a:stretch>
        </p:blipFill>
        <p:spPr>
          <a:xfrm>
            <a:off x="9151315" y="4679899"/>
            <a:ext cx="332842" cy="332842"/>
          </a:xfrm>
          <a:prstGeom prst="rect">
            <a:avLst/>
          </a:prstGeom>
        </p:spPr>
      </p:pic>
      <p:sp>
        <p:nvSpPr>
          <p:cNvPr id="17" name="Text 11"/>
          <p:cNvSpPr txBox="1"/>
          <p:nvPr/>
        </p:nvSpPr>
        <p:spPr>
          <a:xfrm>
            <a:off x="9774936"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even by the owner</a:t>
            </a:r>
            <a:endParaRPr lang="en-US" sz="160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October 2025 (research by Foshizi; 250+ businesses in 5 provinces).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Invisible means locked out</a:t>
            </a:r>
            <a:endParaRPr lang="en-US" sz="3400" dirty="0"/>
          </a:p>
        </p:txBody>
      </p:sp>
      <p:sp>
        <p:nvSpPr>
          <p:cNvPr id="4" name="Shape 2"/>
          <p:cNvSpPr/>
          <p:nvPr/>
        </p:nvSpPr>
        <p:spPr>
          <a:xfrm>
            <a:off x="548640" y="1828800"/>
            <a:ext cx="3474720" cy="416052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103120"/>
            <a:ext cx="731520" cy="731520"/>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1044245" y="2278685"/>
            <a:ext cx="380390" cy="380390"/>
          </a:xfrm>
          <a:prstGeom prst="rect">
            <a:avLst/>
          </a:prstGeom>
        </p:spPr>
      </p:pic>
      <p:sp>
        <p:nvSpPr>
          <p:cNvPr id="7" name="Text 4"/>
          <p:cNvSpPr txBox="1"/>
          <p:nvPr/>
        </p:nvSpPr>
        <p:spPr>
          <a:xfrm>
            <a:off x="178308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finance</a:t>
            </a:r>
            <a:endParaRPr lang="en-US" sz="2100" dirty="0"/>
          </a:p>
        </p:txBody>
      </p:sp>
      <p:sp>
        <p:nvSpPr>
          <p:cNvPr id="8" name="Text 5"/>
          <p:cNvSpPr txBox="1"/>
          <p:nvPr/>
        </p:nvSpPr>
        <p:spPr>
          <a:xfrm>
            <a:off x="868680" y="3063240"/>
            <a:ext cx="2926080" cy="914400"/>
          </a:xfrm>
          <a:prstGeom prst="rect">
            <a:avLst/>
          </a:prstGeom>
          <a:noFill/>
          <a:ln/>
        </p:spPr>
        <p:txBody>
          <a:bodyPr wrap="square" lIns="0" tIns="0" rIns="0" bIns="0" rtlCol="0" anchor="t"/>
          <a:lstStyle/>
          <a:p>
            <a:pPr indent="0" marL="0">
              <a:buNone/>
            </a:pPr>
            <a:r>
              <a:rPr lang="en-US" sz="5000" b="1" dirty="0">
                <a:solidFill>
                  <a:srgbClr val="F59E0B"/>
                </a:solidFill>
                <a:latin typeface="Georgia" pitchFamily="34" charset="0"/>
                <a:ea typeface="Georgia" pitchFamily="34" charset="-122"/>
                <a:cs typeface="Georgia" pitchFamily="34" charset="-120"/>
              </a:rPr>
              <a:t>&lt; 9%</a:t>
            </a:r>
            <a:endParaRPr lang="en-US" sz="5000" dirty="0"/>
          </a:p>
        </p:txBody>
      </p:sp>
      <p:sp>
        <p:nvSpPr>
          <p:cNvPr id="9" name="Text 6"/>
          <p:cNvSpPr txBox="1"/>
          <p:nvPr/>
        </p:nvSpPr>
        <p:spPr>
          <a:xfrm>
            <a:off x="86868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of township businesses can get a bank loan. 57% run on savings and family.</a:t>
            </a:r>
            <a:endParaRPr lang="en-US" sz="1500" dirty="0"/>
          </a:p>
        </p:txBody>
      </p:sp>
      <p:sp>
        <p:nvSpPr>
          <p:cNvPr id="10" name="Shape 7"/>
          <p:cNvSpPr/>
          <p:nvPr/>
        </p:nvSpPr>
        <p:spPr>
          <a:xfrm>
            <a:off x="4297680" y="1828800"/>
            <a:ext cx="3474720" cy="4160520"/>
          </a:xfrm>
          <a:prstGeom prst="roundRect">
            <a:avLst>
              <a:gd name="adj" fmla="val 3158"/>
            </a:avLst>
          </a:prstGeom>
          <a:solidFill>
            <a:srgbClr val="17223A"/>
          </a:solidFill>
          <a:ln w="12700">
            <a:solidFill>
              <a:srgbClr val="17223A"/>
            </a:solidFill>
            <a:prstDash val="solid"/>
          </a:ln>
        </p:spPr>
      </p:sp>
      <p:sp>
        <p:nvSpPr>
          <p:cNvPr id="11" name="Shape 8"/>
          <p:cNvSpPr/>
          <p:nvPr/>
        </p:nvSpPr>
        <p:spPr>
          <a:xfrm>
            <a:off x="4617720" y="2103120"/>
            <a:ext cx="731520" cy="731520"/>
          </a:xfrm>
          <a:prstGeom prst="ellipse">
            <a:avLst/>
          </a:prstGeom>
          <a:solidFill>
            <a:srgbClr val="1E2B45"/>
          </a:solidFill>
          <a:ln w="19050">
            <a:solidFill>
              <a:srgbClr val="F87171"/>
            </a:solidFill>
            <a:prstDash val="solid"/>
          </a:ln>
        </p:spPr>
      </p:sp>
      <p:pic>
        <p:nvPicPr>
          <p:cNvPr id="12" name="Image 1" descr="preencoded.png">    </p:cNvPr>
          <p:cNvPicPr>
            <a:picLocks noChangeAspect="1"/>
          </p:cNvPicPr>
          <p:nvPr/>
        </p:nvPicPr>
        <p:blipFill>
          <a:blip r:embed="rId2"/>
          <a:stretch>
            <a:fillRect/>
          </a:stretch>
        </p:blipFill>
        <p:spPr>
          <a:xfrm>
            <a:off x="4793285" y="2278685"/>
            <a:ext cx="380390" cy="380390"/>
          </a:xfrm>
          <a:prstGeom prst="rect">
            <a:avLst/>
          </a:prstGeom>
        </p:spPr>
      </p:pic>
      <p:sp>
        <p:nvSpPr>
          <p:cNvPr id="13" name="Text 9"/>
          <p:cNvSpPr txBox="1"/>
          <p:nvPr/>
        </p:nvSpPr>
        <p:spPr>
          <a:xfrm>
            <a:off x="553212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support</a:t>
            </a:r>
            <a:endParaRPr lang="en-US" sz="2100" dirty="0"/>
          </a:p>
        </p:txBody>
      </p:sp>
      <p:sp>
        <p:nvSpPr>
          <p:cNvPr id="14" name="Text 10"/>
          <p:cNvSpPr txBox="1"/>
          <p:nvPr/>
        </p:nvSpPr>
        <p:spPr>
          <a:xfrm>
            <a:off x="4617720" y="3063240"/>
            <a:ext cx="2926080" cy="914400"/>
          </a:xfrm>
          <a:prstGeom prst="rect">
            <a:avLst/>
          </a:prstGeom>
          <a:noFill/>
          <a:ln/>
        </p:spPr>
        <p:txBody>
          <a:bodyPr wrap="square" lIns="0" tIns="0" rIns="0" bIns="0" rtlCol="0" anchor="t"/>
          <a:lstStyle/>
          <a:p>
            <a:pPr indent="0" marL="0">
              <a:buNone/>
            </a:pPr>
            <a:r>
              <a:rPr lang="en-US" sz="5000" b="1" dirty="0">
                <a:solidFill>
                  <a:srgbClr val="F87171"/>
                </a:solidFill>
                <a:latin typeface="Georgia" pitchFamily="34" charset="0"/>
                <a:ea typeface="Georgia" pitchFamily="34" charset="-122"/>
                <a:cs typeface="Georgia" pitchFamily="34" charset="-120"/>
              </a:rPr>
              <a:t>354</a:t>
            </a:r>
            <a:endParaRPr lang="en-US" sz="5000" dirty="0"/>
          </a:p>
        </p:txBody>
      </p:sp>
      <p:sp>
        <p:nvSpPr>
          <p:cNvPr id="15" name="Text 11"/>
          <p:cNvSpPr txBox="1"/>
          <p:nvPr/>
        </p:nvSpPr>
        <p:spPr>
          <a:xfrm>
            <a:off x="461772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applications to the R500m Spaza Shop Support Fund failed verification. Only R179.6m reached shops.</a:t>
            </a:r>
            <a:endParaRPr lang="en-US" sz="1500" dirty="0"/>
          </a:p>
        </p:txBody>
      </p:sp>
      <p:sp>
        <p:nvSpPr>
          <p:cNvPr id="16" name="Shape 12"/>
          <p:cNvSpPr/>
          <p:nvPr/>
        </p:nvSpPr>
        <p:spPr>
          <a:xfrm>
            <a:off x="8046720" y="1828800"/>
            <a:ext cx="3474720" cy="416052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103120"/>
            <a:ext cx="731520" cy="731520"/>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542325" y="2278685"/>
            <a:ext cx="380390" cy="380390"/>
          </a:xfrm>
          <a:prstGeom prst="rect">
            <a:avLst/>
          </a:prstGeom>
        </p:spPr>
      </p:pic>
      <p:sp>
        <p:nvSpPr>
          <p:cNvPr id="19" name="Text 14"/>
          <p:cNvSpPr txBox="1"/>
          <p:nvPr/>
        </p:nvSpPr>
        <p:spPr>
          <a:xfrm>
            <a:off x="928116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leverage</a:t>
            </a:r>
            <a:endParaRPr lang="en-US" sz="2100" dirty="0"/>
          </a:p>
        </p:txBody>
      </p:sp>
      <p:sp>
        <p:nvSpPr>
          <p:cNvPr id="20" name="Text 15"/>
          <p:cNvSpPr txBox="1"/>
          <p:nvPr/>
        </p:nvSpPr>
        <p:spPr>
          <a:xfrm>
            <a:off x="8366760" y="3063240"/>
            <a:ext cx="2926080" cy="914400"/>
          </a:xfrm>
          <a:prstGeom prst="rect">
            <a:avLst/>
          </a:prstGeom>
          <a:noFill/>
          <a:ln/>
        </p:spPr>
        <p:txBody>
          <a:bodyPr wrap="square" lIns="0" tIns="0" rIns="0" bIns="0" rtlCol="0" anchor="t"/>
          <a:lstStyle/>
          <a:p>
            <a:pPr indent="0" marL="0">
              <a:buNone/>
            </a:pPr>
            <a:r>
              <a:rPr lang="en-US" sz="5000" b="1" dirty="0">
                <a:solidFill>
                  <a:srgbClr val="10B981"/>
                </a:solidFill>
                <a:latin typeface="Georgia" pitchFamily="34" charset="0"/>
                <a:ea typeface="Georgia" pitchFamily="34" charset="-122"/>
                <a:cs typeface="Georgia" pitchFamily="34" charset="-120"/>
              </a:rPr>
              <a:t>80%</a:t>
            </a:r>
            <a:endParaRPr lang="en-US" sz="5000" dirty="0"/>
          </a:p>
        </p:txBody>
      </p:sp>
      <p:sp>
        <p:nvSpPr>
          <p:cNvPr id="21" name="Text 16"/>
          <p:cNvSpPr txBox="1"/>
          <p:nvPr/>
        </p:nvSpPr>
        <p:spPr>
          <a:xfrm>
            <a:off x="836676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are unregistered. With no history, there are no supplier terms and no plan: every order is cash, every dispute is word against word.</a:t>
            </a:r>
            <a:endParaRPr lang="en-US" sz="15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endParaRPr lang="en-US" sz="1300" dirty="0"/>
          </a:p>
        </p:txBody>
      </p:sp>
      <p:sp>
        <p:nvSpPr>
          <p:cNvPr id="4" name="Text 1"/>
          <p:cNvSpPr txBox="1"/>
          <p:nvPr/>
        </p:nvSpPr>
        <p:spPr>
          <a:xfrm>
            <a:off x="1600200" y="502920"/>
            <a:ext cx="9966960" cy="91440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Akayza makes informal businesses visible, and ready for tomorrow.</a:t>
            </a:r>
            <a:endParaRPr lang="en-US" sz="3000" dirty="0"/>
          </a:p>
        </p:txBody>
      </p:sp>
      <p:sp>
        <p:nvSpPr>
          <p:cNvPr id="5" name="Text 2"/>
          <p:cNvSpPr txBox="1"/>
          <p:nvPr/>
        </p:nvSpPr>
        <p:spPr>
          <a:xfrm>
            <a:off x="548640" y="1600200"/>
            <a:ext cx="1106424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One free app that runs the business and connects it to the suppliers it already trusts. Every sale, order and payment becomes a record the owner holds.</a:t>
            </a:r>
            <a:endParaRPr lang="en-US" sz="1800" dirty="0"/>
          </a:p>
        </p:txBody>
      </p:sp>
      <p:sp>
        <p:nvSpPr>
          <p:cNvPr id="6" name="Shape 3"/>
          <p:cNvSpPr/>
          <p:nvPr/>
        </p:nvSpPr>
        <p:spPr>
          <a:xfrm>
            <a:off x="548640" y="2606040"/>
            <a:ext cx="3474720" cy="3383280"/>
          </a:xfrm>
          <a:prstGeom prst="roundRect">
            <a:avLst>
              <a:gd name="adj" fmla="val 3243"/>
            </a:avLst>
          </a:prstGeom>
          <a:solidFill>
            <a:srgbClr val="17223A"/>
          </a:solidFill>
          <a:ln w="12700">
            <a:solidFill>
              <a:srgbClr val="17223A"/>
            </a:solidFill>
            <a:prstDash val="solid"/>
          </a:ln>
        </p:spPr>
      </p:sp>
      <p:sp>
        <p:nvSpPr>
          <p:cNvPr id="7" name="Text 4"/>
          <p:cNvSpPr txBox="1"/>
          <p:nvPr/>
        </p:nvSpPr>
        <p:spPr>
          <a:xfrm>
            <a:off x="868680" y="2834640"/>
            <a:ext cx="283464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8" name="Shape 5"/>
          <p:cNvSpPr/>
          <p:nvPr/>
        </p:nvSpPr>
        <p:spPr>
          <a:xfrm>
            <a:off x="3063240" y="2788920"/>
            <a:ext cx="685800" cy="685800"/>
          </a:xfrm>
          <a:prstGeom prst="ellipse">
            <a:avLst/>
          </a:prstGeom>
          <a:solidFill>
            <a:srgbClr val="1E2B45"/>
          </a:solidFill>
          <a:ln w="19050">
            <a:solidFill>
              <a:srgbClr val="10B981"/>
            </a:solidFill>
            <a:prstDash val="solid"/>
          </a:ln>
        </p:spPr>
      </p:sp>
      <p:pic>
        <p:nvPicPr>
          <p:cNvPr id="9" name="Image 1" descr="preencoded.png">    </p:cNvPr>
          <p:cNvPicPr>
            <a:picLocks noChangeAspect="1"/>
          </p:cNvPicPr>
          <p:nvPr/>
        </p:nvPicPr>
        <p:blipFill>
          <a:blip r:embed="rId2"/>
          <a:stretch>
            <a:fillRect/>
          </a:stretch>
        </p:blipFill>
        <p:spPr>
          <a:xfrm>
            <a:off x="3227832" y="2953512"/>
            <a:ext cx="356616" cy="356616"/>
          </a:xfrm>
          <a:prstGeom prst="rect">
            <a:avLst/>
          </a:prstGeom>
        </p:spPr>
      </p:pic>
      <p:sp>
        <p:nvSpPr>
          <p:cNvPr id="10" name="Text 6"/>
          <p:cNvSpPr txBox="1"/>
          <p:nvPr/>
        </p:nvSpPr>
        <p:spPr>
          <a:xfrm>
            <a:off x="86868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Run it with less stress</a:t>
            </a:r>
            <a:endParaRPr lang="en-US" sz="2200" dirty="0"/>
          </a:p>
        </p:txBody>
      </p:sp>
      <p:sp>
        <p:nvSpPr>
          <p:cNvPr id="11" name="Text 7"/>
          <p:cNvSpPr txBox="1"/>
          <p:nvPr/>
        </p:nvSpPr>
        <p:spPr>
          <a:xfrm>
            <a:off x="86868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Know who owes you, what sold and what's coming, without a notebook.</a:t>
            </a:r>
            <a:endParaRPr lang="en-US" sz="1500" dirty="0"/>
          </a:p>
        </p:txBody>
      </p:sp>
      <p:sp>
        <p:nvSpPr>
          <p:cNvPr id="12" name="Shape 8"/>
          <p:cNvSpPr/>
          <p:nvPr/>
        </p:nvSpPr>
        <p:spPr>
          <a:xfrm>
            <a:off x="4297680" y="2606040"/>
            <a:ext cx="3474720" cy="3383280"/>
          </a:xfrm>
          <a:prstGeom prst="roundRect">
            <a:avLst>
              <a:gd name="adj" fmla="val 3243"/>
            </a:avLst>
          </a:prstGeom>
          <a:solidFill>
            <a:srgbClr val="17223A"/>
          </a:solidFill>
          <a:ln w="12700">
            <a:solidFill>
              <a:srgbClr val="17223A"/>
            </a:solidFill>
            <a:prstDash val="solid"/>
          </a:ln>
        </p:spPr>
      </p:sp>
      <p:sp>
        <p:nvSpPr>
          <p:cNvPr id="13" name="Text 9"/>
          <p:cNvSpPr txBox="1"/>
          <p:nvPr/>
        </p:nvSpPr>
        <p:spPr>
          <a:xfrm>
            <a:off x="4617720" y="2834640"/>
            <a:ext cx="283464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4" name="Shape 10"/>
          <p:cNvSpPr/>
          <p:nvPr/>
        </p:nvSpPr>
        <p:spPr>
          <a:xfrm>
            <a:off x="6812280" y="2788920"/>
            <a:ext cx="685800" cy="685800"/>
          </a:xfrm>
          <a:prstGeom prst="ellipse">
            <a:avLst/>
          </a:prstGeom>
          <a:solidFill>
            <a:srgbClr val="1E2B45"/>
          </a:solidFill>
          <a:ln w="1905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976872" y="2953512"/>
            <a:ext cx="356616" cy="356616"/>
          </a:xfrm>
          <a:prstGeom prst="rect">
            <a:avLst/>
          </a:prstGeom>
        </p:spPr>
      </p:pic>
      <p:sp>
        <p:nvSpPr>
          <p:cNvPr id="16" name="Text 11"/>
          <p:cNvSpPr txBox="1"/>
          <p:nvPr/>
        </p:nvSpPr>
        <p:spPr>
          <a:xfrm>
            <a:off x="461772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Buy better, pay safely</a:t>
            </a:r>
            <a:endParaRPr lang="en-US" sz="2200" dirty="0"/>
          </a:p>
        </p:txBody>
      </p:sp>
      <p:sp>
        <p:nvSpPr>
          <p:cNvPr id="17" name="Text 12"/>
          <p:cNvSpPr txBox="1"/>
          <p:nvPr/>
        </p:nvSpPr>
        <p:spPr>
          <a:xfrm>
            <a:off x="461772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Order from your own suppliers, pay digitally or cash, get a proper invoice.</a:t>
            </a:r>
            <a:endParaRPr lang="en-US" sz="1500" dirty="0"/>
          </a:p>
        </p:txBody>
      </p:sp>
      <p:sp>
        <p:nvSpPr>
          <p:cNvPr id="18" name="Shape 13"/>
          <p:cNvSpPr/>
          <p:nvPr/>
        </p:nvSpPr>
        <p:spPr>
          <a:xfrm>
            <a:off x="8046720" y="2606040"/>
            <a:ext cx="3474720" cy="3383280"/>
          </a:xfrm>
          <a:prstGeom prst="roundRect">
            <a:avLst>
              <a:gd name="adj" fmla="val 3243"/>
            </a:avLst>
          </a:prstGeom>
          <a:solidFill>
            <a:srgbClr val="17223A"/>
          </a:solidFill>
          <a:ln w="12700">
            <a:solidFill>
              <a:srgbClr val="17223A"/>
            </a:solidFill>
            <a:prstDash val="solid"/>
          </a:ln>
        </p:spPr>
      </p:sp>
      <p:sp>
        <p:nvSpPr>
          <p:cNvPr id="19" name="Text 14"/>
          <p:cNvSpPr txBox="1"/>
          <p:nvPr/>
        </p:nvSpPr>
        <p:spPr>
          <a:xfrm>
            <a:off x="8366760" y="2834640"/>
            <a:ext cx="283464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20" name="Shape 15"/>
          <p:cNvSpPr/>
          <p:nvPr/>
        </p:nvSpPr>
        <p:spPr>
          <a:xfrm>
            <a:off x="10561320" y="2788920"/>
            <a:ext cx="685800" cy="685800"/>
          </a:xfrm>
          <a:prstGeom prst="ellipse">
            <a:avLst/>
          </a:prstGeom>
          <a:solidFill>
            <a:srgbClr val="1E2B45"/>
          </a:solidFill>
          <a:ln w="19050">
            <a:solidFill>
              <a:srgbClr val="34D399"/>
            </a:solidFill>
            <a:prstDash val="solid"/>
          </a:ln>
        </p:spPr>
      </p:sp>
      <p:pic>
        <p:nvPicPr>
          <p:cNvPr id="21" name="Image 3" descr="preencoded.png">    </p:cNvPr>
          <p:cNvPicPr>
            <a:picLocks noChangeAspect="1"/>
          </p:cNvPicPr>
          <p:nvPr/>
        </p:nvPicPr>
        <p:blipFill>
          <a:blip r:embed="rId4"/>
          <a:stretch>
            <a:fillRect/>
          </a:stretch>
        </p:blipFill>
        <p:spPr>
          <a:xfrm>
            <a:off x="10725912" y="2953512"/>
            <a:ext cx="356616" cy="356616"/>
          </a:xfrm>
          <a:prstGeom prst="rect">
            <a:avLst/>
          </a:prstGeom>
        </p:spPr>
      </p:pic>
      <p:sp>
        <p:nvSpPr>
          <p:cNvPr id="22" name="Text 16"/>
          <p:cNvSpPr txBox="1"/>
          <p:nvPr/>
        </p:nvSpPr>
        <p:spPr>
          <a:xfrm>
            <a:off x="836676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Be ready to grow</a:t>
            </a:r>
            <a:endParaRPr lang="en-US" sz="2200" dirty="0"/>
          </a:p>
        </p:txBody>
      </p:sp>
      <p:sp>
        <p:nvSpPr>
          <p:cNvPr id="23" name="Text 17"/>
          <p:cNvSpPr txBox="1"/>
          <p:nvPr/>
        </p:nvSpPr>
        <p:spPr>
          <a:xfrm>
            <a:off x="836676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 trading history you own: the first step to credit, support funds and formal registration.</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Thandi's week, with Akayza</a:t>
            </a:r>
            <a:endParaRPr lang="en-US" sz="34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business. She's busy, she trusts her customers, and she's never had a record of it.</a:t>
            </a:r>
            <a:endParaRPr lang="en-US" sz="1700" dirty="0"/>
          </a:p>
        </p:txBody>
      </p:sp>
      <p:sp>
        <p:nvSpPr>
          <p:cNvPr id="5" name="Shape 3"/>
          <p:cNvSpPr/>
          <p:nvPr/>
        </p:nvSpPr>
        <p:spPr>
          <a:xfrm>
            <a:off x="548640" y="2286000"/>
            <a:ext cx="2606040" cy="361188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6032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735885"/>
            <a:ext cx="380390" cy="380390"/>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286000"/>
            <a:ext cx="2606040" cy="361188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6032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735885"/>
            <a:ext cx="380390" cy="380390"/>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written off her book on the spot.</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286000"/>
            <a:ext cx="2606040" cy="361188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6032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735885"/>
            <a:ext cx="380390" cy="380390"/>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payment is confirmed,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286000"/>
            <a:ext cx="2606040" cy="361188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6032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735885"/>
            <a:ext cx="380390" cy="380390"/>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her own record.</a:t>
            </a:r>
            <a:endParaRPr lang="en-US" sz="1350" dirty="0"/>
          </a:p>
        </p:txBody>
      </p:sp>
      <p:sp>
        <p:nvSpPr>
          <p:cNvPr id="32" name="Text 26"/>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week works for a builder, a food seller, a mechanic, a salon.</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DON'T TAKE OUR WORD FOR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See it working</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300" dirty="0">
                <a:solidFill>
                  <a:srgbClr val="A3B3C9"/>
                </a:solidFill>
                <a:latin typeface="Calibri" pitchFamily="34" charset="0"/>
                <a:ea typeface="Calibri" pitchFamily="34" charset="-122"/>
                <a:cs typeface="Calibri" pitchFamily="34" charset="-120"/>
              </a:rPr>
              <a:t>Video link: [paste here]</a:t>
            </a:r>
            <a:endParaRPr lang="en-US" sz="13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Sign-up in under a minute</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matched to the business, with the reason why</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An order paid and confirmed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proper invoice with a QR check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client signing off a builder's work</a:t>
            </a:r>
            <a:endParaRPr lang="en-US" sz="1550" dirty="0"/>
          </a:p>
        </p:txBody>
      </p:sp>
      <p:pic>
        <p:nvPicPr>
          <p:cNvPr id="11" name="Image 1"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Suppliers pay. Businesses never do.</a:t>
            </a:r>
            <a:endParaRPr lang="en-US" sz="3400" dirty="0"/>
          </a:p>
        </p:txBody>
      </p:sp>
      <p:sp>
        <p:nvSpPr>
          <p:cNvPr id="4" name="Shape 2"/>
          <p:cNvSpPr/>
          <p:nvPr/>
        </p:nvSpPr>
        <p:spPr>
          <a:xfrm>
            <a:off x="548640" y="1783080"/>
            <a:ext cx="4663440" cy="896112"/>
          </a:xfrm>
          <a:prstGeom prst="roundRect">
            <a:avLst>
              <a:gd name="adj" fmla="val 12245"/>
            </a:avLst>
          </a:prstGeom>
          <a:solidFill>
            <a:srgbClr val="17223A"/>
          </a:solidFill>
          <a:ln w="12700">
            <a:solidFill>
              <a:srgbClr val="17223A"/>
            </a:solidFill>
            <a:prstDash val="solid"/>
          </a:ln>
        </p:spPr>
      </p:sp>
      <p:sp>
        <p:nvSpPr>
          <p:cNvPr id="5" name="Text 3"/>
          <p:cNvSpPr txBox="1"/>
          <p:nvPr/>
        </p:nvSpPr>
        <p:spPr>
          <a:xfrm>
            <a:off x="822960" y="203911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7452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10312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834640"/>
            <a:ext cx="4663440" cy="896112"/>
          </a:xfrm>
          <a:prstGeom prst="roundRect">
            <a:avLst>
              <a:gd name="adj" fmla="val 12245"/>
            </a:avLst>
          </a:prstGeom>
          <a:solidFill>
            <a:srgbClr val="17223A"/>
          </a:solidFill>
          <a:ln w="12700">
            <a:solidFill>
              <a:srgbClr val="17223A"/>
            </a:solidFill>
            <a:prstDash val="solid"/>
          </a:ln>
        </p:spPr>
      </p:sp>
      <p:sp>
        <p:nvSpPr>
          <p:cNvPr id="9" name="Text 7"/>
          <p:cNvSpPr txBox="1"/>
          <p:nvPr/>
        </p:nvSpPr>
        <p:spPr>
          <a:xfrm>
            <a:off x="822960" y="309067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92608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315468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886200"/>
            <a:ext cx="4663440" cy="896112"/>
          </a:xfrm>
          <a:prstGeom prst="roundRect">
            <a:avLst>
              <a:gd name="adj" fmla="val 12245"/>
            </a:avLst>
          </a:prstGeom>
          <a:solidFill>
            <a:srgbClr val="17223A"/>
          </a:solidFill>
          <a:ln w="12700">
            <a:solidFill>
              <a:srgbClr val="17223A"/>
            </a:solidFill>
            <a:prstDash val="solid"/>
          </a:ln>
        </p:spPr>
      </p:sp>
      <p:sp>
        <p:nvSpPr>
          <p:cNvPr id="13" name="Text 11"/>
          <p:cNvSpPr txBox="1"/>
          <p:nvPr/>
        </p:nvSpPr>
        <p:spPr>
          <a:xfrm>
            <a:off x="822960" y="414223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97764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420624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937760"/>
            <a:ext cx="4663440" cy="896112"/>
          </a:xfrm>
          <a:prstGeom prst="roundRect">
            <a:avLst>
              <a:gd name="adj" fmla="val 12245"/>
            </a:avLst>
          </a:prstGeom>
          <a:solidFill>
            <a:srgbClr val="17223A"/>
          </a:solidFill>
          <a:ln w="12700">
            <a:solidFill>
              <a:srgbClr val="17223A"/>
            </a:solidFill>
            <a:prstDash val="solid"/>
          </a:ln>
        </p:spPr>
      </p:sp>
      <p:sp>
        <p:nvSpPr>
          <p:cNvPr id="17" name="Text 15"/>
          <p:cNvSpPr txBox="1"/>
          <p:nvPr/>
        </p:nvSpPr>
        <p:spPr>
          <a:xfrm>
            <a:off x="822960" y="519379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50292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525780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4206240"/>
          </a:xfrm>
          <a:prstGeom prst="roundRect">
            <a:avLst>
              <a:gd name="adj" fmla="val 26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5349240"/>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5650992"/>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pic>
        <p:nvPicPr>
          <p:cNvPr id="24"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5" name="Text 2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26" name="Text 22"/>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serve a slice. We serve it all.</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And it gets smarter with use: what a business does today shapes the suppliers it's matched with tomorrow.</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1,239</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197</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486400" cy="457200"/>
          </a:xfrm>
          <a:prstGeom prst="rect">
            <a:avLst/>
          </a:prstGeom>
          <a:noFill/>
          <a:ln/>
        </p:spPr>
        <p:txBody>
          <a:bodyPr wrap="square" lIns="0" tIns="0" rIns="0" bIns="0" rtlCol="0" anchor="t"/>
          <a:lstStyle/>
          <a:p>
            <a:pPr indent="0" marL="0">
              <a:buNone/>
            </a:pPr>
            <a:r>
              <a:rPr lang="en-US" sz="2200" b="1" dirty="0">
                <a:solidFill>
                  <a:srgbClr val="F8FAFC"/>
                </a:solidFill>
                <a:latin typeface="Calibri" pitchFamily="34" charset="0"/>
                <a:ea typeface="Calibri" pitchFamily="34" charset="-122"/>
                <a:cs typeface="Calibri" pitchFamily="34" charset="-120"/>
              </a:rPr>
              <a:t>for a 6-month pilot</a:t>
            </a:r>
            <a:endParaRPr lang="en-US" sz="22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280160" cy="1280160"/>
          </a:xfrm>
          <a:prstGeom prst="rect">
            <a:avLst/>
          </a:prstGeom>
        </p:spPr>
      </p:pic>
      <p:sp>
        <p:nvSpPr>
          <p:cNvPr id="3" name="Text 0"/>
          <p:cNvSpPr txBox="1"/>
          <p:nvPr/>
        </p:nvSpPr>
        <p:spPr>
          <a:xfrm>
            <a:off x="685800" y="2423160"/>
            <a:ext cx="10058400" cy="1188720"/>
          </a:xfrm>
          <a:prstGeom prst="rect">
            <a:avLst/>
          </a:prstGeom>
          <a:noFill/>
          <a:ln/>
        </p:spPr>
        <p:txBody>
          <a:bodyPr wrap="square" lIns="0" tIns="0" rIns="0" bIns="0" rtlCol="0" anchor="t"/>
          <a:lstStyle/>
          <a:p>
            <a:pPr indent="0" marL="0">
              <a:buNone/>
            </a:pPr>
            <a:r>
              <a:rPr lang="en-US" sz="6600" b="1" dirty="0">
                <a:solidFill>
                  <a:srgbClr val="F8FAFC"/>
                </a:solidFill>
                <a:latin typeface="Georgia" pitchFamily="34" charset="0"/>
                <a:ea typeface="Georgia" pitchFamily="34" charset="-122"/>
                <a:cs typeface="Georgia" pitchFamily="34" charset="-120"/>
              </a:rPr>
              <a:t>Thank you</a:t>
            </a:r>
            <a:endParaRPr lang="en-US" sz="6600" dirty="0"/>
          </a:p>
        </p:txBody>
      </p:sp>
      <p:sp>
        <p:nvSpPr>
          <p:cNvPr id="4" name="Text 1"/>
          <p:cNvSpPr txBox="1"/>
          <p:nvPr/>
        </p:nvSpPr>
        <p:spPr>
          <a:xfrm>
            <a:off x="731520" y="3611880"/>
            <a:ext cx="10058400" cy="640080"/>
          </a:xfrm>
          <a:prstGeom prst="rect">
            <a:avLst/>
          </a:prstGeom>
          <a:noFill/>
          <a:ln/>
        </p:spPr>
        <p:txBody>
          <a:bodyPr wrap="square" lIns="0" tIns="0" rIns="0" bIns="0" rtlCol="0" anchor="t"/>
          <a:lstStyle/>
          <a:p>
            <a:pPr indent="0" marL="0">
              <a:buNone/>
            </a:pPr>
            <a:r>
              <a:rPr lang="en-US" sz="2800" i="1" dirty="0">
                <a:solidFill>
                  <a:srgbClr val="FBBF24"/>
                </a:solidFill>
                <a:latin typeface="Georgia" pitchFamily="34" charset="0"/>
                <a:ea typeface="Georgia" pitchFamily="34" charset="-122"/>
                <a:cs typeface="Georgia" pitchFamily="34" charset="-120"/>
              </a:rPr>
              <a:t>Keep it in the kasi.</a:t>
            </a:r>
            <a:endParaRPr lang="en-US" sz="2800" dirty="0"/>
          </a:p>
        </p:txBody>
      </p:sp>
      <p:sp>
        <p:nvSpPr>
          <p:cNvPr id="5" name="Text 2"/>
          <p:cNvSpPr txBox="1"/>
          <p:nvPr/>
        </p:nvSpPr>
        <p:spPr>
          <a:xfrm>
            <a:off x="731520" y="452628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R300,000  ·  6-month pilot  ·  making informal businesses visible</a:t>
            </a:r>
            <a:endParaRPr lang="en-US" sz="2000" dirty="0"/>
          </a:p>
        </p:txBody>
      </p:sp>
      <p:sp>
        <p:nvSpPr>
          <p:cNvPr id="6"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Akayza  ·  prepared by Team PR  ·  GKHack26</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
        <p:nvSpPr>
          <p:cNvPr id="6" name="Shape 3"/>
          <p:cNvSpPr/>
          <p:nvPr/>
        </p:nvSpPr>
        <p:spPr>
          <a:xfrm>
            <a:off x="548640" y="1783080"/>
            <a:ext cx="3291840" cy="1920240"/>
          </a:xfrm>
          <a:prstGeom prst="roundRect">
            <a:avLst>
              <a:gd name="adj" fmla="val 5714"/>
            </a:avLst>
          </a:prstGeom>
          <a:solidFill>
            <a:srgbClr val="17223A"/>
          </a:solidFill>
          <a:ln w="12700">
            <a:solidFill>
              <a:srgbClr val="17223A"/>
            </a:solidFill>
            <a:prstDash val="solid"/>
          </a:ln>
        </p:spPr>
      </p:sp>
      <p:sp>
        <p:nvSpPr>
          <p:cNvPr id="7" name="Shape 4"/>
          <p:cNvSpPr/>
          <p:nvPr/>
        </p:nvSpPr>
        <p:spPr>
          <a:xfrm>
            <a:off x="777240" y="2039112"/>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30859" y="2192731"/>
            <a:ext cx="332842" cy="332842"/>
          </a:xfrm>
          <a:prstGeom prst="rect">
            <a:avLst/>
          </a:prstGeom>
        </p:spPr>
      </p:pic>
      <p:sp>
        <p:nvSpPr>
          <p:cNvPr id="9" name="Text 5"/>
          <p:cNvSpPr txBox="1"/>
          <p:nvPr/>
        </p:nvSpPr>
        <p:spPr>
          <a:xfrm>
            <a:off x="1554480" y="2039112"/>
            <a:ext cx="2103120" cy="36576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Mobile app</a:t>
            </a:r>
            <a:endParaRPr lang="en-US" sz="1800" dirty="0"/>
          </a:p>
        </p:txBody>
      </p:sp>
      <p:sp>
        <p:nvSpPr>
          <p:cNvPr id="10" name="Text 6"/>
          <p:cNvSpPr txBox="1"/>
          <p:nvPr/>
        </p:nvSpPr>
        <p:spPr>
          <a:xfrm>
            <a:off x="15544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React Native + Expo (TypeScript). Android first. Secure sign-in storage; works offline at the counter.</a:t>
            </a:r>
            <a:endParaRPr lang="en-US" sz="1350" dirty="0"/>
          </a:p>
        </p:txBody>
      </p:sp>
      <p:sp>
        <p:nvSpPr>
          <p:cNvPr id="11" name="Shape 7"/>
          <p:cNvSpPr/>
          <p:nvPr/>
        </p:nvSpPr>
        <p:spPr>
          <a:xfrm>
            <a:off x="4434840" y="1783080"/>
            <a:ext cx="3291840" cy="1920240"/>
          </a:xfrm>
          <a:prstGeom prst="roundRect">
            <a:avLst>
              <a:gd name="adj" fmla="val 5714"/>
            </a:avLst>
          </a:prstGeom>
          <a:solidFill>
            <a:srgbClr val="17223A"/>
          </a:solidFill>
          <a:ln w="12700">
            <a:solidFill>
              <a:srgbClr val="17223A"/>
            </a:solidFill>
            <a:prstDash val="solid"/>
          </a:ln>
        </p:spPr>
      </p:sp>
      <p:sp>
        <p:nvSpPr>
          <p:cNvPr id="12" name="Shape 8"/>
          <p:cNvSpPr/>
          <p:nvPr/>
        </p:nvSpPr>
        <p:spPr>
          <a:xfrm>
            <a:off x="4663440" y="2039112"/>
            <a:ext cx="640080" cy="640080"/>
          </a:xfrm>
          <a:prstGeom prst="ellipse">
            <a:avLst/>
          </a:prstGeom>
          <a:solidFill>
            <a:srgbClr val="1E2B45"/>
          </a:solidFill>
          <a:ln w="19050">
            <a:solidFill>
              <a:srgbClr val="FBBF24"/>
            </a:solidFill>
            <a:prstDash val="solid"/>
          </a:ln>
        </p:spPr>
      </p:sp>
      <p:pic>
        <p:nvPicPr>
          <p:cNvPr id="13" name="Image 2" descr="preencoded.png">    </p:cNvPr>
          <p:cNvPicPr>
            <a:picLocks noChangeAspect="1"/>
          </p:cNvPicPr>
          <p:nvPr/>
        </p:nvPicPr>
        <p:blipFill>
          <a:blip r:embed="rId3"/>
          <a:stretch>
            <a:fillRect/>
          </a:stretch>
        </p:blipFill>
        <p:spPr>
          <a:xfrm>
            <a:off x="4817059" y="2192731"/>
            <a:ext cx="332842" cy="332842"/>
          </a:xfrm>
          <a:prstGeom prst="rect">
            <a:avLst/>
          </a:prstGeom>
        </p:spPr>
      </p:pic>
      <p:sp>
        <p:nvSpPr>
          <p:cNvPr id="14" name="Text 9"/>
          <p:cNvSpPr txBox="1"/>
          <p:nvPr/>
        </p:nvSpPr>
        <p:spPr>
          <a:xfrm>
            <a:off x="5440680" y="2039112"/>
            <a:ext cx="2103120"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API</a:t>
            </a:r>
            <a:endParaRPr lang="en-US" sz="1800" dirty="0"/>
          </a:p>
        </p:txBody>
      </p:sp>
      <p:sp>
        <p:nvSpPr>
          <p:cNvPr id="15" name="Text 10"/>
          <p:cNvSpPr txBox="1"/>
          <p:nvPr/>
        </p:nvSpPr>
        <p:spPr>
          <a:xfrm>
            <a:off x="54406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Python + Flask. Strict input checks, rate limits, orders that can't double. Rule-based supplier engine.</a:t>
            </a:r>
            <a:endParaRPr lang="en-US" sz="1350" dirty="0"/>
          </a:p>
        </p:txBody>
      </p:sp>
      <p:sp>
        <p:nvSpPr>
          <p:cNvPr id="16" name="Shape 11"/>
          <p:cNvSpPr/>
          <p:nvPr/>
        </p:nvSpPr>
        <p:spPr>
          <a:xfrm>
            <a:off x="8321040" y="1783080"/>
            <a:ext cx="3291840" cy="1920240"/>
          </a:xfrm>
          <a:prstGeom prst="roundRect">
            <a:avLst>
              <a:gd name="adj" fmla="val 5714"/>
            </a:avLst>
          </a:prstGeom>
          <a:solidFill>
            <a:srgbClr val="17223A"/>
          </a:solidFill>
          <a:ln w="12700">
            <a:solidFill>
              <a:srgbClr val="17223A"/>
            </a:solidFill>
            <a:prstDash val="solid"/>
          </a:ln>
        </p:spPr>
      </p:sp>
      <p:sp>
        <p:nvSpPr>
          <p:cNvPr id="17" name="Shape 12"/>
          <p:cNvSpPr/>
          <p:nvPr/>
        </p:nvSpPr>
        <p:spPr>
          <a:xfrm>
            <a:off x="8549640" y="2039112"/>
            <a:ext cx="640080" cy="640080"/>
          </a:xfrm>
          <a:prstGeom prst="ellipse">
            <a:avLst/>
          </a:prstGeom>
          <a:solidFill>
            <a:srgbClr val="1E2B45"/>
          </a:solidFill>
          <a:ln w="19050">
            <a:solidFill>
              <a:srgbClr val="34D399"/>
            </a:solidFill>
            <a:prstDash val="solid"/>
          </a:ln>
        </p:spPr>
      </p:sp>
      <p:pic>
        <p:nvPicPr>
          <p:cNvPr id="18" name="Image 3" descr="preencoded.png">    </p:cNvPr>
          <p:cNvPicPr>
            <a:picLocks noChangeAspect="1"/>
          </p:cNvPicPr>
          <p:nvPr/>
        </p:nvPicPr>
        <p:blipFill>
          <a:blip r:embed="rId4"/>
          <a:stretch>
            <a:fillRect/>
          </a:stretch>
        </p:blipFill>
        <p:spPr>
          <a:xfrm>
            <a:off x="8703259" y="2192731"/>
            <a:ext cx="332842" cy="332842"/>
          </a:xfrm>
          <a:prstGeom prst="rect">
            <a:avLst/>
          </a:prstGeom>
        </p:spPr>
      </p:pic>
      <p:sp>
        <p:nvSpPr>
          <p:cNvPr id="19" name="Text 13"/>
          <p:cNvSpPr txBox="1"/>
          <p:nvPr/>
        </p:nvSpPr>
        <p:spPr>
          <a:xfrm>
            <a:off x="9326880" y="2039112"/>
            <a:ext cx="2103120" cy="36576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Database</a:t>
            </a:r>
            <a:endParaRPr lang="en-US" sz="1800" dirty="0"/>
          </a:p>
        </p:txBody>
      </p:sp>
      <p:sp>
        <p:nvSpPr>
          <p:cNvPr id="20" name="Text 14"/>
          <p:cNvSpPr txBox="1"/>
          <p:nvPr/>
        </p:nvSpPr>
        <p:spPr>
          <a:xfrm>
            <a:off x="93268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PostgreSQL, one area per schema, versioned migrations, audit trail with no personal data.</a:t>
            </a:r>
            <a:endParaRPr lang="en-US" sz="1350" dirty="0"/>
          </a:p>
        </p:txBody>
      </p:sp>
      <p:sp>
        <p:nvSpPr>
          <p:cNvPr id="21" name="Shape 15"/>
          <p:cNvSpPr/>
          <p:nvPr/>
        </p:nvSpPr>
        <p:spPr>
          <a:xfrm>
            <a:off x="3886200" y="2743200"/>
            <a:ext cx="502920" cy="0"/>
          </a:xfrm>
          <a:prstGeom prst="line">
            <a:avLst/>
          </a:prstGeom>
          <a:noFill/>
          <a:ln w="25400">
            <a:solidFill>
              <a:srgbClr val="10B981"/>
            </a:solidFill>
            <a:prstDash val="solid"/>
            <a:headEnd type="triangle"/>
            <a:tailEnd type="triangle"/>
          </a:ln>
        </p:spPr>
      </p:sp>
      <p:sp>
        <p:nvSpPr>
          <p:cNvPr id="22" name="Shape 16"/>
          <p:cNvSpPr/>
          <p:nvPr/>
        </p:nvSpPr>
        <p:spPr>
          <a:xfrm>
            <a:off x="7772400" y="2743200"/>
            <a:ext cx="502920" cy="0"/>
          </a:xfrm>
          <a:prstGeom prst="line">
            <a:avLst/>
          </a:prstGeom>
          <a:noFill/>
          <a:ln w="25400">
            <a:solidFill>
              <a:srgbClr val="10B981"/>
            </a:solidFill>
            <a:prstDash val="solid"/>
            <a:headEnd type="triangle"/>
            <a:tailEnd type="triangle"/>
          </a:ln>
        </p:spPr>
      </p:sp>
      <p:sp>
        <p:nvSpPr>
          <p:cNvPr id="23" name="Shape 17"/>
          <p:cNvSpPr/>
          <p:nvPr/>
        </p:nvSpPr>
        <p:spPr>
          <a:xfrm>
            <a:off x="548640" y="4160520"/>
            <a:ext cx="2606040" cy="1554480"/>
          </a:xfrm>
          <a:prstGeom prst="roundRect">
            <a:avLst>
              <a:gd name="adj" fmla="val 7059"/>
            </a:avLst>
          </a:prstGeom>
          <a:solidFill>
            <a:srgbClr val="1E2B45"/>
          </a:solidFill>
          <a:ln w="12700">
            <a:solidFill>
              <a:srgbClr val="1E2B45"/>
            </a:solidFill>
            <a:prstDash val="solid"/>
          </a:ln>
        </p:spPr>
      </p:sp>
      <p:sp>
        <p:nvSpPr>
          <p:cNvPr id="24" name="Shape 18"/>
          <p:cNvSpPr/>
          <p:nvPr/>
        </p:nvSpPr>
        <p:spPr>
          <a:xfrm>
            <a:off x="749808" y="4370832"/>
            <a:ext cx="566928" cy="566928"/>
          </a:xfrm>
          <a:prstGeom prst="ellipse">
            <a:avLst/>
          </a:prstGeom>
          <a:solidFill>
            <a:srgbClr val="1E2B45"/>
          </a:solidFill>
          <a:ln w="19050">
            <a:solidFill>
              <a:srgbClr val="10B981"/>
            </a:solidFill>
            <a:prstDash val="solid"/>
          </a:ln>
        </p:spPr>
      </p:sp>
      <p:pic>
        <p:nvPicPr>
          <p:cNvPr id="25" name="Image 4" descr="preencoded.png">    </p:cNvPr>
          <p:cNvPicPr>
            <a:picLocks noChangeAspect="1"/>
          </p:cNvPicPr>
          <p:nvPr/>
        </p:nvPicPr>
        <p:blipFill>
          <a:blip r:embed="rId5"/>
          <a:stretch>
            <a:fillRect/>
          </a:stretch>
        </p:blipFill>
        <p:spPr>
          <a:xfrm>
            <a:off x="885871" y="4506895"/>
            <a:ext cx="294803" cy="294803"/>
          </a:xfrm>
          <a:prstGeom prst="rect">
            <a:avLst/>
          </a:prstGeom>
        </p:spPr>
      </p:pic>
      <p:sp>
        <p:nvSpPr>
          <p:cNvPr id="26" name="Text 19"/>
          <p:cNvSpPr txBox="1"/>
          <p:nvPr/>
        </p:nvSpPr>
        <p:spPr>
          <a:xfrm>
            <a:off x="1463040"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PayFast</a:t>
            </a:r>
            <a:endParaRPr lang="en-US" sz="1500" dirty="0"/>
          </a:p>
        </p:txBody>
      </p:sp>
      <p:sp>
        <p:nvSpPr>
          <p:cNvPr id="27" name="Text 20"/>
          <p:cNvSpPr txBox="1"/>
          <p:nvPr/>
        </p:nvSpPr>
        <p:spPr>
          <a:xfrm>
            <a:off x="749808"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payments, confirmed by 4 checks</a:t>
            </a:r>
            <a:endParaRPr lang="en-US" sz="1300" dirty="0"/>
          </a:p>
        </p:txBody>
      </p:sp>
      <p:sp>
        <p:nvSpPr>
          <p:cNvPr id="28" name="Shape 21"/>
          <p:cNvSpPr/>
          <p:nvPr/>
        </p:nvSpPr>
        <p:spPr>
          <a:xfrm>
            <a:off x="3364992" y="4160520"/>
            <a:ext cx="2606040" cy="1554480"/>
          </a:xfrm>
          <a:prstGeom prst="roundRect">
            <a:avLst>
              <a:gd name="adj" fmla="val 7059"/>
            </a:avLst>
          </a:prstGeom>
          <a:solidFill>
            <a:srgbClr val="1E2B45"/>
          </a:solidFill>
          <a:ln w="12700">
            <a:solidFill>
              <a:srgbClr val="1E2B45"/>
            </a:solidFill>
            <a:prstDash val="solid"/>
          </a:ln>
        </p:spPr>
      </p:sp>
      <p:sp>
        <p:nvSpPr>
          <p:cNvPr id="29" name="Shape 22"/>
          <p:cNvSpPr/>
          <p:nvPr/>
        </p:nvSpPr>
        <p:spPr>
          <a:xfrm>
            <a:off x="3566160" y="4370832"/>
            <a:ext cx="566928" cy="566928"/>
          </a:xfrm>
          <a:prstGeom prst="ellipse">
            <a:avLst/>
          </a:prstGeom>
          <a:solidFill>
            <a:srgbClr val="1E2B45"/>
          </a:solidFill>
          <a:ln w="19050">
            <a:solidFill>
              <a:srgbClr val="10B981"/>
            </a:solidFill>
            <a:prstDash val="solid"/>
          </a:ln>
        </p:spPr>
      </p:sp>
      <p:pic>
        <p:nvPicPr>
          <p:cNvPr id="30" name="Image 5" descr="preencoded.png">    </p:cNvPr>
          <p:cNvPicPr>
            <a:picLocks noChangeAspect="1"/>
          </p:cNvPicPr>
          <p:nvPr/>
        </p:nvPicPr>
        <p:blipFill>
          <a:blip r:embed="rId6"/>
          <a:stretch>
            <a:fillRect/>
          </a:stretch>
        </p:blipFill>
        <p:spPr>
          <a:xfrm>
            <a:off x="3702223" y="4506895"/>
            <a:ext cx="294803" cy="294803"/>
          </a:xfrm>
          <a:prstGeom prst="rect">
            <a:avLst/>
          </a:prstGeom>
        </p:spPr>
      </p:pic>
      <p:sp>
        <p:nvSpPr>
          <p:cNvPr id="31" name="Text 23"/>
          <p:cNvSpPr txBox="1"/>
          <p:nvPr/>
        </p:nvSpPr>
        <p:spPr>
          <a:xfrm>
            <a:off x="4279392"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Cloudinary</a:t>
            </a:r>
            <a:endParaRPr lang="en-US" sz="1500" dirty="0"/>
          </a:p>
        </p:txBody>
      </p:sp>
      <p:sp>
        <p:nvSpPr>
          <p:cNvPr id="32" name="Text 24"/>
          <p:cNvSpPr txBox="1"/>
          <p:nvPr/>
        </p:nvSpPr>
        <p:spPr>
          <a:xfrm>
            <a:off x="3566160"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signed photo uploads</a:t>
            </a:r>
            <a:endParaRPr lang="en-US" sz="1300" dirty="0"/>
          </a:p>
        </p:txBody>
      </p:sp>
      <p:sp>
        <p:nvSpPr>
          <p:cNvPr id="33" name="Shape 25"/>
          <p:cNvSpPr/>
          <p:nvPr/>
        </p:nvSpPr>
        <p:spPr>
          <a:xfrm>
            <a:off x="6181344" y="4160520"/>
            <a:ext cx="2606040" cy="1554480"/>
          </a:xfrm>
          <a:prstGeom prst="roundRect">
            <a:avLst>
              <a:gd name="adj" fmla="val 7059"/>
            </a:avLst>
          </a:prstGeom>
          <a:solidFill>
            <a:srgbClr val="1E2B45"/>
          </a:solidFill>
          <a:ln w="12700">
            <a:solidFill>
              <a:srgbClr val="1E2B45"/>
            </a:solidFill>
            <a:prstDash val="solid"/>
          </a:ln>
        </p:spPr>
      </p:sp>
      <p:sp>
        <p:nvSpPr>
          <p:cNvPr id="34" name="Shape 26"/>
          <p:cNvSpPr/>
          <p:nvPr/>
        </p:nvSpPr>
        <p:spPr>
          <a:xfrm>
            <a:off x="6382512" y="4370832"/>
            <a:ext cx="566928" cy="566928"/>
          </a:xfrm>
          <a:prstGeom prst="ellipse">
            <a:avLst/>
          </a:prstGeom>
          <a:solidFill>
            <a:srgbClr val="1E2B45"/>
          </a:solidFill>
          <a:ln w="19050">
            <a:solidFill>
              <a:srgbClr val="10B981"/>
            </a:solidFill>
            <a:prstDash val="solid"/>
          </a:ln>
        </p:spPr>
      </p:sp>
      <p:pic>
        <p:nvPicPr>
          <p:cNvPr id="35" name="Image 6" descr="preencoded.png">    </p:cNvPr>
          <p:cNvPicPr>
            <a:picLocks noChangeAspect="1"/>
          </p:cNvPicPr>
          <p:nvPr/>
        </p:nvPicPr>
        <p:blipFill>
          <a:blip r:embed="rId7"/>
          <a:stretch>
            <a:fillRect/>
          </a:stretch>
        </p:blipFill>
        <p:spPr>
          <a:xfrm>
            <a:off x="6518575" y="4506895"/>
            <a:ext cx="294803" cy="294803"/>
          </a:xfrm>
          <a:prstGeom prst="rect">
            <a:avLst/>
          </a:prstGeom>
        </p:spPr>
      </p:pic>
      <p:sp>
        <p:nvSpPr>
          <p:cNvPr id="36" name="Text 27"/>
          <p:cNvSpPr txBox="1"/>
          <p:nvPr/>
        </p:nvSpPr>
        <p:spPr>
          <a:xfrm>
            <a:off x="7095744"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Mapbox</a:t>
            </a:r>
            <a:endParaRPr lang="en-US" sz="1500" dirty="0"/>
          </a:p>
        </p:txBody>
      </p:sp>
      <p:sp>
        <p:nvSpPr>
          <p:cNvPr id="37" name="Text 28"/>
          <p:cNvSpPr txBox="1"/>
          <p:nvPr/>
        </p:nvSpPr>
        <p:spPr>
          <a:xfrm>
            <a:off x="6382512"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address search</a:t>
            </a:r>
            <a:endParaRPr lang="en-US" sz="1300" dirty="0"/>
          </a:p>
        </p:txBody>
      </p:sp>
      <p:sp>
        <p:nvSpPr>
          <p:cNvPr id="38" name="Shape 29"/>
          <p:cNvSpPr/>
          <p:nvPr/>
        </p:nvSpPr>
        <p:spPr>
          <a:xfrm>
            <a:off x="8997696" y="4160520"/>
            <a:ext cx="2606040" cy="1554480"/>
          </a:xfrm>
          <a:prstGeom prst="roundRect">
            <a:avLst>
              <a:gd name="adj" fmla="val 7059"/>
            </a:avLst>
          </a:prstGeom>
          <a:solidFill>
            <a:srgbClr val="1E2B45"/>
          </a:solidFill>
          <a:ln w="12700">
            <a:solidFill>
              <a:srgbClr val="1E2B45"/>
            </a:solidFill>
            <a:prstDash val="solid"/>
          </a:ln>
        </p:spPr>
      </p:sp>
      <p:sp>
        <p:nvSpPr>
          <p:cNvPr id="39" name="Shape 30"/>
          <p:cNvSpPr/>
          <p:nvPr/>
        </p:nvSpPr>
        <p:spPr>
          <a:xfrm>
            <a:off x="9198864" y="4370832"/>
            <a:ext cx="566928" cy="566928"/>
          </a:xfrm>
          <a:prstGeom prst="ellipse">
            <a:avLst/>
          </a:prstGeom>
          <a:solidFill>
            <a:srgbClr val="1E2B45"/>
          </a:solidFill>
          <a:ln w="19050">
            <a:solidFill>
              <a:srgbClr val="10B981"/>
            </a:solidFill>
            <a:prstDash val="solid"/>
          </a:ln>
        </p:spPr>
      </p:sp>
      <p:pic>
        <p:nvPicPr>
          <p:cNvPr id="40" name="Image 7" descr="preencoded.png">    </p:cNvPr>
          <p:cNvPicPr>
            <a:picLocks noChangeAspect="1"/>
          </p:cNvPicPr>
          <p:nvPr/>
        </p:nvPicPr>
        <p:blipFill>
          <a:blip r:embed="rId8"/>
          <a:stretch>
            <a:fillRect/>
          </a:stretch>
        </p:blipFill>
        <p:spPr>
          <a:xfrm>
            <a:off x="9334927" y="4506895"/>
            <a:ext cx="294803" cy="294803"/>
          </a:xfrm>
          <a:prstGeom prst="rect">
            <a:avLst/>
          </a:prstGeom>
        </p:spPr>
      </p:pic>
      <p:sp>
        <p:nvSpPr>
          <p:cNvPr id="41" name="Text 31"/>
          <p:cNvSpPr txBox="1"/>
          <p:nvPr/>
        </p:nvSpPr>
        <p:spPr>
          <a:xfrm>
            <a:off x="9912096"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Email</a:t>
            </a:r>
            <a:endParaRPr lang="en-US" sz="1500" dirty="0"/>
          </a:p>
        </p:txBody>
      </p:sp>
      <p:sp>
        <p:nvSpPr>
          <p:cNvPr id="42" name="Text 32"/>
          <p:cNvSpPr txBox="1"/>
          <p:nvPr/>
        </p:nvSpPr>
        <p:spPr>
          <a:xfrm>
            <a:off x="9198864"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codes, receipts, alerts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Security and data privacy</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6" name="Shape 3"/>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7" name="Shape 4"/>
          <p:cNvSpPr/>
          <p:nvPr/>
        </p:nvSpPr>
        <p:spPr>
          <a:xfrm>
            <a:off x="822960" y="2057400"/>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76579" y="2211019"/>
            <a:ext cx="332842" cy="332842"/>
          </a:xfrm>
          <a:prstGeom prst="rect">
            <a:avLst/>
          </a:prstGeom>
        </p:spPr>
      </p:pic>
      <p:sp>
        <p:nvSpPr>
          <p:cNvPr id="9" name="Text 5"/>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10" name="Text 6"/>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11" name="Shape 7"/>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2" name="Shape 8"/>
          <p:cNvSpPr/>
          <p:nvPr/>
        </p:nvSpPr>
        <p:spPr>
          <a:xfrm>
            <a:off x="4572000" y="205740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4725619" y="2211019"/>
            <a:ext cx="332842" cy="332842"/>
          </a:xfrm>
          <a:prstGeom prst="rect">
            <a:avLst/>
          </a:prstGeom>
        </p:spPr>
      </p:pic>
      <p:sp>
        <p:nvSpPr>
          <p:cNvPr id="14" name="Text 9"/>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5" name="Text 10"/>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6" name="Shape 11"/>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7" name="Shape 12"/>
          <p:cNvSpPr/>
          <p:nvPr/>
        </p:nvSpPr>
        <p:spPr>
          <a:xfrm>
            <a:off x="8321040" y="2057400"/>
            <a:ext cx="640080" cy="64008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8474659" y="2211019"/>
            <a:ext cx="332842" cy="332842"/>
          </a:xfrm>
          <a:prstGeom prst="rect">
            <a:avLst/>
          </a:prstGeom>
        </p:spPr>
      </p:pic>
      <p:sp>
        <p:nvSpPr>
          <p:cNvPr id="19" name="Text 13"/>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20" name="Text 14"/>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21" name="Shape 15"/>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2" name="Shape 16"/>
          <p:cNvSpPr/>
          <p:nvPr/>
        </p:nvSpPr>
        <p:spPr>
          <a:xfrm>
            <a:off x="822960" y="4206240"/>
            <a:ext cx="640080" cy="640080"/>
          </a:xfrm>
          <a:prstGeom prst="ellipse">
            <a:avLst/>
          </a:prstGeom>
          <a:solidFill>
            <a:srgbClr val="1E2B45"/>
          </a:solidFill>
          <a:ln w="19050">
            <a:solidFill>
              <a:srgbClr val="10B981"/>
            </a:solidFill>
            <a:prstDash val="solid"/>
          </a:ln>
        </p:spPr>
      </p:sp>
      <p:pic>
        <p:nvPicPr>
          <p:cNvPr id="23" name="Image 4" descr="preencoded.png">    </p:cNvPr>
          <p:cNvPicPr>
            <a:picLocks noChangeAspect="1"/>
          </p:cNvPicPr>
          <p:nvPr/>
        </p:nvPicPr>
        <p:blipFill>
          <a:blip r:embed="rId5"/>
          <a:stretch>
            <a:fillRect/>
          </a:stretch>
        </p:blipFill>
        <p:spPr>
          <a:xfrm>
            <a:off x="976579" y="4359859"/>
            <a:ext cx="332842" cy="332842"/>
          </a:xfrm>
          <a:prstGeom prst="rect">
            <a:avLst/>
          </a:prstGeom>
        </p:spPr>
      </p:pic>
      <p:sp>
        <p:nvSpPr>
          <p:cNvPr id="24" name="Text 17"/>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POPIA by design</a:t>
            </a:r>
            <a:endParaRPr lang="en-US" sz="1600" dirty="0"/>
          </a:p>
        </p:txBody>
      </p:sp>
      <p:sp>
        <p:nvSpPr>
          <p:cNvPr id="25" name="Text 18"/>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Aggregates only in the engine; no names or addresses in logs; data export and account closure.</a:t>
            </a:r>
            <a:endParaRPr lang="en-US" sz="1300" dirty="0"/>
          </a:p>
        </p:txBody>
      </p:sp>
      <p:sp>
        <p:nvSpPr>
          <p:cNvPr id="26" name="Shape 19"/>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7" name="Shape 20"/>
          <p:cNvSpPr/>
          <p:nvPr/>
        </p:nvSpPr>
        <p:spPr>
          <a:xfrm>
            <a:off x="4572000" y="4206240"/>
            <a:ext cx="640080" cy="640080"/>
          </a:xfrm>
          <a:prstGeom prst="ellipse">
            <a:avLst/>
          </a:prstGeom>
          <a:solidFill>
            <a:srgbClr val="1E2B45"/>
          </a:solidFill>
          <a:ln w="19050">
            <a:solidFill>
              <a:srgbClr val="FBBF24"/>
            </a:solidFill>
            <a:prstDash val="solid"/>
          </a:ln>
        </p:spPr>
      </p:sp>
      <p:pic>
        <p:nvPicPr>
          <p:cNvPr id="28" name="Image 5" descr="preencoded.png">    </p:cNvPr>
          <p:cNvPicPr>
            <a:picLocks noChangeAspect="1"/>
          </p:cNvPicPr>
          <p:nvPr/>
        </p:nvPicPr>
        <p:blipFill>
          <a:blip r:embed="rId6"/>
          <a:stretch>
            <a:fillRect/>
          </a:stretch>
        </p:blipFill>
        <p:spPr>
          <a:xfrm>
            <a:off x="4725619" y="4359859"/>
            <a:ext cx="332842" cy="332842"/>
          </a:xfrm>
          <a:prstGeom prst="rect">
            <a:avLst/>
          </a:prstGeom>
        </p:spPr>
      </p:pic>
      <p:sp>
        <p:nvSpPr>
          <p:cNvPr id="29" name="Text 21"/>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30" name="Text 22"/>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31" name="Shape 23"/>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2" name="Shape 24"/>
          <p:cNvSpPr/>
          <p:nvPr/>
        </p:nvSpPr>
        <p:spPr>
          <a:xfrm>
            <a:off x="8321040" y="4206240"/>
            <a:ext cx="640080" cy="640080"/>
          </a:xfrm>
          <a:prstGeom prst="ellipse">
            <a:avLst/>
          </a:prstGeom>
          <a:solidFill>
            <a:srgbClr val="1E2B45"/>
          </a:solidFill>
          <a:ln w="19050">
            <a:solidFill>
              <a:srgbClr val="10B981"/>
            </a:solidFill>
            <a:prstDash val="solid"/>
          </a:ln>
        </p:spPr>
      </p:sp>
      <p:pic>
        <p:nvPicPr>
          <p:cNvPr id="33" name="Image 6" descr="preencoded.png">    </p:cNvPr>
          <p:cNvPicPr>
            <a:picLocks noChangeAspect="1"/>
          </p:cNvPicPr>
          <p:nvPr/>
        </p:nvPicPr>
        <p:blipFill>
          <a:blip r:embed="rId7"/>
          <a:stretch>
            <a:fillRect/>
          </a:stretch>
        </p:blipFill>
        <p:spPr>
          <a:xfrm>
            <a:off x="8474659" y="4359859"/>
            <a:ext cx="332842" cy="332842"/>
          </a:xfrm>
          <a:prstGeom prst="rect">
            <a:avLst/>
          </a:prstGeom>
        </p:spPr>
      </p:pic>
      <p:sp>
        <p:nvSpPr>
          <p:cNvPr id="34" name="Text 25"/>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5" name="Text 26"/>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OWASP API Top 10, incident plan.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What's next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7" name="Text 4"/>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8" name="Text 5"/>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9" name="Shape 6"/>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10" name="Text 7"/>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11" name="Text 8"/>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2" name="Shape 9"/>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3" name="Text 10"/>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4" name="Text 11"/>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2026-09-26T21:56:57Z</dcterms:created>
  <dcterms:modified xsi:type="dcterms:W3CDTF">2026-09-26T21:56:57Z</dcterms:modified>
</cp:coreProperties>
</file>