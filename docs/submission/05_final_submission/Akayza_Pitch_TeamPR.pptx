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3-minute pitch" id="{059eaa20-136e-e065-b9b7-608a53d44689}">
          <p14:sldIdLst>
            <p14:sldId id="256"/>
            <p14:sldId id="257"/>
            <p14:sldId id="258"/>
            <p14:sldId id="259"/>
            <p14:sldId id="260"/>
            <p14:sldId id="261"/>
            <p14:sldId id="262"/>
            <p14:sldId id="263"/>
            <p14:sldId id="264"/>
            <p14:sldId id="265"/>
          </p14:sldIdLst>
        </p14:section>
        <p14:section name="The detail" id="{1bea7bb1-c826-7236-5085-da8a54a53301}">
          <p14:sldIdLst>
            <p14:sldId id="266"/>
            <p14:sldId id="267"/>
            <p14:sldId id="268"/>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Bank loan  &lt;9%</c:v>
                  </c:pt>
                  <c:pt idx="1">
                    <c:v>Savings, family  57%</c:v>
                  </c:pt>
                </c:lvl>
              </c:multiLvlStrCache>
            </c:multiLvlStrRef>
          </c:cat>
          <c:val>
            <c:numRef>
              <c:f>Sheet1!$B$2:$B$3</c:f>
              <c:numCache>
                <c:formatCode>General</c:formatCode>
                <c:ptCount val="2"/>
                <c:pt idx="0">
                  <c:v>9</c:v>
                </c:pt>
                <c:pt idx="1">
                  <c:v>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50" b="0" i="0" u="none" strike="noStrike">
                <a:solidFill>
                  <a:srgbClr val="F8FAFC"/>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c:v>
                </c:pt>
              </c:strCache>
            </c:strRef>
          </c:tx>
          <c:spPr>
            <a:solidFill>
              <a:srgbClr val="F8717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Reached shops  R179.6m</c:v>
                  </c:pt>
                  <c:pt idx="1">
                    <c:v>Fund  R500m</c:v>
                  </c:pt>
                </c:lvl>
              </c:multiLvlStrCache>
            </c:multiLvlStrRef>
          </c:cat>
          <c:val>
            <c:numRef>
              <c:f>Sheet1!$B$2:$B$3</c:f>
              <c:numCache>
                <c:formatCode>General</c:formatCode>
                <c:ptCount val="2"/>
                <c:pt idx="0">
                  <c:v>179.6</c:v>
                </c:pt>
                <c:pt idx="1">
                  <c:v>500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50" b="0" i="0" u="none" strike="noStrike">
                <a:solidFill>
                  <a:srgbClr val="F8FAFC"/>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Businesses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dPt>
          <c:dPt>
            <c:idx val="1"/>
            <c:bubble3D val="0"/>
            <c:spPr>
              <a:solidFill>
                <a:srgbClr val="64748B"/>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Unregistered</c:v>
                </c:pt>
                <c:pt idx="1">
                  <c:v>Registered</c:v>
                </c:pt>
              </c:strCache>
            </c:strRef>
          </c:cat>
          <c:val>
            <c:numRef>
              <c:f>Sheet1!$B$2:$B$3</c:f>
              <c:numCache>
                <c:ptCount val="2"/>
                <c:pt idx="0">
                  <c:v>80</c:v>
                </c:pt>
                <c:pt idx="1">
                  <c:v>20</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Monthly revenue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8FAFC"/>
                </a:solidFill>
                <a:latin typeface="Calibri"/>
              </a:defRPr>
            </a:pPr>
            <a:r>
              <a:rPr sz="1400" b="0" i="0" u="none" strike="noStrike">
                <a:solidFill>
                  <a:srgbClr val="F8FAFC"/>
                </a:solidFill>
                <a:latin typeface="Calibri"/>
              </a:rPr>
              <a:t>What the pilot costs: R300,000 (R thousand)</a:t>
            </a:r>
          </a:p>
        </c:rich>
      </c:tx>
      <c:layout/>
      <c:overlay val="0"/>
    </c:title>
    <c:autoTitleDeleted val="0"/>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dPt>
          <c:dPt>
            <c:idx val="1"/>
            <c:bubble3D val="0"/>
            <c:spPr>
              <a:solidFill>
                <a:srgbClr val="F59E0B"/>
              </a:solidFill>
              <a:effectLst/>
            </c:spPr>
          </c:dPt>
          <c:dPt>
            <c:idx val="2"/>
            <c:bubble3D val="0"/>
            <c:spPr>
              <a:solidFill>
                <a:srgbClr val="34D399"/>
              </a:solidFill>
              <a:effectLst/>
            </c:spPr>
          </c:dPt>
          <c:dPt>
            <c:idx val="3"/>
            <c:bubble3D val="0"/>
            <c:spPr>
              <a:solidFill>
                <a:srgbClr val="7C93B5"/>
              </a:solidFill>
              <a:effectLst/>
            </c:spPr>
          </c:dPt>
          <c:dPt>
            <c:idx val="4"/>
            <c:bubble3D val="0"/>
            <c:spPr>
              <a:solidFill>
                <a:srgbClr val="F87171"/>
              </a:solidFill>
              <a:effectLst/>
            </c:spPr>
          </c:dPt>
          <c:dPt>
            <c:idx val="5"/>
            <c:bubble3D val="0"/>
            <c:spPr>
              <a:solidFill>
                <a:srgbClr val="C4B5FD"/>
              </a:solidFill>
              <a:effectLst/>
            </c:spPr>
          </c:dPt>
          <c:dLbls>
            <c:dLbl>
              <c:idx val="0"/>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3"/>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4"/>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5"/>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Stipends for pilot businesses</c:v>
                </c:pt>
                <c:pt idx="1">
                  <c:v>Field agent</c:v>
                </c:pt>
                <c:pt idx="2">
                  <c:v>Data bundles</c:v>
                </c:pt>
                <c:pt idx="3">
                  <c:v>Running costs</c:v>
                </c:pt>
                <c:pt idx="4">
                  <c:v>POPIA review + security test</c:v>
                </c:pt>
                <c:pt idx="5">
                  <c:v>Devices + contingency</c:v>
                </c:pt>
              </c:strCache>
            </c:strRef>
          </c:cat>
          <c:val>
            <c:numRef>
              <c:f>Sheet1!$B$2:$B$7</c:f>
              <c:numCache>
                <c:ptCount val="6"/>
                <c:pt idx="0">
                  <c:v>96</c:v>
                </c:pt>
                <c:pt idx="1">
                  <c:v>60</c:v>
                </c:pt>
                <c:pt idx="2">
                  <c:v>60</c:v>
                </c:pt>
                <c:pt idx="3">
                  <c:v>24</c:v>
                </c:pt>
                <c:pt idx="4">
                  <c:v>30</c:v>
                </c:pt>
                <c:pt idx="5">
                  <c:v>30</c:v>
                </c:pt>
              </c:numCache>
            </c:numRef>
          </c:val>
        </c:ser>
        <c:firstSliceAng val="0"/>
        <c:holeSize val="55"/>
      </c:doughnutChart>
      <c:spPr>
        <a:noFill/>
        <a:ln>
          <a:noFill/>
        </a:ln>
        <a:effectLst/>
      </c:spPr>
    </c:plotArea>
    <c:legend>
      <c:legendPos val="b"/>
      <c:overlay val="0"/>
      <c:txPr>
        <a:bodyPr/>
        <a:lstStyle/>
        <a:p>
          <a:pPr>
            <a:defRPr sz="115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we're introduced. Start the speech on the next slide.
THE 3-MINUTE PITCH follows the speech, slides 2-10: 0:00 the problem (2-3) · 0:28 the solution (4-5) · 0:55 the demo video, 50 s (6) · 1:45 cost and ask (7-8) · 2:06 why we stand out (9) · 2:27 the close (10), done by 2:50.
Slides 11 onwards are the detail for the assessors. Don't present them; open one only if a question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(0:00-0:15): 'Everyone wants a piece of the kasi economy. Big retailers are moving into townships. Banks and payment apps are fighting for its customers. Because it's worth about R900 billion a year.'
R900 bn: Standard Bank's Township Informal Economy Report, October 2025 (research by Foshizi, 250+ businesses in 5 provinces). Say 'about R900 billion'. The retailer and bank lines are lived evidence: no number, so don't add one.
Photos: 'Nomonde Tuck Shop' by HelenOnline (CC BY-SA 4.0) and 'Aliwal North - Dukatole - Housebuilding Projekt' by Heinz-Josef Lücking (CC BY-SA 3.0 DE), Wikimedia Commons, resized, with our captions. Credits are also in REUSE.md.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(0:15-0:28): 'But the people who run it can't prove any of it. It runs on cash and word of mouth. Fewer than one in ten can get a bank loan. A spaza owner can't get stock on credit, and a builder can't prove the houses he's built.'
IF ASKED: fewer than 9% can get a bank loan and 57% run on savings and family; about 80% are unregistered (Standard Bank 2025). Of the R500m Spaza Shop Support Fund, R179.6m had reached spaza shops by the end of May 2026, and 354 applications failed verification (DSBD, 29 May 2026). That number is about spaza shops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(0:28-0:40): 'Akayza is one free app for the whole kasi economy. Spaza shops and food sellers are matched with suppliers who deliver. Builders log every job with photos, and clients sign off each stage.'
Real screens from our app on a Samsung A56, with sample suppliers and made-up customers. Honest wording: a payment made in the app is confirmed by the payment provider; a job stage is confirmed by both sides. Never call the rest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(0:40-0:55): 'You know airtime advance: your network lends you airtime because it's seen that you always pay. Akayza builds that kind of history for a business. Every paid order and signed-off job adds to a record the owner holds: the first step to credit, better suppliers and new clients.'
IF ASKED 'do you lend?': 'No. We build the record, and the owner decides who sees it. Lenders are next, only with the owner's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over the video (0:55-1:45), one line per scene; let the screens breathe:
[Business type] 'Akayza works for any kasi business. Meet Sipho, who runs a kota shop by the taxi rank.'
[Location pin] 'He picks Food, and drops a pin where he trades.'
[Suppliers] 'Akayza shows him suppliers who deliver to him.'
[Order and pay] 'He orders bread from a bakery that delivers, and pays in the app. The payment provider confirms it, and his invoice arrives.'
[Order book] 'At the counter, every kota he sells goes in his order book.'
[My record] 'It all adds up in his record, with the confirmed payments marked.'
[Builder job] 'Now meet Thabo, a builder. Every job, stage by stage, is photographed, and the client signs off each stage from a link: confirmed by both. That's his track record.'
Before going on: phone charged, backend and the tunnel running (backend/scripts/demo_tunnel.ps1), the health link green. For the link: rebuild with DEMO_URL=&lt;link&gt; node build.js, or replace '[paste here]' by hand (Insert &gt;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(1:45-1:55): 'Businesses use Akayza for free. Suppliers pay: from R299 a month, plus about 1% on digital orders, never on cash. Next, lenders pay to see a business's record, only with the owner's consent.'
IF ASKED how: subscriptions = supplier mix × price; commission = active businesses × ~R4,000 digital orders a month × 1%. Year 1: 5 Starter + 10 Pro suppliers, 1,000 businesses. They're estimates, and we say so. Lenders are next, not revenue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(1:55-2:06), slowly, it's the most important number: 'For a six-month pilot in Soshanguve, with 2 suppliers and 50 to 100 businesses, we need R300,000: field agents, stipends for pilot businesses, data, running costs and a POPIA review.'
Use of funds: stipends R96k, field agent R60k, data R60k, running costs R24k, POPIA review + external security test R30k, devices + contingency R30k. After the pilot it costs about R460 a month to run, so two suppliers on Starter already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(2:06-2:27): 'Ordering apps give traders a place to buy. Payment apps take cards. Akayza gives the kasi economy something it's never had: a record people can trust. Payments are confirmed by the payment provider, and job stages by both sides, so it's more than a receipt. And the record belongs to the owner: nothing goes to a lender without their consent.'
Our biggest competitor is the habit of WhatsApp and a notebook. Don't attack anyone; show the gap. We complement payment apps; we don't replace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(2:27-2:50), look at the panel, not the screen: 'Richard Maponya started in the 1950s with a milk round in Soweto, delivered by bicycle. His customers trusted him, and decades later he opened Maponya Mall. The next Maponya is out there right now: selling kotas, running a spaza, laying bricks. Everyone wants a piece of the kasi economy. Akayza makes sure the people who run it keep theirs. We don't hold the stock. We build the record. Keep it in the kasi.' Then stop talking.
Maponya: Dube Hygienic Dairy, early 1950s, milk delivered by young men on bicycles to homes without fridges; Maponya Mall opened in 2007 (Daily Maverick, Wikipedia).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in the room. A map for the assessors: each item the organisers asked for, and the slides that answer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slide, not in the pitch. If asked how it works: 'The owner switches on the tools the business needs. Akayza shows the suppliers she already uses, and recommends ones that fit: suppliers, never products. She pays on PayFast's own page, and the provider confirms it. The credit book keeps who owes her. And a builder runs each job in stages, with the client signing off.'
These are real screens from our app on a Samsung A56, recorded for the demo, with sample suppliers and made-up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hasn't anyone fixed this? Because the tools were built for formal businesses: they assume a registered company, a bookkeeper, card machines. Informal businesses run on cash, trust and a phone, busy all day, buying from the same few suppliers for years. Nothing fits how they work, so nothing gets captured.'
WhatsApp is how they talk to each other; it isn't the problem. The problem is that nothing turns their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journey behind the demo. Sipho and Thabo are illustrations of the owners we built for, not real customers. If asked: 'they're the kind of owners we built for; the pilot puts real names to them.'
Honest status: Sipho's payment in the app is confirmed by the payment provider; his order book and credit book are his own records. Thabo's stages are confirmed by both him and the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in the chain gains. Businesses use it free. Suppliers pay us, because we bring them more orders from the shops and builders they already serve and end the cash lost between the driver and the depot. And next, banks, funds and government get businesses they can finally see, only with the owner's consent.'
Partners are the roadmap, not revenue today. Our revenue is suppliers.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'The whole township economy is R900 billion. Spaza shops alone move about R180 billion a year: one segment, already buying every week. Our goal is 20,000 businesses and 200 paying suppliers by year three, about R13 million a year.'
R180 bn is specifically spaza shops (that's what the evidence measures), so we name them here. Everywhere else: informal and small businesses.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South Africa first, not Africa? Because we know this market from the inside. It's big and dense, it's already moving to digital payments (56% prefer EFT), and the rules are clear. Win here, then take the same model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20 s): 'The app talks to one API over HTTPS. Inside, each area is its own module: identity, business tools, suppliers, commerce, proof and platform. An automated architecture test fails the build if one area reads another's data, and identity is sealed behind one account service. PostgreSQL sits behind it, one schema per area. Payments happen on PayFast's own page and count only after four checks; photos go straight to Cloudinary with a signature from us.'
Numbers: about 1,280 backend tests and 204 app tests run before every merge. Sealed records: the owner can seal the whole record with ML-DSA-65 (NIST FIPS 204, post-quantum) plus Ed25519, and a check shows anything changed or deleted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20 s): 'We collect only what the service needs, and we say why. No ID numbers, no card numbers; we never sell data or use it for ads, and suppliers never see your customers. You can download your data and close your account, and if there's ever a breach, we tell you and the Information Regulator.'
HONEST STATUS, don't claim more: data download is built on the server (GET /me/export), but the app has no button for it yet. 'Close my account' works in the app. 'Delete my account and data' says 'Coming soon'; when it comes, personal data is deleted or anonymised, and orders, invoices and payment records stay 5 years (tax law).
The full policy is in the app (src/content/legal/privacyPolicy.ts). Customer names in the credit book stay private to the owner; the supplier engine uses aggregates only. PayFast, Cloudinary, Mapbox and the email provider may store data outside South Africa: POPIA section 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'won't security make it hard to use?': 'Security is invisible to the owner: email, password, and a code only on a new phone. Everything else happens on our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'We don't chase businesses one by one. We sign a supplier, and the supplier brings the businesses it already delivers to. Two suppliers in the pilot, fifteen in the first year, two hundred by year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(15 s): 'This isn't a mock-up. It's built: over a thousand automated tests pass before every change, payments run end to end in the provider's sandbox, and card numbers never touch our servers. We're at TRL 4 today; the pilot takes us to 6.'
If a mentor rated the TRL differently, change it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'To start, R300,000 for the pilot. After the pilot we raise about R1.5 million to hire ahead of revenue. Costs grow with us, but suppliers' fees grow faster: we break even in year two, and by year three we make about R1.1 million a month against R650,000 in costs.'
IF ASKED for the breakdown (a month at year end, R thousand, estimates): team 40 / 150 / 350 (2, 5, 10 people); field agents 16 / 50 / 120 (2, 6, 15); sales and marketing 10 / 40 / 100; hosting, SMS, email, maps 5 / 15 / 40; security, POPIA, audits 4 / 15 / 40. Totals 75 / 270 / 650.
Why R1.5m: year 1 runs at a loss of about R20-40k a month while suppliers sign up, plus hiring the year-2 team before their revenue arrives, plus six months of safety.
Running costs stay low because we don't hold stock, cash or delivery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(10 s): who we are in one line each. Edit the roles to how you want to be introduced; add the DataQuest 2026 win here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Post-quantum (built): 'Records are meant to prove things for years, and quantum computers will break today's signatures. So the owner can seal their whole record with two signatures: ML-DSA-65, the NIST post-quantum standard, and Ed25519. A check shows exactly which records changed or were deleted, even straight in the database. We keep no copy of the seal, and our public keys are published so anyone can check without us.' Built and tested; invoices and receipts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rive.google.com/file/d/1yYQfVBEG-dnn-hxgRRtD5xDVw8vZV8Es/view?usp=drive_lin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chart" Target="/ppt/charts/chart5.xm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97280"/>
            <a:ext cx="1554480" cy="1554480"/>
          </a:xfrm>
          <a:prstGeom prst="rect">
            <a:avLst/>
          </a:prstGeom>
        </p:spPr>
      </p:pic>
      <p:sp>
        <p:nvSpPr>
          <p:cNvPr id="3" name="Text 0"/>
          <p:cNvSpPr txBox="1"/>
          <p:nvPr/>
        </p:nvSpPr>
        <p:spPr>
          <a:xfrm>
            <a:off x="658368" y="278892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406908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75488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businesses visible, and ready for what's next.</a:t>
            </a:r>
            <a:endParaRPr lang="en-US" sz="1800" dirty="0"/>
          </a:p>
        </p:txBody>
      </p:sp>
      <p:sp>
        <p:nvSpPr>
          <p:cNvPr id="6" name="Text 3"/>
          <p:cNvSpPr txBox="1"/>
          <p:nvPr/>
        </p:nvSpPr>
        <p:spPr>
          <a:xfrm>
            <a:off x="731520" y="5806440"/>
            <a:ext cx="73152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777240"/>
            <a:ext cx="7223760" cy="118872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Everyone wants a piece of the kasi economy</a:t>
            </a:r>
            <a:endParaRPr lang="en-US" sz="3400" dirty="0"/>
          </a:p>
        </p:txBody>
      </p:sp>
      <p:sp>
        <p:nvSpPr>
          <p:cNvPr id="4" name="Shape 2"/>
          <p:cNvSpPr/>
          <p:nvPr/>
        </p:nvSpPr>
        <p:spPr>
          <a:xfrm>
            <a:off x="548640" y="2286000"/>
            <a:ext cx="566928" cy="566928"/>
          </a:xfrm>
          <a:prstGeom prst="ellipse">
            <a:avLst/>
          </a:prstGeom>
          <a:solidFill>
            <a:srgbClr val="1E2B45"/>
          </a:solidFill>
          <a:ln w="19050">
            <a:solidFill>
              <a:srgbClr val="F59E0B"/>
            </a:solidFill>
            <a:prstDash val="solid"/>
          </a:ln>
        </p:spPr>
      </p:sp>
      <p:pic>
        <p:nvPicPr>
          <p:cNvPr id="5" name="Image 0" descr="preencoded.png">    </p:cNvPr>
          <p:cNvPicPr>
            <a:picLocks noChangeAspect="1"/>
          </p:cNvPicPr>
          <p:nvPr/>
        </p:nvPicPr>
        <p:blipFill>
          <a:blip r:embed="rId1"/>
          <a:stretch>
            <a:fillRect/>
          </a:stretch>
        </p:blipFill>
        <p:spPr>
          <a:xfrm>
            <a:off x="684703" y="2422063"/>
            <a:ext cx="294803" cy="294803"/>
          </a:xfrm>
          <a:prstGeom prst="rect">
            <a:avLst/>
          </a:prstGeom>
        </p:spPr>
      </p:pic>
      <p:sp>
        <p:nvSpPr>
          <p:cNvPr id="6" name="Text 3"/>
          <p:cNvSpPr txBox="1"/>
          <p:nvPr/>
        </p:nvSpPr>
        <p:spPr>
          <a:xfrm>
            <a:off x="1280160" y="2286000"/>
            <a:ext cx="6309360" cy="566928"/>
          </a:xfrm>
          <a:prstGeom prst="rect">
            <a:avLst/>
          </a:prstGeom>
          <a:noFill/>
          <a:ln/>
        </p:spPr>
        <p:txBody>
          <a:bodyPr wrap="square" lIns="0" tIns="0" rIns="0" bIns="0" rtlCol="0" anchor="ctr"/>
          <a:lstStyle/>
          <a:p>
            <a:pPr indent="0" marL="0">
              <a:buNone/>
            </a:pPr>
            <a:r>
              <a:rPr lang="en-US" sz="1700" dirty="0">
                <a:solidFill>
                  <a:srgbClr val="F8FAFC"/>
                </a:solidFill>
                <a:latin typeface="Calibri" pitchFamily="34" charset="0"/>
                <a:ea typeface="Calibri" pitchFamily="34" charset="-122"/>
                <a:cs typeface="Calibri" pitchFamily="34" charset="-120"/>
              </a:rPr>
              <a:t>Big retailers are moving into townships</a:t>
            </a:r>
            <a:endParaRPr lang="en-US" sz="1700" dirty="0"/>
          </a:p>
        </p:txBody>
      </p:sp>
      <p:sp>
        <p:nvSpPr>
          <p:cNvPr id="7" name="Shape 4"/>
          <p:cNvSpPr/>
          <p:nvPr/>
        </p:nvSpPr>
        <p:spPr>
          <a:xfrm>
            <a:off x="548640" y="3063240"/>
            <a:ext cx="566928" cy="566928"/>
          </a:xfrm>
          <a:prstGeom prst="ellipse">
            <a:avLst/>
          </a:prstGeom>
          <a:solidFill>
            <a:srgbClr val="1E2B45"/>
          </a:solidFill>
          <a:ln w="19050">
            <a:solidFill>
              <a:srgbClr val="F59E0B"/>
            </a:solidFill>
            <a:prstDash val="solid"/>
          </a:ln>
        </p:spPr>
      </p:sp>
      <p:pic>
        <p:nvPicPr>
          <p:cNvPr id="8" name="Image 1" descr="preencoded.png">    </p:cNvPr>
          <p:cNvPicPr>
            <a:picLocks noChangeAspect="1"/>
          </p:cNvPicPr>
          <p:nvPr/>
        </p:nvPicPr>
        <p:blipFill>
          <a:blip r:embed="rId2"/>
          <a:stretch>
            <a:fillRect/>
          </a:stretch>
        </p:blipFill>
        <p:spPr>
          <a:xfrm>
            <a:off x="684703" y="3199303"/>
            <a:ext cx="294803" cy="294803"/>
          </a:xfrm>
          <a:prstGeom prst="rect">
            <a:avLst/>
          </a:prstGeom>
        </p:spPr>
      </p:pic>
      <p:sp>
        <p:nvSpPr>
          <p:cNvPr id="9" name="Text 5"/>
          <p:cNvSpPr txBox="1"/>
          <p:nvPr/>
        </p:nvSpPr>
        <p:spPr>
          <a:xfrm>
            <a:off x="1280160" y="3063240"/>
            <a:ext cx="6309360" cy="566928"/>
          </a:xfrm>
          <a:prstGeom prst="rect">
            <a:avLst/>
          </a:prstGeom>
          <a:noFill/>
          <a:ln/>
        </p:spPr>
        <p:txBody>
          <a:bodyPr wrap="square" lIns="0" tIns="0" rIns="0" bIns="0" rtlCol="0" anchor="ctr"/>
          <a:lstStyle/>
          <a:p>
            <a:pPr indent="0" marL="0">
              <a:buNone/>
            </a:pPr>
            <a:r>
              <a:rPr lang="en-US" sz="1700" dirty="0">
                <a:solidFill>
                  <a:srgbClr val="F8FAFC"/>
                </a:solidFill>
                <a:latin typeface="Calibri" pitchFamily="34" charset="0"/>
                <a:ea typeface="Calibri" pitchFamily="34" charset="-122"/>
                <a:cs typeface="Calibri" pitchFamily="34" charset="-120"/>
              </a:rPr>
              <a:t>Banks and payment apps are fighting for its customers</a:t>
            </a:r>
            <a:endParaRPr lang="en-US" sz="1700" dirty="0"/>
          </a:p>
        </p:txBody>
      </p:sp>
      <p:sp>
        <p:nvSpPr>
          <p:cNvPr id="10" name="Text 6"/>
          <p:cNvSpPr txBox="1"/>
          <p:nvPr/>
        </p:nvSpPr>
        <p:spPr>
          <a:xfrm>
            <a:off x="548640" y="4069080"/>
            <a:ext cx="6858000" cy="36576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Because it's worth about</a:t>
            </a:r>
            <a:endParaRPr lang="en-US" sz="1800" dirty="0"/>
          </a:p>
        </p:txBody>
      </p:sp>
      <p:sp>
        <p:nvSpPr>
          <p:cNvPr id="11" name="Text 7"/>
          <p:cNvSpPr txBox="1"/>
          <p:nvPr/>
        </p:nvSpPr>
        <p:spPr>
          <a:xfrm>
            <a:off x="548640" y="4434840"/>
            <a:ext cx="7315200" cy="914400"/>
          </a:xfrm>
          <a:prstGeom prst="rect">
            <a:avLst/>
          </a:prstGeom>
          <a:noFill/>
          <a:ln/>
        </p:spPr>
        <p:txBody>
          <a:bodyPr wrap="square" lIns="0" tIns="0" rIns="0" bIns="0" rtlCol="0" anchor="t"/>
          <a:lstStyle/>
          <a:p>
            <a:pPr indent="0" marL="0">
              <a:buNone/>
            </a:pPr>
            <a:r>
              <a:rPr lang="en-US" sz="5000" b="1" dirty="0">
                <a:solidFill>
                  <a:srgbClr val="FBBF24"/>
                </a:solidFill>
                <a:latin typeface="Georgia" pitchFamily="34" charset="0"/>
                <a:ea typeface="Georgia" pitchFamily="34" charset="-122"/>
                <a:cs typeface="Georgia" pitchFamily="34" charset="-120"/>
              </a:rPr>
              <a:t>R900 billion a year</a:t>
            </a:r>
            <a:endParaRPr lang="en-US" sz="5000" dirty="0"/>
          </a:p>
        </p:txBody>
      </p:sp>
      <p:pic>
        <p:nvPicPr>
          <p:cNvPr id="12" name="Image 2" descr="preencoded.png">    </p:cNvPr>
          <p:cNvPicPr>
            <a:picLocks noChangeAspect="1"/>
          </p:cNvPicPr>
          <p:nvPr/>
        </p:nvPicPr>
        <p:blipFill>
          <a:blip r:embed="rId3"/>
          <a:stretch>
            <a:fillRect/>
          </a:stretch>
        </p:blipFill>
        <p:spPr>
          <a:xfrm>
            <a:off x="8074152" y="1051560"/>
            <a:ext cx="3566160" cy="2377440"/>
          </a:xfrm>
          <a:prstGeom prst="rect">
            <a:avLst/>
          </a:prstGeom>
        </p:spPr>
      </p:pic>
      <p:sp>
        <p:nvSpPr>
          <p:cNvPr id="13" name="Shape 8"/>
          <p:cNvSpPr/>
          <p:nvPr/>
        </p:nvSpPr>
        <p:spPr>
          <a:xfrm>
            <a:off x="8074152" y="3063240"/>
            <a:ext cx="3566160" cy="365760"/>
          </a:xfrm>
          <a:prstGeom prst="rect">
            <a:avLst/>
          </a:prstGeom>
          <a:solidFill>
            <a:srgbClr val="0F172A">
              <a:alpha val="75000"/>
            </a:srgbClr>
          </a:solidFill>
          <a:ln w="12700">
            <a:solidFill>
              <a:srgbClr val="0F172A">
                <a:alpha val="0"/>
              </a:srgbClr>
            </a:solidFill>
            <a:prstDash val="solid"/>
          </a:ln>
        </p:spPr>
      </p:sp>
      <p:sp>
        <p:nvSpPr>
          <p:cNvPr id="14" name="Text 9"/>
          <p:cNvSpPr txBox="1"/>
          <p:nvPr/>
        </p:nvSpPr>
        <p:spPr>
          <a:xfrm>
            <a:off x="8211312" y="3063240"/>
            <a:ext cx="3337560" cy="365760"/>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A spaza shop, and its supplier's truck</a:t>
            </a:r>
            <a:endParaRPr lang="en-US" sz="1250" dirty="0"/>
          </a:p>
        </p:txBody>
      </p:sp>
      <p:pic>
        <p:nvPicPr>
          <p:cNvPr id="15" name="Image 3" descr="preencoded.png">    </p:cNvPr>
          <p:cNvPicPr>
            <a:picLocks noChangeAspect="1"/>
          </p:cNvPicPr>
          <p:nvPr/>
        </p:nvPicPr>
        <p:blipFill>
          <a:blip r:embed="rId4"/>
          <a:stretch>
            <a:fillRect/>
          </a:stretch>
        </p:blipFill>
        <p:spPr>
          <a:xfrm>
            <a:off x="8074152" y="3593592"/>
            <a:ext cx="3566160" cy="2377440"/>
          </a:xfrm>
          <a:prstGeom prst="rect">
            <a:avLst/>
          </a:prstGeom>
        </p:spPr>
      </p:pic>
      <p:sp>
        <p:nvSpPr>
          <p:cNvPr id="16" name="Shape 10"/>
          <p:cNvSpPr/>
          <p:nvPr/>
        </p:nvSpPr>
        <p:spPr>
          <a:xfrm>
            <a:off x="8074152" y="5605272"/>
            <a:ext cx="3566160" cy="365760"/>
          </a:xfrm>
          <a:prstGeom prst="rect">
            <a:avLst/>
          </a:prstGeom>
          <a:solidFill>
            <a:srgbClr val="0F172A">
              <a:alpha val="75000"/>
            </a:srgbClr>
          </a:solidFill>
          <a:ln w="12700">
            <a:solidFill>
              <a:srgbClr val="0F172A">
                <a:alpha val="0"/>
              </a:srgbClr>
            </a:solidFill>
            <a:prstDash val="solid"/>
          </a:ln>
        </p:spPr>
      </p:sp>
      <p:sp>
        <p:nvSpPr>
          <p:cNvPr id="17" name="Text 11"/>
          <p:cNvSpPr txBox="1"/>
          <p:nvPr/>
        </p:nvSpPr>
        <p:spPr>
          <a:xfrm>
            <a:off x="8211312" y="5605272"/>
            <a:ext cx="3337560" cy="365760"/>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A builder's site: bricks, cash and trust</a:t>
            </a:r>
            <a:endParaRPr lang="en-US" sz="1250" dirty="0"/>
          </a:p>
        </p:txBody>
      </p:sp>
      <p:pic>
        <p:nvPicPr>
          <p:cNvPr id="18"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19" name="Text 1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0" name="Text 13"/>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Oct 2025 (Foshizi; 250+ businesses, 5 provinces). Photos: HelenOnline (CC BY-SA 4.0) and Heinz-Josef Lücking (CC BY-SA 3.0 DE), Wikimedia Commons.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731520"/>
            <a:ext cx="11064240"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 people who run it can't prove any of it</a:t>
            </a:r>
            <a:endParaRPr lang="en-US" sz="3200" dirty="0"/>
          </a:p>
        </p:txBody>
      </p:sp>
      <p:sp>
        <p:nvSpPr>
          <p:cNvPr id="4" name="Shape 2"/>
          <p:cNvSpPr/>
          <p:nvPr/>
        </p:nvSpPr>
        <p:spPr>
          <a:xfrm>
            <a:off x="548640" y="1737360"/>
            <a:ext cx="3474720" cy="388620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22960" y="1901952"/>
            <a:ext cx="603504" cy="603504"/>
          </a:xfrm>
          <a:prstGeom prst="ellipse">
            <a:avLst/>
          </a:prstGeom>
          <a:solidFill>
            <a:srgbClr val="1E2B45"/>
          </a:solidFill>
          <a:ln w="19050">
            <a:solidFill>
              <a:srgbClr val="F59E0B"/>
            </a:solidFill>
            <a:prstDash val="solid"/>
          </a:ln>
        </p:spPr>
      </p:sp>
      <p:pic>
        <p:nvPicPr>
          <p:cNvPr id="6" name="Image 0" descr="preencoded.png">    </p:cNvPr>
          <p:cNvPicPr>
            <a:picLocks noChangeAspect="1"/>
          </p:cNvPicPr>
          <p:nvPr/>
        </p:nvPicPr>
        <p:blipFill>
          <a:blip r:embed="rId1"/>
          <a:stretch>
            <a:fillRect/>
          </a:stretch>
        </p:blipFill>
        <p:spPr>
          <a:xfrm>
            <a:off x="967801" y="2046793"/>
            <a:ext cx="313822" cy="313822"/>
          </a:xfrm>
          <a:prstGeom prst="rect">
            <a:avLst/>
          </a:prstGeom>
        </p:spPr>
      </p:pic>
      <p:sp>
        <p:nvSpPr>
          <p:cNvPr id="7" name="Text 4"/>
          <p:cNvSpPr txBox="1"/>
          <p:nvPr/>
        </p:nvSpPr>
        <p:spPr>
          <a:xfrm>
            <a:off x="1572768" y="2011680"/>
            <a:ext cx="228600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 finance</a:t>
            </a:r>
            <a:endParaRPr lang="en-US" sz="2000" dirty="0"/>
          </a:p>
        </p:txBody>
      </p:sp>
      <p:sp>
        <p:nvSpPr>
          <p:cNvPr id="8" name="Text 5"/>
          <p:cNvSpPr txBox="1"/>
          <p:nvPr/>
        </p:nvSpPr>
        <p:spPr>
          <a:xfrm>
            <a:off x="822960" y="4526280"/>
            <a:ext cx="292608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It runs on cash and word of mouth. 57% use savings and family; fewer than 9% can get a bank loan.</a:t>
            </a:r>
            <a:endParaRPr lang="en-US" sz="1300" dirty="0"/>
          </a:p>
        </p:txBody>
      </p:sp>
      <p:sp>
        <p:nvSpPr>
          <p:cNvPr id="9" name="Shape 6"/>
          <p:cNvSpPr/>
          <p:nvPr/>
        </p:nvSpPr>
        <p:spPr>
          <a:xfrm>
            <a:off x="4297680" y="1737360"/>
            <a:ext cx="3474720" cy="3886200"/>
          </a:xfrm>
          <a:prstGeom prst="roundRect">
            <a:avLst>
              <a:gd name="adj" fmla="val 3158"/>
            </a:avLst>
          </a:prstGeom>
          <a:solidFill>
            <a:srgbClr val="17223A"/>
          </a:solidFill>
          <a:ln w="12700">
            <a:solidFill>
              <a:srgbClr val="17223A"/>
            </a:solidFill>
            <a:prstDash val="solid"/>
          </a:ln>
        </p:spPr>
      </p:sp>
      <p:sp>
        <p:nvSpPr>
          <p:cNvPr id="10" name="Shape 7"/>
          <p:cNvSpPr/>
          <p:nvPr/>
        </p:nvSpPr>
        <p:spPr>
          <a:xfrm>
            <a:off x="4572000" y="1901952"/>
            <a:ext cx="603504" cy="603504"/>
          </a:xfrm>
          <a:prstGeom prst="ellipse">
            <a:avLst/>
          </a:prstGeom>
          <a:solidFill>
            <a:srgbClr val="1E2B45"/>
          </a:solidFill>
          <a:ln w="19050">
            <a:solidFill>
              <a:srgbClr val="F87171"/>
            </a:solidFill>
            <a:prstDash val="solid"/>
          </a:ln>
        </p:spPr>
      </p:sp>
      <p:pic>
        <p:nvPicPr>
          <p:cNvPr id="11" name="Image 1" descr="preencoded.png">    </p:cNvPr>
          <p:cNvPicPr>
            <a:picLocks noChangeAspect="1"/>
          </p:cNvPicPr>
          <p:nvPr/>
        </p:nvPicPr>
        <p:blipFill>
          <a:blip r:embed="rId2"/>
          <a:stretch>
            <a:fillRect/>
          </a:stretch>
        </p:blipFill>
        <p:spPr>
          <a:xfrm>
            <a:off x="4716841" y="2046793"/>
            <a:ext cx="313822" cy="313822"/>
          </a:xfrm>
          <a:prstGeom prst="rect">
            <a:avLst/>
          </a:prstGeom>
        </p:spPr>
      </p:pic>
      <p:sp>
        <p:nvSpPr>
          <p:cNvPr id="12" name="Text 8"/>
          <p:cNvSpPr txBox="1"/>
          <p:nvPr/>
        </p:nvSpPr>
        <p:spPr>
          <a:xfrm>
            <a:off x="5321808" y="2011680"/>
            <a:ext cx="228600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 support</a:t>
            </a:r>
            <a:endParaRPr lang="en-US" sz="2000" dirty="0"/>
          </a:p>
        </p:txBody>
      </p:sp>
      <p:sp>
        <p:nvSpPr>
          <p:cNvPr id="13" name="Text 9"/>
          <p:cNvSpPr txBox="1"/>
          <p:nvPr/>
        </p:nvSpPr>
        <p:spPr>
          <a:xfrm>
            <a:off x="4572000" y="4526280"/>
            <a:ext cx="292608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Of the R500m Spaza Shop Support Fund, R179.6m reached spaza shops. 354 applications failed verification.</a:t>
            </a:r>
            <a:endParaRPr lang="en-US" sz="1300" dirty="0"/>
          </a:p>
        </p:txBody>
      </p:sp>
      <p:sp>
        <p:nvSpPr>
          <p:cNvPr id="14" name="Shape 10"/>
          <p:cNvSpPr/>
          <p:nvPr/>
        </p:nvSpPr>
        <p:spPr>
          <a:xfrm>
            <a:off x="8046720" y="1737360"/>
            <a:ext cx="3474720" cy="3886200"/>
          </a:xfrm>
          <a:prstGeom prst="roundRect">
            <a:avLst>
              <a:gd name="adj" fmla="val 3158"/>
            </a:avLst>
          </a:prstGeom>
          <a:solidFill>
            <a:srgbClr val="17223A"/>
          </a:solidFill>
          <a:ln w="12700">
            <a:solidFill>
              <a:srgbClr val="17223A"/>
            </a:solidFill>
            <a:prstDash val="solid"/>
          </a:ln>
        </p:spPr>
      </p:sp>
      <p:sp>
        <p:nvSpPr>
          <p:cNvPr id="15" name="Shape 11"/>
          <p:cNvSpPr/>
          <p:nvPr/>
        </p:nvSpPr>
        <p:spPr>
          <a:xfrm>
            <a:off x="8321040" y="1901952"/>
            <a:ext cx="603504" cy="603504"/>
          </a:xfrm>
          <a:prstGeom prst="ellipse">
            <a:avLst/>
          </a:prstGeom>
          <a:solidFill>
            <a:srgbClr val="1E2B45"/>
          </a:solidFill>
          <a:ln w="19050">
            <a:solidFill>
              <a:srgbClr val="10B981"/>
            </a:solidFill>
            <a:prstDash val="solid"/>
          </a:ln>
        </p:spPr>
      </p:sp>
      <p:pic>
        <p:nvPicPr>
          <p:cNvPr id="16" name="Image 2" descr="preencoded.png">    </p:cNvPr>
          <p:cNvPicPr>
            <a:picLocks noChangeAspect="1"/>
          </p:cNvPicPr>
          <p:nvPr/>
        </p:nvPicPr>
        <p:blipFill>
          <a:blip r:embed="rId3"/>
          <a:stretch>
            <a:fillRect/>
          </a:stretch>
        </p:blipFill>
        <p:spPr>
          <a:xfrm>
            <a:off x="8465881" y="2046793"/>
            <a:ext cx="313822" cy="313822"/>
          </a:xfrm>
          <a:prstGeom prst="rect">
            <a:avLst/>
          </a:prstGeom>
        </p:spPr>
      </p:pic>
      <p:sp>
        <p:nvSpPr>
          <p:cNvPr id="17" name="Text 12"/>
          <p:cNvSpPr txBox="1"/>
          <p:nvPr/>
        </p:nvSpPr>
        <p:spPr>
          <a:xfrm>
            <a:off x="9070848" y="2011680"/>
            <a:ext cx="228600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 record</a:t>
            </a:r>
            <a:endParaRPr lang="en-US" sz="2000" dirty="0"/>
          </a:p>
        </p:txBody>
      </p:sp>
      <p:sp>
        <p:nvSpPr>
          <p:cNvPr id="18" name="Text 13"/>
          <p:cNvSpPr txBox="1"/>
          <p:nvPr/>
        </p:nvSpPr>
        <p:spPr>
          <a:xfrm>
            <a:off x="8321040" y="4526280"/>
            <a:ext cx="292608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About 80% are unregistered: every order is cash, every dispute is word against word.</a:t>
            </a:r>
            <a:endParaRPr lang="en-US" sz="1300" dirty="0"/>
          </a:p>
        </p:txBody>
      </p:sp>
      <p:graphicFrame>
        <p:nvGraphicFramePr>
          <p:cNvPr id="19" name="Chart 0" descr=""/>
          <p:cNvGraphicFramePr/>
          <p:nvPr/>
        </p:nvGraphicFramePr>
        <p:xfrm>
          <a:off x="685800" y="2606040"/>
          <a:ext cx="3200400" cy="1828800"/>
        </p:xfrm>
        <a:graphic xmlns:a="http://schemas.openxmlformats.org/drawingml/2006/main">
          <a:graphicData uri="http://schemas.openxmlformats.org/drawingml/2006/chart">
            <c:chart xmlns:c="http://schemas.openxmlformats.org/drawingml/2006/chart" r:id="rId4"/>
          </a:graphicData>
        </a:graphic>
      </p:graphicFrame>
      <p:graphicFrame>
        <p:nvGraphicFramePr>
          <p:cNvPr id="20" name="Chart 1" descr=""/>
          <p:cNvGraphicFramePr/>
          <p:nvPr/>
        </p:nvGraphicFramePr>
        <p:xfrm>
          <a:off x="4434840" y="2606040"/>
          <a:ext cx="3200400" cy="1828800"/>
        </p:xfrm>
        <a:graphic xmlns:a="http://schemas.openxmlformats.org/drawingml/2006/main">
          <a:graphicData uri="http://schemas.openxmlformats.org/drawingml/2006/chart">
            <c:chart xmlns:c="http://schemas.openxmlformats.org/drawingml/2006/chart" r:id="rId5"/>
          </a:graphicData>
        </a:graphic>
      </p:graphicFrame>
      <p:graphicFrame>
        <p:nvGraphicFramePr>
          <p:cNvPr id="21" name="Chart 2" descr=""/>
          <p:cNvGraphicFramePr/>
          <p:nvPr/>
        </p:nvGraphicFramePr>
        <p:xfrm>
          <a:off x="8915400" y="2606040"/>
          <a:ext cx="1737360" cy="1737360"/>
        </p:xfrm>
        <a:graphic xmlns:a="http://schemas.openxmlformats.org/drawingml/2006/main">
          <a:graphicData uri="http://schemas.openxmlformats.org/drawingml/2006/chart">
            <c:chart xmlns:c="http://schemas.openxmlformats.org/drawingml/2006/chart" r:id="rId6"/>
          </a:graphicData>
        </a:graphic>
      </p:graphicFrame>
      <p:sp>
        <p:nvSpPr>
          <p:cNvPr id="22" name="Text 14"/>
          <p:cNvSpPr txBox="1"/>
          <p:nvPr/>
        </p:nvSpPr>
        <p:spPr>
          <a:xfrm>
            <a:off x="8915400" y="3154680"/>
            <a:ext cx="1737360" cy="411480"/>
          </a:xfrm>
          <a:prstGeom prst="rect">
            <a:avLst/>
          </a:prstGeom>
          <a:noFill/>
          <a:ln/>
        </p:spPr>
        <p:txBody>
          <a:bodyPr wrap="square" lIns="0" tIns="0" rIns="0" bIns="0" rtlCol="0" anchor="t"/>
          <a:lstStyle/>
          <a:p>
            <a:pPr algn="ctr" indent="0" marL="0">
              <a:buNone/>
            </a:pPr>
            <a:r>
              <a:rPr lang="en-US" sz="2400" b="1" dirty="0">
                <a:solidFill>
                  <a:srgbClr val="34D399"/>
                </a:solidFill>
                <a:latin typeface="Georgia" pitchFamily="34" charset="0"/>
                <a:ea typeface="Georgia" pitchFamily="34" charset="-122"/>
                <a:cs typeface="Georgia" pitchFamily="34" charset="-120"/>
              </a:rPr>
              <a:t>80%</a:t>
            </a:r>
            <a:endParaRPr lang="en-US" sz="2400" dirty="0"/>
          </a:p>
        </p:txBody>
      </p:sp>
      <p:sp>
        <p:nvSpPr>
          <p:cNvPr id="23" name="Text 15"/>
          <p:cNvSpPr txBox="1"/>
          <p:nvPr/>
        </p:nvSpPr>
        <p:spPr>
          <a:xfrm>
            <a:off x="8915400" y="3575304"/>
            <a:ext cx="1737360" cy="256032"/>
          </a:xfrm>
          <a:prstGeom prst="rect">
            <a:avLst/>
          </a:prstGeom>
          <a:noFill/>
          <a:ln/>
        </p:spPr>
        <p:txBody>
          <a:bodyPr wrap="square" lIns="0" tIns="0" rIns="0" bIns="0" rtlCol="0" anchor="t"/>
          <a:lstStyle/>
          <a:p>
            <a:pPr algn="ctr" indent="0" marL="0">
              <a:buNone/>
            </a:pPr>
            <a:r>
              <a:rPr lang="en-US" sz="1100" dirty="0">
                <a:solidFill>
                  <a:srgbClr val="A3B3C9"/>
                </a:solidFill>
                <a:latin typeface="Calibri" pitchFamily="34" charset="0"/>
                <a:ea typeface="Calibri" pitchFamily="34" charset="-122"/>
                <a:cs typeface="Calibri" pitchFamily="34" charset="-120"/>
              </a:rPr>
              <a:t>unregistered</a:t>
            </a:r>
            <a:endParaRPr lang="en-US" sz="1100" dirty="0"/>
          </a:p>
        </p:txBody>
      </p:sp>
      <p:sp>
        <p:nvSpPr>
          <p:cNvPr id="24" name="Text 16"/>
          <p:cNvSpPr txBox="1"/>
          <p:nvPr/>
        </p:nvSpPr>
        <p:spPr>
          <a:xfrm>
            <a:off x="548640" y="5742432"/>
            <a:ext cx="11064240" cy="411480"/>
          </a:xfrm>
          <a:prstGeom prst="rect">
            <a:avLst/>
          </a:prstGeom>
          <a:noFill/>
          <a:ln/>
        </p:spPr>
        <p:txBody>
          <a:bodyPr wrap="square" lIns="0" tIns="0" rIns="0" bIns="0" rtlCol="0" anchor="t"/>
          <a:lstStyle/>
          <a:p>
            <a:pPr indent="0" marL="0">
              <a:buNone/>
            </a:pPr>
            <a:r>
              <a:rPr lang="en-US" sz="1800" i="1" dirty="0">
                <a:solidFill>
                  <a:srgbClr val="FBBF24"/>
                </a:solidFill>
                <a:latin typeface="Georgia" pitchFamily="34" charset="0"/>
                <a:ea typeface="Georgia" pitchFamily="34" charset="-122"/>
                <a:cs typeface="Georgia" pitchFamily="34" charset="-120"/>
              </a:rPr>
              <a:t>A spaza owner can't get stock on credit. A builder can't prove the houses he's built.</a:t>
            </a:r>
            <a:endParaRPr lang="en-US" sz="1800" dirty="0"/>
          </a:p>
        </p:txBody>
      </p:sp>
      <p:pic>
        <p:nvPicPr>
          <p:cNvPr id="25" name="Image 3"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26"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7" name="Text 1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2025; DSBD &amp; dtic, Spaza Shop Support Fund update, May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57200"/>
            <a:ext cx="822960" cy="822960"/>
          </a:xfrm>
          <a:prstGeom prst="rect">
            <a:avLst/>
          </a:prstGeom>
        </p:spPr>
      </p:pic>
      <p:sp>
        <p:nvSpPr>
          <p:cNvPr id="3" name="Text 0"/>
          <p:cNvSpPr txBox="1"/>
          <p:nvPr/>
        </p:nvSpPr>
        <p:spPr>
          <a:xfrm>
            <a:off x="1600200" y="603504"/>
            <a:ext cx="9966960" cy="73152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One free app for the whole kasi economy</a:t>
            </a:r>
            <a:endParaRPr lang="en-US" sz="3200" dirty="0"/>
          </a:p>
        </p:txBody>
      </p:sp>
      <p:sp>
        <p:nvSpPr>
          <p:cNvPr id="4" name="Shape 1"/>
          <p:cNvSpPr/>
          <p:nvPr/>
        </p:nvSpPr>
        <p:spPr>
          <a:xfrm>
            <a:off x="548640" y="1737360"/>
            <a:ext cx="566928" cy="566928"/>
          </a:xfrm>
          <a:prstGeom prst="ellipse">
            <a:avLst/>
          </a:prstGeom>
          <a:solidFill>
            <a:srgbClr val="1E2B45"/>
          </a:solidFill>
          <a:ln w="19050">
            <a:solidFill>
              <a:srgbClr val="10B981"/>
            </a:solidFill>
            <a:prstDash val="solid"/>
          </a:ln>
        </p:spPr>
      </p:sp>
      <p:pic>
        <p:nvPicPr>
          <p:cNvPr id="5" name="Image 1" descr="preencoded.png">    </p:cNvPr>
          <p:cNvPicPr>
            <a:picLocks noChangeAspect="1"/>
          </p:cNvPicPr>
          <p:nvPr/>
        </p:nvPicPr>
        <p:blipFill>
          <a:blip r:embed="rId2"/>
          <a:stretch>
            <a:fillRect/>
          </a:stretch>
        </p:blipFill>
        <p:spPr>
          <a:xfrm>
            <a:off x="684703" y="1873423"/>
            <a:ext cx="294803" cy="294803"/>
          </a:xfrm>
          <a:prstGeom prst="rect">
            <a:avLst/>
          </a:prstGeom>
        </p:spPr>
      </p:pic>
      <p:sp>
        <p:nvSpPr>
          <p:cNvPr id="6" name="Text 2"/>
          <p:cNvSpPr txBox="1"/>
          <p:nvPr/>
        </p:nvSpPr>
        <p:spPr>
          <a:xfrm>
            <a:off x="1280160" y="1719072"/>
            <a:ext cx="3611880" cy="1280160"/>
          </a:xfrm>
          <a:prstGeom prst="rect">
            <a:avLst/>
          </a:prstGeom>
          <a:noFill/>
          <a:ln/>
        </p:spPr>
        <p:txBody>
          <a:bodyPr wrap="square" lIns="0" tIns="0" rIns="0" bIns="0" rtlCol="0" anchor="t"/>
          <a:lstStyle/>
          <a:p>
            <a:pPr indent="0" marL="0">
              <a:spcAft>
                <a:spcPts val="400"/>
              </a:spcAft>
              <a:buNone/>
            </a:pPr>
            <a:r>
              <a:rPr lang="en-US" sz="1700" b="1" dirty="0">
                <a:solidFill>
                  <a:srgbClr val="10B981"/>
                </a:solidFill>
                <a:latin typeface="Calibri" pitchFamily="34" charset="0"/>
                <a:ea typeface="Calibri" pitchFamily="34" charset="-122"/>
                <a:cs typeface="Calibri" pitchFamily="34" charset="-120"/>
              </a:rPr>
              <a:t>Matched with suppliers who deliver</a:t>
            </a:r>
            <a:endParaRPr lang="en-US" sz="1700" dirty="0"/>
          </a:p>
          <a:p>
            <a:pPr indent="0" marL="0">
              <a:buNone/>
            </a:pPr>
            <a:r>
              <a:rPr lang="en-US" sz="1350" dirty="0">
                <a:solidFill>
                  <a:srgbClr val="A3B3C9"/>
                </a:solidFill>
                <a:latin typeface="Calibri" pitchFamily="34" charset="0"/>
                <a:ea typeface="Calibri" pitchFamily="34" charset="-122"/>
                <a:cs typeface="Calibri" pitchFamily="34" charset="-120"/>
              </a:rPr>
              <a:t>Spaza shops and food sellers order from the suppliers they use, and ones that fit them.</a:t>
            </a:r>
            <a:endParaRPr lang="en-US" sz="1700" dirty="0"/>
          </a:p>
        </p:txBody>
      </p:sp>
      <p:sp>
        <p:nvSpPr>
          <p:cNvPr id="7" name="Shape 3"/>
          <p:cNvSpPr/>
          <p:nvPr/>
        </p:nvSpPr>
        <p:spPr>
          <a:xfrm>
            <a:off x="5303520" y="1691640"/>
            <a:ext cx="2010615" cy="3986784"/>
          </a:xfrm>
          <a:prstGeom prst="roundRect">
            <a:avLst>
              <a:gd name="adj" fmla="val 5457"/>
            </a:avLst>
          </a:prstGeom>
          <a:solidFill>
            <a:srgbClr val="1E2B45"/>
          </a:solidFill>
          <a:ln w="12700">
            <a:solidFill>
              <a:srgbClr val="1E2B45"/>
            </a:solidFill>
            <a:prstDash val="solid"/>
          </a:ln>
        </p:spPr>
      </p:sp>
      <p:pic>
        <p:nvPicPr>
          <p:cNvPr id="8" name="Image 2" descr="preencoded.png">    </p:cNvPr>
          <p:cNvPicPr>
            <a:picLocks noChangeAspect="1"/>
          </p:cNvPicPr>
          <p:nvPr/>
        </p:nvPicPr>
        <p:blipFill>
          <a:blip r:embed="rId3"/>
          <a:stretch>
            <a:fillRect/>
          </a:stretch>
        </p:blipFill>
        <p:spPr>
          <a:xfrm>
            <a:off x="5376672" y="1764792"/>
            <a:ext cx="1864311" cy="3840480"/>
          </a:xfrm>
          <a:prstGeom prst="rect">
            <a:avLst/>
          </a:prstGeom>
        </p:spPr>
      </p:pic>
      <p:sp>
        <p:nvSpPr>
          <p:cNvPr id="9" name="Shape 4"/>
          <p:cNvSpPr/>
          <p:nvPr/>
        </p:nvSpPr>
        <p:spPr>
          <a:xfrm>
            <a:off x="5175504" y="1563624"/>
            <a:ext cx="402336" cy="402336"/>
          </a:xfrm>
          <a:prstGeom prst="ellipse">
            <a:avLst/>
          </a:prstGeom>
          <a:solidFill>
            <a:srgbClr val="10B981"/>
          </a:solidFill>
          <a:ln w="25400">
            <a:solidFill>
              <a:srgbClr val="0F172A"/>
            </a:solidFill>
            <a:prstDash val="solid"/>
          </a:ln>
        </p:spPr>
      </p:sp>
      <p:sp>
        <p:nvSpPr>
          <p:cNvPr id="10" name="Text 5"/>
          <p:cNvSpPr txBox="1"/>
          <p:nvPr/>
        </p:nvSpPr>
        <p:spPr>
          <a:xfrm>
            <a:off x="5175504"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11" name="Shape 6"/>
          <p:cNvSpPr/>
          <p:nvPr/>
        </p:nvSpPr>
        <p:spPr>
          <a:xfrm>
            <a:off x="548640" y="3108960"/>
            <a:ext cx="566928" cy="566928"/>
          </a:xfrm>
          <a:prstGeom prst="ellipse">
            <a:avLst/>
          </a:prstGeom>
          <a:solidFill>
            <a:srgbClr val="1E2B45"/>
          </a:solidFill>
          <a:ln w="19050">
            <a:solidFill>
              <a:srgbClr val="FBBF24"/>
            </a:solidFill>
            <a:prstDash val="solid"/>
          </a:ln>
        </p:spPr>
      </p:sp>
      <p:pic>
        <p:nvPicPr>
          <p:cNvPr id="12" name="Image 3" descr="preencoded.png">    </p:cNvPr>
          <p:cNvPicPr>
            <a:picLocks noChangeAspect="1"/>
          </p:cNvPicPr>
          <p:nvPr/>
        </p:nvPicPr>
        <p:blipFill>
          <a:blip r:embed="rId4"/>
          <a:stretch>
            <a:fillRect/>
          </a:stretch>
        </p:blipFill>
        <p:spPr>
          <a:xfrm>
            <a:off x="684703" y="3245023"/>
            <a:ext cx="294803" cy="294803"/>
          </a:xfrm>
          <a:prstGeom prst="rect">
            <a:avLst/>
          </a:prstGeom>
        </p:spPr>
      </p:pic>
      <p:sp>
        <p:nvSpPr>
          <p:cNvPr id="13" name="Text 7"/>
          <p:cNvSpPr txBox="1"/>
          <p:nvPr/>
        </p:nvSpPr>
        <p:spPr>
          <a:xfrm>
            <a:off x="1280160" y="3090672"/>
            <a:ext cx="3611880" cy="1280160"/>
          </a:xfrm>
          <a:prstGeom prst="rect">
            <a:avLst/>
          </a:prstGeom>
          <a:noFill/>
          <a:ln/>
        </p:spPr>
        <p:txBody>
          <a:bodyPr wrap="square" lIns="0" tIns="0" rIns="0" bIns="0" rtlCol="0" anchor="t"/>
          <a:lstStyle/>
          <a:p>
            <a:pPr indent="0" marL="0">
              <a:spcAft>
                <a:spcPts val="400"/>
              </a:spcAft>
              <a:buNone/>
            </a:pPr>
            <a:r>
              <a:rPr lang="en-US" sz="1700" b="1" dirty="0">
                <a:solidFill>
                  <a:srgbClr val="FBBF24"/>
                </a:solidFill>
                <a:latin typeface="Calibri" pitchFamily="34" charset="0"/>
                <a:ea typeface="Calibri" pitchFamily="34" charset="-122"/>
                <a:cs typeface="Calibri" pitchFamily="34" charset="-120"/>
              </a:rPr>
              <a:t>Every job logged with photos</a:t>
            </a:r>
            <a:endParaRPr lang="en-US" sz="1700" dirty="0"/>
          </a:p>
          <a:p>
            <a:pPr indent="0" marL="0">
              <a:buNone/>
            </a:pPr>
            <a:r>
              <a:rPr lang="en-US" sz="1350" dirty="0">
                <a:solidFill>
                  <a:srgbClr val="A3B3C9"/>
                </a:solidFill>
                <a:latin typeface="Calibri" pitchFamily="34" charset="0"/>
                <a:ea typeface="Calibri" pitchFamily="34" charset="-122"/>
                <a:cs typeface="Calibri" pitchFamily="34" charset="-120"/>
              </a:rPr>
              <a:t>Builders photograph each stage, and the client signs it off from a link.</a:t>
            </a:r>
            <a:endParaRPr lang="en-US" sz="1700" dirty="0"/>
          </a:p>
        </p:txBody>
      </p:sp>
      <p:sp>
        <p:nvSpPr>
          <p:cNvPr id="14" name="Shape 8"/>
          <p:cNvSpPr/>
          <p:nvPr/>
        </p:nvSpPr>
        <p:spPr>
          <a:xfrm>
            <a:off x="7470648" y="1691640"/>
            <a:ext cx="2010615" cy="3986784"/>
          </a:xfrm>
          <a:prstGeom prst="roundRect">
            <a:avLst>
              <a:gd name="adj" fmla="val 5457"/>
            </a:avLst>
          </a:prstGeom>
          <a:solidFill>
            <a:srgbClr val="1E2B45"/>
          </a:solidFill>
          <a:ln w="12700">
            <a:solidFill>
              <a:srgbClr val="1E2B45"/>
            </a:solidFill>
            <a:prstDash val="solid"/>
          </a:ln>
        </p:spPr>
      </p:sp>
      <p:pic>
        <p:nvPicPr>
          <p:cNvPr id="15" name="Image 4" descr="preencoded.png">    </p:cNvPr>
          <p:cNvPicPr>
            <a:picLocks noChangeAspect="1"/>
          </p:cNvPicPr>
          <p:nvPr/>
        </p:nvPicPr>
        <p:blipFill>
          <a:blip r:embed="rId5"/>
          <a:stretch>
            <a:fillRect/>
          </a:stretch>
        </p:blipFill>
        <p:spPr>
          <a:xfrm>
            <a:off x="7543800" y="1764792"/>
            <a:ext cx="1864311" cy="3840480"/>
          </a:xfrm>
          <a:prstGeom prst="rect">
            <a:avLst/>
          </a:prstGeom>
        </p:spPr>
      </p:pic>
      <p:sp>
        <p:nvSpPr>
          <p:cNvPr id="16" name="Shape 9"/>
          <p:cNvSpPr/>
          <p:nvPr/>
        </p:nvSpPr>
        <p:spPr>
          <a:xfrm>
            <a:off x="7342632" y="1563624"/>
            <a:ext cx="402336" cy="402336"/>
          </a:xfrm>
          <a:prstGeom prst="ellipse">
            <a:avLst/>
          </a:prstGeom>
          <a:solidFill>
            <a:srgbClr val="FBBF24"/>
          </a:solidFill>
          <a:ln w="25400">
            <a:solidFill>
              <a:srgbClr val="0F172A"/>
            </a:solidFill>
            <a:prstDash val="solid"/>
          </a:ln>
        </p:spPr>
      </p:sp>
      <p:sp>
        <p:nvSpPr>
          <p:cNvPr id="17" name="Text 10"/>
          <p:cNvSpPr txBox="1"/>
          <p:nvPr/>
        </p:nvSpPr>
        <p:spPr>
          <a:xfrm>
            <a:off x="7342632"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18" name="Shape 11"/>
          <p:cNvSpPr/>
          <p:nvPr/>
        </p:nvSpPr>
        <p:spPr>
          <a:xfrm>
            <a:off x="548640" y="4480560"/>
            <a:ext cx="566928" cy="566928"/>
          </a:xfrm>
          <a:prstGeom prst="ellipse">
            <a:avLst/>
          </a:prstGeom>
          <a:solidFill>
            <a:srgbClr val="1E2B45"/>
          </a:solidFill>
          <a:ln w="19050">
            <a:solidFill>
              <a:srgbClr val="34D399"/>
            </a:solidFill>
            <a:prstDash val="solid"/>
          </a:ln>
        </p:spPr>
      </p:sp>
      <p:pic>
        <p:nvPicPr>
          <p:cNvPr id="19" name="Image 5" descr="preencoded.png">    </p:cNvPr>
          <p:cNvPicPr>
            <a:picLocks noChangeAspect="1"/>
          </p:cNvPicPr>
          <p:nvPr/>
        </p:nvPicPr>
        <p:blipFill>
          <a:blip r:embed="rId6"/>
          <a:stretch>
            <a:fillRect/>
          </a:stretch>
        </p:blipFill>
        <p:spPr>
          <a:xfrm>
            <a:off x="684703" y="4616623"/>
            <a:ext cx="294803" cy="294803"/>
          </a:xfrm>
          <a:prstGeom prst="rect">
            <a:avLst/>
          </a:prstGeom>
        </p:spPr>
      </p:pic>
      <p:sp>
        <p:nvSpPr>
          <p:cNvPr id="20" name="Text 12"/>
          <p:cNvSpPr txBox="1"/>
          <p:nvPr/>
        </p:nvSpPr>
        <p:spPr>
          <a:xfrm>
            <a:off x="1280160" y="4462272"/>
            <a:ext cx="3611880" cy="1280160"/>
          </a:xfrm>
          <a:prstGeom prst="rect">
            <a:avLst/>
          </a:prstGeom>
          <a:noFill/>
          <a:ln/>
        </p:spPr>
        <p:txBody>
          <a:bodyPr wrap="square" lIns="0" tIns="0" rIns="0" bIns="0" rtlCol="0" anchor="t"/>
          <a:lstStyle/>
          <a:p>
            <a:pPr indent="0" marL="0">
              <a:spcAft>
                <a:spcPts val="400"/>
              </a:spcAft>
              <a:buNone/>
            </a:pPr>
            <a:r>
              <a:rPr lang="en-US" sz="1700" b="1" dirty="0">
                <a:solidFill>
                  <a:srgbClr val="34D399"/>
                </a:solidFill>
                <a:latin typeface="Calibri" pitchFamily="34" charset="0"/>
                <a:ea typeface="Calibri" pitchFamily="34" charset="-122"/>
                <a:cs typeface="Calibri" pitchFamily="34" charset="-120"/>
              </a:rPr>
              <a:t>Payments confirmed</a:t>
            </a:r>
            <a:endParaRPr lang="en-US" sz="1700" dirty="0"/>
          </a:p>
          <a:p>
            <a:pPr indent="0" marL="0">
              <a:buNone/>
            </a:pPr>
            <a:r>
              <a:rPr lang="en-US" sz="1350" dirty="0">
                <a:solidFill>
                  <a:srgbClr val="A3B3C9"/>
                </a:solidFill>
                <a:latin typeface="Calibri" pitchFamily="34" charset="0"/>
                <a:ea typeface="Calibri" pitchFamily="34" charset="-122"/>
                <a:cs typeface="Calibri" pitchFamily="34" charset="-120"/>
              </a:rPr>
              <a:t>Paid in the app: confirmed by the payment provider. A job stage: confirmed by both sides.</a:t>
            </a:r>
            <a:endParaRPr lang="en-US" sz="1700" dirty="0"/>
          </a:p>
        </p:txBody>
      </p:sp>
      <p:sp>
        <p:nvSpPr>
          <p:cNvPr id="21" name="Shape 13"/>
          <p:cNvSpPr/>
          <p:nvPr/>
        </p:nvSpPr>
        <p:spPr>
          <a:xfrm>
            <a:off x="9637776" y="1691640"/>
            <a:ext cx="2010615" cy="3986784"/>
          </a:xfrm>
          <a:prstGeom prst="roundRect">
            <a:avLst>
              <a:gd name="adj" fmla="val 5457"/>
            </a:avLst>
          </a:prstGeom>
          <a:solidFill>
            <a:srgbClr val="1E2B45"/>
          </a:solidFill>
          <a:ln w="12700">
            <a:solidFill>
              <a:srgbClr val="1E2B45"/>
            </a:solidFill>
            <a:prstDash val="solid"/>
          </a:ln>
        </p:spPr>
      </p:sp>
      <p:pic>
        <p:nvPicPr>
          <p:cNvPr id="22" name="Image 6" descr="preencoded.png">    </p:cNvPr>
          <p:cNvPicPr>
            <a:picLocks noChangeAspect="1"/>
          </p:cNvPicPr>
          <p:nvPr/>
        </p:nvPicPr>
        <p:blipFill>
          <a:blip r:embed="rId7"/>
          <a:stretch>
            <a:fillRect/>
          </a:stretch>
        </p:blipFill>
        <p:spPr>
          <a:xfrm>
            <a:off x="9710928" y="1764792"/>
            <a:ext cx="1864311" cy="3840480"/>
          </a:xfrm>
          <a:prstGeom prst="rect">
            <a:avLst/>
          </a:prstGeom>
        </p:spPr>
      </p:pic>
      <p:sp>
        <p:nvSpPr>
          <p:cNvPr id="23" name="Shape 14"/>
          <p:cNvSpPr/>
          <p:nvPr/>
        </p:nvSpPr>
        <p:spPr>
          <a:xfrm>
            <a:off x="9509760" y="1563624"/>
            <a:ext cx="402336" cy="402336"/>
          </a:xfrm>
          <a:prstGeom prst="ellipse">
            <a:avLst/>
          </a:prstGeom>
          <a:solidFill>
            <a:srgbClr val="34D399"/>
          </a:solidFill>
          <a:ln w="25400">
            <a:solidFill>
              <a:srgbClr val="0F172A"/>
            </a:solidFill>
            <a:prstDash val="solid"/>
          </a:ln>
        </p:spPr>
      </p:sp>
      <p:sp>
        <p:nvSpPr>
          <p:cNvPr id="24" name="Text 15"/>
          <p:cNvSpPr txBox="1"/>
          <p:nvPr/>
        </p:nvSpPr>
        <p:spPr>
          <a:xfrm>
            <a:off x="9509760"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pic>
        <p:nvPicPr>
          <p:cNvPr id="25"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26"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Airtime advance, for business</a:t>
            </a:r>
            <a:endParaRPr lang="en-US" sz="3400" dirty="0"/>
          </a:p>
        </p:txBody>
      </p:sp>
      <p:sp>
        <p:nvSpPr>
          <p:cNvPr id="4" name="Shape 2"/>
          <p:cNvSpPr/>
          <p:nvPr/>
        </p:nvSpPr>
        <p:spPr>
          <a:xfrm>
            <a:off x="548640" y="1783080"/>
            <a:ext cx="3931920" cy="3566160"/>
          </a:xfrm>
          <a:prstGeom prst="roundRect">
            <a:avLst>
              <a:gd name="adj" fmla="val 3077"/>
            </a:avLst>
          </a:prstGeom>
          <a:solidFill>
            <a:srgbClr val="1E2B45"/>
          </a:solidFill>
          <a:ln w="12700">
            <a:solidFill>
              <a:srgbClr val="1E2B45"/>
            </a:solidFill>
            <a:prstDash val="solid"/>
          </a:ln>
        </p:spPr>
      </p:sp>
      <p:sp>
        <p:nvSpPr>
          <p:cNvPr id="5" name="Shape 3"/>
          <p:cNvSpPr/>
          <p:nvPr/>
        </p:nvSpPr>
        <p:spPr>
          <a:xfrm>
            <a:off x="868680" y="2011680"/>
            <a:ext cx="685800" cy="685800"/>
          </a:xfrm>
          <a:prstGeom prst="ellipse">
            <a:avLst/>
          </a:prstGeom>
          <a:solidFill>
            <a:srgbClr val="1E2B45"/>
          </a:solidFill>
          <a:ln w="19050">
            <a:solidFill>
              <a:srgbClr val="FBBF24"/>
            </a:solidFill>
            <a:prstDash val="solid"/>
          </a:ln>
        </p:spPr>
      </p:sp>
      <p:pic>
        <p:nvPicPr>
          <p:cNvPr id="6" name="Image 0" descr="preencoded.png">    </p:cNvPr>
          <p:cNvPicPr>
            <a:picLocks noChangeAspect="1"/>
          </p:cNvPicPr>
          <p:nvPr/>
        </p:nvPicPr>
        <p:blipFill>
          <a:blip r:embed="rId1"/>
          <a:stretch>
            <a:fillRect/>
          </a:stretch>
        </p:blipFill>
        <p:spPr>
          <a:xfrm>
            <a:off x="1033272" y="2176272"/>
            <a:ext cx="356616" cy="356616"/>
          </a:xfrm>
          <a:prstGeom prst="rect">
            <a:avLst/>
          </a:prstGeom>
        </p:spPr>
      </p:pic>
      <p:sp>
        <p:nvSpPr>
          <p:cNvPr id="7" name="Text 4"/>
          <p:cNvSpPr txBox="1"/>
          <p:nvPr/>
        </p:nvSpPr>
        <p:spPr>
          <a:xfrm>
            <a:off x="868680" y="2834640"/>
            <a:ext cx="3383280" cy="320040"/>
          </a:xfrm>
          <a:prstGeom prst="rect">
            <a:avLst/>
          </a:prstGeom>
          <a:noFill/>
          <a:ln/>
        </p:spPr>
        <p:txBody>
          <a:bodyPr wrap="square" lIns="0" tIns="0" rIns="0" bIns="0" rtlCol="0" anchor="t"/>
          <a:lstStyle/>
          <a:p>
            <a:pPr indent="0" marL="0">
              <a:buNone/>
            </a:pPr>
            <a:r>
              <a:rPr lang="en-US" sz="1250" b="1" spc="200" kern="0" dirty="0">
                <a:solidFill>
                  <a:srgbClr val="FBBF24"/>
                </a:solidFill>
                <a:latin typeface="Calibri" pitchFamily="34" charset="0"/>
                <a:ea typeface="Calibri" pitchFamily="34" charset="-122"/>
                <a:cs typeface="Calibri" pitchFamily="34" charset="-120"/>
              </a:rPr>
              <a:t>YOU ALREADY KNOW IT</a:t>
            </a:r>
            <a:endParaRPr lang="en-US" sz="1250" dirty="0"/>
          </a:p>
        </p:txBody>
      </p:sp>
      <p:sp>
        <p:nvSpPr>
          <p:cNvPr id="8" name="Text 5"/>
          <p:cNvSpPr txBox="1"/>
          <p:nvPr/>
        </p:nvSpPr>
        <p:spPr>
          <a:xfrm>
            <a:off x="868680" y="3200400"/>
            <a:ext cx="3383280" cy="1188720"/>
          </a:xfrm>
          <a:prstGeom prst="rect">
            <a:avLst/>
          </a:prstGeom>
          <a:noFill/>
          <a:ln/>
        </p:spPr>
        <p:txBody>
          <a:bodyPr wrap="square" lIns="0" tIns="0" rIns="0" bIns="0" rtlCol="0" anchor="t"/>
          <a:lstStyle/>
          <a:p>
            <a:pPr indent="0" marL="0">
              <a:buNone/>
            </a:pPr>
            <a:r>
              <a:rPr lang="en-US" sz="2000" i="1" dirty="0">
                <a:solidFill>
                  <a:srgbClr val="F8FAFC"/>
                </a:solidFill>
                <a:latin typeface="Georgia" pitchFamily="34" charset="0"/>
                <a:ea typeface="Georgia" pitchFamily="34" charset="-122"/>
                <a:cs typeface="Georgia" pitchFamily="34" charset="-120"/>
              </a:rPr>
              <a:t>Your network lends you airtime because it's seen that you always pay.</a:t>
            </a:r>
            <a:endParaRPr lang="en-US" sz="2000" dirty="0"/>
          </a:p>
        </p:txBody>
      </p:sp>
      <p:sp>
        <p:nvSpPr>
          <p:cNvPr id="9" name="Text 6"/>
          <p:cNvSpPr txBox="1"/>
          <p:nvPr/>
        </p:nvSpPr>
        <p:spPr>
          <a:xfrm>
            <a:off x="868680" y="4480560"/>
            <a:ext cx="3383280" cy="731520"/>
          </a:xfrm>
          <a:prstGeom prst="rect">
            <a:avLst/>
          </a:prstGeom>
          <a:noFill/>
          <a:ln/>
        </p:spPr>
        <p:txBody>
          <a:bodyPr wrap="square" lIns="0" tIns="0" rIns="0" bIns="0" rtlCol="0" anchor="t"/>
          <a:lstStyle/>
          <a:p>
            <a:pPr indent="0" marL="0">
              <a:buNone/>
            </a:pPr>
            <a:r>
              <a:rPr lang="en-US" sz="1600" b="1" dirty="0">
                <a:solidFill>
                  <a:srgbClr val="34D399"/>
                </a:solidFill>
                <a:latin typeface="Calibri" pitchFamily="34" charset="0"/>
                <a:ea typeface="Calibri" pitchFamily="34" charset="-122"/>
                <a:cs typeface="Calibri" pitchFamily="34" charset="-120"/>
              </a:rPr>
              <a:t>Akayza builds that kind of history for a business.</a:t>
            </a:r>
            <a:endParaRPr lang="en-US" sz="1600" dirty="0"/>
          </a:p>
        </p:txBody>
      </p:sp>
      <p:sp>
        <p:nvSpPr>
          <p:cNvPr id="10" name="Shape 7"/>
          <p:cNvSpPr/>
          <p:nvPr/>
        </p:nvSpPr>
        <p:spPr>
          <a:xfrm>
            <a:off x="4800600" y="1783080"/>
            <a:ext cx="3291840" cy="1097280"/>
          </a:xfrm>
          <a:prstGeom prst="roundRect">
            <a:avLst>
              <a:gd name="adj" fmla="val 10000"/>
            </a:avLst>
          </a:prstGeom>
          <a:solidFill>
            <a:srgbClr val="17223A"/>
          </a:solidFill>
          <a:ln w="12700">
            <a:solidFill>
              <a:srgbClr val="17223A"/>
            </a:solidFill>
            <a:prstDash val="solid"/>
          </a:ln>
        </p:spPr>
      </p:sp>
      <p:sp>
        <p:nvSpPr>
          <p:cNvPr id="11" name="Shape 8"/>
          <p:cNvSpPr/>
          <p:nvPr/>
        </p:nvSpPr>
        <p:spPr>
          <a:xfrm>
            <a:off x="4983480" y="2048256"/>
            <a:ext cx="566928" cy="566928"/>
          </a:xfrm>
          <a:prstGeom prst="ellipse">
            <a:avLst/>
          </a:prstGeom>
          <a:solidFill>
            <a:srgbClr val="1E2B45"/>
          </a:solidFill>
          <a:ln w="19050">
            <a:solidFill>
              <a:srgbClr val="10B981"/>
            </a:solidFill>
            <a:prstDash val="solid"/>
          </a:ln>
        </p:spPr>
      </p:sp>
      <p:pic>
        <p:nvPicPr>
          <p:cNvPr id="12" name="Image 1" descr="preencoded.png">    </p:cNvPr>
          <p:cNvPicPr>
            <a:picLocks noChangeAspect="1"/>
          </p:cNvPicPr>
          <p:nvPr/>
        </p:nvPicPr>
        <p:blipFill>
          <a:blip r:embed="rId2"/>
          <a:stretch>
            <a:fillRect/>
          </a:stretch>
        </p:blipFill>
        <p:spPr>
          <a:xfrm>
            <a:off x="5119543" y="2184319"/>
            <a:ext cx="294803" cy="294803"/>
          </a:xfrm>
          <a:prstGeom prst="rect">
            <a:avLst/>
          </a:prstGeom>
        </p:spPr>
      </p:pic>
      <p:sp>
        <p:nvSpPr>
          <p:cNvPr id="13" name="Text 9"/>
          <p:cNvSpPr txBox="1"/>
          <p:nvPr/>
        </p:nvSpPr>
        <p:spPr>
          <a:xfrm>
            <a:off x="5696712" y="1938528"/>
            <a:ext cx="228600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Paid orders</a:t>
            </a:r>
            <a:endParaRPr lang="en-US" sz="1600" dirty="0"/>
          </a:p>
        </p:txBody>
      </p:sp>
      <p:sp>
        <p:nvSpPr>
          <p:cNvPr id="14" name="Text 10"/>
          <p:cNvSpPr txBox="1"/>
          <p:nvPr/>
        </p:nvSpPr>
        <p:spPr>
          <a:xfrm>
            <a:off x="5696712" y="2286000"/>
            <a:ext cx="2286000" cy="5029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Confirmed by the payment provider</a:t>
            </a:r>
            <a:endParaRPr lang="en-US" sz="1250" dirty="0"/>
          </a:p>
        </p:txBody>
      </p:sp>
      <p:sp>
        <p:nvSpPr>
          <p:cNvPr id="15" name="Shape 11"/>
          <p:cNvSpPr/>
          <p:nvPr/>
        </p:nvSpPr>
        <p:spPr>
          <a:xfrm>
            <a:off x="6446520" y="2907792"/>
            <a:ext cx="0" cy="310896"/>
          </a:xfrm>
          <a:prstGeom prst="line">
            <a:avLst/>
          </a:prstGeom>
          <a:noFill/>
          <a:ln w="19050">
            <a:solidFill>
              <a:srgbClr val="64748B"/>
            </a:solidFill>
            <a:prstDash val="solid"/>
            <a:tailEnd type="triangle"/>
          </a:ln>
        </p:spPr>
      </p:sp>
      <p:sp>
        <p:nvSpPr>
          <p:cNvPr id="16" name="Shape 12"/>
          <p:cNvSpPr/>
          <p:nvPr/>
        </p:nvSpPr>
        <p:spPr>
          <a:xfrm>
            <a:off x="8348472" y="1783080"/>
            <a:ext cx="3291840" cy="1097280"/>
          </a:xfrm>
          <a:prstGeom prst="roundRect">
            <a:avLst>
              <a:gd name="adj" fmla="val 10000"/>
            </a:avLst>
          </a:prstGeom>
          <a:solidFill>
            <a:srgbClr val="17223A"/>
          </a:solidFill>
          <a:ln w="12700">
            <a:solidFill>
              <a:srgbClr val="17223A"/>
            </a:solidFill>
            <a:prstDash val="solid"/>
          </a:ln>
        </p:spPr>
      </p:sp>
      <p:sp>
        <p:nvSpPr>
          <p:cNvPr id="17" name="Shape 13"/>
          <p:cNvSpPr/>
          <p:nvPr/>
        </p:nvSpPr>
        <p:spPr>
          <a:xfrm>
            <a:off x="8531352" y="2048256"/>
            <a:ext cx="566928" cy="566928"/>
          </a:xfrm>
          <a:prstGeom prst="ellipse">
            <a:avLst/>
          </a:prstGeom>
          <a:solidFill>
            <a:srgbClr val="1E2B45"/>
          </a:solidFill>
          <a:ln w="19050">
            <a:solidFill>
              <a:srgbClr val="10B981"/>
            </a:solidFill>
            <a:prstDash val="solid"/>
          </a:ln>
        </p:spPr>
      </p:sp>
      <p:pic>
        <p:nvPicPr>
          <p:cNvPr id="18" name="Image 2" descr="preencoded.png">    </p:cNvPr>
          <p:cNvPicPr>
            <a:picLocks noChangeAspect="1"/>
          </p:cNvPicPr>
          <p:nvPr/>
        </p:nvPicPr>
        <p:blipFill>
          <a:blip r:embed="rId3"/>
          <a:stretch>
            <a:fillRect/>
          </a:stretch>
        </p:blipFill>
        <p:spPr>
          <a:xfrm>
            <a:off x="8667415" y="2184319"/>
            <a:ext cx="294803" cy="294803"/>
          </a:xfrm>
          <a:prstGeom prst="rect">
            <a:avLst/>
          </a:prstGeom>
        </p:spPr>
      </p:pic>
      <p:sp>
        <p:nvSpPr>
          <p:cNvPr id="19" name="Text 14"/>
          <p:cNvSpPr txBox="1"/>
          <p:nvPr/>
        </p:nvSpPr>
        <p:spPr>
          <a:xfrm>
            <a:off x="9244584" y="1938528"/>
            <a:ext cx="228600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Signed-off jobs</a:t>
            </a:r>
            <a:endParaRPr lang="en-US" sz="1600" dirty="0"/>
          </a:p>
        </p:txBody>
      </p:sp>
      <p:sp>
        <p:nvSpPr>
          <p:cNvPr id="20" name="Text 15"/>
          <p:cNvSpPr txBox="1"/>
          <p:nvPr/>
        </p:nvSpPr>
        <p:spPr>
          <a:xfrm>
            <a:off x="9244584" y="2286000"/>
            <a:ext cx="2286000" cy="5029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Confirmed by the builder and the client</a:t>
            </a:r>
            <a:endParaRPr lang="en-US" sz="1250" dirty="0"/>
          </a:p>
        </p:txBody>
      </p:sp>
      <p:sp>
        <p:nvSpPr>
          <p:cNvPr id="21" name="Shape 16"/>
          <p:cNvSpPr/>
          <p:nvPr/>
        </p:nvSpPr>
        <p:spPr>
          <a:xfrm>
            <a:off x="9994392" y="2907792"/>
            <a:ext cx="0" cy="310896"/>
          </a:xfrm>
          <a:prstGeom prst="line">
            <a:avLst/>
          </a:prstGeom>
          <a:noFill/>
          <a:ln w="19050">
            <a:solidFill>
              <a:srgbClr val="64748B"/>
            </a:solidFill>
            <a:prstDash val="solid"/>
            <a:tailEnd type="triangle"/>
          </a:ln>
        </p:spPr>
      </p:sp>
      <p:sp>
        <p:nvSpPr>
          <p:cNvPr id="22" name="Shape 17"/>
          <p:cNvSpPr/>
          <p:nvPr/>
        </p:nvSpPr>
        <p:spPr>
          <a:xfrm>
            <a:off x="4800600" y="3246120"/>
            <a:ext cx="6839712" cy="1005840"/>
          </a:xfrm>
          <a:prstGeom prst="roundRect">
            <a:avLst>
              <a:gd name="adj" fmla="val 10909"/>
            </a:avLst>
          </a:prstGeom>
          <a:solidFill>
            <a:srgbClr val="10B981"/>
          </a:solidFill>
          <a:ln w="12700">
            <a:solidFill>
              <a:srgbClr val="10B981"/>
            </a:solidFill>
            <a:prstDash val="solid"/>
          </a:ln>
        </p:spPr>
      </p:sp>
      <p:sp>
        <p:nvSpPr>
          <p:cNvPr id="23" name="Text 18"/>
          <p:cNvSpPr txBox="1"/>
          <p:nvPr/>
        </p:nvSpPr>
        <p:spPr>
          <a:xfrm>
            <a:off x="5074920" y="3346704"/>
            <a:ext cx="6309360" cy="411480"/>
          </a:xfrm>
          <a:prstGeom prst="rect">
            <a:avLst/>
          </a:prstGeom>
          <a:noFill/>
          <a:ln/>
        </p:spPr>
        <p:txBody>
          <a:bodyPr wrap="square" lIns="0" tIns="0" rIns="0" bIns="0" rtlCol="0" anchor="t"/>
          <a:lstStyle/>
          <a:p>
            <a:pPr indent="0" marL="0">
              <a:buNone/>
            </a:pPr>
            <a:r>
              <a:rPr lang="en-US" sz="2000" b="1" dirty="0">
                <a:solidFill>
                  <a:srgbClr val="0F172A"/>
                </a:solidFill>
                <a:latin typeface="Calibri" pitchFamily="34" charset="0"/>
                <a:ea typeface="Calibri" pitchFamily="34" charset="-122"/>
                <a:cs typeface="Calibri" pitchFamily="34" charset="-120"/>
              </a:rPr>
              <a:t>A record the owner holds</a:t>
            </a:r>
            <a:endParaRPr lang="en-US" sz="2000" dirty="0"/>
          </a:p>
        </p:txBody>
      </p:sp>
      <p:sp>
        <p:nvSpPr>
          <p:cNvPr id="24" name="Text 19"/>
          <p:cNvSpPr txBox="1"/>
          <p:nvPr/>
        </p:nvSpPr>
        <p:spPr>
          <a:xfrm>
            <a:off x="5074920" y="3767328"/>
            <a:ext cx="6309360" cy="36576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Every paid order and signed-off job adds to it. It's shared only with the owner's consent.</a:t>
            </a:r>
            <a:endParaRPr lang="en-US" sz="1300" dirty="0"/>
          </a:p>
        </p:txBody>
      </p:sp>
      <p:sp>
        <p:nvSpPr>
          <p:cNvPr id="25" name="Shape 20"/>
          <p:cNvSpPr/>
          <p:nvPr/>
        </p:nvSpPr>
        <p:spPr>
          <a:xfrm>
            <a:off x="8220456" y="4279392"/>
            <a:ext cx="0" cy="310896"/>
          </a:xfrm>
          <a:prstGeom prst="line">
            <a:avLst/>
          </a:prstGeom>
          <a:noFill/>
          <a:ln w="19050">
            <a:solidFill>
              <a:srgbClr val="64748B"/>
            </a:solidFill>
            <a:prstDash val="solid"/>
            <a:tailEnd type="triangle"/>
          </a:ln>
        </p:spPr>
      </p:sp>
      <p:sp>
        <p:nvSpPr>
          <p:cNvPr id="26" name="Text 21"/>
          <p:cNvSpPr txBox="1"/>
          <p:nvPr/>
        </p:nvSpPr>
        <p:spPr>
          <a:xfrm>
            <a:off x="4800600" y="4617720"/>
            <a:ext cx="1554480" cy="731520"/>
          </a:xfrm>
          <a:prstGeom prst="rect">
            <a:avLst/>
          </a:prstGeom>
          <a:noFill/>
          <a:ln/>
        </p:spPr>
        <p:txBody>
          <a:bodyPr wrap="square" lIns="0" tIns="0" rIns="0" bIns="0" rtlCol="0" anchor="ctr"/>
          <a:lstStyle/>
          <a:p>
            <a:pPr indent="0" marL="0">
              <a:buNone/>
            </a:pPr>
            <a:r>
              <a:rPr lang="en-US" sz="1400" dirty="0">
                <a:solidFill>
                  <a:srgbClr val="A3B3C9"/>
                </a:solidFill>
                <a:latin typeface="Calibri" pitchFamily="34" charset="0"/>
                <a:ea typeface="Calibri" pitchFamily="34" charset="-122"/>
                <a:cs typeface="Calibri" pitchFamily="34" charset="-120"/>
              </a:rPr>
              <a:t>The first step to</a:t>
            </a:r>
            <a:endParaRPr lang="en-US" sz="1400" dirty="0"/>
          </a:p>
        </p:txBody>
      </p:sp>
      <p:sp>
        <p:nvSpPr>
          <p:cNvPr id="27" name="Shape 22"/>
          <p:cNvSpPr/>
          <p:nvPr/>
        </p:nvSpPr>
        <p:spPr>
          <a:xfrm>
            <a:off x="6400800" y="4617720"/>
            <a:ext cx="1645920" cy="731520"/>
          </a:xfrm>
          <a:prstGeom prst="roundRect">
            <a:avLst>
              <a:gd name="adj" fmla="val 15000"/>
            </a:avLst>
          </a:prstGeom>
          <a:solidFill>
            <a:srgbClr val="17223A"/>
          </a:solidFill>
          <a:ln w="12700">
            <a:solidFill>
              <a:srgbClr val="17223A"/>
            </a:solidFill>
            <a:prstDash val="solid"/>
          </a:ln>
        </p:spPr>
      </p:sp>
      <p:sp>
        <p:nvSpPr>
          <p:cNvPr id="28" name="Text 23"/>
          <p:cNvSpPr txBox="1"/>
          <p:nvPr/>
        </p:nvSpPr>
        <p:spPr>
          <a:xfrm>
            <a:off x="6400800" y="4617720"/>
            <a:ext cx="1645920" cy="731520"/>
          </a:xfrm>
          <a:prstGeom prst="rect">
            <a:avLst/>
          </a:prstGeom>
          <a:noFill/>
          <a:ln/>
        </p:spPr>
        <p:txBody>
          <a:bodyPr wrap="square" lIns="0" tIns="0" rIns="0" bIns="0" rtlCol="0" anchor="ctr"/>
          <a:lstStyle/>
          <a:p>
            <a:pPr algn="ctr" indent="0" marL="0">
              <a:buNone/>
            </a:pPr>
            <a:r>
              <a:rPr lang="en-US" sz="1500" b="1" dirty="0">
                <a:solidFill>
                  <a:srgbClr val="FBBF24"/>
                </a:solidFill>
                <a:latin typeface="Calibri" pitchFamily="34" charset="0"/>
                <a:ea typeface="Calibri" pitchFamily="34" charset="-122"/>
                <a:cs typeface="Calibri" pitchFamily="34" charset="-120"/>
              </a:rPr>
              <a:t>Credit</a:t>
            </a:r>
            <a:endParaRPr lang="en-US" sz="1500" dirty="0"/>
          </a:p>
        </p:txBody>
      </p:sp>
      <p:sp>
        <p:nvSpPr>
          <p:cNvPr id="29" name="Shape 24"/>
          <p:cNvSpPr/>
          <p:nvPr/>
        </p:nvSpPr>
        <p:spPr>
          <a:xfrm>
            <a:off x="8165592" y="4617720"/>
            <a:ext cx="1645920" cy="731520"/>
          </a:xfrm>
          <a:prstGeom prst="roundRect">
            <a:avLst>
              <a:gd name="adj" fmla="val 15000"/>
            </a:avLst>
          </a:prstGeom>
          <a:solidFill>
            <a:srgbClr val="17223A"/>
          </a:solidFill>
          <a:ln w="12700">
            <a:solidFill>
              <a:srgbClr val="17223A"/>
            </a:solidFill>
            <a:prstDash val="solid"/>
          </a:ln>
        </p:spPr>
      </p:sp>
      <p:sp>
        <p:nvSpPr>
          <p:cNvPr id="30" name="Text 25"/>
          <p:cNvSpPr txBox="1"/>
          <p:nvPr/>
        </p:nvSpPr>
        <p:spPr>
          <a:xfrm>
            <a:off x="8165592" y="4617720"/>
            <a:ext cx="1645920" cy="731520"/>
          </a:xfrm>
          <a:prstGeom prst="rect">
            <a:avLst/>
          </a:prstGeom>
          <a:noFill/>
          <a:ln/>
        </p:spPr>
        <p:txBody>
          <a:bodyPr wrap="square" lIns="0" tIns="0" rIns="0" bIns="0" rtlCol="0" anchor="ctr"/>
          <a:lstStyle/>
          <a:p>
            <a:pPr algn="ctr" indent="0" marL="0">
              <a:buNone/>
            </a:pPr>
            <a:r>
              <a:rPr lang="en-US" sz="1500" b="1" dirty="0">
                <a:solidFill>
                  <a:srgbClr val="10B981"/>
                </a:solidFill>
                <a:latin typeface="Calibri" pitchFamily="34" charset="0"/>
                <a:ea typeface="Calibri" pitchFamily="34" charset="-122"/>
                <a:cs typeface="Calibri" pitchFamily="34" charset="-120"/>
              </a:rPr>
              <a:t>Better suppliers</a:t>
            </a:r>
            <a:endParaRPr lang="en-US" sz="1500" dirty="0"/>
          </a:p>
        </p:txBody>
      </p:sp>
      <p:sp>
        <p:nvSpPr>
          <p:cNvPr id="31" name="Shape 26"/>
          <p:cNvSpPr/>
          <p:nvPr/>
        </p:nvSpPr>
        <p:spPr>
          <a:xfrm>
            <a:off x="9930384" y="4617720"/>
            <a:ext cx="1645920" cy="731520"/>
          </a:xfrm>
          <a:prstGeom prst="roundRect">
            <a:avLst>
              <a:gd name="adj" fmla="val 15000"/>
            </a:avLst>
          </a:prstGeom>
          <a:solidFill>
            <a:srgbClr val="17223A"/>
          </a:solidFill>
          <a:ln w="12700">
            <a:solidFill>
              <a:srgbClr val="17223A"/>
            </a:solidFill>
            <a:prstDash val="solid"/>
          </a:ln>
        </p:spPr>
      </p:sp>
      <p:sp>
        <p:nvSpPr>
          <p:cNvPr id="32" name="Text 27"/>
          <p:cNvSpPr txBox="1"/>
          <p:nvPr/>
        </p:nvSpPr>
        <p:spPr>
          <a:xfrm>
            <a:off x="9930384" y="4617720"/>
            <a:ext cx="1645920" cy="731520"/>
          </a:xfrm>
          <a:prstGeom prst="rect">
            <a:avLst/>
          </a:prstGeom>
          <a:noFill/>
          <a:ln/>
        </p:spPr>
        <p:txBody>
          <a:bodyPr wrap="square" lIns="0" tIns="0" rIns="0" bIns="0" rtlCol="0" anchor="ctr"/>
          <a:lstStyle/>
          <a:p>
            <a:pPr algn="ctr" indent="0" marL="0">
              <a:buNone/>
            </a:pPr>
            <a:r>
              <a:rPr lang="en-US" sz="1500" b="1" dirty="0">
                <a:solidFill>
                  <a:srgbClr val="34D399"/>
                </a:solidFill>
                <a:latin typeface="Calibri" pitchFamily="34" charset="0"/>
                <a:ea typeface="Calibri" pitchFamily="34" charset="-122"/>
                <a:cs typeface="Calibri" pitchFamily="34" charset="-120"/>
              </a:rPr>
              <a:t>New clients</a:t>
            </a:r>
            <a:endParaRPr lang="en-US" sz="1500" dirty="0"/>
          </a:p>
        </p:txBody>
      </p:sp>
      <p:pic>
        <p:nvPicPr>
          <p:cNvPr id="33"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34" name="Text 2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DEMO</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Meet Sipho and Thabo</a:t>
            </a:r>
            <a:endParaRPr lang="en-US" sz="3400" dirty="0"/>
          </a:p>
        </p:txBody>
      </p:sp>
      <p:sp>
        <p:nvSpPr>
          <p:cNvPr id="4" name="Shape 2"/>
          <p:cNvSpPr/>
          <p:nvPr/>
        </p:nvSpPr>
        <p:spPr>
          <a:xfrm>
            <a:off x="548640" y="1783080"/>
            <a:ext cx="7315200" cy="4160520"/>
          </a:xfrm>
          <a:prstGeom prst="roundRect">
            <a:avLst>
              <a:gd name="adj" fmla="val 2637"/>
            </a:avLst>
          </a:prstGeom>
          <a:solidFill>
            <a:srgbClr val="1E2B45"/>
          </a:solidFill>
          <a:ln w="12700">
            <a:solidFill>
              <a:srgbClr val="1E2B45"/>
            </a:solidFill>
            <a:prstDash val="solid"/>
          </a:ln>
        </p:spPr>
      </p:sp>
      <p:sp>
        <p:nvSpPr>
          <p:cNvPr id="5" name="Shape 3"/>
          <p:cNvSpPr/>
          <p:nvPr/>
        </p:nvSpPr>
        <p:spPr>
          <a:xfrm>
            <a:off x="3520440" y="2926080"/>
            <a:ext cx="1371600" cy="1371600"/>
          </a:xfrm>
          <a:prstGeom prst="ellipse">
            <a:avLst/>
          </a:prstGeom>
          <a:solidFill>
            <a:srgbClr val="1E2B45"/>
          </a:solidFill>
          <a:ln w="19050">
            <a:solidFill>
              <a:srgbClr val="FBBF24"/>
            </a:solidFill>
            <a:prstDash val="solid"/>
          </a:ln>
        </p:spPr>
      </p:sp>
      <p:pic>
        <p:nvPicPr>
          <p:cNvPr id="6" name="Image 0" descr="preencoded.png">    </p:cNvPr>
          <p:cNvPicPr>
            <a:picLocks noChangeAspect="1"/>
          </p:cNvPicPr>
          <p:nvPr/>
        </p:nvPicPr>
        <p:blipFill>
          <a:blip r:embed="rId1"/>
          <a:stretch>
            <a:fillRect/>
          </a:stretch>
        </p:blipFill>
        <p:spPr>
          <a:xfrm>
            <a:off x="3849624" y="3255264"/>
            <a:ext cx="713232" cy="713232"/>
          </a:xfrm>
          <a:prstGeom prst="rect">
            <a:avLst/>
          </a:prstGeom>
        </p:spPr>
      </p:pic>
      <p:sp>
        <p:nvSpPr>
          <p:cNvPr id="7" name="Text 4"/>
          <p:cNvSpPr txBox="1"/>
          <p:nvPr/>
        </p:nvSpPr>
        <p:spPr>
          <a:xfrm>
            <a:off x="548640" y="4526280"/>
            <a:ext cx="7315200" cy="411480"/>
          </a:xfrm>
          <a:prstGeom prst="rect">
            <a:avLst/>
          </a:prstGeom>
          <a:noFill/>
          <a:ln/>
        </p:spPr>
        <p:txBody>
          <a:bodyPr wrap="square" lIns="0" tIns="0" rIns="0" bIns="0" rtlCol="0" anchor="t"/>
          <a:lstStyle/>
          <a:p>
            <a:pPr algn="ctr" indent="0" marL="0">
              <a:buNone/>
            </a:pPr>
            <a:r>
              <a:rPr lang="en-US" sz="1600" b="1" dirty="0">
                <a:solidFill>
                  <a:srgbClr val="F8FAFC"/>
                </a:solidFill>
                <a:latin typeface="Calibri" pitchFamily="34" charset="0"/>
                <a:ea typeface="Calibri" pitchFamily="34" charset="-122"/>
                <a:cs typeface="Calibri" pitchFamily="34" charset="-120"/>
              </a:rPr>
              <a:t>On a real phone, against our real system (the full video: 81 seconds)</a:t>
            </a:r>
            <a:endParaRPr lang="en-US" sz="1600" dirty="0"/>
          </a:p>
        </p:txBody>
      </p:sp>
      <p:sp>
        <p:nvSpPr>
          <p:cNvPr id="8" name="Text 5"/>
          <p:cNvSpPr txBox="1"/>
          <p:nvPr/>
        </p:nvSpPr>
        <p:spPr>
          <a:xfrm>
            <a:off x="548640" y="4983480"/>
            <a:ext cx="7315200" cy="365760"/>
          </a:xfrm>
          <a:prstGeom prst="rect">
            <a:avLst/>
          </a:prstGeom>
          <a:noFill/>
          <a:ln/>
        </p:spPr>
        <p:txBody>
          <a:bodyPr wrap="square" lIns="0" tIns="0" rIns="0" bIns="0" rtlCol="0" anchor="t"/>
          <a:lstStyle/>
          <a:p>
            <a:pPr algn="ctr" indent="0" marL="0">
              <a:buNone/>
            </a:pPr>
            <a:r>
              <a:rPr lang="en-US" sz="1400" b="1" u="sng" dirty="0">
                <a:solidFill>
                  <a:srgbClr val="34D399"/>
                </a:solidFill>
                <a:latin typeface="Calibri" pitchFamily="34" charset="0"/>
                <a:ea typeface="Calibri" pitchFamily="34" charset="-122"/>
                <a:cs typeface="Calibri" pitchFamily="34" charset="-120"/>
                <a:hlinkClick r:id="rId2" invalidUrl="" action="" tgtFrame="" tooltip="Watch the demo" history="1" highlightClick="0" endSnd="0">
                  <a:extLst>
                    <a:ext uri="{A12FA001-AC4F-418D-AE19-62706E023703}">
                      <ahyp:hlinkClr xmlns:ahyp="http://schemas.microsoft.com/office/drawing/2018/hyperlinkcolor" val="tx"/>
                    </a:ext>
                  </a:extLst>
                </a:hlinkClick>
              </a:rPr>
              <a:t>https://drive.google.com/file/d/1yYQfVBEG-dnn-hxgRRtD5xDVw8vZV8Es/view?usp=drive_link</a:t>
            </a:r>
            <a:endParaRPr lang="en-US" sz="1400" dirty="0"/>
          </a:p>
        </p:txBody>
      </p:sp>
      <p:sp>
        <p:nvSpPr>
          <p:cNvPr id="9" name="Text 6"/>
          <p:cNvSpPr txBox="1"/>
          <p:nvPr/>
        </p:nvSpPr>
        <p:spPr>
          <a:xfrm>
            <a:off x="8229600" y="1828800"/>
            <a:ext cx="3383280" cy="41148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Watch for</a:t>
            </a:r>
            <a:endParaRPr lang="en-US" sz="1800" dirty="0"/>
          </a:p>
        </p:txBody>
      </p:sp>
      <p:sp>
        <p:nvSpPr>
          <p:cNvPr id="10" name="Text 7"/>
          <p:cNvSpPr txBox="1"/>
          <p:nvPr/>
        </p:nvSpPr>
        <p:spPr>
          <a:xfrm>
            <a:off x="8229600" y="2331720"/>
            <a:ext cx="3383280" cy="356616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Sipho picks Food and drops a pin where he trades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Suppliers who deliver to him</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Bread from a bakery that delivers, paid, confirmed by the provider</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Every kota he sells, in his order book</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Thabo's job: stage photos, signed off by the client</a:t>
            </a:r>
            <a:endParaRPr lang="en-US" sz="1550" dirty="0"/>
          </a:p>
        </p:txBody>
      </p:sp>
      <p:pic>
        <p:nvPicPr>
          <p:cNvPr id="11" name="Image 1"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2" name="Text 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Free for businesses. Suppliers pay.</a:t>
            </a:r>
            <a:endParaRPr lang="en-US" sz="3400" dirty="0"/>
          </a:p>
        </p:txBody>
      </p:sp>
      <p:sp>
        <p:nvSpPr>
          <p:cNvPr id="4" name="Shape 2"/>
          <p:cNvSpPr/>
          <p:nvPr/>
        </p:nvSpPr>
        <p:spPr>
          <a:xfrm>
            <a:off x="548640" y="1783080"/>
            <a:ext cx="4663440" cy="786384"/>
          </a:xfrm>
          <a:prstGeom prst="roundRect">
            <a:avLst>
              <a:gd name="adj" fmla="val 13953"/>
            </a:avLst>
          </a:prstGeom>
          <a:solidFill>
            <a:srgbClr val="17223A"/>
          </a:solidFill>
          <a:ln w="12700">
            <a:solidFill>
              <a:srgbClr val="17223A"/>
            </a:solidFill>
            <a:prstDash val="solid"/>
          </a:ln>
        </p:spPr>
      </p:sp>
      <p:sp>
        <p:nvSpPr>
          <p:cNvPr id="5" name="Text 3"/>
          <p:cNvSpPr txBox="1"/>
          <p:nvPr/>
        </p:nvSpPr>
        <p:spPr>
          <a:xfrm>
            <a:off x="822960" y="1975104"/>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Starter</a:t>
            </a:r>
            <a:endParaRPr lang="en-US" sz="1800" dirty="0"/>
          </a:p>
        </p:txBody>
      </p:sp>
      <p:sp>
        <p:nvSpPr>
          <p:cNvPr id="6" name="Text 4"/>
          <p:cNvSpPr txBox="1"/>
          <p:nvPr/>
        </p:nvSpPr>
        <p:spPr>
          <a:xfrm>
            <a:off x="2468880" y="182880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R299</a:t>
            </a:r>
            <a:endParaRPr lang="en-US" sz="3000" dirty="0"/>
          </a:p>
        </p:txBody>
      </p:sp>
      <p:sp>
        <p:nvSpPr>
          <p:cNvPr id="7" name="Text 5"/>
          <p:cNvSpPr txBox="1"/>
          <p:nvPr/>
        </p:nvSpPr>
        <p:spPr>
          <a:xfrm>
            <a:off x="4251960" y="2039112"/>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8" name="Shape 6"/>
          <p:cNvSpPr/>
          <p:nvPr/>
        </p:nvSpPr>
        <p:spPr>
          <a:xfrm>
            <a:off x="548640" y="2697480"/>
            <a:ext cx="4663440" cy="786384"/>
          </a:xfrm>
          <a:prstGeom prst="roundRect">
            <a:avLst>
              <a:gd name="adj" fmla="val 13953"/>
            </a:avLst>
          </a:prstGeom>
          <a:solidFill>
            <a:srgbClr val="17223A"/>
          </a:solidFill>
          <a:ln w="12700">
            <a:solidFill>
              <a:srgbClr val="17223A"/>
            </a:solidFill>
            <a:prstDash val="solid"/>
          </a:ln>
        </p:spPr>
      </p:sp>
      <p:sp>
        <p:nvSpPr>
          <p:cNvPr id="9" name="Text 7"/>
          <p:cNvSpPr txBox="1"/>
          <p:nvPr/>
        </p:nvSpPr>
        <p:spPr>
          <a:xfrm>
            <a:off x="822960" y="2889504"/>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Pro</a:t>
            </a:r>
            <a:endParaRPr lang="en-US" sz="1800" dirty="0"/>
          </a:p>
        </p:txBody>
      </p:sp>
      <p:sp>
        <p:nvSpPr>
          <p:cNvPr id="10" name="Text 8"/>
          <p:cNvSpPr txBox="1"/>
          <p:nvPr/>
        </p:nvSpPr>
        <p:spPr>
          <a:xfrm>
            <a:off x="2468880" y="274320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R1,499</a:t>
            </a:r>
            <a:endParaRPr lang="en-US" sz="3000" dirty="0"/>
          </a:p>
        </p:txBody>
      </p:sp>
      <p:sp>
        <p:nvSpPr>
          <p:cNvPr id="11" name="Text 9"/>
          <p:cNvSpPr txBox="1"/>
          <p:nvPr/>
        </p:nvSpPr>
        <p:spPr>
          <a:xfrm>
            <a:off x="4251960" y="2953512"/>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12" name="Shape 10"/>
          <p:cNvSpPr/>
          <p:nvPr/>
        </p:nvSpPr>
        <p:spPr>
          <a:xfrm>
            <a:off x="548640" y="3611880"/>
            <a:ext cx="4663440" cy="786384"/>
          </a:xfrm>
          <a:prstGeom prst="roundRect">
            <a:avLst>
              <a:gd name="adj" fmla="val 13953"/>
            </a:avLst>
          </a:prstGeom>
          <a:solidFill>
            <a:srgbClr val="17223A"/>
          </a:solidFill>
          <a:ln w="12700">
            <a:solidFill>
              <a:srgbClr val="17223A"/>
            </a:solidFill>
            <a:prstDash val="solid"/>
          </a:ln>
        </p:spPr>
      </p:sp>
      <p:sp>
        <p:nvSpPr>
          <p:cNvPr id="13" name="Text 11"/>
          <p:cNvSpPr txBox="1"/>
          <p:nvPr/>
        </p:nvSpPr>
        <p:spPr>
          <a:xfrm>
            <a:off x="822960" y="3803904"/>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ERP link</a:t>
            </a:r>
            <a:endParaRPr lang="en-US" sz="1800" dirty="0"/>
          </a:p>
        </p:txBody>
      </p:sp>
      <p:sp>
        <p:nvSpPr>
          <p:cNvPr id="14" name="Text 12"/>
          <p:cNvSpPr txBox="1"/>
          <p:nvPr/>
        </p:nvSpPr>
        <p:spPr>
          <a:xfrm>
            <a:off x="2468880" y="365760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R4,999</a:t>
            </a:r>
            <a:endParaRPr lang="en-US" sz="3000" dirty="0"/>
          </a:p>
        </p:txBody>
      </p:sp>
      <p:sp>
        <p:nvSpPr>
          <p:cNvPr id="15" name="Text 13"/>
          <p:cNvSpPr txBox="1"/>
          <p:nvPr/>
        </p:nvSpPr>
        <p:spPr>
          <a:xfrm>
            <a:off x="4251960" y="3867912"/>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 + setup</a:t>
            </a:r>
            <a:endParaRPr lang="en-US" sz="1100" dirty="0"/>
          </a:p>
        </p:txBody>
      </p:sp>
      <p:sp>
        <p:nvSpPr>
          <p:cNvPr id="16" name="Shape 14"/>
          <p:cNvSpPr/>
          <p:nvPr/>
        </p:nvSpPr>
        <p:spPr>
          <a:xfrm>
            <a:off x="548640" y="4526280"/>
            <a:ext cx="4663440" cy="786384"/>
          </a:xfrm>
          <a:prstGeom prst="roundRect">
            <a:avLst>
              <a:gd name="adj" fmla="val 13953"/>
            </a:avLst>
          </a:prstGeom>
          <a:solidFill>
            <a:srgbClr val="17223A"/>
          </a:solidFill>
          <a:ln w="12700">
            <a:solidFill>
              <a:srgbClr val="17223A"/>
            </a:solidFill>
            <a:prstDash val="solid"/>
          </a:ln>
        </p:spPr>
      </p:sp>
      <p:sp>
        <p:nvSpPr>
          <p:cNvPr id="17" name="Text 15"/>
          <p:cNvSpPr txBox="1"/>
          <p:nvPr/>
        </p:nvSpPr>
        <p:spPr>
          <a:xfrm>
            <a:off x="822960" y="4718304"/>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Digital orders</a:t>
            </a:r>
            <a:endParaRPr lang="en-US" sz="1800" dirty="0"/>
          </a:p>
        </p:txBody>
      </p:sp>
      <p:sp>
        <p:nvSpPr>
          <p:cNvPr id="18" name="Text 16"/>
          <p:cNvSpPr txBox="1"/>
          <p:nvPr/>
        </p:nvSpPr>
        <p:spPr>
          <a:xfrm>
            <a:off x="2468880" y="4572000"/>
            <a:ext cx="1737360" cy="685800"/>
          </a:xfrm>
          <a:prstGeom prst="rect">
            <a:avLst/>
          </a:prstGeom>
          <a:noFill/>
          <a:ln/>
        </p:spPr>
        <p:txBody>
          <a:bodyPr wrap="square" lIns="0" tIns="0" rIns="0" bIns="0" rtlCol="0" anchor="t"/>
          <a:lstStyle/>
          <a:p>
            <a:pPr algn="r" indent="0" marL="0">
              <a:buNone/>
            </a:pPr>
            <a:r>
              <a:rPr lang="en-US" sz="3000" b="1" dirty="0">
                <a:solidFill>
                  <a:srgbClr val="FBBF24"/>
                </a:solidFill>
                <a:latin typeface="Georgia" pitchFamily="34" charset="0"/>
                <a:ea typeface="Georgia" pitchFamily="34" charset="-122"/>
                <a:cs typeface="Georgia" pitchFamily="34" charset="-120"/>
              </a:rPr>
              <a:t>~1%</a:t>
            </a:r>
            <a:endParaRPr lang="en-US" sz="3000" dirty="0"/>
          </a:p>
        </p:txBody>
      </p:sp>
      <p:sp>
        <p:nvSpPr>
          <p:cNvPr id="19" name="Text 17"/>
          <p:cNvSpPr txBox="1"/>
          <p:nvPr/>
        </p:nvSpPr>
        <p:spPr>
          <a:xfrm>
            <a:off x="4251960" y="4782312"/>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cash stays free</a:t>
            </a:r>
            <a:endParaRPr lang="en-US" sz="1100" dirty="0"/>
          </a:p>
        </p:txBody>
      </p:sp>
      <p:sp>
        <p:nvSpPr>
          <p:cNvPr id="20" name="Shape 18"/>
          <p:cNvSpPr/>
          <p:nvPr/>
        </p:nvSpPr>
        <p:spPr>
          <a:xfrm>
            <a:off x="5486400" y="1783080"/>
            <a:ext cx="6126480" cy="3529584"/>
          </a:xfrm>
          <a:prstGeom prst="roundRect">
            <a:avLst>
              <a:gd name="adj" fmla="val 3109"/>
            </a:avLst>
          </a:prstGeom>
          <a:solidFill>
            <a:srgbClr val="17223A"/>
          </a:solidFill>
          <a:ln w="12700">
            <a:solidFill>
              <a:srgbClr val="17223A"/>
            </a:solidFill>
            <a:prstDash val="solid"/>
          </a:ln>
        </p:spPr>
      </p:sp>
      <p:graphicFrame>
        <p:nvGraphicFramePr>
          <p:cNvPr id="21" name="Chart 0" descr=""/>
          <p:cNvGraphicFramePr/>
          <p:nvPr/>
        </p:nvGraphicFramePr>
        <p:xfrm>
          <a:off x="5623560" y="1874520"/>
          <a:ext cx="5852160" cy="27432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5669280" y="4645152"/>
            <a:ext cx="5760720" cy="320040"/>
          </a:xfrm>
          <a:prstGeom prst="rect">
            <a:avLst/>
          </a:prstGeom>
          <a:noFill/>
          <a:ln/>
        </p:spPr>
        <p:txBody>
          <a:bodyPr wrap="square" lIns="0" tIns="0" rIns="0" bIns="0" rtlCol="0" anchor="t"/>
          <a:lstStyle/>
          <a:p>
            <a:pPr algn="ctr" indent="0" marL="0">
              <a:buNone/>
            </a:pPr>
            <a:r>
              <a:rPr lang="en-US" sz="1400" b="1" dirty="0">
                <a:solidFill>
                  <a:srgbClr val="F8FAFC"/>
                </a:solidFill>
                <a:latin typeface="Calibri" pitchFamily="34" charset="0"/>
                <a:ea typeface="Calibri" pitchFamily="34" charset="-122"/>
                <a:cs typeface="Calibri" pitchFamily="34" charset="-120"/>
              </a:rPr>
              <a:t>Y1 ≈ R56k  ·  Y2 ≈ R283k  ·  Y3 ≈ R1.1m a month</a:t>
            </a:r>
            <a:endParaRPr lang="en-US" sz="1400" dirty="0"/>
          </a:p>
        </p:txBody>
      </p:sp>
      <p:sp>
        <p:nvSpPr>
          <p:cNvPr id="23" name="Text 20"/>
          <p:cNvSpPr txBox="1"/>
          <p:nvPr/>
        </p:nvSpPr>
        <p:spPr>
          <a:xfrm>
            <a:off x="5669280" y="4937760"/>
            <a:ext cx="5760720" cy="274320"/>
          </a:xfrm>
          <a:prstGeom prst="rect">
            <a:avLst/>
          </a:prstGeom>
          <a:noFill/>
          <a:ln/>
        </p:spPr>
        <p:txBody>
          <a:bodyPr wrap="square" lIns="0" tIns="0" rIns="0" bIns="0" rtlCol="0" anchor="t"/>
          <a:lstStyle/>
          <a:p>
            <a:pPr algn="ctr" indent="0" marL="0">
              <a:buNone/>
            </a:pPr>
            <a:r>
              <a:rPr lang="en-US" sz="1150" dirty="0">
                <a:solidFill>
                  <a:srgbClr val="A3B3C9"/>
                </a:solidFill>
                <a:latin typeface="Calibri" pitchFamily="34" charset="0"/>
                <a:ea typeface="Calibri" pitchFamily="34" charset="-122"/>
                <a:cs typeface="Calibri" pitchFamily="34" charset="-120"/>
              </a:rPr>
              <a:t>15 → 60 → 200 suppliers  ·  1,000 → 5,000 → 20,000 businesses</a:t>
            </a:r>
            <a:endParaRPr lang="en-US" sz="1150" dirty="0"/>
          </a:p>
        </p:txBody>
      </p:sp>
      <p:sp>
        <p:nvSpPr>
          <p:cNvPr id="24" name="Shape 21"/>
          <p:cNvSpPr/>
          <p:nvPr/>
        </p:nvSpPr>
        <p:spPr>
          <a:xfrm>
            <a:off x="548640" y="5532120"/>
            <a:ext cx="11064240" cy="621792"/>
          </a:xfrm>
          <a:prstGeom prst="roundRect">
            <a:avLst>
              <a:gd name="adj" fmla="val 17647"/>
            </a:avLst>
          </a:prstGeom>
          <a:solidFill>
            <a:srgbClr val="1E2B45"/>
          </a:solidFill>
          <a:ln w="12700">
            <a:solidFill>
              <a:srgbClr val="1E2B45"/>
            </a:solidFill>
            <a:prstDash val="solid"/>
          </a:ln>
        </p:spPr>
      </p:sp>
      <p:sp>
        <p:nvSpPr>
          <p:cNvPr id="25" name="Shape 22"/>
          <p:cNvSpPr/>
          <p:nvPr/>
        </p:nvSpPr>
        <p:spPr>
          <a:xfrm>
            <a:off x="713232" y="5614416"/>
            <a:ext cx="457200" cy="457200"/>
          </a:xfrm>
          <a:prstGeom prst="ellipse">
            <a:avLst/>
          </a:prstGeom>
          <a:solidFill>
            <a:srgbClr val="1E2B45"/>
          </a:solidFill>
          <a:ln w="19050">
            <a:solidFill>
              <a:srgbClr val="FBBF24"/>
            </a:solidFill>
            <a:prstDash val="solid"/>
          </a:ln>
        </p:spPr>
      </p:sp>
      <p:pic>
        <p:nvPicPr>
          <p:cNvPr id="26" name="Image 0" descr="preencoded.png">    </p:cNvPr>
          <p:cNvPicPr>
            <a:picLocks noChangeAspect="1"/>
          </p:cNvPicPr>
          <p:nvPr/>
        </p:nvPicPr>
        <p:blipFill>
          <a:blip r:embed="rId2"/>
          <a:stretch>
            <a:fillRect/>
          </a:stretch>
        </p:blipFill>
        <p:spPr>
          <a:xfrm>
            <a:off x="822960" y="5724144"/>
            <a:ext cx="237744" cy="237744"/>
          </a:xfrm>
          <a:prstGeom prst="rect">
            <a:avLst/>
          </a:prstGeom>
        </p:spPr>
      </p:pic>
      <p:sp>
        <p:nvSpPr>
          <p:cNvPr id="27" name="Text 23"/>
          <p:cNvSpPr txBox="1"/>
          <p:nvPr/>
        </p:nvSpPr>
        <p:spPr>
          <a:xfrm>
            <a:off x="1325880" y="5532120"/>
            <a:ext cx="10149840" cy="621792"/>
          </a:xfrm>
          <a:prstGeom prst="rect">
            <a:avLst/>
          </a:prstGeom>
          <a:noFill/>
          <a:ln/>
        </p:spPr>
        <p:txBody>
          <a:bodyPr wrap="square" lIns="0" tIns="0" rIns="0" bIns="0" rtlCol="0" anchor="ctr"/>
          <a:lstStyle/>
          <a:p>
            <a:pPr indent="0" marL="0">
              <a:buNone/>
            </a:pPr>
            <a:r>
              <a:rPr lang="en-US" sz="1500" i="1" dirty="0">
                <a:solidFill>
                  <a:srgbClr val="FBBF24"/>
                </a:solidFill>
                <a:latin typeface="Calibri" pitchFamily="34" charset="0"/>
                <a:ea typeface="Calibri" pitchFamily="34" charset="-122"/>
                <a:cs typeface="Calibri" pitchFamily="34" charset="-120"/>
              </a:rPr>
              <a:t>Next: lenders pay to see a business's record, only with the owner's consent.</a:t>
            </a:r>
            <a:endParaRPr lang="en-US" sz="1500" dirty="0"/>
          </a:p>
        </p:txBody>
      </p:sp>
      <p:pic>
        <p:nvPicPr>
          <p:cNvPr id="28" name="Image 1"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29" name="Text 2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
        <p:nvSpPr>
          <p:cNvPr id="30" name="Text 2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Commission assumes ~R4,000 of digital orders per business per month.</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ASK</a:t>
            </a:r>
            <a:endParaRPr lang="en-US" sz="1300" dirty="0"/>
          </a:p>
        </p:txBody>
      </p:sp>
      <p:sp>
        <p:nvSpPr>
          <p:cNvPr id="3" name="Text 1"/>
          <p:cNvSpPr txBox="1"/>
          <p:nvPr/>
        </p:nvSpPr>
        <p:spPr>
          <a:xfrm>
            <a:off x="548640" y="960120"/>
            <a:ext cx="5486400" cy="1280160"/>
          </a:xfrm>
          <a:prstGeom prst="rect">
            <a:avLst/>
          </a:prstGeom>
          <a:noFill/>
          <a:ln/>
        </p:spPr>
        <p:txBody>
          <a:bodyPr wrap="square" lIns="0" tIns="0" rIns="0" bIns="0" rtlCol="0" anchor="t"/>
          <a:lstStyle/>
          <a:p>
            <a:pPr indent="0" marL="0">
              <a:buNone/>
            </a:pPr>
            <a:r>
              <a:rPr lang="en-US" sz="7200" b="1" dirty="0">
                <a:solidFill>
                  <a:srgbClr val="FBBF24"/>
                </a:solidFill>
                <a:latin typeface="Georgia" pitchFamily="34" charset="0"/>
                <a:ea typeface="Georgia" pitchFamily="34" charset="-122"/>
                <a:cs typeface="Georgia" pitchFamily="34" charset="-120"/>
              </a:rPr>
              <a:t>R300,000</a:t>
            </a:r>
            <a:endParaRPr lang="en-US" sz="7200" dirty="0"/>
          </a:p>
        </p:txBody>
      </p:sp>
      <p:sp>
        <p:nvSpPr>
          <p:cNvPr id="4" name="Text 2"/>
          <p:cNvSpPr txBox="1"/>
          <p:nvPr/>
        </p:nvSpPr>
        <p:spPr>
          <a:xfrm>
            <a:off x="548640" y="2286000"/>
            <a:ext cx="5577840" cy="45720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for a 6-month pilot: the sum of its costs</a:t>
            </a:r>
            <a:endParaRPr lang="en-US" sz="2000" dirty="0"/>
          </a:p>
        </p:txBody>
      </p:sp>
      <p:sp>
        <p:nvSpPr>
          <p:cNvPr id="5" name="Shape 3"/>
          <p:cNvSpPr/>
          <p:nvPr/>
        </p:nvSpPr>
        <p:spPr>
          <a:xfrm>
            <a:off x="548640" y="2971800"/>
            <a:ext cx="502920" cy="5029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669341" y="3092501"/>
            <a:ext cx="261518" cy="261518"/>
          </a:xfrm>
          <a:prstGeom prst="rect">
            <a:avLst/>
          </a:prstGeom>
        </p:spPr>
      </p:pic>
      <p:sp>
        <p:nvSpPr>
          <p:cNvPr id="7" name="Text 4"/>
          <p:cNvSpPr txBox="1"/>
          <p:nvPr/>
        </p:nvSpPr>
        <p:spPr>
          <a:xfrm>
            <a:off x="1234440" y="3044952"/>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2 suppliers</a:t>
            </a:r>
            <a:endParaRPr lang="en-US" sz="1700" dirty="0"/>
          </a:p>
        </p:txBody>
      </p:sp>
      <p:sp>
        <p:nvSpPr>
          <p:cNvPr id="8" name="Text 5"/>
          <p:cNvSpPr txBox="1"/>
          <p:nvPr/>
        </p:nvSpPr>
        <p:spPr>
          <a:xfrm>
            <a:off x="3291840" y="3063240"/>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signed and live</a:t>
            </a:r>
            <a:endParaRPr lang="en-US" sz="1400" dirty="0"/>
          </a:p>
        </p:txBody>
      </p:sp>
      <p:sp>
        <p:nvSpPr>
          <p:cNvPr id="9" name="Shape 6"/>
          <p:cNvSpPr/>
          <p:nvPr/>
        </p:nvSpPr>
        <p:spPr>
          <a:xfrm>
            <a:off x="548640" y="3721608"/>
            <a:ext cx="502920" cy="50292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669341" y="3842309"/>
            <a:ext cx="261518" cy="261518"/>
          </a:xfrm>
          <a:prstGeom prst="rect">
            <a:avLst/>
          </a:prstGeom>
        </p:spPr>
      </p:pic>
      <p:sp>
        <p:nvSpPr>
          <p:cNvPr id="11" name="Text 7"/>
          <p:cNvSpPr txBox="1"/>
          <p:nvPr/>
        </p:nvSpPr>
        <p:spPr>
          <a:xfrm>
            <a:off x="1234440" y="3794760"/>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50-100 businesses</a:t>
            </a:r>
            <a:endParaRPr lang="en-US" sz="1700" dirty="0"/>
          </a:p>
        </p:txBody>
      </p:sp>
      <p:sp>
        <p:nvSpPr>
          <p:cNvPr id="12" name="Text 8"/>
          <p:cNvSpPr txBox="1"/>
          <p:nvPr/>
        </p:nvSpPr>
        <p:spPr>
          <a:xfrm>
            <a:off x="3291840" y="3813048"/>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using it every week</a:t>
            </a:r>
            <a:endParaRPr lang="en-US" sz="1400" dirty="0"/>
          </a:p>
        </p:txBody>
      </p:sp>
      <p:sp>
        <p:nvSpPr>
          <p:cNvPr id="13" name="Shape 9"/>
          <p:cNvSpPr/>
          <p:nvPr/>
        </p:nvSpPr>
        <p:spPr>
          <a:xfrm>
            <a:off x="548640" y="4471416"/>
            <a:ext cx="502920" cy="502920"/>
          </a:xfrm>
          <a:prstGeom prst="ellipse">
            <a:avLst/>
          </a:prstGeom>
          <a:solidFill>
            <a:srgbClr val="1E2B45"/>
          </a:solidFill>
          <a:ln w="19050">
            <a:solidFill>
              <a:srgbClr val="10B981"/>
            </a:solidFill>
            <a:prstDash val="solid"/>
          </a:ln>
        </p:spPr>
      </p:sp>
      <p:pic>
        <p:nvPicPr>
          <p:cNvPr id="14" name="Image 2" descr="preencoded.png">    </p:cNvPr>
          <p:cNvPicPr>
            <a:picLocks noChangeAspect="1"/>
          </p:cNvPicPr>
          <p:nvPr/>
        </p:nvPicPr>
        <p:blipFill>
          <a:blip r:embed="rId3"/>
          <a:stretch>
            <a:fillRect/>
          </a:stretch>
        </p:blipFill>
        <p:spPr>
          <a:xfrm>
            <a:off x="669341" y="4592117"/>
            <a:ext cx="261518" cy="261518"/>
          </a:xfrm>
          <a:prstGeom prst="rect">
            <a:avLst/>
          </a:prstGeom>
        </p:spPr>
      </p:pic>
      <p:sp>
        <p:nvSpPr>
          <p:cNvPr id="15" name="Text 10"/>
          <p:cNvSpPr txBox="1"/>
          <p:nvPr/>
        </p:nvSpPr>
        <p:spPr>
          <a:xfrm>
            <a:off x="1234440" y="4544568"/>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TRL 6</a:t>
            </a:r>
            <a:endParaRPr lang="en-US" sz="1700" dirty="0"/>
          </a:p>
        </p:txBody>
      </p:sp>
      <p:sp>
        <p:nvSpPr>
          <p:cNvPr id="16" name="Text 11"/>
          <p:cNvSpPr txBox="1"/>
          <p:nvPr/>
        </p:nvSpPr>
        <p:spPr>
          <a:xfrm>
            <a:off x="3291840" y="4562856"/>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proven in real shops and sites</a:t>
            </a:r>
            <a:endParaRPr lang="en-US" sz="1400" dirty="0"/>
          </a:p>
        </p:txBody>
      </p:sp>
      <p:sp>
        <p:nvSpPr>
          <p:cNvPr id="17" name="Shape 12"/>
          <p:cNvSpPr/>
          <p:nvPr/>
        </p:nvSpPr>
        <p:spPr>
          <a:xfrm>
            <a:off x="548640" y="5221224"/>
            <a:ext cx="502920" cy="50292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669341" y="5341925"/>
            <a:ext cx="261518" cy="261518"/>
          </a:xfrm>
          <a:prstGeom prst="rect">
            <a:avLst/>
          </a:prstGeom>
        </p:spPr>
      </p:pic>
      <p:sp>
        <p:nvSpPr>
          <p:cNvPr id="19" name="Text 13"/>
          <p:cNvSpPr txBox="1"/>
          <p:nvPr/>
        </p:nvSpPr>
        <p:spPr>
          <a:xfrm>
            <a:off x="1234440" y="5294376"/>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Break-even</a:t>
            </a:r>
            <a:endParaRPr lang="en-US" sz="1700" dirty="0"/>
          </a:p>
        </p:txBody>
      </p:sp>
      <p:sp>
        <p:nvSpPr>
          <p:cNvPr id="20" name="Text 14"/>
          <p:cNvSpPr txBox="1"/>
          <p:nvPr/>
        </p:nvSpPr>
        <p:spPr>
          <a:xfrm>
            <a:off x="3291840" y="5312664"/>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at 2 suppliers on Starter (~R460/month to run)</a:t>
            </a:r>
            <a:endParaRPr lang="en-US" sz="1400" dirty="0"/>
          </a:p>
        </p:txBody>
      </p:sp>
      <p:sp>
        <p:nvSpPr>
          <p:cNvPr id="21" name="Shape 15"/>
          <p:cNvSpPr/>
          <p:nvPr/>
        </p:nvSpPr>
        <p:spPr>
          <a:xfrm>
            <a:off x="6309360" y="1097280"/>
            <a:ext cx="5303520" cy="4892040"/>
          </a:xfrm>
          <a:prstGeom prst="roundRect">
            <a:avLst>
              <a:gd name="adj" fmla="val 2243"/>
            </a:avLst>
          </a:prstGeom>
          <a:solidFill>
            <a:srgbClr val="17223A"/>
          </a:solidFill>
          <a:ln w="12700">
            <a:solidFill>
              <a:srgbClr val="17223A"/>
            </a:solidFill>
            <a:prstDash val="solid"/>
          </a:ln>
        </p:spPr>
      </p:sp>
      <p:graphicFrame>
        <p:nvGraphicFramePr>
          <p:cNvPr id="22" name="Chart 0" descr=""/>
          <p:cNvGraphicFramePr/>
          <p:nvPr/>
        </p:nvGraphicFramePr>
        <p:xfrm>
          <a:off x="6400800" y="1188720"/>
          <a:ext cx="5120640" cy="4709160"/>
        </p:xfrm>
        <a:graphic xmlns:a="http://schemas.openxmlformats.org/drawingml/2006/main">
          <a:graphicData uri="http://schemas.openxmlformats.org/drawingml/2006/chart">
            <c:chart xmlns:c="http://schemas.openxmlformats.org/drawingml/2006/chart" r:id="rId5"/>
          </a:graphicData>
        </a:graphic>
      </p:graphicFrame>
      <p:pic>
        <p:nvPicPr>
          <p:cNvPr id="23" name="Image 4" descr="preencoded.png">    </p:cNvPr>
          <p:cNvPicPr>
            <a:picLocks noChangeAspect="1"/>
          </p:cNvPicPr>
          <p:nvPr/>
        </p:nvPicPr>
        <p:blipFill>
          <a:blip r:embed="rId6"/>
          <a:stretch>
            <a:fillRect/>
          </a:stretch>
        </p:blipFill>
        <p:spPr>
          <a:xfrm>
            <a:off x="11231575" y="6291072"/>
            <a:ext cx="384048" cy="384048"/>
          </a:xfrm>
          <a:prstGeom prst="rect">
            <a:avLst/>
          </a:prstGeom>
        </p:spPr>
      </p:pic>
      <p:sp>
        <p:nvSpPr>
          <p:cNvPr id="24"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WE STAND OUT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They sell to you. We build your record.</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737360"/>
                <a:gridCol w="1737360"/>
                <a:gridCol w="1920240"/>
                <a:gridCol w="2011680"/>
              </a:tblGrid>
              <a:tr h="621792">
                <a:tc>
                  <a:txBody>
                    <a:bodyPr/>
                    <a:lstStyle/>
                    <a:p>
                      <a:pPr algn="l"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Runs the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Your own suppliers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Spaza shops and builders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A record the owner holds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a notebook</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supplier's orders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card sales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orders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0F17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any supplier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orders, jobs, payments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Text 2"/>
          <p:cNvSpPr txBox="1"/>
          <p:nvPr/>
        </p:nvSpPr>
        <p:spPr>
          <a:xfrm>
            <a:off x="548640" y="5559552"/>
            <a:ext cx="11064240" cy="640080"/>
          </a:xfrm>
          <a:prstGeom prst="rect">
            <a:avLst/>
          </a:prstGeom>
          <a:noFill/>
          <a:ln/>
        </p:spPr>
        <p:txBody>
          <a:bodyPr wrap="square" lIns="0" tIns="0" rIns="0" bIns="0" rtlCol="0" anchor="t"/>
          <a:lstStyle/>
          <a:p>
            <a:pPr indent="0" marL="0">
              <a:buNone/>
            </a:pPr>
            <a:r>
              <a:rPr lang="en-US" sz="1500" i="1" dirty="0">
                <a:solidFill>
                  <a:srgbClr val="FBBF24"/>
                </a:solidFill>
                <a:latin typeface="Calibri" pitchFamily="34" charset="0"/>
                <a:ea typeface="Calibri" pitchFamily="34" charset="-122"/>
                <a:cs typeface="Calibri" pitchFamily="34" charset="-120"/>
              </a:rPr>
              <a:t>Payments are confirmed by the provider, job stages by both sides. And the record belongs to the owner: nothing goes to a lender without their consent.</a:t>
            </a:r>
            <a:endParaRPr lang="en-US" sz="1500" dirty="0"/>
          </a:p>
        </p:txBody>
      </p:sp>
      <p:pic>
        <p:nvPicPr>
          <p:cNvPr id="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7" name="Text 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640080"/>
            <a:ext cx="914400" cy="914400"/>
          </a:xfrm>
          <a:prstGeom prst="rect">
            <a:avLst/>
          </a:prstGeom>
        </p:spPr>
      </p:pic>
      <p:sp>
        <p:nvSpPr>
          <p:cNvPr id="3" name="Text 0"/>
          <p:cNvSpPr txBox="1"/>
          <p:nvPr/>
        </p:nvSpPr>
        <p:spPr>
          <a:xfrm>
            <a:off x="731520" y="1828800"/>
            <a:ext cx="10515600" cy="777240"/>
          </a:xfrm>
          <a:prstGeom prst="rect">
            <a:avLst/>
          </a:prstGeom>
          <a:noFill/>
          <a:ln/>
        </p:spPr>
        <p:txBody>
          <a:bodyPr wrap="square" lIns="0" tIns="0" rIns="0" bIns="0" rtlCol="0" anchor="t"/>
          <a:lstStyle/>
          <a:p>
            <a:pPr indent="0" marL="0">
              <a:buNone/>
            </a:pPr>
            <a:r>
              <a:rPr lang="en-US" sz="1700" dirty="0">
                <a:solidFill>
                  <a:srgbClr val="A3B3C9"/>
                </a:solidFill>
                <a:latin typeface="Calibri" pitchFamily="34" charset="0"/>
                <a:ea typeface="Calibri" pitchFamily="34" charset="-122"/>
                <a:cs typeface="Calibri" pitchFamily="34" charset="-120"/>
              </a:rPr>
              <a:t>In the 1950s, Richard Maponya started a milk round in Soweto, delivered by bicycle. His customers trusted him, and decades later he opened Maponya Mall.</a:t>
            </a:r>
            <a:endParaRPr lang="en-US" sz="1700" dirty="0"/>
          </a:p>
        </p:txBody>
      </p:sp>
      <p:sp>
        <p:nvSpPr>
          <p:cNvPr id="4" name="Text 1"/>
          <p:cNvSpPr txBox="1"/>
          <p:nvPr/>
        </p:nvSpPr>
        <p:spPr>
          <a:xfrm>
            <a:off x="731520" y="2697480"/>
            <a:ext cx="10972800" cy="731520"/>
          </a:xfrm>
          <a:prstGeom prst="rect">
            <a:avLst/>
          </a:prstGeom>
          <a:noFill/>
          <a:ln/>
        </p:spPr>
        <p:txBody>
          <a:bodyPr wrap="square" lIns="0" tIns="0" rIns="0" bIns="0" rtlCol="0" anchor="t"/>
          <a:lstStyle/>
          <a:p>
            <a:pPr indent="0" marL="0">
              <a:buNone/>
            </a:pPr>
            <a:r>
              <a:rPr lang="en-US" sz="3600" b="1" dirty="0">
                <a:solidFill>
                  <a:srgbClr val="F8FAFC"/>
                </a:solidFill>
                <a:latin typeface="Georgia" pitchFamily="34" charset="0"/>
                <a:ea typeface="Georgia" pitchFamily="34" charset="-122"/>
                <a:cs typeface="Georgia" pitchFamily="34" charset="-120"/>
              </a:rPr>
              <a:t>The next Maponya is out there right now.</a:t>
            </a:r>
            <a:endParaRPr lang="en-US" sz="3600" dirty="0"/>
          </a:p>
        </p:txBody>
      </p:sp>
      <p:sp>
        <p:nvSpPr>
          <p:cNvPr id="5" name="Text 2"/>
          <p:cNvSpPr txBox="1"/>
          <p:nvPr/>
        </p:nvSpPr>
        <p:spPr>
          <a:xfrm>
            <a:off x="731520" y="3474720"/>
            <a:ext cx="10515600" cy="502920"/>
          </a:xfrm>
          <a:prstGeom prst="rect">
            <a:avLst/>
          </a:prstGeom>
          <a:noFill/>
          <a:ln/>
        </p:spPr>
        <p:txBody>
          <a:bodyPr wrap="square" lIns="0" tIns="0" rIns="0" bIns="0" rtlCol="0" anchor="t"/>
          <a:lstStyle/>
          <a:p>
            <a:pPr indent="0" marL="0">
              <a:buNone/>
            </a:pPr>
            <a:r>
              <a:rPr lang="en-US" sz="2400" i="1" dirty="0">
                <a:solidFill>
                  <a:srgbClr val="FBBF24"/>
                </a:solidFill>
                <a:latin typeface="Georgia" pitchFamily="34" charset="0"/>
                <a:ea typeface="Georgia" pitchFamily="34" charset="-122"/>
                <a:cs typeface="Georgia" pitchFamily="34" charset="-120"/>
              </a:rPr>
              <a:t>Selling kotas. Running a spaza. Laying bricks.</a:t>
            </a:r>
            <a:endParaRPr lang="en-US" sz="2400" dirty="0"/>
          </a:p>
        </p:txBody>
      </p:sp>
      <p:sp>
        <p:nvSpPr>
          <p:cNvPr id="6" name="Text 3"/>
          <p:cNvSpPr txBox="1"/>
          <p:nvPr/>
        </p:nvSpPr>
        <p:spPr>
          <a:xfrm>
            <a:off x="731520" y="4343400"/>
            <a:ext cx="10515600" cy="457200"/>
          </a:xfrm>
          <a:prstGeom prst="rect">
            <a:avLst/>
          </a:prstGeom>
          <a:noFill/>
          <a:ln/>
        </p:spPr>
        <p:txBody>
          <a:bodyPr wrap="square" lIns="0" tIns="0" rIns="0" bIns="0" rtlCol="0" anchor="t"/>
          <a:lstStyle/>
          <a:p>
            <a:pPr indent="0" marL="0">
              <a:buNone/>
            </a:pPr>
            <a:r>
              <a:rPr lang="en-US" sz="2000" b="1" dirty="0">
                <a:solidFill>
                  <a:srgbClr val="34D399"/>
                </a:solidFill>
                <a:latin typeface="Calibri" pitchFamily="34" charset="0"/>
                <a:ea typeface="Calibri" pitchFamily="34" charset="-122"/>
                <a:cs typeface="Calibri" pitchFamily="34" charset="-120"/>
              </a:rPr>
              <a:t>We don't hold the stock. We build the record.</a:t>
            </a:r>
            <a:endParaRPr lang="en-US" sz="2000" dirty="0"/>
          </a:p>
        </p:txBody>
      </p:sp>
      <p:sp>
        <p:nvSpPr>
          <p:cNvPr id="7" name="Text 4"/>
          <p:cNvSpPr txBox="1"/>
          <p:nvPr/>
        </p:nvSpPr>
        <p:spPr>
          <a:xfrm>
            <a:off x="731520" y="4892040"/>
            <a:ext cx="10515600" cy="685800"/>
          </a:xfrm>
          <a:prstGeom prst="rect">
            <a:avLst/>
          </a:prstGeom>
          <a:noFill/>
          <a:ln/>
        </p:spPr>
        <p:txBody>
          <a:bodyPr wrap="square" lIns="0" tIns="0" rIns="0" bIns="0" rtlCol="0" anchor="t"/>
          <a:lstStyle/>
          <a:p>
            <a:pPr indent="0" marL="0">
              <a:buNone/>
            </a:pPr>
            <a:r>
              <a:rPr lang="en-US" sz="3200" i="1" dirty="0">
                <a:solidFill>
                  <a:srgbClr val="F8FAFC"/>
                </a:solidFill>
                <a:latin typeface="Georgia" pitchFamily="34" charset="0"/>
                <a:ea typeface="Georgia" pitchFamily="34" charset="-122"/>
                <a:cs typeface="Georgia" pitchFamily="34" charset="-120"/>
              </a:rPr>
              <a:t>Keep it in the kasi.</a:t>
            </a:r>
            <a:endParaRPr lang="en-US" sz="3200" dirty="0"/>
          </a:p>
        </p:txBody>
      </p:sp>
      <p:sp>
        <p:nvSpPr>
          <p:cNvPr id="8" name="Text 5"/>
          <p:cNvSpPr txBox="1"/>
          <p:nvPr/>
        </p:nvSpPr>
        <p:spPr>
          <a:xfrm>
            <a:off x="731520" y="5943600"/>
            <a:ext cx="105156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Thank you  ·  R300,000 for a 6-month pilot  ·  Team PR, GKHack26</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DETAIL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Everything behind the pitch</a:t>
            </a:r>
            <a:endParaRPr lang="en-US" sz="3400" dirty="0"/>
          </a:p>
        </p:txBody>
      </p:sp>
      <p:sp>
        <p:nvSpPr>
          <p:cNvPr id="4" name="Text 2"/>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The pitch is slides 1 to 10. What follows is the detail, mapped to what the organisers asked for.</a:t>
            </a:r>
            <a:endParaRPr lang="en-US" sz="1600" dirty="0"/>
          </a:p>
        </p:txBody>
      </p:sp>
      <p:sp>
        <p:nvSpPr>
          <p:cNvPr id="5" name="Shape 3"/>
          <p:cNvSpPr/>
          <p:nvPr/>
        </p:nvSpPr>
        <p:spPr>
          <a:xfrm>
            <a:off x="548640" y="2011680"/>
            <a:ext cx="5349240" cy="868680"/>
          </a:xfrm>
          <a:prstGeom prst="roundRect">
            <a:avLst>
              <a:gd name="adj" fmla="val 12632"/>
            </a:avLst>
          </a:prstGeom>
          <a:solidFill>
            <a:srgbClr val="17223A"/>
          </a:solidFill>
          <a:ln w="12700">
            <a:solidFill>
              <a:srgbClr val="17223A"/>
            </a:solidFill>
            <a:prstDash val="solid"/>
          </a:ln>
        </p:spPr>
      </p:sp>
      <p:sp>
        <p:nvSpPr>
          <p:cNvPr id="6" name="Shape 4"/>
          <p:cNvSpPr/>
          <p:nvPr/>
        </p:nvSpPr>
        <p:spPr>
          <a:xfrm>
            <a:off x="731520" y="2167128"/>
            <a:ext cx="548640" cy="548640"/>
          </a:xfrm>
          <a:prstGeom prst="ellipse">
            <a:avLst/>
          </a:prstGeom>
          <a:solidFill>
            <a:srgbClr val="1E2B45"/>
          </a:solidFill>
          <a:ln w="19050">
            <a:solidFill>
              <a:srgbClr val="F59E0B"/>
            </a:solidFill>
            <a:prstDash val="solid"/>
          </a:ln>
        </p:spPr>
      </p:sp>
      <p:pic>
        <p:nvPicPr>
          <p:cNvPr id="7" name="Image 0" descr="preencoded.png">    </p:cNvPr>
          <p:cNvPicPr>
            <a:picLocks noChangeAspect="1"/>
          </p:cNvPicPr>
          <p:nvPr/>
        </p:nvPicPr>
        <p:blipFill>
          <a:blip r:embed="rId1"/>
          <a:stretch>
            <a:fillRect/>
          </a:stretch>
        </p:blipFill>
        <p:spPr>
          <a:xfrm>
            <a:off x="863194" y="2298802"/>
            <a:ext cx="285293" cy="285293"/>
          </a:xfrm>
          <a:prstGeom prst="rect">
            <a:avLst/>
          </a:prstGeom>
        </p:spPr>
      </p:pic>
      <p:sp>
        <p:nvSpPr>
          <p:cNvPr id="8" name="Text 5"/>
          <p:cNvSpPr txBox="1"/>
          <p:nvPr/>
        </p:nvSpPr>
        <p:spPr>
          <a:xfrm>
            <a:off x="1444752" y="213969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Problem statement</a:t>
            </a:r>
            <a:endParaRPr lang="en-US" sz="1500" dirty="0"/>
          </a:p>
        </p:txBody>
      </p:sp>
      <p:sp>
        <p:nvSpPr>
          <p:cNvPr id="9" name="Text 6"/>
          <p:cNvSpPr txBox="1"/>
          <p:nvPr/>
        </p:nvSpPr>
        <p:spPr>
          <a:xfrm>
            <a:off x="1444752" y="248716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Evidence, charts and photos</a:t>
            </a:r>
            <a:endParaRPr lang="en-US" sz="1200" dirty="0"/>
          </a:p>
        </p:txBody>
      </p:sp>
      <p:sp>
        <p:nvSpPr>
          <p:cNvPr id="10" name="Text 7"/>
          <p:cNvSpPr txBox="1"/>
          <p:nvPr/>
        </p:nvSpPr>
        <p:spPr>
          <a:xfrm>
            <a:off x="4160520" y="2231136"/>
            <a:ext cx="1554480" cy="411480"/>
          </a:xfrm>
          <a:prstGeom prst="rect">
            <a:avLst/>
          </a:prstGeom>
          <a:noFill/>
          <a:ln/>
        </p:spPr>
        <p:txBody>
          <a:bodyPr wrap="square" lIns="0" tIns="0" rIns="0" bIns="0" rtlCol="0" anchor="t"/>
          <a:lstStyle/>
          <a:p>
            <a:pPr algn="r" indent="0" marL="0">
              <a:buNone/>
            </a:pPr>
            <a:r>
              <a:rPr lang="en-US" sz="1600" b="1" dirty="0">
                <a:solidFill>
                  <a:srgbClr val="F59E0B"/>
                </a:solidFill>
                <a:latin typeface="Georgia" pitchFamily="34" charset="0"/>
                <a:ea typeface="Georgia" pitchFamily="34" charset="-122"/>
                <a:cs typeface="Georgia" pitchFamily="34" charset="-120"/>
              </a:rPr>
              <a:t>2, 3, 13</a:t>
            </a:r>
            <a:endParaRPr lang="en-US" sz="1600" dirty="0"/>
          </a:p>
        </p:txBody>
      </p:sp>
      <p:sp>
        <p:nvSpPr>
          <p:cNvPr id="11" name="Shape 8"/>
          <p:cNvSpPr/>
          <p:nvPr/>
        </p:nvSpPr>
        <p:spPr>
          <a:xfrm>
            <a:off x="6172200" y="2011680"/>
            <a:ext cx="5349240" cy="868680"/>
          </a:xfrm>
          <a:prstGeom prst="roundRect">
            <a:avLst>
              <a:gd name="adj" fmla="val 12632"/>
            </a:avLst>
          </a:prstGeom>
          <a:solidFill>
            <a:srgbClr val="17223A"/>
          </a:solidFill>
          <a:ln w="12700">
            <a:solidFill>
              <a:srgbClr val="17223A"/>
            </a:solidFill>
            <a:prstDash val="solid"/>
          </a:ln>
        </p:spPr>
      </p:sp>
      <p:sp>
        <p:nvSpPr>
          <p:cNvPr id="12" name="Shape 9"/>
          <p:cNvSpPr/>
          <p:nvPr/>
        </p:nvSpPr>
        <p:spPr>
          <a:xfrm>
            <a:off x="6355080" y="2167128"/>
            <a:ext cx="548640" cy="548640"/>
          </a:xfrm>
          <a:prstGeom prst="ellipse">
            <a:avLst/>
          </a:prstGeom>
          <a:solidFill>
            <a:srgbClr val="1E2B45"/>
          </a:solidFill>
          <a:ln w="19050">
            <a:solidFill>
              <a:srgbClr val="10B981"/>
            </a:solidFill>
            <a:prstDash val="solid"/>
          </a:ln>
        </p:spPr>
      </p:sp>
      <p:pic>
        <p:nvPicPr>
          <p:cNvPr id="13" name="Image 1" descr="preencoded.png">    </p:cNvPr>
          <p:cNvPicPr>
            <a:picLocks noChangeAspect="1"/>
          </p:cNvPicPr>
          <p:nvPr/>
        </p:nvPicPr>
        <p:blipFill>
          <a:blip r:embed="rId2"/>
          <a:stretch>
            <a:fillRect/>
          </a:stretch>
        </p:blipFill>
        <p:spPr>
          <a:xfrm>
            <a:off x="6486754" y="2298802"/>
            <a:ext cx="285293" cy="285293"/>
          </a:xfrm>
          <a:prstGeom prst="rect">
            <a:avLst/>
          </a:prstGeom>
        </p:spPr>
      </p:pic>
      <p:sp>
        <p:nvSpPr>
          <p:cNvPr id="14" name="Text 10"/>
          <p:cNvSpPr txBox="1"/>
          <p:nvPr/>
        </p:nvSpPr>
        <p:spPr>
          <a:xfrm>
            <a:off x="7068312" y="213969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Solution offering</a:t>
            </a:r>
            <a:endParaRPr lang="en-US" sz="1500" dirty="0"/>
          </a:p>
        </p:txBody>
      </p:sp>
      <p:sp>
        <p:nvSpPr>
          <p:cNvPr id="15" name="Text 11"/>
          <p:cNvSpPr txBox="1"/>
          <p:nvPr/>
        </p:nvSpPr>
        <p:spPr>
          <a:xfrm>
            <a:off x="7068312" y="248716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What it is, and how it works</a:t>
            </a:r>
            <a:endParaRPr lang="en-US" sz="1200" dirty="0"/>
          </a:p>
        </p:txBody>
      </p:sp>
      <p:sp>
        <p:nvSpPr>
          <p:cNvPr id="16" name="Text 12"/>
          <p:cNvSpPr txBox="1"/>
          <p:nvPr/>
        </p:nvSpPr>
        <p:spPr>
          <a:xfrm>
            <a:off x="9784080" y="2231136"/>
            <a:ext cx="1554480" cy="411480"/>
          </a:xfrm>
          <a:prstGeom prst="rect">
            <a:avLst/>
          </a:prstGeom>
          <a:noFill/>
          <a:ln/>
        </p:spPr>
        <p:txBody>
          <a:bodyPr wrap="square" lIns="0" tIns="0" rIns="0" bIns="0" rtlCol="0" anchor="t"/>
          <a:lstStyle/>
          <a:p>
            <a:pPr algn="r" indent="0" marL="0">
              <a:buNone/>
            </a:pPr>
            <a:r>
              <a:rPr lang="en-US" sz="1600" b="1" dirty="0">
                <a:solidFill>
                  <a:srgbClr val="10B981"/>
                </a:solidFill>
                <a:latin typeface="Georgia" pitchFamily="34" charset="0"/>
                <a:ea typeface="Georgia" pitchFamily="34" charset="-122"/>
                <a:cs typeface="Georgia" pitchFamily="34" charset="-120"/>
              </a:rPr>
              <a:t>4-6, 12, 15</a:t>
            </a:r>
            <a:endParaRPr lang="en-US" sz="1600" dirty="0"/>
          </a:p>
        </p:txBody>
      </p:sp>
      <p:sp>
        <p:nvSpPr>
          <p:cNvPr id="17" name="Shape 13"/>
          <p:cNvSpPr/>
          <p:nvPr/>
        </p:nvSpPr>
        <p:spPr>
          <a:xfrm>
            <a:off x="548640" y="3017520"/>
            <a:ext cx="5349240" cy="868680"/>
          </a:xfrm>
          <a:prstGeom prst="roundRect">
            <a:avLst>
              <a:gd name="adj" fmla="val 12632"/>
            </a:avLst>
          </a:prstGeom>
          <a:solidFill>
            <a:srgbClr val="17223A"/>
          </a:solidFill>
          <a:ln w="12700">
            <a:solidFill>
              <a:srgbClr val="17223A"/>
            </a:solidFill>
            <a:prstDash val="solid"/>
          </a:ln>
        </p:spPr>
      </p:sp>
      <p:sp>
        <p:nvSpPr>
          <p:cNvPr id="18" name="Shape 14"/>
          <p:cNvSpPr/>
          <p:nvPr/>
        </p:nvSpPr>
        <p:spPr>
          <a:xfrm>
            <a:off x="731520" y="3172968"/>
            <a:ext cx="548640" cy="548640"/>
          </a:xfrm>
          <a:prstGeom prst="ellipse">
            <a:avLst/>
          </a:prstGeom>
          <a:solidFill>
            <a:srgbClr val="1E2B45"/>
          </a:solidFill>
          <a:ln w="19050">
            <a:solidFill>
              <a:srgbClr val="34D399"/>
            </a:solidFill>
            <a:prstDash val="solid"/>
          </a:ln>
        </p:spPr>
      </p:sp>
      <p:pic>
        <p:nvPicPr>
          <p:cNvPr id="19" name="Image 2" descr="preencoded.png">    </p:cNvPr>
          <p:cNvPicPr>
            <a:picLocks noChangeAspect="1"/>
          </p:cNvPicPr>
          <p:nvPr/>
        </p:nvPicPr>
        <p:blipFill>
          <a:blip r:embed="rId3"/>
          <a:stretch>
            <a:fillRect/>
          </a:stretch>
        </p:blipFill>
        <p:spPr>
          <a:xfrm>
            <a:off x="863194" y="3304642"/>
            <a:ext cx="285293" cy="285293"/>
          </a:xfrm>
          <a:prstGeom prst="rect">
            <a:avLst/>
          </a:prstGeom>
        </p:spPr>
      </p:pic>
      <p:sp>
        <p:nvSpPr>
          <p:cNvPr id="20" name="Text 15"/>
          <p:cNvSpPr txBox="1"/>
          <p:nvPr/>
        </p:nvSpPr>
        <p:spPr>
          <a:xfrm>
            <a:off x="1444752" y="314553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User journey story</a:t>
            </a:r>
            <a:endParaRPr lang="en-US" sz="1500" dirty="0"/>
          </a:p>
        </p:txBody>
      </p:sp>
      <p:sp>
        <p:nvSpPr>
          <p:cNvPr id="21" name="Text 16"/>
          <p:cNvSpPr txBox="1"/>
          <p:nvPr/>
        </p:nvSpPr>
        <p:spPr>
          <a:xfrm>
            <a:off x="1444752" y="349300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Sipho's week, and Thabo's job</a:t>
            </a:r>
            <a:endParaRPr lang="en-US" sz="1200" dirty="0"/>
          </a:p>
        </p:txBody>
      </p:sp>
      <p:sp>
        <p:nvSpPr>
          <p:cNvPr id="22" name="Text 17"/>
          <p:cNvSpPr txBox="1"/>
          <p:nvPr/>
        </p:nvSpPr>
        <p:spPr>
          <a:xfrm>
            <a:off x="4160520" y="3236976"/>
            <a:ext cx="1554480" cy="411480"/>
          </a:xfrm>
          <a:prstGeom prst="rect">
            <a:avLst/>
          </a:prstGeom>
          <a:noFill/>
          <a:ln/>
        </p:spPr>
        <p:txBody>
          <a:bodyPr wrap="square" lIns="0" tIns="0" rIns="0" bIns="0" rtlCol="0" anchor="t"/>
          <a:lstStyle/>
          <a:p>
            <a:pPr algn="r" indent="0" marL="0">
              <a:buNone/>
            </a:pPr>
            <a:r>
              <a:rPr lang="en-US" sz="1600" b="1" dirty="0">
                <a:solidFill>
                  <a:srgbClr val="34D399"/>
                </a:solidFill>
                <a:latin typeface="Georgia" pitchFamily="34" charset="0"/>
                <a:ea typeface="Georgia" pitchFamily="34" charset="-122"/>
                <a:cs typeface="Georgia" pitchFamily="34" charset="-120"/>
              </a:rPr>
              <a:t>14</a:t>
            </a:r>
            <a:endParaRPr lang="en-US" sz="1600" dirty="0"/>
          </a:p>
        </p:txBody>
      </p:sp>
      <p:sp>
        <p:nvSpPr>
          <p:cNvPr id="23" name="Shape 18"/>
          <p:cNvSpPr/>
          <p:nvPr/>
        </p:nvSpPr>
        <p:spPr>
          <a:xfrm>
            <a:off x="6172200" y="3017520"/>
            <a:ext cx="5349240" cy="868680"/>
          </a:xfrm>
          <a:prstGeom prst="roundRect">
            <a:avLst>
              <a:gd name="adj" fmla="val 12632"/>
            </a:avLst>
          </a:prstGeom>
          <a:solidFill>
            <a:srgbClr val="17223A"/>
          </a:solidFill>
          <a:ln w="12700">
            <a:solidFill>
              <a:srgbClr val="17223A"/>
            </a:solidFill>
            <a:prstDash val="solid"/>
          </a:ln>
        </p:spPr>
      </p:sp>
      <p:sp>
        <p:nvSpPr>
          <p:cNvPr id="24" name="Shape 19"/>
          <p:cNvSpPr/>
          <p:nvPr/>
        </p:nvSpPr>
        <p:spPr>
          <a:xfrm>
            <a:off x="6355080" y="3172968"/>
            <a:ext cx="548640" cy="548640"/>
          </a:xfrm>
          <a:prstGeom prst="ellipse">
            <a:avLst/>
          </a:prstGeom>
          <a:solidFill>
            <a:srgbClr val="1E2B45"/>
          </a:solidFill>
          <a:ln w="19050">
            <a:solidFill>
              <a:srgbClr val="10B981"/>
            </a:solidFill>
            <a:prstDash val="solid"/>
          </a:ln>
        </p:spPr>
      </p:sp>
      <p:pic>
        <p:nvPicPr>
          <p:cNvPr id="25" name="Image 3" descr="preencoded.png">    </p:cNvPr>
          <p:cNvPicPr>
            <a:picLocks noChangeAspect="1"/>
          </p:cNvPicPr>
          <p:nvPr/>
        </p:nvPicPr>
        <p:blipFill>
          <a:blip r:embed="rId4"/>
          <a:stretch>
            <a:fillRect/>
          </a:stretch>
        </p:blipFill>
        <p:spPr>
          <a:xfrm>
            <a:off x="6486754" y="3304642"/>
            <a:ext cx="285293" cy="285293"/>
          </a:xfrm>
          <a:prstGeom prst="rect">
            <a:avLst/>
          </a:prstGeom>
        </p:spPr>
      </p:pic>
      <p:sp>
        <p:nvSpPr>
          <p:cNvPr id="26" name="Text 20"/>
          <p:cNvSpPr txBox="1"/>
          <p:nvPr/>
        </p:nvSpPr>
        <p:spPr>
          <a:xfrm>
            <a:off x="7068312" y="314553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Technological architecture</a:t>
            </a:r>
            <a:endParaRPr lang="en-US" sz="1500" dirty="0"/>
          </a:p>
        </p:txBody>
      </p:sp>
      <p:sp>
        <p:nvSpPr>
          <p:cNvPr id="27" name="Text 21"/>
          <p:cNvSpPr txBox="1"/>
          <p:nvPr/>
        </p:nvSpPr>
        <p:spPr>
          <a:xfrm>
            <a:off x="7068312" y="349300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How it's built, and kept safe</a:t>
            </a:r>
            <a:endParaRPr lang="en-US" sz="1200" dirty="0"/>
          </a:p>
        </p:txBody>
      </p:sp>
      <p:sp>
        <p:nvSpPr>
          <p:cNvPr id="28" name="Text 22"/>
          <p:cNvSpPr txBox="1"/>
          <p:nvPr/>
        </p:nvSpPr>
        <p:spPr>
          <a:xfrm>
            <a:off x="9784080" y="3236976"/>
            <a:ext cx="1554480" cy="411480"/>
          </a:xfrm>
          <a:prstGeom prst="rect">
            <a:avLst/>
          </a:prstGeom>
          <a:noFill/>
          <a:ln/>
        </p:spPr>
        <p:txBody>
          <a:bodyPr wrap="square" lIns="0" tIns="0" rIns="0" bIns="0" rtlCol="0" anchor="t"/>
          <a:lstStyle/>
          <a:p>
            <a:pPr algn="r" indent="0" marL="0">
              <a:buNone/>
            </a:pPr>
            <a:r>
              <a:rPr lang="en-US" sz="1600" b="1" dirty="0">
                <a:solidFill>
                  <a:srgbClr val="10B981"/>
                </a:solidFill>
                <a:latin typeface="Georgia" pitchFamily="34" charset="0"/>
                <a:ea typeface="Georgia" pitchFamily="34" charset="-122"/>
                <a:cs typeface="Georgia" pitchFamily="34" charset="-120"/>
              </a:rPr>
              <a:t>18, 20</a:t>
            </a:r>
            <a:endParaRPr lang="en-US" sz="1600" dirty="0"/>
          </a:p>
        </p:txBody>
      </p:sp>
      <p:sp>
        <p:nvSpPr>
          <p:cNvPr id="29" name="Shape 23"/>
          <p:cNvSpPr/>
          <p:nvPr/>
        </p:nvSpPr>
        <p:spPr>
          <a:xfrm>
            <a:off x="548640" y="4023360"/>
            <a:ext cx="5349240" cy="868680"/>
          </a:xfrm>
          <a:prstGeom prst="roundRect">
            <a:avLst>
              <a:gd name="adj" fmla="val 12632"/>
            </a:avLst>
          </a:prstGeom>
          <a:solidFill>
            <a:srgbClr val="17223A"/>
          </a:solidFill>
          <a:ln w="12700">
            <a:solidFill>
              <a:srgbClr val="17223A"/>
            </a:solidFill>
            <a:prstDash val="solid"/>
          </a:ln>
        </p:spPr>
      </p:sp>
      <p:sp>
        <p:nvSpPr>
          <p:cNvPr id="30" name="Shape 24"/>
          <p:cNvSpPr/>
          <p:nvPr/>
        </p:nvSpPr>
        <p:spPr>
          <a:xfrm>
            <a:off x="731520" y="4178808"/>
            <a:ext cx="548640" cy="548640"/>
          </a:xfrm>
          <a:prstGeom prst="ellipse">
            <a:avLst/>
          </a:prstGeom>
          <a:solidFill>
            <a:srgbClr val="1E2B45"/>
          </a:solidFill>
          <a:ln w="19050">
            <a:solidFill>
              <a:srgbClr val="FBBF24"/>
            </a:solidFill>
            <a:prstDash val="solid"/>
          </a:ln>
        </p:spPr>
      </p:sp>
      <p:pic>
        <p:nvPicPr>
          <p:cNvPr id="31" name="Image 4" descr="preencoded.png">    </p:cNvPr>
          <p:cNvPicPr>
            <a:picLocks noChangeAspect="1"/>
          </p:cNvPicPr>
          <p:nvPr/>
        </p:nvPicPr>
        <p:blipFill>
          <a:blip r:embed="rId5"/>
          <a:stretch>
            <a:fillRect/>
          </a:stretch>
        </p:blipFill>
        <p:spPr>
          <a:xfrm>
            <a:off x="863194" y="4310482"/>
            <a:ext cx="285293" cy="285293"/>
          </a:xfrm>
          <a:prstGeom prst="rect">
            <a:avLst/>
          </a:prstGeom>
        </p:spPr>
      </p:pic>
      <p:sp>
        <p:nvSpPr>
          <p:cNvPr id="32" name="Text 25"/>
          <p:cNvSpPr txBox="1"/>
          <p:nvPr/>
        </p:nvSpPr>
        <p:spPr>
          <a:xfrm>
            <a:off x="1444752" y="415137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Competitive analysis</a:t>
            </a:r>
            <a:endParaRPr lang="en-US" sz="1500" dirty="0"/>
          </a:p>
        </p:txBody>
      </p:sp>
      <p:sp>
        <p:nvSpPr>
          <p:cNvPr id="33" name="Text 26"/>
          <p:cNvSpPr txBox="1"/>
          <p:nvPr/>
        </p:nvSpPr>
        <p:spPr>
          <a:xfrm>
            <a:off x="1444752" y="449884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Why we stand out</a:t>
            </a:r>
            <a:endParaRPr lang="en-US" sz="1200" dirty="0"/>
          </a:p>
        </p:txBody>
      </p:sp>
      <p:sp>
        <p:nvSpPr>
          <p:cNvPr id="34" name="Text 27"/>
          <p:cNvSpPr txBox="1"/>
          <p:nvPr/>
        </p:nvSpPr>
        <p:spPr>
          <a:xfrm>
            <a:off x="4160520" y="4242816"/>
            <a:ext cx="1554480" cy="411480"/>
          </a:xfrm>
          <a:prstGeom prst="rect">
            <a:avLst/>
          </a:prstGeom>
          <a:noFill/>
          <a:ln/>
        </p:spPr>
        <p:txBody>
          <a:bodyPr wrap="square" lIns="0" tIns="0" rIns="0" bIns="0" rtlCol="0" anchor="t"/>
          <a:lstStyle/>
          <a:p>
            <a:pPr algn="r" indent="0" marL="0">
              <a:buNone/>
            </a:pPr>
            <a:r>
              <a:rPr lang="en-US" sz="1600" b="1" dirty="0">
                <a:solidFill>
                  <a:srgbClr val="FBBF24"/>
                </a:solidFill>
                <a:latin typeface="Georgia" pitchFamily="34" charset="0"/>
                <a:ea typeface="Georgia" pitchFamily="34" charset="-122"/>
                <a:cs typeface="Georgia" pitchFamily="34" charset="-120"/>
              </a:rPr>
              <a:t>9</a:t>
            </a:r>
            <a:endParaRPr lang="en-US" sz="1600" dirty="0"/>
          </a:p>
        </p:txBody>
      </p:sp>
      <p:sp>
        <p:nvSpPr>
          <p:cNvPr id="35" name="Shape 28"/>
          <p:cNvSpPr/>
          <p:nvPr/>
        </p:nvSpPr>
        <p:spPr>
          <a:xfrm>
            <a:off x="6172200" y="4023360"/>
            <a:ext cx="5349240" cy="868680"/>
          </a:xfrm>
          <a:prstGeom prst="roundRect">
            <a:avLst>
              <a:gd name="adj" fmla="val 12632"/>
            </a:avLst>
          </a:prstGeom>
          <a:solidFill>
            <a:srgbClr val="17223A"/>
          </a:solidFill>
          <a:ln w="12700">
            <a:solidFill>
              <a:srgbClr val="17223A"/>
            </a:solidFill>
            <a:prstDash val="solid"/>
          </a:ln>
        </p:spPr>
      </p:sp>
      <p:sp>
        <p:nvSpPr>
          <p:cNvPr id="36" name="Shape 29"/>
          <p:cNvSpPr/>
          <p:nvPr/>
        </p:nvSpPr>
        <p:spPr>
          <a:xfrm>
            <a:off x="6355080" y="4178808"/>
            <a:ext cx="548640" cy="548640"/>
          </a:xfrm>
          <a:prstGeom prst="ellipse">
            <a:avLst/>
          </a:prstGeom>
          <a:solidFill>
            <a:srgbClr val="1E2B45"/>
          </a:solidFill>
          <a:ln w="19050">
            <a:solidFill>
              <a:srgbClr val="34D399"/>
            </a:solidFill>
            <a:prstDash val="solid"/>
          </a:ln>
        </p:spPr>
      </p:sp>
      <p:pic>
        <p:nvPicPr>
          <p:cNvPr id="37" name="Image 5" descr="preencoded.png">    </p:cNvPr>
          <p:cNvPicPr>
            <a:picLocks noChangeAspect="1"/>
          </p:cNvPicPr>
          <p:nvPr/>
        </p:nvPicPr>
        <p:blipFill>
          <a:blip r:embed="rId6"/>
          <a:stretch>
            <a:fillRect/>
          </a:stretch>
        </p:blipFill>
        <p:spPr>
          <a:xfrm>
            <a:off x="6486754" y="4310482"/>
            <a:ext cx="285293" cy="285293"/>
          </a:xfrm>
          <a:prstGeom prst="rect">
            <a:avLst/>
          </a:prstGeom>
        </p:spPr>
      </p:pic>
      <p:sp>
        <p:nvSpPr>
          <p:cNvPr id="38" name="Text 30"/>
          <p:cNvSpPr txBox="1"/>
          <p:nvPr/>
        </p:nvSpPr>
        <p:spPr>
          <a:xfrm>
            <a:off x="7068312" y="415137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Data privacy policy</a:t>
            </a:r>
            <a:endParaRPr lang="en-US" sz="1500" dirty="0"/>
          </a:p>
        </p:txBody>
      </p:sp>
      <p:sp>
        <p:nvSpPr>
          <p:cNvPr id="39" name="Text 31"/>
          <p:cNvSpPr txBox="1"/>
          <p:nvPr/>
        </p:nvSpPr>
        <p:spPr>
          <a:xfrm>
            <a:off x="7068312" y="449884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What we collect, why, your rights</a:t>
            </a:r>
            <a:endParaRPr lang="en-US" sz="1200" dirty="0"/>
          </a:p>
        </p:txBody>
      </p:sp>
      <p:sp>
        <p:nvSpPr>
          <p:cNvPr id="40" name="Text 32"/>
          <p:cNvSpPr txBox="1"/>
          <p:nvPr/>
        </p:nvSpPr>
        <p:spPr>
          <a:xfrm>
            <a:off x="9784080" y="4242816"/>
            <a:ext cx="1554480" cy="411480"/>
          </a:xfrm>
          <a:prstGeom prst="rect">
            <a:avLst/>
          </a:prstGeom>
          <a:noFill/>
          <a:ln/>
        </p:spPr>
        <p:txBody>
          <a:bodyPr wrap="square" lIns="0" tIns="0" rIns="0" bIns="0" rtlCol="0" anchor="t"/>
          <a:lstStyle/>
          <a:p>
            <a:pPr algn="r" indent="0" marL="0">
              <a:buNone/>
            </a:pPr>
            <a:r>
              <a:rPr lang="en-US" sz="1600" b="1" dirty="0">
                <a:solidFill>
                  <a:srgbClr val="34D399"/>
                </a:solidFill>
                <a:latin typeface="Georgia" pitchFamily="34" charset="0"/>
                <a:ea typeface="Georgia" pitchFamily="34" charset="-122"/>
                <a:cs typeface="Georgia" pitchFamily="34" charset="-120"/>
              </a:rPr>
              <a:t>19</a:t>
            </a:r>
            <a:endParaRPr lang="en-US" sz="1600" dirty="0"/>
          </a:p>
        </p:txBody>
      </p:sp>
      <p:sp>
        <p:nvSpPr>
          <p:cNvPr id="41" name="Shape 33"/>
          <p:cNvSpPr/>
          <p:nvPr/>
        </p:nvSpPr>
        <p:spPr>
          <a:xfrm>
            <a:off x="548640" y="5029200"/>
            <a:ext cx="5349240" cy="868680"/>
          </a:xfrm>
          <a:prstGeom prst="roundRect">
            <a:avLst>
              <a:gd name="adj" fmla="val 12632"/>
            </a:avLst>
          </a:prstGeom>
          <a:solidFill>
            <a:srgbClr val="17223A"/>
          </a:solidFill>
          <a:ln w="12700">
            <a:solidFill>
              <a:srgbClr val="17223A"/>
            </a:solidFill>
            <a:prstDash val="solid"/>
          </a:ln>
        </p:spPr>
      </p:sp>
      <p:sp>
        <p:nvSpPr>
          <p:cNvPr id="42" name="Shape 34"/>
          <p:cNvSpPr/>
          <p:nvPr/>
        </p:nvSpPr>
        <p:spPr>
          <a:xfrm>
            <a:off x="731520" y="5184648"/>
            <a:ext cx="548640" cy="548640"/>
          </a:xfrm>
          <a:prstGeom prst="ellipse">
            <a:avLst/>
          </a:prstGeom>
          <a:solidFill>
            <a:srgbClr val="1E2B45"/>
          </a:solidFill>
          <a:ln w="19050">
            <a:solidFill>
              <a:srgbClr val="F59E0B"/>
            </a:solidFill>
            <a:prstDash val="solid"/>
          </a:ln>
        </p:spPr>
      </p:sp>
      <p:pic>
        <p:nvPicPr>
          <p:cNvPr id="43" name="Image 6" descr="preencoded.png">    </p:cNvPr>
          <p:cNvPicPr>
            <a:picLocks noChangeAspect="1"/>
          </p:cNvPicPr>
          <p:nvPr/>
        </p:nvPicPr>
        <p:blipFill>
          <a:blip r:embed="rId7"/>
          <a:stretch>
            <a:fillRect/>
          </a:stretch>
        </p:blipFill>
        <p:spPr>
          <a:xfrm>
            <a:off x="863194" y="5316322"/>
            <a:ext cx="285293" cy="285293"/>
          </a:xfrm>
          <a:prstGeom prst="rect">
            <a:avLst/>
          </a:prstGeom>
        </p:spPr>
      </p:pic>
      <p:sp>
        <p:nvSpPr>
          <p:cNvPr id="44" name="Text 35"/>
          <p:cNvSpPr txBox="1"/>
          <p:nvPr/>
        </p:nvSpPr>
        <p:spPr>
          <a:xfrm>
            <a:off x="1444752" y="515721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Costs and the ask</a:t>
            </a:r>
            <a:endParaRPr lang="en-US" sz="1500" dirty="0"/>
          </a:p>
        </p:txBody>
      </p:sp>
      <p:sp>
        <p:nvSpPr>
          <p:cNvPr id="45" name="Text 36"/>
          <p:cNvSpPr txBox="1"/>
          <p:nvPr/>
        </p:nvSpPr>
        <p:spPr>
          <a:xfrm>
            <a:off x="1444752" y="550468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Business model, pilot, break-even</a:t>
            </a:r>
            <a:endParaRPr lang="en-US" sz="1200" dirty="0"/>
          </a:p>
        </p:txBody>
      </p:sp>
      <p:sp>
        <p:nvSpPr>
          <p:cNvPr id="46" name="Text 37"/>
          <p:cNvSpPr txBox="1"/>
          <p:nvPr/>
        </p:nvSpPr>
        <p:spPr>
          <a:xfrm>
            <a:off x="4160520" y="5248656"/>
            <a:ext cx="1554480" cy="411480"/>
          </a:xfrm>
          <a:prstGeom prst="rect">
            <a:avLst/>
          </a:prstGeom>
          <a:noFill/>
          <a:ln/>
        </p:spPr>
        <p:txBody>
          <a:bodyPr wrap="square" lIns="0" tIns="0" rIns="0" bIns="0" rtlCol="0" anchor="t"/>
          <a:lstStyle/>
          <a:p>
            <a:pPr algn="r" indent="0" marL="0">
              <a:buNone/>
            </a:pPr>
            <a:r>
              <a:rPr lang="en-US" sz="1600" b="1" dirty="0">
                <a:solidFill>
                  <a:srgbClr val="F59E0B"/>
                </a:solidFill>
                <a:latin typeface="Georgia" pitchFamily="34" charset="0"/>
                <a:ea typeface="Georgia" pitchFamily="34" charset="-122"/>
                <a:cs typeface="Georgia" pitchFamily="34" charset="-120"/>
              </a:rPr>
              <a:t>7, 8, 23</a:t>
            </a:r>
            <a:endParaRPr lang="en-US" sz="1600" dirty="0"/>
          </a:p>
        </p:txBody>
      </p:sp>
      <p:sp>
        <p:nvSpPr>
          <p:cNvPr id="47" name="Shape 38"/>
          <p:cNvSpPr/>
          <p:nvPr/>
        </p:nvSpPr>
        <p:spPr>
          <a:xfrm>
            <a:off x="6172200" y="5029200"/>
            <a:ext cx="5349240" cy="868680"/>
          </a:xfrm>
          <a:prstGeom prst="roundRect">
            <a:avLst>
              <a:gd name="adj" fmla="val 12632"/>
            </a:avLst>
          </a:prstGeom>
          <a:solidFill>
            <a:srgbClr val="17223A"/>
          </a:solidFill>
          <a:ln w="12700">
            <a:solidFill>
              <a:srgbClr val="17223A"/>
            </a:solidFill>
            <a:prstDash val="solid"/>
          </a:ln>
        </p:spPr>
      </p:sp>
      <p:sp>
        <p:nvSpPr>
          <p:cNvPr id="48" name="Shape 39"/>
          <p:cNvSpPr/>
          <p:nvPr/>
        </p:nvSpPr>
        <p:spPr>
          <a:xfrm>
            <a:off x="6355080" y="5184648"/>
            <a:ext cx="548640" cy="548640"/>
          </a:xfrm>
          <a:prstGeom prst="ellipse">
            <a:avLst/>
          </a:prstGeom>
          <a:solidFill>
            <a:srgbClr val="1E2B45"/>
          </a:solidFill>
          <a:ln w="19050">
            <a:solidFill>
              <a:srgbClr val="10B981"/>
            </a:solidFill>
            <a:prstDash val="solid"/>
          </a:ln>
        </p:spPr>
      </p:sp>
      <p:pic>
        <p:nvPicPr>
          <p:cNvPr id="49" name="Image 7" descr="preencoded.png">    </p:cNvPr>
          <p:cNvPicPr>
            <a:picLocks noChangeAspect="1"/>
          </p:cNvPicPr>
          <p:nvPr/>
        </p:nvPicPr>
        <p:blipFill>
          <a:blip r:embed="rId8"/>
          <a:stretch>
            <a:fillRect/>
          </a:stretch>
        </p:blipFill>
        <p:spPr>
          <a:xfrm>
            <a:off x="6486754" y="5316322"/>
            <a:ext cx="285293" cy="285293"/>
          </a:xfrm>
          <a:prstGeom prst="rect">
            <a:avLst/>
          </a:prstGeom>
        </p:spPr>
      </p:pic>
      <p:sp>
        <p:nvSpPr>
          <p:cNvPr id="50" name="Text 40"/>
          <p:cNvSpPr txBox="1"/>
          <p:nvPr/>
        </p:nvSpPr>
        <p:spPr>
          <a:xfrm>
            <a:off x="7068312" y="515721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Market and growth</a:t>
            </a:r>
            <a:endParaRPr lang="en-US" sz="1500" dirty="0"/>
          </a:p>
        </p:txBody>
      </p:sp>
      <p:sp>
        <p:nvSpPr>
          <p:cNvPr id="51" name="Text 41"/>
          <p:cNvSpPr txBox="1"/>
          <p:nvPr/>
        </p:nvSpPr>
        <p:spPr>
          <a:xfrm>
            <a:off x="7068312" y="550468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Opportunity, traction, team</a:t>
            </a:r>
            <a:endParaRPr lang="en-US" sz="1200" dirty="0"/>
          </a:p>
        </p:txBody>
      </p:sp>
      <p:sp>
        <p:nvSpPr>
          <p:cNvPr id="52" name="Text 42"/>
          <p:cNvSpPr txBox="1"/>
          <p:nvPr/>
        </p:nvSpPr>
        <p:spPr>
          <a:xfrm>
            <a:off x="9784080" y="5248656"/>
            <a:ext cx="1554480" cy="411480"/>
          </a:xfrm>
          <a:prstGeom prst="rect">
            <a:avLst/>
          </a:prstGeom>
          <a:noFill/>
          <a:ln/>
        </p:spPr>
        <p:txBody>
          <a:bodyPr wrap="square" lIns="0" tIns="0" rIns="0" bIns="0" rtlCol="0" anchor="t"/>
          <a:lstStyle/>
          <a:p>
            <a:pPr algn="r" indent="0" marL="0">
              <a:buNone/>
            </a:pPr>
            <a:r>
              <a:rPr lang="en-US" sz="1600" b="1" dirty="0">
                <a:solidFill>
                  <a:srgbClr val="10B981"/>
                </a:solidFill>
                <a:latin typeface="Georgia" pitchFamily="34" charset="0"/>
                <a:ea typeface="Georgia" pitchFamily="34" charset="-122"/>
                <a:cs typeface="Georgia" pitchFamily="34" charset="-120"/>
              </a:rPr>
              <a:t>16-17, 21-24</a:t>
            </a:r>
            <a:endParaRPr lang="en-US" sz="1600" dirty="0"/>
          </a:p>
        </p:txBody>
      </p:sp>
      <p:pic>
        <p:nvPicPr>
          <p:cNvPr id="53" name="Image 8" descr="preencoded.png">    </p:cNvPr>
          <p:cNvPicPr>
            <a:picLocks noChangeAspect="1"/>
          </p:cNvPicPr>
          <p:nvPr/>
        </p:nvPicPr>
        <p:blipFill>
          <a:blip r:embed="rId9"/>
          <a:stretch>
            <a:fillRect/>
          </a:stretch>
        </p:blipFill>
        <p:spPr>
          <a:xfrm>
            <a:off x="11231575" y="6291072"/>
            <a:ext cx="384048" cy="384048"/>
          </a:xfrm>
          <a:prstGeom prst="rect">
            <a:avLst/>
          </a:prstGeom>
        </p:spPr>
      </p:pic>
      <p:sp>
        <p:nvSpPr>
          <p:cNvPr id="54" name="Text 4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HOW IT WORKS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One app, at the counter and on site</a:t>
            </a:r>
            <a:endParaRPr lang="en-US" sz="3400" dirty="0"/>
          </a:p>
        </p:txBody>
      </p:sp>
      <p:sp>
        <p:nvSpPr>
          <p:cNvPr id="4" name="Shape 2"/>
          <p:cNvSpPr/>
          <p:nvPr/>
        </p:nvSpPr>
        <p:spPr>
          <a:xfrm>
            <a:off x="681228" y="1691640"/>
            <a:ext cx="1944032" cy="3849624"/>
          </a:xfrm>
          <a:prstGeom prst="roundRect">
            <a:avLst>
              <a:gd name="adj" fmla="val 5644"/>
            </a:avLst>
          </a:prstGeom>
          <a:solidFill>
            <a:srgbClr val="1E2B45"/>
          </a:solidFill>
          <a:ln w="12700">
            <a:solidFill>
              <a:srgbClr val="1E2B45"/>
            </a:solidFill>
            <a:prstDash val="solid"/>
          </a:ln>
        </p:spPr>
      </p:sp>
      <p:pic>
        <p:nvPicPr>
          <p:cNvPr id="5" name="Image 0" descr="preencoded.png">    </p:cNvPr>
          <p:cNvPicPr>
            <a:picLocks noChangeAspect="1"/>
          </p:cNvPicPr>
          <p:nvPr/>
        </p:nvPicPr>
        <p:blipFill>
          <a:blip r:embed="rId1"/>
          <a:stretch>
            <a:fillRect/>
          </a:stretch>
        </p:blipFill>
        <p:spPr>
          <a:xfrm>
            <a:off x="754380" y="1764792"/>
            <a:ext cx="1797728" cy="3703320"/>
          </a:xfrm>
          <a:prstGeom prst="rect">
            <a:avLst/>
          </a:prstGeom>
        </p:spPr>
      </p:pic>
      <p:sp>
        <p:nvSpPr>
          <p:cNvPr id="6" name="Shape 3"/>
          <p:cNvSpPr/>
          <p:nvPr/>
        </p:nvSpPr>
        <p:spPr>
          <a:xfrm>
            <a:off x="553212" y="1563624"/>
            <a:ext cx="402336" cy="402336"/>
          </a:xfrm>
          <a:prstGeom prst="ellipse">
            <a:avLst/>
          </a:prstGeom>
          <a:solidFill>
            <a:srgbClr val="10B981"/>
          </a:solidFill>
          <a:ln w="25400">
            <a:solidFill>
              <a:srgbClr val="0F172A"/>
            </a:solidFill>
            <a:prstDash val="solid"/>
          </a:ln>
        </p:spPr>
      </p:sp>
      <p:sp>
        <p:nvSpPr>
          <p:cNvPr id="7" name="Text 4"/>
          <p:cNvSpPr txBox="1"/>
          <p:nvPr/>
        </p:nvSpPr>
        <p:spPr>
          <a:xfrm>
            <a:off x="553212"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681228" y="5650992"/>
            <a:ext cx="1944032" cy="548640"/>
          </a:xfrm>
          <a:prstGeom prst="rect">
            <a:avLst/>
          </a:prstGeom>
          <a:noFill/>
          <a:ln/>
        </p:spPr>
        <p:txBody>
          <a:bodyPr wrap="square" lIns="0" tIns="0" rIns="0" bIns="0" rtlCol="0" anchor="t"/>
          <a:lstStyle/>
          <a:p>
            <a:pPr algn="ctr" indent="0" marL="0">
              <a:buNone/>
            </a:pPr>
            <a:r>
              <a:rPr lang="en-US" sz="1200" b="1" dirty="0">
                <a:solidFill>
                  <a:srgbClr val="F8FAFC"/>
                </a:solidFill>
                <a:latin typeface="Calibri" pitchFamily="34" charset="0"/>
                <a:ea typeface="Calibri" pitchFamily="34" charset="-122"/>
                <a:cs typeface="Calibri" pitchFamily="34" charset="-120"/>
              </a:rPr>
              <a:t>Switch on the tools your business needs</a:t>
            </a:r>
            <a:endParaRPr lang="en-US" sz="1200" dirty="0"/>
          </a:p>
        </p:txBody>
      </p:sp>
      <p:sp>
        <p:nvSpPr>
          <p:cNvPr id="9" name="Shape 6"/>
          <p:cNvSpPr/>
          <p:nvPr/>
        </p:nvSpPr>
        <p:spPr>
          <a:xfrm>
            <a:off x="2903220" y="1691640"/>
            <a:ext cx="1944032" cy="3849624"/>
          </a:xfrm>
          <a:prstGeom prst="roundRect">
            <a:avLst>
              <a:gd name="adj" fmla="val 5644"/>
            </a:avLst>
          </a:prstGeom>
          <a:solidFill>
            <a:srgbClr val="1E2B45"/>
          </a:solidFill>
          <a:ln w="12700">
            <a:solidFill>
              <a:srgbClr val="1E2B45"/>
            </a:solidFill>
            <a:prstDash val="solid"/>
          </a:ln>
        </p:spPr>
      </p:sp>
      <p:pic>
        <p:nvPicPr>
          <p:cNvPr id="10" name="Image 1" descr="preencoded.png">    </p:cNvPr>
          <p:cNvPicPr>
            <a:picLocks noChangeAspect="1"/>
          </p:cNvPicPr>
          <p:nvPr/>
        </p:nvPicPr>
        <p:blipFill>
          <a:blip r:embed="rId2"/>
          <a:stretch>
            <a:fillRect/>
          </a:stretch>
        </p:blipFill>
        <p:spPr>
          <a:xfrm>
            <a:off x="2976372" y="1764792"/>
            <a:ext cx="1797728" cy="3703320"/>
          </a:xfrm>
          <a:prstGeom prst="rect">
            <a:avLst/>
          </a:prstGeom>
        </p:spPr>
      </p:pic>
      <p:sp>
        <p:nvSpPr>
          <p:cNvPr id="11" name="Shape 7"/>
          <p:cNvSpPr/>
          <p:nvPr/>
        </p:nvSpPr>
        <p:spPr>
          <a:xfrm>
            <a:off x="2775204" y="1563624"/>
            <a:ext cx="402336" cy="402336"/>
          </a:xfrm>
          <a:prstGeom prst="ellipse">
            <a:avLst/>
          </a:prstGeom>
          <a:solidFill>
            <a:srgbClr val="FBBF24"/>
          </a:solidFill>
          <a:ln w="25400">
            <a:solidFill>
              <a:srgbClr val="0F172A"/>
            </a:solidFill>
            <a:prstDash val="solid"/>
          </a:ln>
        </p:spPr>
      </p:sp>
      <p:sp>
        <p:nvSpPr>
          <p:cNvPr id="12" name="Text 8"/>
          <p:cNvSpPr txBox="1"/>
          <p:nvPr/>
        </p:nvSpPr>
        <p:spPr>
          <a:xfrm>
            <a:off x="2775204"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13" name="Text 9"/>
          <p:cNvSpPr txBox="1"/>
          <p:nvPr/>
        </p:nvSpPr>
        <p:spPr>
          <a:xfrm>
            <a:off x="2903220" y="5650992"/>
            <a:ext cx="1944032" cy="548640"/>
          </a:xfrm>
          <a:prstGeom prst="rect">
            <a:avLst/>
          </a:prstGeom>
          <a:noFill/>
          <a:ln/>
        </p:spPr>
        <p:txBody>
          <a:bodyPr wrap="square" lIns="0" tIns="0" rIns="0" bIns="0" rtlCol="0" anchor="t"/>
          <a:lstStyle/>
          <a:p>
            <a:pPr algn="ctr" indent="0" marL="0">
              <a:buNone/>
            </a:pPr>
            <a:r>
              <a:rPr lang="en-US" sz="1200" b="1" dirty="0">
                <a:solidFill>
                  <a:srgbClr val="F8FAFC"/>
                </a:solidFill>
                <a:latin typeface="Calibri" pitchFamily="34" charset="0"/>
                <a:ea typeface="Calibri" pitchFamily="34" charset="-122"/>
                <a:cs typeface="Calibri" pitchFamily="34" charset="-120"/>
              </a:rPr>
              <a:t>Your own suppliers, and ones that fit you</a:t>
            </a:r>
            <a:endParaRPr lang="en-US" sz="1200" dirty="0"/>
          </a:p>
        </p:txBody>
      </p:sp>
      <p:sp>
        <p:nvSpPr>
          <p:cNvPr id="14" name="Shape 10"/>
          <p:cNvSpPr/>
          <p:nvPr/>
        </p:nvSpPr>
        <p:spPr>
          <a:xfrm>
            <a:off x="5125212" y="1691640"/>
            <a:ext cx="1944032" cy="3849624"/>
          </a:xfrm>
          <a:prstGeom prst="roundRect">
            <a:avLst>
              <a:gd name="adj" fmla="val 5644"/>
            </a:avLst>
          </a:prstGeom>
          <a:solidFill>
            <a:srgbClr val="1E2B45"/>
          </a:solidFill>
          <a:ln w="12700">
            <a:solidFill>
              <a:srgbClr val="1E2B45"/>
            </a:solidFill>
            <a:prstDash val="solid"/>
          </a:ln>
        </p:spPr>
      </p:sp>
      <p:pic>
        <p:nvPicPr>
          <p:cNvPr id="15" name="Image 2" descr="preencoded.png">    </p:cNvPr>
          <p:cNvPicPr>
            <a:picLocks noChangeAspect="1"/>
          </p:cNvPicPr>
          <p:nvPr/>
        </p:nvPicPr>
        <p:blipFill>
          <a:blip r:embed="rId3"/>
          <a:stretch>
            <a:fillRect/>
          </a:stretch>
        </p:blipFill>
        <p:spPr>
          <a:xfrm>
            <a:off x="5198364" y="1764792"/>
            <a:ext cx="1797728" cy="3703320"/>
          </a:xfrm>
          <a:prstGeom prst="rect">
            <a:avLst/>
          </a:prstGeom>
        </p:spPr>
      </p:pic>
      <p:sp>
        <p:nvSpPr>
          <p:cNvPr id="16" name="Shape 11"/>
          <p:cNvSpPr/>
          <p:nvPr/>
        </p:nvSpPr>
        <p:spPr>
          <a:xfrm>
            <a:off x="4997196" y="1563624"/>
            <a:ext cx="402336" cy="402336"/>
          </a:xfrm>
          <a:prstGeom prst="ellipse">
            <a:avLst/>
          </a:prstGeom>
          <a:solidFill>
            <a:srgbClr val="34D399"/>
          </a:solidFill>
          <a:ln w="25400">
            <a:solidFill>
              <a:srgbClr val="0F172A"/>
            </a:solidFill>
            <a:prstDash val="solid"/>
          </a:ln>
        </p:spPr>
      </p:sp>
      <p:sp>
        <p:nvSpPr>
          <p:cNvPr id="17" name="Text 12"/>
          <p:cNvSpPr txBox="1"/>
          <p:nvPr/>
        </p:nvSpPr>
        <p:spPr>
          <a:xfrm>
            <a:off x="4997196"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sp>
        <p:nvSpPr>
          <p:cNvPr id="18" name="Text 13"/>
          <p:cNvSpPr txBox="1"/>
          <p:nvPr/>
        </p:nvSpPr>
        <p:spPr>
          <a:xfrm>
            <a:off x="5125212" y="5650992"/>
            <a:ext cx="1944032" cy="548640"/>
          </a:xfrm>
          <a:prstGeom prst="rect">
            <a:avLst/>
          </a:prstGeom>
          <a:noFill/>
          <a:ln/>
        </p:spPr>
        <p:txBody>
          <a:bodyPr wrap="square" lIns="0" tIns="0" rIns="0" bIns="0" rtlCol="0" anchor="t"/>
          <a:lstStyle/>
          <a:p>
            <a:pPr algn="ctr" indent="0" marL="0">
              <a:buNone/>
            </a:pPr>
            <a:r>
              <a:rPr lang="en-US" sz="1200" b="1" dirty="0">
                <a:solidFill>
                  <a:srgbClr val="F8FAFC"/>
                </a:solidFill>
                <a:latin typeface="Calibri" pitchFamily="34" charset="0"/>
                <a:ea typeface="Calibri" pitchFamily="34" charset="-122"/>
                <a:cs typeface="Calibri" pitchFamily="34" charset="-120"/>
              </a:rPr>
              <a:t>Pay on PayFast's page, confirmed by the provider</a:t>
            </a:r>
            <a:endParaRPr lang="en-US" sz="1200" dirty="0"/>
          </a:p>
        </p:txBody>
      </p:sp>
      <p:sp>
        <p:nvSpPr>
          <p:cNvPr id="19" name="Shape 14"/>
          <p:cNvSpPr/>
          <p:nvPr/>
        </p:nvSpPr>
        <p:spPr>
          <a:xfrm>
            <a:off x="7347204" y="1691640"/>
            <a:ext cx="1944032" cy="3849624"/>
          </a:xfrm>
          <a:prstGeom prst="roundRect">
            <a:avLst>
              <a:gd name="adj" fmla="val 5644"/>
            </a:avLst>
          </a:prstGeom>
          <a:solidFill>
            <a:srgbClr val="1E2B45"/>
          </a:solidFill>
          <a:ln w="12700">
            <a:solidFill>
              <a:srgbClr val="1E2B45"/>
            </a:solidFill>
            <a:prstDash val="solid"/>
          </a:ln>
        </p:spPr>
      </p:sp>
      <p:pic>
        <p:nvPicPr>
          <p:cNvPr id="20" name="Image 3" descr="preencoded.png">    </p:cNvPr>
          <p:cNvPicPr>
            <a:picLocks noChangeAspect="1"/>
          </p:cNvPicPr>
          <p:nvPr/>
        </p:nvPicPr>
        <p:blipFill>
          <a:blip r:embed="rId4"/>
          <a:stretch>
            <a:fillRect/>
          </a:stretch>
        </p:blipFill>
        <p:spPr>
          <a:xfrm>
            <a:off x="7420356" y="1764792"/>
            <a:ext cx="1797728" cy="3703320"/>
          </a:xfrm>
          <a:prstGeom prst="rect">
            <a:avLst/>
          </a:prstGeom>
        </p:spPr>
      </p:pic>
      <p:sp>
        <p:nvSpPr>
          <p:cNvPr id="21" name="Shape 15"/>
          <p:cNvSpPr/>
          <p:nvPr/>
        </p:nvSpPr>
        <p:spPr>
          <a:xfrm>
            <a:off x="7219188" y="1563624"/>
            <a:ext cx="402336" cy="402336"/>
          </a:xfrm>
          <a:prstGeom prst="ellipse">
            <a:avLst/>
          </a:prstGeom>
          <a:solidFill>
            <a:srgbClr val="10B981"/>
          </a:solidFill>
          <a:ln w="25400">
            <a:solidFill>
              <a:srgbClr val="0F172A"/>
            </a:solidFill>
            <a:prstDash val="solid"/>
          </a:ln>
        </p:spPr>
      </p:sp>
      <p:sp>
        <p:nvSpPr>
          <p:cNvPr id="22" name="Text 16"/>
          <p:cNvSpPr txBox="1"/>
          <p:nvPr/>
        </p:nvSpPr>
        <p:spPr>
          <a:xfrm>
            <a:off x="7219188"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4</a:t>
            </a:r>
            <a:endParaRPr lang="en-US" sz="1400" dirty="0"/>
          </a:p>
        </p:txBody>
      </p:sp>
      <p:sp>
        <p:nvSpPr>
          <p:cNvPr id="23" name="Text 17"/>
          <p:cNvSpPr txBox="1"/>
          <p:nvPr/>
        </p:nvSpPr>
        <p:spPr>
          <a:xfrm>
            <a:off x="7347204" y="5650992"/>
            <a:ext cx="1944032" cy="548640"/>
          </a:xfrm>
          <a:prstGeom prst="rect">
            <a:avLst/>
          </a:prstGeom>
          <a:noFill/>
          <a:ln/>
        </p:spPr>
        <p:txBody>
          <a:bodyPr wrap="square" lIns="0" tIns="0" rIns="0" bIns="0" rtlCol="0" anchor="t"/>
          <a:lstStyle/>
          <a:p>
            <a:pPr algn="ctr" indent="0" marL="0">
              <a:buNone/>
            </a:pPr>
            <a:r>
              <a:rPr lang="en-US" sz="1200" b="1" dirty="0">
                <a:solidFill>
                  <a:srgbClr val="F8FAFC"/>
                </a:solidFill>
                <a:latin typeface="Calibri" pitchFamily="34" charset="0"/>
                <a:ea typeface="Calibri" pitchFamily="34" charset="-122"/>
                <a:cs typeface="Calibri" pitchFamily="34" charset="-120"/>
              </a:rPr>
              <a:t>Who owes you, with customers' names private</a:t>
            </a:r>
            <a:endParaRPr lang="en-US" sz="1200" dirty="0"/>
          </a:p>
        </p:txBody>
      </p:sp>
      <p:sp>
        <p:nvSpPr>
          <p:cNvPr id="24" name="Shape 18"/>
          <p:cNvSpPr/>
          <p:nvPr/>
        </p:nvSpPr>
        <p:spPr>
          <a:xfrm>
            <a:off x="9569196" y="1691640"/>
            <a:ext cx="1944032" cy="3849624"/>
          </a:xfrm>
          <a:prstGeom prst="roundRect">
            <a:avLst>
              <a:gd name="adj" fmla="val 5644"/>
            </a:avLst>
          </a:prstGeom>
          <a:solidFill>
            <a:srgbClr val="1E2B45"/>
          </a:solidFill>
          <a:ln w="12700">
            <a:solidFill>
              <a:srgbClr val="1E2B45"/>
            </a:solidFill>
            <a:prstDash val="solid"/>
          </a:ln>
        </p:spPr>
      </p:sp>
      <p:pic>
        <p:nvPicPr>
          <p:cNvPr id="25" name="Image 4" descr="preencoded.png">    </p:cNvPr>
          <p:cNvPicPr>
            <a:picLocks noChangeAspect="1"/>
          </p:cNvPicPr>
          <p:nvPr/>
        </p:nvPicPr>
        <p:blipFill>
          <a:blip r:embed="rId5"/>
          <a:stretch>
            <a:fillRect/>
          </a:stretch>
        </p:blipFill>
        <p:spPr>
          <a:xfrm>
            <a:off x="9642348" y="1764792"/>
            <a:ext cx="1797728" cy="3703320"/>
          </a:xfrm>
          <a:prstGeom prst="rect">
            <a:avLst/>
          </a:prstGeom>
        </p:spPr>
      </p:pic>
      <p:sp>
        <p:nvSpPr>
          <p:cNvPr id="26" name="Shape 19"/>
          <p:cNvSpPr/>
          <p:nvPr/>
        </p:nvSpPr>
        <p:spPr>
          <a:xfrm>
            <a:off x="9441180" y="1563624"/>
            <a:ext cx="402336" cy="402336"/>
          </a:xfrm>
          <a:prstGeom prst="ellipse">
            <a:avLst/>
          </a:prstGeom>
          <a:solidFill>
            <a:srgbClr val="FBBF24"/>
          </a:solidFill>
          <a:ln w="25400">
            <a:solidFill>
              <a:srgbClr val="0F172A"/>
            </a:solidFill>
            <a:prstDash val="solid"/>
          </a:ln>
        </p:spPr>
      </p:sp>
      <p:sp>
        <p:nvSpPr>
          <p:cNvPr id="27" name="Text 20"/>
          <p:cNvSpPr txBox="1"/>
          <p:nvPr/>
        </p:nvSpPr>
        <p:spPr>
          <a:xfrm>
            <a:off x="9441180"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5</a:t>
            </a:r>
            <a:endParaRPr lang="en-US" sz="1400" dirty="0"/>
          </a:p>
        </p:txBody>
      </p:sp>
      <p:sp>
        <p:nvSpPr>
          <p:cNvPr id="28" name="Text 21"/>
          <p:cNvSpPr txBox="1"/>
          <p:nvPr/>
        </p:nvSpPr>
        <p:spPr>
          <a:xfrm>
            <a:off x="9569196" y="5650992"/>
            <a:ext cx="1944032" cy="548640"/>
          </a:xfrm>
          <a:prstGeom prst="rect">
            <a:avLst/>
          </a:prstGeom>
          <a:noFill/>
          <a:ln/>
        </p:spPr>
        <p:txBody>
          <a:bodyPr wrap="square" lIns="0" tIns="0" rIns="0" bIns="0" rtlCol="0" anchor="t"/>
          <a:lstStyle/>
          <a:p>
            <a:pPr algn="ctr" indent="0" marL="0">
              <a:buNone/>
            </a:pPr>
            <a:r>
              <a:rPr lang="en-US" sz="1200" b="1" dirty="0">
                <a:solidFill>
                  <a:srgbClr val="F8FAFC"/>
                </a:solidFill>
                <a:latin typeface="Calibri" pitchFamily="34" charset="0"/>
                <a:ea typeface="Calibri" pitchFamily="34" charset="-122"/>
                <a:cs typeface="Calibri" pitchFamily="34" charset="-120"/>
              </a:rPr>
              <a:t>A builder's job in stages, signed off by the client</a:t>
            </a:r>
            <a:endParaRPr lang="en-US" sz="1200" dirty="0"/>
          </a:p>
        </p:txBody>
      </p:sp>
      <p:pic>
        <p:nvPicPr>
          <p:cNvPr id="29" name="Image 5" descr="preencoded.png">    </p:cNvPr>
          <p:cNvPicPr>
            <a:picLocks noChangeAspect="1"/>
          </p:cNvPicPr>
          <p:nvPr/>
        </p:nvPicPr>
        <p:blipFill>
          <a:blip r:embed="rId6"/>
          <a:stretch>
            <a:fillRect/>
          </a:stretch>
        </p:blipFill>
        <p:spPr>
          <a:xfrm>
            <a:off x="11231575" y="6291072"/>
            <a:ext cx="384048" cy="384048"/>
          </a:xfrm>
          <a:prstGeom prst="rect">
            <a:avLst/>
          </a:prstGeom>
        </p:spPr>
      </p:pic>
      <p:sp>
        <p:nvSpPr>
          <p:cNvPr id="30" name="Text 2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NOBODY HAS FIXED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Business tools were built for the formal few</a:t>
            </a:r>
            <a:endParaRPr lang="en-US" sz="3400" dirty="0"/>
          </a:p>
        </p:txBody>
      </p:sp>
      <p:sp>
        <p:nvSpPr>
          <p:cNvPr id="4" name="Shape 2"/>
          <p:cNvSpPr/>
          <p:nvPr/>
        </p:nvSpPr>
        <p:spPr>
          <a:xfrm>
            <a:off x="548640" y="1828800"/>
            <a:ext cx="5394960" cy="4114800"/>
          </a:xfrm>
          <a:prstGeom prst="roundRect">
            <a:avLst>
              <a:gd name="adj" fmla="val 2667"/>
            </a:avLst>
          </a:prstGeom>
          <a:solidFill>
            <a:srgbClr val="17223A"/>
          </a:solidFill>
          <a:ln w="12700">
            <a:solidFill>
              <a:srgbClr val="17223A"/>
            </a:solidFill>
            <a:prstDash val="solid"/>
          </a:ln>
        </p:spPr>
      </p:sp>
      <p:sp>
        <p:nvSpPr>
          <p:cNvPr id="5" name="Text 3"/>
          <p:cNvSpPr txBox="1"/>
          <p:nvPr/>
        </p:nvSpPr>
        <p:spPr>
          <a:xfrm>
            <a:off x="868680" y="2057400"/>
            <a:ext cx="4754880" cy="411480"/>
          </a:xfrm>
          <a:prstGeom prst="rect">
            <a:avLst/>
          </a:prstGeom>
          <a:noFill/>
          <a:ln/>
        </p:spPr>
        <p:txBody>
          <a:bodyPr wrap="square" lIns="0" tIns="0" rIns="0" bIns="0" rtlCol="0" anchor="t"/>
          <a:lstStyle/>
          <a:p>
            <a:pPr indent="0" marL="0">
              <a:buNone/>
            </a:pPr>
            <a:r>
              <a:rPr lang="en-US" sz="1900" b="1" dirty="0">
                <a:solidFill>
                  <a:srgbClr val="A3B3C9"/>
                </a:solidFill>
                <a:latin typeface="Calibri" pitchFamily="34" charset="0"/>
                <a:ea typeface="Calibri" pitchFamily="34" charset="-122"/>
                <a:cs typeface="Calibri" pitchFamily="34" charset="-120"/>
              </a:rPr>
              <a:t>What the tools assume</a:t>
            </a:r>
            <a:endParaRPr lang="en-US" sz="1900" dirty="0"/>
          </a:p>
        </p:txBody>
      </p:sp>
      <p:sp>
        <p:nvSpPr>
          <p:cNvPr id="6" name="Shape 4"/>
          <p:cNvSpPr/>
          <p:nvPr/>
        </p:nvSpPr>
        <p:spPr>
          <a:xfrm>
            <a:off x="868680" y="2697480"/>
            <a:ext cx="457200" cy="457200"/>
          </a:xfrm>
          <a:prstGeom prst="ellipse">
            <a:avLst/>
          </a:prstGeom>
          <a:solidFill>
            <a:srgbClr val="1E2B45"/>
          </a:solidFill>
          <a:ln w="19050">
            <a:solidFill>
              <a:srgbClr val="64748B"/>
            </a:solidFill>
            <a:prstDash val="solid"/>
          </a:ln>
        </p:spPr>
      </p:sp>
      <p:pic>
        <p:nvPicPr>
          <p:cNvPr id="7" name="Image 0" descr="preencoded.png">    </p:cNvPr>
          <p:cNvPicPr>
            <a:picLocks noChangeAspect="1"/>
          </p:cNvPicPr>
          <p:nvPr/>
        </p:nvPicPr>
        <p:blipFill>
          <a:blip r:embed="rId1"/>
          <a:stretch>
            <a:fillRect/>
          </a:stretch>
        </p:blipFill>
        <p:spPr>
          <a:xfrm>
            <a:off x="978408" y="2807208"/>
            <a:ext cx="237744" cy="237744"/>
          </a:xfrm>
          <a:prstGeom prst="rect">
            <a:avLst/>
          </a:prstGeom>
        </p:spPr>
      </p:pic>
      <p:sp>
        <p:nvSpPr>
          <p:cNvPr id="8" name="Text 5"/>
          <p:cNvSpPr txBox="1"/>
          <p:nvPr/>
        </p:nvSpPr>
        <p:spPr>
          <a:xfrm>
            <a:off x="1463040" y="276148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A registered company and a bookkeeper</a:t>
            </a:r>
            <a:endParaRPr lang="en-US" sz="1600" dirty="0"/>
          </a:p>
        </p:txBody>
      </p:sp>
      <p:sp>
        <p:nvSpPr>
          <p:cNvPr id="9" name="Shape 6"/>
          <p:cNvSpPr/>
          <p:nvPr/>
        </p:nvSpPr>
        <p:spPr>
          <a:xfrm>
            <a:off x="868680" y="3474720"/>
            <a:ext cx="457200" cy="457200"/>
          </a:xfrm>
          <a:prstGeom prst="ellipse">
            <a:avLst/>
          </a:prstGeom>
          <a:solidFill>
            <a:srgbClr val="1E2B45"/>
          </a:solidFill>
          <a:ln w="19050">
            <a:solidFill>
              <a:srgbClr val="64748B"/>
            </a:solidFill>
            <a:prstDash val="solid"/>
          </a:ln>
        </p:spPr>
      </p:sp>
      <p:pic>
        <p:nvPicPr>
          <p:cNvPr id="10" name="Image 1" descr="preencoded.png">    </p:cNvPr>
          <p:cNvPicPr>
            <a:picLocks noChangeAspect="1"/>
          </p:cNvPicPr>
          <p:nvPr/>
        </p:nvPicPr>
        <p:blipFill>
          <a:blip r:embed="rId2"/>
          <a:stretch>
            <a:fillRect/>
          </a:stretch>
        </p:blipFill>
        <p:spPr>
          <a:xfrm>
            <a:off x="978408" y="3584448"/>
            <a:ext cx="237744" cy="237744"/>
          </a:xfrm>
          <a:prstGeom prst="rect">
            <a:avLst/>
          </a:prstGeom>
        </p:spPr>
      </p:pic>
      <p:sp>
        <p:nvSpPr>
          <p:cNvPr id="11" name="Text 7"/>
          <p:cNvSpPr txBox="1"/>
          <p:nvPr/>
        </p:nvSpPr>
        <p:spPr>
          <a:xfrm>
            <a:off x="1463040" y="353872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Card machines and bank statements</a:t>
            </a:r>
            <a:endParaRPr lang="en-US" sz="1600" dirty="0"/>
          </a:p>
        </p:txBody>
      </p:sp>
      <p:sp>
        <p:nvSpPr>
          <p:cNvPr id="12" name="Shape 8"/>
          <p:cNvSpPr/>
          <p:nvPr/>
        </p:nvSpPr>
        <p:spPr>
          <a:xfrm>
            <a:off x="868680" y="4251960"/>
            <a:ext cx="457200" cy="457200"/>
          </a:xfrm>
          <a:prstGeom prst="ellipse">
            <a:avLst/>
          </a:prstGeom>
          <a:solidFill>
            <a:srgbClr val="1E2B45"/>
          </a:solidFill>
          <a:ln w="19050">
            <a:solidFill>
              <a:srgbClr val="64748B"/>
            </a:solidFill>
            <a:prstDash val="solid"/>
          </a:ln>
        </p:spPr>
      </p:sp>
      <p:pic>
        <p:nvPicPr>
          <p:cNvPr id="13" name="Image 2" descr="preencoded.png">    </p:cNvPr>
          <p:cNvPicPr>
            <a:picLocks noChangeAspect="1"/>
          </p:cNvPicPr>
          <p:nvPr/>
        </p:nvPicPr>
        <p:blipFill>
          <a:blip r:embed="rId3"/>
          <a:stretch>
            <a:fillRect/>
          </a:stretch>
        </p:blipFill>
        <p:spPr>
          <a:xfrm>
            <a:off x="978408" y="4361688"/>
            <a:ext cx="237744" cy="237744"/>
          </a:xfrm>
          <a:prstGeom prst="rect">
            <a:avLst/>
          </a:prstGeom>
        </p:spPr>
      </p:pic>
      <p:sp>
        <p:nvSpPr>
          <p:cNvPr id="14" name="Text 9"/>
          <p:cNvSpPr txBox="1"/>
          <p:nvPr/>
        </p:nvSpPr>
        <p:spPr>
          <a:xfrm>
            <a:off x="1463040" y="431596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Time at a desk to capture everything</a:t>
            </a:r>
            <a:endParaRPr lang="en-US" sz="1600" dirty="0"/>
          </a:p>
        </p:txBody>
      </p:sp>
      <p:sp>
        <p:nvSpPr>
          <p:cNvPr id="15" name="Shape 10"/>
          <p:cNvSpPr/>
          <p:nvPr/>
        </p:nvSpPr>
        <p:spPr>
          <a:xfrm>
            <a:off x="868680" y="5029200"/>
            <a:ext cx="457200" cy="457200"/>
          </a:xfrm>
          <a:prstGeom prst="ellipse">
            <a:avLst/>
          </a:prstGeom>
          <a:solidFill>
            <a:srgbClr val="1E2B45"/>
          </a:solidFill>
          <a:ln w="19050">
            <a:solidFill>
              <a:srgbClr val="64748B"/>
            </a:solidFill>
            <a:prstDash val="solid"/>
          </a:ln>
        </p:spPr>
      </p:sp>
      <p:pic>
        <p:nvPicPr>
          <p:cNvPr id="16" name="Image 3" descr="preencoded.png">    </p:cNvPr>
          <p:cNvPicPr>
            <a:picLocks noChangeAspect="1"/>
          </p:cNvPicPr>
          <p:nvPr/>
        </p:nvPicPr>
        <p:blipFill>
          <a:blip r:embed="rId4"/>
          <a:stretch>
            <a:fillRect/>
          </a:stretch>
        </p:blipFill>
        <p:spPr>
          <a:xfrm>
            <a:off x="978408" y="5138928"/>
            <a:ext cx="237744" cy="237744"/>
          </a:xfrm>
          <a:prstGeom prst="rect">
            <a:avLst/>
          </a:prstGeom>
        </p:spPr>
      </p:pic>
      <p:sp>
        <p:nvSpPr>
          <p:cNvPr id="17" name="Text 11"/>
          <p:cNvSpPr txBox="1"/>
          <p:nvPr/>
        </p:nvSpPr>
        <p:spPr>
          <a:xfrm>
            <a:off x="1463040" y="509320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One supplier's shop, or a marketplace</a:t>
            </a:r>
            <a:endParaRPr lang="en-US" sz="1600" dirty="0"/>
          </a:p>
        </p:txBody>
      </p:sp>
      <p:sp>
        <p:nvSpPr>
          <p:cNvPr id="18" name="Shape 12"/>
          <p:cNvSpPr/>
          <p:nvPr/>
        </p:nvSpPr>
        <p:spPr>
          <a:xfrm>
            <a:off x="6217920" y="1828800"/>
            <a:ext cx="5394960" cy="4114800"/>
          </a:xfrm>
          <a:prstGeom prst="roundRect">
            <a:avLst>
              <a:gd name="adj" fmla="val 2667"/>
            </a:avLst>
          </a:prstGeom>
          <a:solidFill>
            <a:srgbClr val="1E2B45"/>
          </a:solidFill>
          <a:ln w="12700">
            <a:solidFill>
              <a:srgbClr val="1E2B45"/>
            </a:solidFill>
            <a:prstDash val="solid"/>
          </a:ln>
        </p:spPr>
      </p:sp>
      <p:sp>
        <p:nvSpPr>
          <p:cNvPr id="19" name="Text 13"/>
          <p:cNvSpPr txBox="1"/>
          <p:nvPr/>
        </p:nvSpPr>
        <p:spPr>
          <a:xfrm>
            <a:off x="6537960" y="2057400"/>
            <a:ext cx="4846320" cy="411480"/>
          </a:xfrm>
          <a:prstGeom prst="rect">
            <a:avLst/>
          </a:prstGeom>
          <a:noFill/>
          <a:ln/>
        </p:spPr>
        <p:txBody>
          <a:bodyPr wrap="square" lIns="0" tIns="0" rIns="0" bIns="0" rtlCol="0" anchor="t"/>
          <a:lstStyle/>
          <a:p>
            <a:pPr indent="0" marL="0">
              <a:buNone/>
            </a:pPr>
            <a:r>
              <a:rPr lang="en-US" sz="1900" b="1" dirty="0">
                <a:solidFill>
                  <a:srgbClr val="34D399"/>
                </a:solidFill>
                <a:latin typeface="Calibri" pitchFamily="34" charset="0"/>
                <a:ea typeface="Calibri" pitchFamily="34" charset="-122"/>
                <a:cs typeface="Calibri" pitchFamily="34" charset="-120"/>
              </a:rPr>
              <a:t>How they really work</a:t>
            </a:r>
            <a:endParaRPr lang="en-US" sz="1900" dirty="0"/>
          </a:p>
        </p:txBody>
      </p:sp>
      <p:sp>
        <p:nvSpPr>
          <p:cNvPr id="20" name="Shape 14"/>
          <p:cNvSpPr/>
          <p:nvPr/>
        </p:nvSpPr>
        <p:spPr>
          <a:xfrm>
            <a:off x="6537960" y="2697480"/>
            <a:ext cx="457200" cy="457200"/>
          </a:xfrm>
          <a:prstGeom prst="ellipse">
            <a:avLst/>
          </a:prstGeom>
          <a:solidFill>
            <a:srgbClr val="1E2B45"/>
          </a:solidFill>
          <a:ln w="19050">
            <a:solidFill>
              <a:srgbClr val="10B981"/>
            </a:solidFill>
            <a:prstDash val="solid"/>
          </a:ln>
        </p:spPr>
      </p:sp>
      <p:pic>
        <p:nvPicPr>
          <p:cNvPr id="21" name="Image 4" descr="preencoded.png">    </p:cNvPr>
          <p:cNvPicPr>
            <a:picLocks noChangeAspect="1"/>
          </p:cNvPicPr>
          <p:nvPr/>
        </p:nvPicPr>
        <p:blipFill>
          <a:blip r:embed="rId5"/>
          <a:stretch>
            <a:fillRect/>
          </a:stretch>
        </p:blipFill>
        <p:spPr>
          <a:xfrm>
            <a:off x="6647688" y="2807208"/>
            <a:ext cx="237744" cy="237744"/>
          </a:xfrm>
          <a:prstGeom prst="rect">
            <a:avLst/>
          </a:prstGeom>
        </p:spPr>
      </p:pic>
      <p:sp>
        <p:nvSpPr>
          <p:cNvPr id="22" name="Text 15"/>
          <p:cNvSpPr txBox="1"/>
          <p:nvPr/>
        </p:nvSpPr>
        <p:spPr>
          <a:xfrm>
            <a:off x="7132320" y="276148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Cash, credit on trust, and memory</a:t>
            </a:r>
            <a:endParaRPr lang="en-US" sz="1600" dirty="0"/>
          </a:p>
        </p:txBody>
      </p:sp>
      <p:sp>
        <p:nvSpPr>
          <p:cNvPr id="23" name="Shape 16"/>
          <p:cNvSpPr/>
          <p:nvPr/>
        </p:nvSpPr>
        <p:spPr>
          <a:xfrm>
            <a:off x="6537960" y="3474720"/>
            <a:ext cx="457200" cy="457200"/>
          </a:xfrm>
          <a:prstGeom prst="ellipse">
            <a:avLst/>
          </a:prstGeom>
          <a:solidFill>
            <a:srgbClr val="1E2B45"/>
          </a:solidFill>
          <a:ln w="19050">
            <a:solidFill>
              <a:srgbClr val="10B981"/>
            </a:solidFill>
            <a:prstDash val="solid"/>
          </a:ln>
        </p:spPr>
      </p:sp>
      <p:pic>
        <p:nvPicPr>
          <p:cNvPr id="24" name="Image 5" descr="preencoded.png">    </p:cNvPr>
          <p:cNvPicPr>
            <a:picLocks noChangeAspect="1"/>
          </p:cNvPicPr>
          <p:nvPr/>
        </p:nvPicPr>
        <p:blipFill>
          <a:blip r:embed="rId6"/>
          <a:stretch>
            <a:fillRect/>
          </a:stretch>
        </p:blipFill>
        <p:spPr>
          <a:xfrm>
            <a:off x="6647688" y="3584448"/>
            <a:ext cx="237744" cy="237744"/>
          </a:xfrm>
          <a:prstGeom prst="rect">
            <a:avLst/>
          </a:prstGeom>
        </p:spPr>
      </p:pic>
      <p:sp>
        <p:nvSpPr>
          <p:cNvPr id="25" name="Text 17"/>
          <p:cNvSpPr txBox="1"/>
          <p:nvPr/>
        </p:nvSpPr>
        <p:spPr>
          <a:xfrm>
            <a:off x="7132320" y="353872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A phone that's also the business</a:t>
            </a:r>
            <a:endParaRPr lang="en-US" sz="1600" dirty="0"/>
          </a:p>
        </p:txBody>
      </p:sp>
      <p:sp>
        <p:nvSpPr>
          <p:cNvPr id="26" name="Shape 18"/>
          <p:cNvSpPr/>
          <p:nvPr/>
        </p:nvSpPr>
        <p:spPr>
          <a:xfrm>
            <a:off x="6537960" y="4251960"/>
            <a:ext cx="457200" cy="457200"/>
          </a:xfrm>
          <a:prstGeom prst="ellipse">
            <a:avLst/>
          </a:prstGeom>
          <a:solidFill>
            <a:srgbClr val="1E2B45"/>
          </a:solidFill>
          <a:ln w="19050">
            <a:solidFill>
              <a:srgbClr val="10B981"/>
            </a:solidFill>
            <a:prstDash val="solid"/>
          </a:ln>
        </p:spPr>
      </p:sp>
      <p:pic>
        <p:nvPicPr>
          <p:cNvPr id="27" name="Image 6" descr="preencoded.png">    </p:cNvPr>
          <p:cNvPicPr>
            <a:picLocks noChangeAspect="1"/>
          </p:cNvPicPr>
          <p:nvPr/>
        </p:nvPicPr>
        <p:blipFill>
          <a:blip r:embed="rId7"/>
          <a:stretch>
            <a:fillRect/>
          </a:stretch>
        </p:blipFill>
        <p:spPr>
          <a:xfrm>
            <a:off x="6647688" y="4361688"/>
            <a:ext cx="237744" cy="237744"/>
          </a:xfrm>
          <a:prstGeom prst="rect">
            <a:avLst/>
          </a:prstGeom>
        </p:spPr>
      </p:pic>
      <p:sp>
        <p:nvSpPr>
          <p:cNvPr id="28" name="Text 19"/>
          <p:cNvSpPr txBox="1"/>
          <p:nvPr/>
        </p:nvSpPr>
        <p:spPr>
          <a:xfrm>
            <a:off x="7132320" y="431596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Busy all day at the counter or on site</a:t>
            </a:r>
            <a:endParaRPr lang="en-US" sz="1600" dirty="0"/>
          </a:p>
        </p:txBody>
      </p:sp>
      <p:sp>
        <p:nvSpPr>
          <p:cNvPr id="29" name="Shape 20"/>
          <p:cNvSpPr/>
          <p:nvPr/>
        </p:nvSpPr>
        <p:spPr>
          <a:xfrm>
            <a:off x="6537960" y="5029200"/>
            <a:ext cx="457200" cy="457200"/>
          </a:xfrm>
          <a:prstGeom prst="ellipse">
            <a:avLst/>
          </a:prstGeom>
          <a:solidFill>
            <a:srgbClr val="1E2B45"/>
          </a:solidFill>
          <a:ln w="19050">
            <a:solidFill>
              <a:srgbClr val="10B981"/>
            </a:solidFill>
            <a:prstDash val="solid"/>
          </a:ln>
        </p:spPr>
      </p:sp>
      <p:pic>
        <p:nvPicPr>
          <p:cNvPr id="30" name="Image 7" descr="preencoded.png">    </p:cNvPr>
          <p:cNvPicPr>
            <a:picLocks noChangeAspect="1"/>
          </p:cNvPicPr>
          <p:nvPr/>
        </p:nvPicPr>
        <p:blipFill>
          <a:blip r:embed="rId8"/>
          <a:stretch>
            <a:fillRect/>
          </a:stretch>
        </p:blipFill>
        <p:spPr>
          <a:xfrm>
            <a:off x="6647688" y="5138928"/>
            <a:ext cx="237744" cy="237744"/>
          </a:xfrm>
          <a:prstGeom prst="rect">
            <a:avLst/>
          </a:prstGeom>
        </p:spPr>
      </p:pic>
      <p:sp>
        <p:nvSpPr>
          <p:cNvPr id="31" name="Text 21"/>
          <p:cNvSpPr txBox="1"/>
          <p:nvPr/>
        </p:nvSpPr>
        <p:spPr>
          <a:xfrm>
            <a:off x="7132320" y="509320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same few suppliers, for years</a:t>
            </a:r>
            <a:endParaRPr lang="en-US" sz="1600" dirty="0"/>
          </a:p>
        </p:txBody>
      </p:sp>
      <p:pic>
        <p:nvPicPr>
          <p:cNvPr id="32" name="Image 8" descr="preencoded.png">    </p:cNvPr>
          <p:cNvPicPr>
            <a:picLocks noChangeAspect="1"/>
          </p:cNvPicPr>
          <p:nvPr/>
        </p:nvPicPr>
        <p:blipFill>
          <a:blip r:embed="rId9"/>
          <a:stretch>
            <a:fillRect/>
          </a:stretch>
        </p:blipFill>
        <p:spPr>
          <a:xfrm>
            <a:off x="11231575" y="6291072"/>
            <a:ext cx="384048" cy="384048"/>
          </a:xfrm>
          <a:prstGeom prst="rect">
            <a:avLst/>
          </a:prstGeom>
        </p:spPr>
      </p:pic>
      <p:sp>
        <p:nvSpPr>
          <p:cNvPr id="33" name="Text 2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Sipho's week, and Thabo's job</a:t>
            </a:r>
            <a:endParaRPr lang="en-US" sz="3400" dirty="0"/>
          </a:p>
        </p:txBody>
      </p:sp>
      <p:sp>
        <p:nvSpPr>
          <p:cNvPr id="4" name="Shape 2"/>
          <p:cNvSpPr/>
          <p:nvPr/>
        </p:nvSpPr>
        <p:spPr>
          <a:xfrm>
            <a:off x="548640" y="1737360"/>
            <a:ext cx="1920240" cy="1600200"/>
          </a:xfrm>
          <a:prstGeom prst="roundRect">
            <a:avLst>
              <a:gd name="adj" fmla="val 6857"/>
            </a:avLst>
          </a:prstGeom>
          <a:solidFill>
            <a:srgbClr val="1E2B45"/>
          </a:solidFill>
          <a:ln w="12700">
            <a:solidFill>
              <a:srgbClr val="1E2B45"/>
            </a:solidFill>
            <a:prstDash val="solid"/>
          </a:ln>
        </p:spPr>
      </p:sp>
      <p:sp>
        <p:nvSpPr>
          <p:cNvPr id="5" name="Text 3"/>
          <p:cNvSpPr txBox="1"/>
          <p:nvPr/>
        </p:nvSpPr>
        <p:spPr>
          <a:xfrm>
            <a:off x="731520" y="2011680"/>
            <a:ext cx="1645920" cy="502920"/>
          </a:xfrm>
          <a:prstGeom prst="rect">
            <a:avLst/>
          </a:prstGeom>
          <a:noFill/>
          <a:ln/>
        </p:spPr>
        <p:txBody>
          <a:bodyPr wrap="square" lIns="0" tIns="0" rIns="0" bIns="0" rtlCol="0" anchor="t"/>
          <a:lstStyle/>
          <a:p>
            <a:pPr indent="0" marL="0">
              <a:buNone/>
            </a:pPr>
            <a:r>
              <a:rPr lang="en-US" sz="2400" b="1" dirty="0">
                <a:solidFill>
                  <a:srgbClr val="10B981"/>
                </a:solidFill>
                <a:latin typeface="Georgia" pitchFamily="34" charset="0"/>
                <a:ea typeface="Georgia" pitchFamily="34" charset="-122"/>
                <a:cs typeface="Georgia" pitchFamily="34" charset="-120"/>
              </a:rPr>
              <a:t>Sipho</a:t>
            </a:r>
            <a:endParaRPr lang="en-US" sz="2400" dirty="0"/>
          </a:p>
        </p:txBody>
      </p:sp>
      <p:sp>
        <p:nvSpPr>
          <p:cNvPr id="6" name="Text 4"/>
          <p:cNvSpPr txBox="1"/>
          <p:nvPr/>
        </p:nvSpPr>
        <p:spPr>
          <a:xfrm>
            <a:off x="731520" y="2560320"/>
            <a:ext cx="1600200" cy="91440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runs a kota shop by the taxi rank</a:t>
            </a:r>
            <a:endParaRPr lang="en-US" sz="1250" dirty="0"/>
          </a:p>
        </p:txBody>
      </p:sp>
      <p:sp>
        <p:nvSpPr>
          <p:cNvPr id="7" name="Shape 5"/>
          <p:cNvSpPr/>
          <p:nvPr/>
        </p:nvSpPr>
        <p:spPr>
          <a:xfrm>
            <a:off x="2651760" y="1737360"/>
            <a:ext cx="2103120" cy="1600200"/>
          </a:xfrm>
          <a:prstGeom prst="roundRect">
            <a:avLst>
              <a:gd name="adj" fmla="val 6857"/>
            </a:avLst>
          </a:prstGeom>
          <a:solidFill>
            <a:srgbClr val="17223A"/>
          </a:solidFill>
          <a:ln w="12700">
            <a:solidFill>
              <a:srgbClr val="17223A"/>
            </a:solidFill>
            <a:prstDash val="solid"/>
          </a:ln>
        </p:spPr>
      </p:sp>
      <p:sp>
        <p:nvSpPr>
          <p:cNvPr id="8" name="Shape 6"/>
          <p:cNvSpPr/>
          <p:nvPr/>
        </p:nvSpPr>
        <p:spPr>
          <a:xfrm>
            <a:off x="2816352" y="1920240"/>
            <a:ext cx="475488" cy="475488"/>
          </a:xfrm>
          <a:prstGeom prst="ellipse">
            <a:avLst/>
          </a:prstGeom>
          <a:solidFill>
            <a:srgbClr val="1E2B45"/>
          </a:solidFill>
          <a:ln w="19050">
            <a:solidFill>
              <a:srgbClr val="10B981"/>
            </a:solidFill>
            <a:prstDash val="solid"/>
          </a:ln>
        </p:spPr>
      </p:sp>
      <p:pic>
        <p:nvPicPr>
          <p:cNvPr id="9" name="Image 0" descr="preencoded.png">    </p:cNvPr>
          <p:cNvPicPr>
            <a:picLocks noChangeAspect="1"/>
          </p:cNvPicPr>
          <p:nvPr/>
        </p:nvPicPr>
        <p:blipFill>
          <a:blip r:embed="rId1"/>
          <a:stretch>
            <a:fillRect/>
          </a:stretch>
        </p:blipFill>
        <p:spPr>
          <a:xfrm>
            <a:off x="2930469" y="2034357"/>
            <a:ext cx="247254" cy="247254"/>
          </a:xfrm>
          <a:prstGeom prst="rect">
            <a:avLst/>
          </a:prstGeom>
        </p:spPr>
      </p:pic>
      <p:sp>
        <p:nvSpPr>
          <p:cNvPr id="10" name="Text 7"/>
          <p:cNvSpPr txBox="1"/>
          <p:nvPr/>
        </p:nvSpPr>
        <p:spPr>
          <a:xfrm>
            <a:off x="3401568" y="18836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Signs up</a:t>
            </a:r>
            <a:endParaRPr lang="en-US" sz="1400" dirty="0"/>
          </a:p>
        </p:txBody>
      </p:sp>
      <p:sp>
        <p:nvSpPr>
          <p:cNvPr id="11" name="Text 8"/>
          <p:cNvSpPr txBox="1"/>
          <p:nvPr/>
        </p:nvSpPr>
        <p:spPr>
          <a:xfrm>
            <a:off x="2816352" y="25420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Picks Food and drops a pin where he trades</a:t>
            </a:r>
            <a:endParaRPr lang="en-US" sz="1200" dirty="0"/>
          </a:p>
        </p:txBody>
      </p:sp>
      <p:sp>
        <p:nvSpPr>
          <p:cNvPr id="12" name="Shape 9"/>
          <p:cNvSpPr/>
          <p:nvPr/>
        </p:nvSpPr>
        <p:spPr>
          <a:xfrm>
            <a:off x="4764024" y="2542032"/>
            <a:ext cx="137160" cy="0"/>
          </a:xfrm>
          <a:prstGeom prst="line">
            <a:avLst/>
          </a:prstGeom>
          <a:noFill/>
          <a:ln w="15875">
            <a:solidFill>
              <a:srgbClr val="64748B"/>
            </a:solidFill>
            <a:prstDash val="solid"/>
            <a:tailEnd type="triangle"/>
          </a:ln>
        </p:spPr>
      </p:sp>
      <p:sp>
        <p:nvSpPr>
          <p:cNvPr id="13" name="Shape 10"/>
          <p:cNvSpPr/>
          <p:nvPr/>
        </p:nvSpPr>
        <p:spPr>
          <a:xfrm>
            <a:off x="4910328" y="1737360"/>
            <a:ext cx="2103120" cy="1600200"/>
          </a:xfrm>
          <a:prstGeom prst="roundRect">
            <a:avLst>
              <a:gd name="adj" fmla="val 6857"/>
            </a:avLst>
          </a:prstGeom>
          <a:solidFill>
            <a:srgbClr val="17223A"/>
          </a:solidFill>
          <a:ln w="12700">
            <a:solidFill>
              <a:srgbClr val="17223A"/>
            </a:solidFill>
            <a:prstDash val="solid"/>
          </a:ln>
        </p:spPr>
      </p:sp>
      <p:sp>
        <p:nvSpPr>
          <p:cNvPr id="14" name="Shape 11"/>
          <p:cNvSpPr/>
          <p:nvPr/>
        </p:nvSpPr>
        <p:spPr>
          <a:xfrm>
            <a:off x="5074920" y="1920240"/>
            <a:ext cx="475488" cy="475488"/>
          </a:xfrm>
          <a:prstGeom prst="ellipse">
            <a:avLst/>
          </a:prstGeom>
          <a:solidFill>
            <a:srgbClr val="1E2B45"/>
          </a:solidFill>
          <a:ln w="19050">
            <a:solidFill>
              <a:srgbClr val="10B981"/>
            </a:solidFill>
            <a:prstDash val="solid"/>
          </a:ln>
        </p:spPr>
      </p:sp>
      <p:pic>
        <p:nvPicPr>
          <p:cNvPr id="15" name="Image 1" descr="preencoded.png">    </p:cNvPr>
          <p:cNvPicPr>
            <a:picLocks noChangeAspect="1"/>
          </p:cNvPicPr>
          <p:nvPr/>
        </p:nvPicPr>
        <p:blipFill>
          <a:blip r:embed="rId2"/>
          <a:stretch>
            <a:fillRect/>
          </a:stretch>
        </p:blipFill>
        <p:spPr>
          <a:xfrm>
            <a:off x="5189037" y="2034357"/>
            <a:ext cx="247254" cy="247254"/>
          </a:xfrm>
          <a:prstGeom prst="rect">
            <a:avLst/>
          </a:prstGeom>
        </p:spPr>
      </p:pic>
      <p:sp>
        <p:nvSpPr>
          <p:cNvPr id="16" name="Text 12"/>
          <p:cNvSpPr txBox="1"/>
          <p:nvPr/>
        </p:nvSpPr>
        <p:spPr>
          <a:xfrm>
            <a:off x="5660136" y="18836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Finds suppliers</a:t>
            </a:r>
            <a:endParaRPr lang="en-US" sz="1400" dirty="0"/>
          </a:p>
        </p:txBody>
      </p:sp>
      <p:sp>
        <p:nvSpPr>
          <p:cNvPr id="17" name="Text 13"/>
          <p:cNvSpPr txBox="1"/>
          <p:nvPr/>
        </p:nvSpPr>
        <p:spPr>
          <a:xfrm>
            <a:off x="5074920" y="25420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Ones who deliver to him, near and recommended</a:t>
            </a:r>
            <a:endParaRPr lang="en-US" sz="1200" dirty="0"/>
          </a:p>
        </p:txBody>
      </p:sp>
      <p:sp>
        <p:nvSpPr>
          <p:cNvPr id="18" name="Shape 14"/>
          <p:cNvSpPr/>
          <p:nvPr/>
        </p:nvSpPr>
        <p:spPr>
          <a:xfrm>
            <a:off x="7022592" y="2542032"/>
            <a:ext cx="137160" cy="0"/>
          </a:xfrm>
          <a:prstGeom prst="line">
            <a:avLst/>
          </a:prstGeom>
          <a:noFill/>
          <a:ln w="15875">
            <a:solidFill>
              <a:srgbClr val="64748B"/>
            </a:solidFill>
            <a:prstDash val="solid"/>
            <a:tailEnd type="triangle"/>
          </a:ln>
        </p:spPr>
      </p:sp>
      <p:sp>
        <p:nvSpPr>
          <p:cNvPr id="19" name="Shape 15"/>
          <p:cNvSpPr/>
          <p:nvPr/>
        </p:nvSpPr>
        <p:spPr>
          <a:xfrm>
            <a:off x="7168896" y="1737360"/>
            <a:ext cx="2103120" cy="1600200"/>
          </a:xfrm>
          <a:prstGeom prst="roundRect">
            <a:avLst>
              <a:gd name="adj" fmla="val 6857"/>
            </a:avLst>
          </a:prstGeom>
          <a:solidFill>
            <a:srgbClr val="17223A"/>
          </a:solidFill>
          <a:ln w="12700">
            <a:solidFill>
              <a:srgbClr val="17223A"/>
            </a:solidFill>
            <a:prstDash val="solid"/>
          </a:ln>
        </p:spPr>
      </p:sp>
      <p:sp>
        <p:nvSpPr>
          <p:cNvPr id="20" name="Shape 16"/>
          <p:cNvSpPr/>
          <p:nvPr/>
        </p:nvSpPr>
        <p:spPr>
          <a:xfrm>
            <a:off x="7333488" y="1920240"/>
            <a:ext cx="475488" cy="475488"/>
          </a:xfrm>
          <a:prstGeom prst="ellipse">
            <a:avLst/>
          </a:prstGeom>
          <a:solidFill>
            <a:srgbClr val="1E2B45"/>
          </a:solidFill>
          <a:ln w="19050">
            <a:solidFill>
              <a:srgbClr val="10B981"/>
            </a:solidFill>
            <a:prstDash val="solid"/>
          </a:ln>
        </p:spPr>
      </p:sp>
      <p:pic>
        <p:nvPicPr>
          <p:cNvPr id="21" name="Image 2" descr="preencoded.png">    </p:cNvPr>
          <p:cNvPicPr>
            <a:picLocks noChangeAspect="1"/>
          </p:cNvPicPr>
          <p:nvPr/>
        </p:nvPicPr>
        <p:blipFill>
          <a:blip r:embed="rId3"/>
          <a:stretch>
            <a:fillRect/>
          </a:stretch>
        </p:blipFill>
        <p:spPr>
          <a:xfrm>
            <a:off x="7447605" y="2034357"/>
            <a:ext cx="247254" cy="247254"/>
          </a:xfrm>
          <a:prstGeom prst="rect">
            <a:avLst/>
          </a:prstGeom>
        </p:spPr>
      </p:pic>
      <p:sp>
        <p:nvSpPr>
          <p:cNvPr id="22" name="Text 17"/>
          <p:cNvSpPr txBox="1"/>
          <p:nvPr/>
        </p:nvSpPr>
        <p:spPr>
          <a:xfrm>
            <a:off x="7918704" y="18836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Orders and pays</a:t>
            </a:r>
            <a:endParaRPr lang="en-US" sz="1400" dirty="0"/>
          </a:p>
        </p:txBody>
      </p:sp>
      <p:sp>
        <p:nvSpPr>
          <p:cNvPr id="23" name="Text 18"/>
          <p:cNvSpPr txBox="1"/>
          <p:nvPr/>
        </p:nvSpPr>
        <p:spPr>
          <a:xfrm>
            <a:off x="7333488" y="25420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Bread from a bakery that delivers, paid in the app, confirmed by the provider</a:t>
            </a:r>
            <a:endParaRPr lang="en-US" sz="1200" dirty="0"/>
          </a:p>
        </p:txBody>
      </p:sp>
      <p:sp>
        <p:nvSpPr>
          <p:cNvPr id="24" name="Shape 19"/>
          <p:cNvSpPr/>
          <p:nvPr/>
        </p:nvSpPr>
        <p:spPr>
          <a:xfrm>
            <a:off x="9281160" y="2542032"/>
            <a:ext cx="137160" cy="0"/>
          </a:xfrm>
          <a:prstGeom prst="line">
            <a:avLst/>
          </a:prstGeom>
          <a:noFill/>
          <a:ln w="15875">
            <a:solidFill>
              <a:srgbClr val="64748B"/>
            </a:solidFill>
            <a:prstDash val="solid"/>
            <a:tailEnd type="triangle"/>
          </a:ln>
        </p:spPr>
      </p:sp>
      <p:sp>
        <p:nvSpPr>
          <p:cNvPr id="25" name="Shape 20"/>
          <p:cNvSpPr/>
          <p:nvPr/>
        </p:nvSpPr>
        <p:spPr>
          <a:xfrm>
            <a:off x="9427464" y="1737360"/>
            <a:ext cx="2103120" cy="1600200"/>
          </a:xfrm>
          <a:prstGeom prst="roundRect">
            <a:avLst>
              <a:gd name="adj" fmla="val 6857"/>
            </a:avLst>
          </a:prstGeom>
          <a:solidFill>
            <a:srgbClr val="17223A"/>
          </a:solidFill>
          <a:ln w="12700">
            <a:solidFill>
              <a:srgbClr val="17223A"/>
            </a:solidFill>
            <a:prstDash val="solid"/>
          </a:ln>
        </p:spPr>
      </p:sp>
      <p:sp>
        <p:nvSpPr>
          <p:cNvPr id="26" name="Shape 21"/>
          <p:cNvSpPr/>
          <p:nvPr/>
        </p:nvSpPr>
        <p:spPr>
          <a:xfrm>
            <a:off x="9592056" y="1920240"/>
            <a:ext cx="475488" cy="475488"/>
          </a:xfrm>
          <a:prstGeom prst="ellipse">
            <a:avLst/>
          </a:prstGeom>
          <a:solidFill>
            <a:srgbClr val="1E2B45"/>
          </a:solidFill>
          <a:ln w="19050">
            <a:solidFill>
              <a:srgbClr val="10B981"/>
            </a:solidFill>
            <a:prstDash val="solid"/>
          </a:ln>
        </p:spPr>
      </p:sp>
      <p:pic>
        <p:nvPicPr>
          <p:cNvPr id="27" name="Image 3" descr="preencoded.png">    </p:cNvPr>
          <p:cNvPicPr>
            <a:picLocks noChangeAspect="1"/>
          </p:cNvPicPr>
          <p:nvPr/>
        </p:nvPicPr>
        <p:blipFill>
          <a:blip r:embed="rId4"/>
          <a:stretch>
            <a:fillRect/>
          </a:stretch>
        </p:blipFill>
        <p:spPr>
          <a:xfrm>
            <a:off x="9706173" y="2034357"/>
            <a:ext cx="247254" cy="247254"/>
          </a:xfrm>
          <a:prstGeom prst="rect">
            <a:avLst/>
          </a:prstGeom>
        </p:spPr>
      </p:pic>
      <p:sp>
        <p:nvSpPr>
          <p:cNvPr id="28" name="Text 22"/>
          <p:cNvSpPr txBox="1"/>
          <p:nvPr/>
        </p:nvSpPr>
        <p:spPr>
          <a:xfrm>
            <a:off x="10177272" y="18836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Sees his business</a:t>
            </a:r>
            <a:endParaRPr lang="en-US" sz="1400" dirty="0"/>
          </a:p>
        </p:txBody>
      </p:sp>
      <p:sp>
        <p:nvSpPr>
          <p:cNvPr id="29" name="Text 23"/>
          <p:cNvSpPr txBox="1"/>
          <p:nvPr/>
        </p:nvSpPr>
        <p:spPr>
          <a:xfrm>
            <a:off x="9592056" y="25420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Kotas sold, stock bought, and his record growing</a:t>
            </a:r>
            <a:endParaRPr lang="en-US" sz="1200" dirty="0"/>
          </a:p>
        </p:txBody>
      </p:sp>
      <p:sp>
        <p:nvSpPr>
          <p:cNvPr id="30" name="Shape 24"/>
          <p:cNvSpPr/>
          <p:nvPr/>
        </p:nvSpPr>
        <p:spPr>
          <a:xfrm>
            <a:off x="548640" y="3566160"/>
            <a:ext cx="1920240" cy="1600200"/>
          </a:xfrm>
          <a:prstGeom prst="roundRect">
            <a:avLst>
              <a:gd name="adj" fmla="val 6857"/>
            </a:avLst>
          </a:prstGeom>
          <a:solidFill>
            <a:srgbClr val="1E2B45"/>
          </a:solidFill>
          <a:ln w="12700">
            <a:solidFill>
              <a:srgbClr val="1E2B45"/>
            </a:solidFill>
            <a:prstDash val="solid"/>
          </a:ln>
        </p:spPr>
      </p:sp>
      <p:sp>
        <p:nvSpPr>
          <p:cNvPr id="31" name="Text 25"/>
          <p:cNvSpPr txBox="1"/>
          <p:nvPr/>
        </p:nvSpPr>
        <p:spPr>
          <a:xfrm>
            <a:off x="731520" y="3840480"/>
            <a:ext cx="1645920" cy="502920"/>
          </a:xfrm>
          <a:prstGeom prst="rect">
            <a:avLst/>
          </a:prstGeom>
          <a:noFill/>
          <a:ln/>
        </p:spPr>
        <p:txBody>
          <a:bodyPr wrap="square" lIns="0" tIns="0" rIns="0" bIns="0" rtlCol="0" anchor="t"/>
          <a:lstStyle/>
          <a:p>
            <a:pPr indent="0" marL="0">
              <a:buNone/>
            </a:pPr>
            <a:r>
              <a:rPr lang="en-US" sz="2400" b="1" dirty="0">
                <a:solidFill>
                  <a:srgbClr val="FBBF24"/>
                </a:solidFill>
                <a:latin typeface="Georgia" pitchFamily="34" charset="0"/>
                <a:ea typeface="Georgia" pitchFamily="34" charset="-122"/>
                <a:cs typeface="Georgia" pitchFamily="34" charset="-120"/>
              </a:rPr>
              <a:t>Thabo</a:t>
            </a:r>
            <a:endParaRPr lang="en-US" sz="2400" dirty="0"/>
          </a:p>
        </p:txBody>
      </p:sp>
      <p:sp>
        <p:nvSpPr>
          <p:cNvPr id="32" name="Text 26"/>
          <p:cNvSpPr txBox="1"/>
          <p:nvPr/>
        </p:nvSpPr>
        <p:spPr>
          <a:xfrm>
            <a:off x="731520" y="4389120"/>
            <a:ext cx="1600200" cy="91440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a builder</a:t>
            </a:r>
            <a:endParaRPr lang="en-US" sz="1250" dirty="0"/>
          </a:p>
        </p:txBody>
      </p:sp>
      <p:sp>
        <p:nvSpPr>
          <p:cNvPr id="33" name="Shape 27"/>
          <p:cNvSpPr/>
          <p:nvPr/>
        </p:nvSpPr>
        <p:spPr>
          <a:xfrm>
            <a:off x="2651760" y="3566160"/>
            <a:ext cx="2103120" cy="1600200"/>
          </a:xfrm>
          <a:prstGeom prst="roundRect">
            <a:avLst>
              <a:gd name="adj" fmla="val 6857"/>
            </a:avLst>
          </a:prstGeom>
          <a:solidFill>
            <a:srgbClr val="17223A"/>
          </a:solidFill>
          <a:ln w="12700">
            <a:solidFill>
              <a:srgbClr val="17223A"/>
            </a:solidFill>
            <a:prstDash val="solid"/>
          </a:ln>
        </p:spPr>
      </p:sp>
      <p:sp>
        <p:nvSpPr>
          <p:cNvPr id="34" name="Shape 28"/>
          <p:cNvSpPr/>
          <p:nvPr/>
        </p:nvSpPr>
        <p:spPr>
          <a:xfrm>
            <a:off x="2816352" y="3749040"/>
            <a:ext cx="475488" cy="475488"/>
          </a:xfrm>
          <a:prstGeom prst="ellipse">
            <a:avLst/>
          </a:prstGeom>
          <a:solidFill>
            <a:srgbClr val="1E2B45"/>
          </a:solidFill>
          <a:ln w="19050">
            <a:solidFill>
              <a:srgbClr val="FBBF24"/>
            </a:solidFill>
            <a:prstDash val="solid"/>
          </a:ln>
        </p:spPr>
      </p:sp>
      <p:pic>
        <p:nvPicPr>
          <p:cNvPr id="35" name="Image 4" descr="preencoded.png">    </p:cNvPr>
          <p:cNvPicPr>
            <a:picLocks noChangeAspect="1"/>
          </p:cNvPicPr>
          <p:nvPr/>
        </p:nvPicPr>
        <p:blipFill>
          <a:blip r:embed="rId5"/>
          <a:stretch>
            <a:fillRect/>
          </a:stretch>
        </p:blipFill>
        <p:spPr>
          <a:xfrm>
            <a:off x="2930469" y="3863157"/>
            <a:ext cx="247254" cy="247254"/>
          </a:xfrm>
          <a:prstGeom prst="rect">
            <a:avLst/>
          </a:prstGeom>
        </p:spPr>
      </p:pic>
      <p:sp>
        <p:nvSpPr>
          <p:cNvPr id="36" name="Text 29"/>
          <p:cNvSpPr txBox="1"/>
          <p:nvPr/>
        </p:nvSpPr>
        <p:spPr>
          <a:xfrm>
            <a:off x="3401568" y="37124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Logs a job</a:t>
            </a:r>
            <a:endParaRPr lang="en-US" sz="1400" dirty="0"/>
          </a:p>
        </p:txBody>
      </p:sp>
      <p:sp>
        <p:nvSpPr>
          <p:cNvPr id="37" name="Text 30"/>
          <p:cNvSpPr txBox="1"/>
          <p:nvPr/>
        </p:nvSpPr>
        <p:spPr>
          <a:xfrm>
            <a:off x="2816352" y="43708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The client, the price and the stages</a:t>
            </a:r>
            <a:endParaRPr lang="en-US" sz="1200" dirty="0"/>
          </a:p>
        </p:txBody>
      </p:sp>
      <p:sp>
        <p:nvSpPr>
          <p:cNvPr id="38" name="Shape 31"/>
          <p:cNvSpPr/>
          <p:nvPr/>
        </p:nvSpPr>
        <p:spPr>
          <a:xfrm>
            <a:off x="4764024" y="4370832"/>
            <a:ext cx="137160" cy="0"/>
          </a:xfrm>
          <a:prstGeom prst="line">
            <a:avLst/>
          </a:prstGeom>
          <a:noFill/>
          <a:ln w="15875">
            <a:solidFill>
              <a:srgbClr val="64748B"/>
            </a:solidFill>
            <a:prstDash val="solid"/>
            <a:tailEnd type="triangle"/>
          </a:ln>
        </p:spPr>
      </p:sp>
      <p:sp>
        <p:nvSpPr>
          <p:cNvPr id="39" name="Shape 32"/>
          <p:cNvSpPr/>
          <p:nvPr/>
        </p:nvSpPr>
        <p:spPr>
          <a:xfrm>
            <a:off x="4910328" y="3566160"/>
            <a:ext cx="2103120" cy="1600200"/>
          </a:xfrm>
          <a:prstGeom prst="roundRect">
            <a:avLst>
              <a:gd name="adj" fmla="val 6857"/>
            </a:avLst>
          </a:prstGeom>
          <a:solidFill>
            <a:srgbClr val="17223A"/>
          </a:solidFill>
          <a:ln w="12700">
            <a:solidFill>
              <a:srgbClr val="17223A"/>
            </a:solidFill>
            <a:prstDash val="solid"/>
          </a:ln>
        </p:spPr>
      </p:sp>
      <p:sp>
        <p:nvSpPr>
          <p:cNvPr id="40" name="Shape 33"/>
          <p:cNvSpPr/>
          <p:nvPr/>
        </p:nvSpPr>
        <p:spPr>
          <a:xfrm>
            <a:off x="5074920" y="3749040"/>
            <a:ext cx="475488" cy="475488"/>
          </a:xfrm>
          <a:prstGeom prst="ellipse">
            <a:avLst/>
          </a:prstGeom>
          <a:solidFill>
            <a:srgbClr val="1E2B45"/>
          </a:solidFill>
          <a:ln w="19050">
            <a:solidFill>
              <a:srgbClr val="FBBF24"/>
            </a:solidFill>
            <a:prstDash val="solid"/>
          </a:ln>
        </p:spPr>
      </p:sp>
      <p:pic>
        <p:nvPicPr>
          <p:cNvPr id="41" name="Image 5" descr="preencoded.png">    </p:cNvPr>
          <p:cNvPicPr>
            <a:picLocks noChangeAspect="1"/>
          </p:cNvPicPr>
          <p:nvPr/>
        </p:nvPicPr>
        <p:blipFill>
          <a:blip r:embed="rId6"/>
          <a:stretch>
            <a:fillRect/>
          </a:stretch>
        </p:blipFill>
        <p:spPr>
          <a:xfrm>
            <a:off x="5189037" y="3863157"/>
            <a:ext cx="247254" cy="247254"/>
          </a:xfrm>
          <a:prstGeom prst="rect">
            <a:avLst/>
          </a:prstGeom>
        </p:spPr>
      </p:pic>
      <p:sp>
        <p:nvSpPr>
          <p:cNvPr id="42" name="Text 34"/>
          <p:cNvSpPr txBox="1"/>
          <p:nvPr/>
        </p:nvSpPr>
        <p:spPr>
          <a:xfrm>
            <a:off x="5660136" y="37124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Photographs each stage</a:t>
            </a:r>
            <a:endParaRPr lang="en-US" sz="1400" dirty="0"/>
          </a:p>
        </p:txBody>
      </p:sp>
      <p:sp>
        <p:nvSpPr>
          <p:cNvPr id="43" name="Text 35"/>
          <p:cNvSpPr txBox="1"/>
          <p:nvPr/>
        </p:nvSpPr>
        <p:spPr>
          <a:xfrm>
            <a:off x="5074920" y="43708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Our server keeps each photo's time and fingerprint</a:t>
            </a:r>
            <a:endParaRPr lang="en-US" sz="1200" dirty="0"/>
          </a:p>
        </p:txBody>
      </p:sp>
      <p:sp>
        <p:nvSpPr>
          <p:cNvPr id="44" name="Shape 36"/>
          <p:cNvSpPr/>
          <p:nvPr/>
        </p:nvSpPr>
        <p:spPr>
          <a:xfrm>
            <a:off x="7022592" y="4370832"/>
            <a:ext cx="137160" cy="0"/>
          </a:xfrm>
          <a:prstGeom prst="line">
            <a:avLst/>
          </a:prstGeom>
          <a:noFill/>
          <a:ln w="15875">
            <a:solidFill>
              <a:srgbClr val="64748B"/>
            </a:solidFill>
            <a:prstDash val="solid"/>
            <a:tailEnd type="triangle"/>
          </a:ln>
        </p:spPr>
      </p:sp>
      <p:sp>
        <p:nvSpPr>
          <p:cNvPr id="45" name="Shape 37"/>
          <p:cNvSpPr/>
          <p:nvPr/>
        </p:nvSpPr>
        <p:spPr>
          <a:xfrm>
            <a:off x="7168896" y="3566160"/>
            <a:ext cx="2103120" cy="1600200"/>
          </a:xfrm>
          <a:prstGeom prst="roundRect">
            <a:avLst>
              <a:gd name="adj" fmla="val 6857"/>
            </a:avLst>
          </a:prstGeom>
          <a:solidFill>
            <a:srgbClr val="17223A"/>
          </a:solidFill>
          <a:ln w="12700">
            <a:solidFill>
              <a:srgbClr val="17223A"/>
            </a:solidFill>
            <a:prstDash val="solid"/>
          </a:ln>
        </p:spPr>
      </p:sp>
      <p:sp>
        <p:nvSpPr>
          <p:cNvPr id="46" name="Shape 38"/>
          <p:cNvSpPr/>
          <p:nvPr/>
        </p:nvSpPr>
        <p:spPr>
          <a:xfrm>
            <a:off x="7333488" y="3749040"/>
            <a:ext cx="475488" cy="475488"/>
          </a:xfrm>
          <a:prstGeom prst="ellipse">
            <a:avLst/>
          </a:prstGeom>
          <a:solidFill>
            <a:srgbClr val="1E2B45"/>
          </a:solidFill>
          <a:ln w="19050">
            <a:solidFill>
              <a:srgbClr val="FBBF24"/>
            </a:solidFill>
            <a:prstDash val="solid"/>
          </a:ln>
        </p:spPr>
      </p:sp>
      <p:pic>
        <p:nvPicPr>
          <p:cNvPr id="47" name="Image 6" descr="preencoded.png">    </p:cNvPr>
          <p:cNvPicPr>
            <a:picLocks noChangeAspect="1"/>
          </p:cNvPicPr>
          <p:nvPr/>
        </p:nvPicPr>
        <p:blipFill>
          <a:blip r:embed="rId7"/>
          <a:stretch>
            <a:fillRect/>
          </a:stretch>
        </p:blipFill>
        <p:spPr>
          <a:xfrm>
            <a:off x="7447605" y="3863157"/>
            <a:ext cx="247254" cy="247254"/>
          </a:xfrm>
          <a:prstGeom prst="rect">
            <a:avLst/>
          </a:prstGeom>
        </p:spPr>
      </p:pic>
      <p:sp>
        <p:nvSpPr>
          <p:cNvPr id="48" name="Text 39"/>
          <p:cNvSpPr txBox="1"/>
          <p:nvPr/>
        </p:nvSpPr>
        <p:spPr>
          <a:xfrm>
            <a:off x="7918704" y="37124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Client signs off</a:t>
            </a:r>
            <a:endParaRPr lang="en-US" sz="1400" dirty="0"/>
          </a:p>
        </p:txBody>
      </p:sp>
      <p:sp>
        <p:nvSpPr>
          <p:cNvPr id="49" name="Text 40"/>
          <p:cNvSpPr txBox="1"/>
          <p:nvPr/>
        </p:nvSpPr>
        <p:spPr>
          <a:xfrm>
            <a:off x="7333488" y="43708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From a link: the stage is confirmed by both</a:t>
            </a:r>
            <a:endParaRPr lang="en-US" sz="1200" dirty="0"/>
          </a:p>
        </p:txBody>
      </p:sp>
      <p:sp>
        <p:nvSpPr>
          <p:cNvPr id="50" name="Shape 41"/>
          <p:cNvSpPr/>
          <p:nvPr/>
        </p:nvSpPr>
        <p:spPr>
          <a:xfrm>
            <a:off x="9281160" y="4370832"/>
            <a:ext cx="137160" cy="0"/>
          </a:xfrm>
          <a:prstGeom prst="line">
            <a:avLst/>
          </a:prstGeom>
          <a:noFill/>
          <a:ln w="15875">
            <a:solidFill>
              <a:srgbClr val="64748B"/>
            </a:solidFill>
            <a:prstDash val="solid"/>
            <a:tailEnd type="triangle"/>
          </a:ln>
        </p:spPr>
      </p:sp>
      <p:sp>
        <p:nvSpPr>
          <p:cNvPr id="51" name="Shape 42"/>
          <p:cNvSpPr/>
          <p:nvPr/>
        </p:nvSpPr>
        <p:spPr>
          <a:xfrm>
            <a:off x="9427464" y="3566160"/>
            <a:ext cx="2103120" cy="1600200"/>
          </a:xfrm>
          <a:prstGeom prst="roundRect">
            <a:avLst>
              <a:gd name="adj" fmla="val 6857"/>
            </a:avLst>
          </a:prstGeom>
          <a:solidFill>
            <a:srgbClr val="17223A"/>
          </a:solidFill>
          <a:ln w="12700">
            <a:solidFill>
              <a:srgbClr val="17223A"/>
            </a:solidFill>
            <a:prstDash val="solid"/>
          </a:ln>
        </p:spPr>
      </p:sp>
      <p:sp>
        <p:nvSpPr>
          <p:cNvPr id="52" name="Shape 43"/>
          <p:cNvSpPr/>
          <p:nvPr/>
        </p:nvSpPr>
        <p:spPr>
          <a:xfrm>
            <a:off x="9592056" y="3749040"/>
            <a:ext cx="475488" cy="475488"/>
          </a:xfrm>
          <a:prstGeom prst="ellipse">
            <a:avLst/>
          </a:prstGeom>
          <a:solidFill>
            <a:srgbClr val="1E2B45"/>
          </a:solidFill>
          <a:ln w="19050">
            <a:solidFill>
              <a:srgbClr val="FBBF24"/>
            </a:solidFill>
            <a:prstDash val="solid"/>
          </a:ln>
        </p:spPr>
      </p:sp>
      <p:pic>
        <p:nvPicPr>
          <p:cNvPr id="53" name="Image 7" descr="preencoded.png">    </p:cNvPr>
          <p:cNvPicPr>
            <a:picLocks noChangeAspect="1"/>
          </p:cNvPicPr>
          <p:nvPr/>
        </p:nvPicPr>
        <p:blipFill>
          <a:blip r:embed="rId8"/>
          <a:stretch>
            <a:fillRect/>
          </a:stretch>
        </p:blipFill>
        <p:spPr>
          <a:xfrm>
            <a:off x="9706173" y="3863157"/>
            <a:ext cx="247254" cy="247254"/>
          </a:xfrm>
          <a:prstGeom prst="rect">
            <a:avLst/>
          </a:prstGeom>
        </p:spPr>
      </p:pic>
      <p:sp>
        <p:nvSpPr>
          <p:cNvPr id="54" name="Text 44"/>
          <p:cNvSpPr txBox="1"/>
          <p:nvPr/>
        </p:nvSpPr>
        <p:spPr>
          <a:xfrm>
            <a:off x="10177272" y="37124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Builds a track record</a:t>
            </a:r>
            <a:endParaRPr lang="en-US" sz="1400" dirty="0"/>
          </a:p>
        </p:txBody>
      </p:sp>
      <p:sp>
        <p:nvSpPr>
          <p:cNvPr id="55" name="Text 45"/>
          <p:cNvSpPr txBox="1"/>
          <p:nvPr/>
        </p:nvSpPr>
        <p:spPr>
          <a:xfrm>
            <a:off x="9592056" y="43708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Finished jobs he can show his next client</a:t>
            </a:r>
            <a:endParaRPr lang="en-US" sz="1200" dirty="0"/>
          </a:p>
        </p:txBody>
      </p:sp>
      <p:sp>
        <p:nvSpPr>
          <p:cNvPr id="56" name="Text 46"/>
          <p:cNvSpPr txBox="1"/>
          <p:nvPr/>
        </p:nvSpPr>
        <p:spPr>
          <a:xfrm>
            <a:off x="548640" y="5440680"/>
            <a:ext cx="10972800" cy="32004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The same journey works for a spaza shop, a salon or a mechanic.</a:t>
            </a:r>
            <a:endParaRPr lang="en-US" sz="1400" dirty="0"/>
          </a:p>
        </p:txBody>
      </p:sp>
      <p:pic>
        <p:nvPicPr>
          <p:cNvPr id="57" name="Image 8" descr="preencoded.png">    </p:cNvPr>
          <p:cNvPicPr>
            <a:picLocks noChangeAspect="1"/>
          </p:cNvPicPr>
          <p:nvPr/>
        </p:nvPicPr>
        <p:blipFill>
          <a:blip r:embed="rId9"/>
          <a:stretch>
            <a:fillRect/>
          </a:stretch>
        </p:blipFill>
        <p:spPr>
          <a:xfrm>
            <a:off x="11231575" y="6291072"/>
            <a:ext cx="384048" cy="384048"/>
          </a:xfrm>
          <a:prstGeom prst="rect">
            <a:avLst/>
          </a:prstGeom>
        </p:spPr>
      </p:pic>
      <p:sp>
        <p:nvSpPr>
          <p:cNvPr id="58" name="Text 4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WHO WINS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Everyone gains. Suppliers pay.</a:t>
            </a:r>
            <a:endParaRPr lang="en-US" sz="3400" dirty="0"/>
          </a:p>
        </p:txBody>
      </p:sp>
      <p:sp>
        <p:nvSpPr>
          <p:cNvPr id="4" name="Shape 2"/>
          <p:cNvSpPr/>
          <p:nvPr/>
        </p:nvSpPr>
        <p:spPr>
          <a:xfrm>
            <a:off x="548640" y="1783080"/>
            <a:ext cx="3474720" cy="420624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057400"/>
            <a:ext cx="777240" cy="7772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055218" y="2243938"/>
            <a:ext cx="404165" cy="404165"/>
          </a:xfrm>
          <a:prstGeom prst="rect">
            <a:avLst/>
          </a:prstGeom>
        </p:spPr>
      </p:pic>
      <p:sp>
        <p:nvSpPr>
          <p:cNvPr id="7" name="Text 4"/>
          <p:cNvSpPr txBox="1"/>
          <p:nvPr/>
        </p:nvSpPr>
        <p:spPr>
          <a:xfrm>
            <a:off x="1828800" y="2103120"/>
            <a:ext cx="2103120" cy="411480"/>
          </a:xfrm>
          <a:prstGeom prst="rect">
            <a:avLst/>
          </a:prstGeom>
          <a:noFill/>
          <a:ln/>
        </p:spPr>
        <p:txBody>
          <a:bodyPr wrap="square" lIns="0" tIns="0" rIns="0" bIns="0" rtlCol="0" anchor="t"/>
          <a:lstStyle/>
          <a:p>
            <a:pPr indent="0" marL="0">
              <a:buNone/>
            </a:pPr>
            <a:r>
              <a:rPr lang="en-US" sz="2100" b="1" dirty="0">
                <a:solidFill>
                  <a:srgbClr val="10B981"/>
                </a:solidFill>
                <a:latin typeface="Calibri" pitchFamily="34" charset="0"/>
                <a:ea typeface="Calibri" pitchFamily="34" charset="-122"/>
                <a:cs typeface="Calibri" pitchFamily="34" charset="-120"/>
              </a:rPr>
              <a:t>Businesses</a:t>
            </a:r>
            <a:endParaRPr lang="en-US" sz="2100" dirty="0"/>
          </a:p>
        </p:txBody>
      </p:sp>
      <p:sp>
        <p:nvSpPr>
          <p:cNvPr id="8" name="Text 5"/>
          <p:cNvSpPr txBox="1"/>
          <p:nvPr/>
        </p:nvSpPr>
        <p:spPr>
          <a:xfrm>
            <a:off x="182880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Use it free, always</a:t>
            </a:r>
            <a:endParaRPr lang="en-US" sz="1350" dirty="0"/>
          </a:p>
        </p:txBody>
      </p:sp>
      <p:sp>
        <p:nvSpPr>
          <p:cNvPr id="9" name="Text 6"/>
          <p:cNvSpPr txBox="1"/>
          <p:nvPr/>
        </p:nvSpPr>
        <p:spPr>
          <a:xfrm>
            <a:off x="86868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Less stress, less lost money</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Better buying from their own suppliers</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A record they own, for tomorrow</a:t>
            </a:r>
            <a:endParaRPr lang="en-US" sz="1600" dirty="0"/>
          </a:p>
        </p:txBody>
      </p:sp>
      <p:sp>
        <p:nvSpPr>
          <p:cNvPr id="10" name="Shape 7"/>
          <p:cNvSpPr/>
          <p:nvPr/>
        </p:nvSpPr>
        <p:spPr>
          <a:xfrm>
            <a:off x="4297680" y="1783080"/>
            <a:ext cx="3474720" cy="4206240"/>
          </a:xfrm>
          <a:prstGeom prst="roundRect">
            <a:avLst>
              <a:gd name="adj" fmla="val 3158"/>
            </a:avLst>
          </a:prstGeom>
          <a:solidFill>
            <a:srgbClr val="1E2B45"/>
          </a:solidFill>
          <a:ln w="12700">
            <a:solidFill>
              <a:srgbClr val="1E2B45"/>
            </a:solidFill>
            <a:prstDash val="solid"/>
          </a:ln>
        </p:spPr>
      </p:sp>
      <p:sp>
        <p:nvSpPr>
          <p:cNvPr id="11" name="Shape 8"/>
          <p:cNvSpPr/>
          <p:nvPr/>
        </p:nvSpPr>
        <p:spPr>
          <a:xfrm>
            <a:off x="4617720" y="2057400"/>
            <a:ext cx="777240" cy="7772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4804258" y="2243938"/>
            <a:ext cx="404165" cy="404165"/>
          </a:xfrm>
          <a:prstGeom prst="rect">
            <a:avLst/>
          </a:prstGeom>
        </p:spPr>
      </p:pic>
      <p:sp>
        <p:nvSpPr>
          <p:cNvPr id="13" name="Text 9"/>
          <p:cNvSpPr txBox="1"/>
          <p:nvPr/>
        </p:nvSpPr>
        <p:spPr>
          <a:xfrm>
            <a:off x="5577840" y="2103120"/>
            <a:ext cx="2103120" cy="411480"/>
          </a:xfrm>
          <a:prstGeom prst="rect">
            <a:avLst/>
          </a:prstGeom>
          <a:noFill/>
          <a:ln/>
        </p:spPr>
        <p:txBody>
          <a:bodyPr wrap="square" lIns="0" tIns="0" rIns="0" bIns="0" rtlCol="0" anchor="t"/>
          <a:lstStyle/>
          <a:p>
            <a:pPr indent="0" marL="0">
              <a:buNone/>
            </a:pPr>
            <a:r>
              <a:rPr lang="en-US" sz="2100" b="1" dirty="0">
                <a:solidFill>
                  <a:srgbClr val="FBBF24"/>
                </a:solidFill>
                <a:latin typeface="Calibri" pitchFamily="34" charset="0"/>
                <a:ea typeface="Calibri" pitchFamily="34" charset="-122"/>
                <a:cs typeface="Calibri" pitchFamily="34" charset="-120"/>
              </a:rPr>
              <a:t>Suppliers</a:t>
            </a:r>
            <a:endParaRPr lang="en-US" sz="2100" dirty="0"/>
          </a:p>
        </p:txBody>
      </p:sp>
      <p:sp>
        <p:nvSpPr>
          <p:cNvPr id="14" name="Text 10"/>
          <p:cNvSpPr txBox="1"/>
          <p:nvPr/>
        </p:nvSpPr>
        <p:spPr>
          <a:xfrm>
            <a:off x="557784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Our paying customers</a:t>
            </a:r>
            <a:endParaRPr lang="en-US" sz="1350" dirty="0"/>
          </a:p>
        </p:txBody>
      </p:sp>
      <p:sp>
        <p:nvSpPr>
          <p:cNvPr id="15" name="Text 11"/>
          <p:cNvSpPr txBox="1"/>
          <p:nvPr/>
        </p:nvSpPr>
        <p:spPr>
          <a:xfrm>
            <a:off x="461772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More orders from shops they already serve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No cash lost between driver and depot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See what their customers will need</a:t>
            </a:r>
            <a:endParaRPr lang="en-US" sz="1600" dirty="0"/>
          </a:p>
        </p:txBody>
      </p:sp>
      <p:sp>
        <p:nvSpPr>
          <p:cNvPr id="16" name="Shape 12"/>
          <p:cNvSpPr/>
          <p:nvPr/>
        </p:nvSpPr>
        <p:spPr>
          <a:xfrm>
            <a:off x="8046720" y="1783080"/>
            <a:ext cx="3474720" cy="420624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057400"/>
            <a:ext cx="777240" cy="777240"/>
          </a:xfrm>
          <a:prstGeom prst="ellipse">
            <a:avLst/>
          </a:prstGeom>
          <a:solidFill>
            <a:srgbClr val="1E2B45"/>
          </a:solidFill>
          <a:ln w="19050">
            <a:solidFill>
              <a:srgbClr val="34D399"/>
            </a:solidFill>
            <a:prstDash val="solid"/>
          </a:ln>
        </p:spPr>
      </p:sp>
      <p:pic>
        <p:nvPicPr>
          <p:cNvPr id="18" name="Image 2" descr="preencoded.png">    </p:cNvPr>
          <p:cNvPicPr>
            <a:picLocks noChangeAspect="1"/>
          </p:cNvPicPr>
          <p:nvPr/>
        </p:nvPicPr>
        <p:blipFill>
          <a:blip r:embed="rId3"/>
          <a:stretch>
            <a:fillRect/>
          </a:stretch>
        </p:blipFill>
        <p:spPr>
          <a:xfrm>
            <a:off x="8553298" y="2243938"/>
            <a:ext cx="404165" cy="404165"/>
          </a:xfrm>
          <a:prstGeom prst="rect">
            <a:avLst/>
          </a:prstGeom>
        </p:spPr>
      </p:pic>
      <p:sp>
        <p:nvSpPr>
          <p:cNvPr id="19" name="Text 14"/>
          <p:cNvSpPr txBox="1"/>
          <p:nvPr/>
        </p:nvSpPr>
        <p:spPr>
          <a:xfrm>
            <a:off x="9326880" y="2103120"/>
            <a:ext cx="2103120" cy="411480"/>
          </a:xfrm>
          <a:prstGeom prst="rect">
            <a:avLst/>
          </a:prstGeom>
          <a:noFill/>
          <a:ln/>
        </p:spPr>
        <p:txBody>
          <a:bodyPr wrap="square" lIns="0" tIns="0" rIns="0" bIns="0" rtlCol="0" anchor="t"/>
          <a:lstStyle/>
          <a:p>
            <a:pPr indent="0" marL="0">
              <a:buNone/>
            </a:pPr>
            <a:r>
              <a:rPr lang="en-US" sz="2100" b="1" dirty="0">
                <a:solidFill>
                  <a:srgbClr val="34D399"/>
                </a:solidFill>
                <a:latin typeface="Calibri" pitchFamily="34" charset="0"/>
                <a:ea typeface="Calibri" pitchFamily="34" charset="-122"/>
                <a:cs typeface="Calibri" pitchFamily="34" charset="-120"/>
              </a:rPr>
              <a:t>Partners</a:t>
            </a:r>
            <a:endParaRPr lang="en-US" sz="2100" dirty="0"/>
          </a:p>
        </p:txBody>
      </p:sp>
      <p:sp>
        <p:nvSpPr>
          <p:cNvPr id="20" name="Text 15"/>
          <p:cNvSpPr txBox="1"/>
          <p:nvPr/>
        </p:nvSpPr>
        <p:spPr>
          <a:xfrm>
            <a:off x="932688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Next: banks, funds, government</a:t>
            </a:r>
            <a:endParaRPr lang="en-US" sz="1350" dirty="0"/>
          </a:p>
        </p:txBody>
      </p:sp>
      <p:sp>
        <p:nvSpPr>
          <p:cNvPr id="21" name="Text 16"/>
          <p:cNvSpPr txBox="1"/>
          <p:nvPr/>
        </p:nvSpPr>
        <p:spPr>
          <a:xfrm>
            <a:off x="836676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Businesses they can finally see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Shared only with the owner's consent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Faster, fairer verification</a:t>
            </a:r>
            <a:endParaRPr lang="en-US" sz="16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OPPORTUNITY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Start where the money already moves</a:t>
            </a:r>
            <a:endParaRPr lang="en-US" sz="3400" dirty="0"/>
          </a:p>
        </p:txBody>
      </p:sp>
      <p:sp>
        <p:nvSpPr>
          <p:cNvPr id="4" name="Shape 2"/>
          <p:cNvSpPr/>
          <p:nvPr/>
        </p:nvSpPr>
        <p:spPr>
          <a:xfrm>
            <a:off x="548640" y="1783080"/>
            <a:ext cx="4206240" cy="4206240"/>
          </a:xfrm>
          <a:prstGeom prst="ellipse">
            <a:avLst/>
          </a:prstGeom>
          <a:solidFill>
            <a:srgbClr val="17223A"/>
          </a:solidFill>
          <a:ln w="19050">
            <a:solidFill>
              <a:srgbClr val="64748B"/>
            </a:solidFill>
            <a:prstDash val="solid"/>
          </a:ln>
        </p:spPr>
      </p:sp>
      <p:sp>
        <p:nvSpPr>
          <p:cNvPr id="5" name="Shape 3"/>
          <p:cNvSpPr/>
          <p:nvPr/>
        </p:nvSpPr>
        <p:spPr>
          <a:xfrm>
            <a:off x="1188720" y="2651760"/>
            <a:ext cx="2926080" cy="2926080"/>
          </a:xfrm>
          <a:prstGeom prst="ellipse">
            <a:avLst/>
          </a:prstGeom>
          <a:solidFill>
            <a:srgbClr val="1E2B45"/>
          </a:solidFill>
          <a:ln w="19050">
            <a:solidFill>
              <a:srgbClr val="F59E0B"/>
            </a:solidFill>
            <a:prstDash val="solid"/>
          </a:ln>
        </p:spPr>
      </p:sp>
      <p:sp>
        <p:nvSpPr>
          <p:cNvPr id="6" name="Shape 4"/>
          <p:cNvSpPr/>
          <p:nvPr/>
        </p:nvSpPr>
        <p:spPr>
          <a:xfrm>
            <a:off x="1783080" y="3474720"/>
            <a:ext cx="1737360" cy="1737360"/>
          </a:xfrm>
          <a:prstGeom prst="ellipse">
            <a:avLst/>
          </a:prstGeom>
          <a:solidFill>
            <a:srgbClr val="10B981"/>
          </a:solidFill>
          <a:ln w="19050">
            <a:solidFill>
              <a:srgbClr val="10B981"/>
            </a:solidFill>
            <a:prstDash val="solid"/>
          </a:ln>
        </p:spPr>
      </p:sp>
      <p:sp>
        <p:nvSpPr>
          <p:cNvPr id="7" name="Text 5"/>
          <p:cNvSpPr txBox="1"/>
          <p:nvPr/>
        </p:nvSpPr>
        <p:spPr>
          <a:xfrm>
            <a:off x="548640" y="2011680"/>
            <a:ext cx="4206240" cy="457200"/>
          </a:xfrm>
          <a:prstGeom prst="rect">
            <a:avLst/>
          </a:prstGeom>
          <a:noFill/>
          <a:ln/>
        </p:spPr>
        <p:txBody>
          <a:bodyPr wrap="square" lIns="0" tIns="0" rIns="0" bIns="0" rtlCol="0" anchor="t"/>
          <a:lstStyle/>
          <a:p>
            <a:pPr algn="ctr" indent="0" marL="0">
              <a:buNone/>
            </a:pPr>
            <a:r>
              <a:rPr lang="en-US" sz="2200" b="1" dirty="0">
                <a:solidFill>
                  <a:srgbClr val="A3B3C9"/>
                </a:solidFill>
                <a:latin typeface="Georgia" pitchFamily="34" charset="0"/>
                <a:ea typeface="Georgia" pitchFamily="34" charset="-122"/>
                <a:cs typeface="Georgia" pitchFamily="34" charset="-120"/>
              </a:rPr>
              <a:t>R900 bn</a:t>
            </a:r>
            <a:endParaRPr lang="en-US" sz="2200" dirty="0"/>
          </a:p>
        </p:txBody>
      </p:sp>
      <p:sp>
        <p:nvSpPr>
          <p:cNvPr id="8" name="Text 6"/>
          <p:cNvSpPr txBox="1"/>
          <p:nvPr/>
        </p:nvSpPr>
        <p:spPr>
          <a:xfrm>
            <a:off x="1188720" y="2880360"/>
            <a:ext cx="2926080" cy="457200"/>
          </a:xfrm>
          <a:prstGeom prst="rect">
            <a:avLst/>
          </a:prstGeom>
          <a:noFill/>
          <a:ln/>
        </p:spPr>
        <p:txBody>
          <a:bodyPr wrap="square" lIns="0" tIns="0" rIns="0" bIns="0" rtlCol="0" anchor="t"/>
          <a:lstStyle/>
          <a:p>
            <a:pPr algn="ctr" indent="0" marL="0">
              <a:buNone/>
            </a:pPr>
            <a:r>
              <a:rPr lang="en-US" sz="2000" b="1" dirty="0">
                <a:solidFill>
                  <a:srgbClr val="FBBF24"/>
                </a:solidFill>
                <a:latin typeface="Georgia" pitchFamily="34" charset="0"/>
                <a:ea typeface="Georgia" pitchFamily="34" charset="-122"/>
                <a:cs typeface="Georgia" pitchFamily="34" charset="-120"/>
              </a:rPr>
              <a:t>R180 bn</a:t>
            </a:r>
            <a:endParaRPr lang="en-US" sz="2000" dirty="0"/>
          </a:p>
        </p:txBody>
      </p:sp>
      <p:sp>
        <p:nvSpPr>
          <p:cNvPr id="9" name="Text 7"/>
          <p:cNvSpPr txBox="1"/>
          <p:nvPr/>
        </p:nvSpPr>
        <p:spPr>
          <a:xfrm>
            <a:off x="1783080" y="4114800"/>
            <a:ext cx="1737360" cy="457200"/>
          </a:xfrm>
          <a:prstGeom prst="rect">
            <a:avLst/>
          </a:prstGeom>
          <a:noFill/>
          <a:ln/>
        </p:spPr>
        <p:txBody>
          <a:bodyPr wrap="square" lIns="0" tIns="0" rIns="0" bIns="0" rtlCol="0" anchor="t"/>
          <a:lstStyle/>
          <a:p>
            <a:pPr algn="ctr" indent="0" marL="0">
              <a:buNone/>
            </a:pPr>
            <a:r>
              <a:rPr lang="en-US" sz="2000" b="1" dirty="0">
                <a:solidFill>
                  <a:srgbClr val="0F172A"/>
                </a:solidFill>
                <a:latin typeface="Georgia" pitchFamily="34" charset="0"/>
                <a:ea typeface="Georgia" pitchFamily="34" charset="-122"/>
                <a:cs typeface="Georgia" pitchFamily="34" charset="-120"/>
              </a:rPr>
              <a:t>20,000</a:t>
            </a:r>
            <a:endParaRPr lang="en-US" sz="2000" dirty="0"/>
          </a:p>
        </p:txBody>
      </p:sp>
      <p:sp>
        <p:nvSpPr>
          <p:cNvPr id="10" name="Text 8"/>
          <p:cNvSpPr txBox="1"/>
          <p:nvPr/>
        </p:nvSpPr>
        <p:spPr>
          <a:xfrm>
            <a:off x="5394960" y="1874520"/>
            <a:ext cx="2011680" cy="548640"/>
          </a:xfrm>
          <a:prstGeom prst="rect">
            <a:avLst/>
          </a:prstGeom>
          <a:noFill/>
          <a:ln/>
        </p:spPr>
        <p:txBody>
          <a:bodyPr wrap="square" lIns="0" tIns="0" rIns="0" bIns="0" rtlCol="0" anchor="t"/>
          <a:lstStyle/>
          <a:p>
            <a:pPr indent="0" marL="0">
              <a:buNone/>
            </a:pPr>
            <a:r>
              <a:rPr lang="en-US" sz="2800" b="1" dirty="0">
                <a:solidFill>
                  <a:srgbClr val="A3B3C9"/>
                </a:solidFill>
                <a:latin typeface="Georgia" pitchFamily="34" charset="0"/>
                <a:ea typeface="Georgia" pitchFamily="34" charset="-122"/>
                <a:cs typeface="Georgia" pitchFamily="34" charset="-120"/>
              </a:rPr>
              <a:t>R900 bn</a:t>
            </a:r>
            <a:endParaRPr lang="en-US" sz="2800" dirty="0"/>
          </a:p>
        </p:txBody>
      </p:sp>
      <p:sp>
        <p:nvSpPr>
          <p:cNvPr id="11" name="Text 9"/>
          <p:cNvSpPr txBox="1"/>
          <p:nvPr/>
        </p:nvSpPr>
        <p:spPr>
          <a:xfrm>
            <a:off x="7452360" y="19202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township economy a year: every informal and small business we can serve.</a:t>
            </a:r>
            <a:endParaRPr lang="en-US" sz="1600" dirty="0"/>
          </a:p>
        </p:txBody>
      </p:sp>
      <p:sp>
        <p:nvSpPr>
          <p:cNvPr id="12" name="Text 10"/>
          <p:cNvSpPr txBox="1"/>
          <p:nvPr/>
        </p:nvSpPr>
        <p:spPr>
          <a:xfrm>
            <a:off x="5394960" y="3246120"/>
            <a:ext cx="2011680" cy="548640"/>
          </a:xfrm>
          <a:prstGeom prst="rect">
            <a:avLst/>
          </a:prstGeom>
          <a:noFill/>
          <a:ln/>
        </p:spPr>
        <p:txBody>
          <a:bodyPr wrap="square" lIns="0" tIns="0" rIns="0" bIns="0" rtlCol="0" anchor="t"/>
          <a:lstStyle/>
          <a:p>
            <a:pPr indent="0" marL="0">
              <a:buNone/>
            </a:pPr>
            <a:r>
              <a:rPr lang="en-US" sz="2800" b="1" dirty="0">
                <a:solidFill>
                  <a:srgbClr val="FBBF24"/>
                </a:solidFill>
                <a:latin typeface="Georgia" pitchFamily="34" charset="0"/>
                <a:ea typeface="Georgia" pitchFamily="34" charset="-122"/>
                <a:cs typeface="Georgia" pitchFamily="34" charset="-120"/>
              </a:rPr>
              <a:t>R180 bn</a:t>
            </a:r>
            <a:endParaRPr lang="en-US" sz="2800" dirty="0"/>
          </a:p>
        </p:txBody>
      </p:sp>
      <p:sp>
        <p:nvSpPr>
          <p:cNvPr id="13" name="Text 11"/>
          <p:cNvSpPr txBox="1"/>
          <p:nvPr/>
        </p:nvSpPr>
        <p:spPr>
          <a:xfrm>
            <a:off x="7452360" y="32918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Moves through spaza shops alone every year: one segment, already buying from suppliers every week.</a:t>
            </a:r>
            <a:endParaRPr lang="en-US" sz="1600" dirty="0"/>
          </a:p>
        </p:txBody>
      </p:sp>
      <p:sp>
        <p:nvSpPr>
          <p:cNvPr id="14" name="Text 12"/>
          <p:cNvSpPr txBox="1"/>
          <p:nvPr/>
        </p:nvSpPr>
        <p:spPr>
          <a:xfrm>
            <a:off x="5394960" y="4617720"/>
            <a:ext cx="2011680" cy="548640"/>
          </a:xfrm>
          <a:prstGeom prst="rect">
            <a:avLst/>
          </a:prstGeom>
          <a:noFill/>
          <a:ln/>
        </p:spPr>
        <p:txBody>
          <a:bodyPr wrap="square" lIns="0" tIns="0" rIns="0" bIns="0" rtlCol="0" anchor="t"/>
          <a:lstStyle/>
          <a:p>
            <a:pPr indent="0" marL="0">
              <a:buNone/>
            </a:pPr>
            <a:r>
              <a:rPr lang="en-US" sz="2800" b="1" dirty="0">
                <a:solidFill>
                  <a:srgbClr val="34D399"/>
                </a:solidFill>
                <a:latin typeface="Georgia" pitchFamily="34" charset="0"/>
                <a:ea typeface="Georgia" pitchFamily="34" charset="-122"/>
                <a:cs typeface="Georgia" pitchFamily="34" charset="-120"/>
              </a:rPr>
              <a:t>20,000</a:t>
            </a:r>
            <a:endParaRPr lang="en-US" sz="2800" dirty="0"/>
          </a:p>
        </p:txBody>
      </p:sp>
      <p:sp>
        <p:nvSpPr>
          <p:cNvPr id="15" name="Text 13"/>
          <p:cNvSpPr txBox="1"/>
          <p:nvPr/>
        </p:nvSpPr>
        <p:spPr>
          <a:xfrm>
            <a:off x="7452360" y="46634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Businesses and 200 paying suppliers by year 3: about R13 million a year in revenue.</a:t>
            </a:r>
            <a:endParaRPr lang="en-US" sz="1600" dirty="0"/>
          </a:p>
        </p:txBody>
      </p:sp>
      <p:pic>
        <p:nvPicPr>
          <p:cNvPr id="1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7"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
        <p:nvSpPr>
          <p:cNvPr id="18" name="Text 1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size; spaza segment ~R180 bn a year). Year-3 figures are our estimates.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SOUTH AFRICA FIRST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We know this market from the inside</a:t>
            </a:r>
            <a:endParaRPr lang="en-US" sz="3400" dirty="0"/>
          </a:p>
        </p:txBody>
      </p:sp>
      <p:sp>
        <p:nvSpPr>
          <p:cNvPr id="4" name="Shape 2"/>
          <p:cNvSpPr/>
          <p:nvPr/>
        </p:nvSpPr>
        <p:spPr>
          <a:xfrm>
            <a:off x="548640" y="1828800"/>
            <a:ext cx="5349240" cy="1874520"/>
          </a:xfrm>
          <a:prstGeom prst="roundRect">
            <a:avLst>
              <a:gd name="adj" fmla="val 5854"/>
            </a:avLst>
          </a:prstGeom>
          <a:solidFill>
            <a:srgbClr val="17223A"/>
          </a:solidFill>
          <a:ln w="12700">
            <a:solidFill>
              <a:srgbClr val="17223A"/>
            </a:solidFill>
            <a:prstDash val="solid"/>
          </a:ln>
        </p:spPr>
      </p:sp>
      <p:sp>
        <p:nvSpPr>
          <p:cNvPr id="5" name="Shape 3"/>
          <p:cNvSpPr/>
          <p:nvPr/>
        </p:nvSpPr>
        <p:spPr>
          <a:xfrm>
            <a:off x="822960" y="2121408"/>
            <a:ext cx="731520" cy="7315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98525" y="2296973"/>
            <a:ext cx="380390" cy="380390"/>
          </a:xfrm>
          <a:prstGeom prst="rect">
            <a:avLst/>
          </a:prstGeom>
        </p:spPr>
      </p:pic>
      <p:sp>
        <p:nvSpPr>
          <p:cNvPr id="7" name="Text 4"/>
          <p:cNvSpPr txBox="1"/>
          <p:nvPr/>
        </p:nvSpPr>
        <p:spPr>
          <a:xfrm>
            <a:off x="178308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We live it</a:t>
            </a:r>
            <a:endParaRPr lang="en-US" sz="2000" dirty="0"/>
          </a:p>
        </p:txBody>
      </p:sp>
      <p:sp>
        <p:nvSpPr>
          <p:cNvPr id="8" name="Text 5"/>
          <p:cNvSpPr txBox="1"/>
          <p:nvPr/>
        </p:nvSpPr>
        <p:spPr>
          <a:xfrm>
            <a:off x="178308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We grew up in these communities. We know how a business restocks, gives credit and gets paid.</a:t>
            </a:r>
            <a:endParaRPr lang="en-US" sz="1500" dirty="0"/>
          </a:p>
        </p:txBody>
      </p:sp>
      <p:sp>
        <p:nvSpPr>
          <p:cNvPr id="9" name="Shape 6"/>
          <p:cNvSpPr/>
          <p:nvPr/>
        </p:nvSpPr>
        <p:spPr>
          <a:xfrm>
            <a:off x="6172200" y="1828800"/>
            <a:ext cx="5349240" cy="1874520"/>
          </a:xfrm>
          <a:prstGeom prst="roundRect">
            <a:avLst>
              <a:gd name="adj" fmla="val 5854"/>
            </a:avLst>
          </a:prstGeom>
          <a:solidFill>
            <a:srgbClr val="17223A"/>
          </a:solidFill>
          <a:ln w="12700">
            <a:solidFill>
              <a:srgbClr val="17223A"/>
            </a:solidFill>
            <a:prstDash val="solid"/>
          </a:ln>
        </p:spPr>
      </p:sp>
      <p:sp>
        <p:nvSpPr>
          <p:cNvPr id="10" name="Shape 7"/>
          <p:cNvSpPr/>
          <p:nvPr/>
        </p:nvSpPr>
        <p:spPr>
          <a:xfrm>
            <a:off x="6446520" y="2121408"/>
            <a:ext cx="731520" cy="731520"/>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6622085" y="2296973"/>
            <a:ext cx="380390" cy="380390"/>
          </a:xfrm>
          <a:prstGeom prst="rect">
            <a:avLst/>
          </a:prstGeom>
        </p:spPr>
      </p:pic>
      <p:sp>
        <p:nvSpPr>
          <p:cNvPr id="12" name="Text 8"/>
          <p:cNvSpPr txBox="1"/>
          <p:nvPr/>
        </p:nvSpPr>
        <p:spPr>
          <a:xfrm>
            <a:off x="740664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Big and dense</a:t>
            </a:r>
            <a:endParaRPr lang="en-US" sz="2000" dirty="0"/>
          </a:p>
        </p:txBody>
      </p:sp>
      <p:sp>
        <p:nvSpPr>
          <p:cNvPr id="13" name="Text 9"/>
          <p:cNvSpPr txBox="1"/>
          <p:nvPr/>
        </p:nvSpPr>
        <p:spPr>
          <a:xfrm>
            <a:off x="740664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R900 bn, in every province. One supplier serves hundreds of businesses on the same route.</a:t>
            </a:r>
            <a:endParaRPr lang="en-US" sz="1500" dirty="0"/>
          </a:p>
        </p:txBody>
      </p:sp>
      <p:sp>
        <p:nvSpPr>
          <p:cNvPr id="14" name="Shape 10"/>
          <p:cNvSpPr/>
          <p:nvPr/>
        </p:nvSpPr>
        <p:spPr>
          <a:xfrm>
            <a:off x="548640" y="3931920"/>
            <a:ext cx="5349240" cy="1874520"/>
          </a:xfrm>
          <a:prstGeom prst="roundRect">
            <a:avLst>
              <a:gd name="adj" fmla="val 5854"/>
            </a:avLst>
          </a:prstGeom>
          <a:solidFill>
            <a:srgbClr val="17223A"/>
          </a:solidFill>
          <a:ln w="12700">
            <a:solidFill>
              <a:srgbClr val="17223A"/>
            </a:solidFill>
            <a:prstDash val="solid"/>
          </a:ln>
        </p:spPr>
      </p:sp>
      <p:sp>
        <p:nvSpPr>
          <p:cNvPr id="15" name="Shape 11"/>
          <p:cNvSpPr/>
          <p:nvPr/>
        </p:nvSpPr>
        <p:spPr>
          <a:xfrm>
            <a:off x="822960" y="4224528"/>
            <a:ext cx="731520" cy="731520"/>
          </a:xfrm>
          <a:prstGeom prst="ellipse">
            <a:avLst/>
          </a:prstGeom>
          <a:solidFill>
            <a:srgbClr val="1E2B45"/>
          </a:solidFill>
          <a:ln w="19050">
            <a:solidFill>
              <a:srgbClr val="10B981"/>
            </a:solidFill>
            <a:prstDash val="solid"/>
          </a:ln>
        </p:spPr>
      </p:sp>
      <p:pic>
        <p:nvPicPr>
          <p:cNvPr id="16" name="Image 2" descr="preencoded.png">    </p:cNvPr>
          <p:cNvPicPr>
            <a:picLocks noChangeAspect="1"/>
          </p:cNvPicPr>
          <p:nvPr/>
        </p:nvPicPr>
        <p:blipFill>
          <a:blip r:embed="rId3"/>
          <a:stretch>
            <a:fillRect/>
          </a:stretch>
        </p:blipFill>
        <p:spPr>
          <a:xfrm>
            <a:off x="998525" y="4400093"/>
            <a:ext cx="380390" cy="380390"/>
          </a:xfrm>
          <a:prstGeom prst="rect">
            <a:avLst/>
          </a:prstGeom>
        </p:spPr>
      </p:pic>
      <p:sp>
        <p:nvSpPr>
          <p:cNvPr id="17" name="Text 12"/>
          <p:cNvSpPr txBox="1"/>
          <p:nvPr/>
        </p:nvSpPr>
        <p:spPr>
          <a:xfrm>
            <a:off x="178308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Ready for digital</a:t>
            </a:r>
            <a:endParaRPr lang="en-US" sz="2000" dirty="0"/>
          </a:p>
        </p:txBody>
      </p:sp>
      <p:sp>
        <p:nvSpPr>
          <p:cNvPr id="18" name="Text 13"/>
          <p:cNvSpPr txBox="1"/>
          <p:nvPr/>
        </p:nvSpPr>
        <p:spPr>
          <a:xfrm>
            <a:off x="178308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56% already prefer EFT. Local payment rails and cheap Android phones are everywhere.</a:t>
            </a:r>
            <a:endParaRPr lang="en-US" sz="1500" dirty="0"/>
          </a:p>
        </p:txBody>
      </p:sp>
      <p:sp>
        <p:nvSpPr>
          <p:cNvPr id="19" name="Shape 14"/>
          <p:cNvSpPr/>
          <p:nvPr/>
        </p:nvSpPr>
        <p:spPr>
          <a:xfrm>
            <a:off x="6172200" y="3931920"/>
            <a:ext cx="5349240" cy="1874520"/>
          </a:xfrm>
          <a:prstGeom prst="roundRect">
            <a:avLst>
              <a:gd name="adj" fmla="val 5854"/>
            </a:avLst>
          </a:prstGeom>
          <a:solidFill>
            <a:srgbClr val="17223A"/>
          </a:solidFill>
          <a:ln w="12700">
            <a:solidFill>
              <a:srgbClr val="17223A"/>
            </a:solidFill>
            <a:prstDash val="solid"/>
          </a:ln>
        </p:spPr>
      </p:sp>
      <p:sp>
        <p:nvSpPr>
          <p:cNvPr id="20" name="Shape 15"/>
          <p:cNvSpPr/>
          <p:nvPr/>
        </p:nvSpPr>
        <p:spPr>
          <a:xfrm>
            <a:off x="6446520" y="4224528"/>
            <a:ext cx="731520" cy="731520"/>
          </a:xfrm>
          <a:prstGeom prst="ellipse">
            <a:avLst/>
          </a:prstGeom>
          <a:solidFill>
            <a:srgbClr val="1E2B45"/>
          </a:solidFill>
          <a:ln w="19050">
            <a:solidFill>
              <a:srgbClr val="FBBF24"/>
            </a:solidFill>
            <a:prstDash val="solid"/>
          </a:ln>
        </p:spPr>
      </p:sp>
      <p:pic>
        <p:nvPicPr>
          <p:cNvPr id="21" name="Image 3" descr="preencoded.png">    </p:cNvPr>
          <p:cNvPicPr>
            <a:picLocks noChangeAspect="1"/>
          </p:cNvPicPr>
          <p:nvPr/>
        </p:nvPicPr>
        <p:blipFill>
          <a:blip r:embed="rId4"/>
          <a:stretch>
            <a:fillRect/>
          </a:stretch>
        </p:blipFill>
        <p:spPr>
          <a:xfrm>
            <a:off x="6622085" y="4400093"/>
            <a:ext cx="380390" cy="380390"/>
          </a:xfrm>
          <a:prstGeom prst="rect">
            <a:avLst/>
          </a:prstGeom>
        </p:spPr>
      </p:pic>
      <p:sp>
        <p:nvSpPr>
          <p:cNvPr id="22" name="Text 16"/>
          <p:cNvSpPr txBox="1"/>
          <p:nvPr/>
        </p:nvSpPr>
        <p:spPr>
          <a:xfrm>
            <a:off x="740664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Clear rules</a:t>
            </a:r>
            <a:endParaRPr lang="en-US" sz="2000" dirty="0"/>
          </a:p>
        </p:txBody>
      </p:sp>
      <p:sp>
        <p:nvSpPr>
          <p:cNvPr id="23" name="Text 17"/>
          <p:cNvSpPr txBox="1"/>
          <p:nvPr/>
        </p:nvSpPr>
        <p:spPr>
          <a:xfrm>
            <a:off x="740664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POPIA, CIPC, VAT invoicing: we built to them from day one. Then: the rest of Africa.</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17</a:t>
            </a:r>
            <a:endParaRPr lang="en-US" sz="1000" dirty="0"/>
          </a:p>
        </p:txBody>
      </p:sp>
      <p:sp>
        <p:nvSpPr>
          <p:cNvPr id="26" name="Text 19"/>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(56% prefer EFT or bank transfer).</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How it's built</a:t>
            </a:r>
            <a:endParaRPr lang="en-US" sz="3400" dirty="0"/>
          </a:p>
        </p:txBody>
      </p:sp>
      <p:sp>
        <p:nvSpPr>
          <p:cNvPr id="4" name="Shape 2"/>
          <p:cNvSpPr/>
          <p:nvPr/>
        </p:nvSpPr>
        <p:spPr>
          <a:xfrm>
            <a:off x="548640" y="1645920"/>
            <a:ext cx="2697480" cy="2834640"/>
          </a:xfrm>
          <a:prstGeom prst="roundRect">
            <a:avLst>
              <a:gd name="adj" fmla="val 4068"/>
            </a:avLst>
          </a:prstGeom>
          <a:solidFill>
            <a:srgbClr val="17223A"/>
          </a:solidFill>
          <a:ln w="12700">
            <a:solidFill>
              <a:srgbClr val="17223A"/>
            </a:solidFill>
            <a:prstDash val="solid"/>
          </a:ln>
        </p:spPr>
      </p:sp>
      <p:sp>
        <p:nvSpPr>
          <p:cNvPr id="5" name="Shape 3"/>
          <p:cNvSpPr/>
          <p:nvPr/>
        </p:nvSpPr>
        <p:spPr>
          <a:xfrm>
            <a:off x="777240" y="1847088"/>
            <a:ext cx="566928" cy="566928"/>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13303" y="1983151"/>
            <a:ext cx="294803" cy="294803"/>
          </a:xfrm>
          <a:prstGeom prst="rect">
            <a:avLst/>
          </a:prstGeom>
        </p:spPr>
      </p:pic>
      <p:sp>
        <p:nvSpPr>
          <p:cNvPr id="7" name="Text 4"/>
          <p:cNvSpPr txBox="1"/>
          <p:nvPr/>
        </p:nvSpPr>
        <p:spPr>
          <a:xfrm>
            <a:off x="1463040" y="1956816"/>
            <a:ext cx="1691640" cy="365760"/>
          </a:xfrm>
          <a:prstGeom prst="rect">
            <a:avLst/>
          </a:prstGeom>
          <a:noFill/>
          <a:ln/>
        </p:spPr>
        <p:txBody>
          <a:bodyPr wrap="square" lIns="0" tIns="0" rIns="0" bIns="0" rtlCol="0" anchor="t"/>
          <a:lstStyle/>
          <a:p>
            <a:pPr indent="0" marL="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777240" y="2606040"/>
            <a:ext cx="2286000" cy="178308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React Native + Expo, TypeScript</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Android first</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Sign-in kept in secure storage</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Offline orders wait, then send once</a:t>
            </a:r>
            <a:endParaRPr lang="en-US" sz="1250" dirty="0"/>
          </a:p>
        </p:txBody>
      </p:sp>
      <p:sp>
        <p:nvSpPr>
          <p:cNvPr id="9" name="Shape 6"/>
          <p:cNvSpPr/>
          <p:nvPr/>
        </p:nvSpPr>
        <p:spPr>
          <a:xfrm>
            <a:off x="3611880" y="1645920"/>
            <a:ext cx="4983480" cy="2834640"/>
          </a:xfrm>
          <a:prstGeom prst="roundRect">
            <a:avLst>
              <a:gd name="adj" fmla="val 3871"/>
            </a:avLst>
          </a:prstGeom>
          <a:solidFill>
            <a:srgbClr val="17223A"/>
          </a:solidFill>
          <a:ln w="12700">
            <a:solidFill>
              <a:srgbClr val="17223A"/>
            </a:solidFill>
            <a:prstDash val="solid"/>
          </a:ln>
        </p:spPr>
      </p:sp>
      <p:sp>
        <p:nvSpPr>
          <p:cNvPr id="10" name="Shape 7"/>
          <p:cNvSpPr/>
          <p:nvPr/>
        </p:nvSpPr>
        <p:spPr>
          <a:xfrm>
            <a:off x="3840480" y="1847088"/>
            <a:ext cx="566928" cy="566928"/>
          </a:xfrm>
          <a:prstGeom prst="ellipse">
            <a:avLst/>
          </a:prstGeom>
          <a:solidFill>
            <a:srgbClr val="1E2B45"/>
          </a:solidFill>
          <a:ln w="19050">
            <a:solidFill>
              <a:srgbClr val="FBBF24"/>
            </a:solidFill>
            <a:prstDash val="solid"/>
          </a:ln>
        </p:spPr>
      </p:sp>
      <p:pic>
        <p:nvPicPr>
          <p:cNvPr id="11" name="Image 1" descr="preencoded.png">    </p:cNvPr>
          <p:cNvPicPr>
            <a:picLocks noChangeAspect="1"/>
          </p:cNvPicPr>
          <p:nvPr/>
        </p:nvPicPr>
        <p:blipFill>
          <a:blip r:embed="rId2"/>
          <a:stretch>
            <a:fillRect/>
          </a:stretch>
        </p:blipFill>
        <p:spPr>
          <a:xfrm>
            <a:off x="3976543" y="1983151"/>
            <a:ext cx="294803" cy="294803"/>
          </a:xfrm>
          <a:prstGeom prst="rect">
            <a:avLst/>
          </a:prstGeom>
        </p:spPr>
      </p:pic>
      <p:sp>
        <p:nvSpPr>
          <p:cNvPr id="12" name="Text 8"/>
          <p:cNvSpPr txBox="1"/>
          <p:nvPr/>
        </p:nvSpPr>
        <p:spPr>
          <a:xfrm>
            <a:off x="4526280" y="1956816"/>
            <a:ext cx="384048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API: Python + Flask</a:t>
            </a:r>
            <a:endParaRPr lang="en-US" sz="1700" dirty="0"/>
          </a:p>
        </p:txBody>
      </p:sp>
      <p:sp>
        <p:nvSpPr>
          <p:cNvPr id="13" name="Shape 9"/>
          <p:cNvSpPr/>
          <p:nvPr/>
        </p:nvSpPr>
        <p:spPr>
          <a:xfrm>
            <a:off x="3794760" y="2542032"/>
            <a:ext cx="2240280" cy="548640"/>
          </a:xfrm>
          <a:prstGeom prst="roundRect">
            <a:avLst>
              <a:gd name="adj" fmla="val 20000"/>
            </a:avLst>
          </a:prstGeom>
          <a:solidFill>
            <a:srgbClr val="1E2B45"/>
          </a:solidFill>
          <a:ln w="12700">
            <a:solidFill>
              <a:srgbClr val="1E2B45"/>
            </a:solidFill>
            <a:prstDash val="solid"/>
          </a:ln>
        </p:spPr>
      </p:sp>
      <p:sp>
        <p:nvSpPr>
          <p:cNvPr id="14" name="Text 10"/>
          <p:cNvSpPr txBox="1"/>
          <p:nvPr/>
        </p:nvSpPr>
        <p:spPr>
          <a:xfrm>
            <a:off x="3922776" y="2587752"/>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Identity</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accounts, sign-in, devices</a:t>
            </a:r>
            <a:endParaRPr lang="en-US" sz="1200" dirty="0"/>
          </a:p>
        </p:txBody>
      </p:sp>
      <p:sp>
        <p:nvSpPr>
          <p:cNvPr id="15" name="Shape 11"/>
          <p:cNvSpPr/>
          <p:nvPr/>
        </p:nvSpPr>
        <p:spPr>
          <a:xfrm>
            <a:off x="6172200" y="2542032"/>
            <a:ext cx="2240280" cy="548640"/>
          </a:xfrm>
          <a:prstGeom prst="roundRect">
            <a:avLst>
              <a:gd name="adj" fmla="val 20000"/>
            </a:avLst>
          </a:prstGeom>
          <a:solidFill>
            <a:srgbClr val="1E2B45"/>
          </a:solidFill>
          <a:ln w="12700">
            <a:solidFill>
              <a:srgbClr val="1E2B45"/>
            </a:solidFill>
            <a:prstDash val="solid"/>
          </a:ln>
        </p:spPr>
      </p:sp>
      <p:sp>
        <p:nvSpPr>
          <p:cNvPr id="16" name="Text 12"/>
          <p:cNvSpPr txBox="1"/>
          <p:nvPr/>
        </p:nvSpPr>
        <p:spPr>
          <a:xfrm>
            <a:off x="6300216" y="2587752"/>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Business tools</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credit, orders, jobs, builders</a:t>
            </a:r>
            <a:endParaRPr lang="en-US" sz="1200" dirty="0"/>
          </a:p>
        </p:txBody>
      </p:sp>
      <p:sp>
        <p:nvSpPr>
          <p:cNvPr id="17" name="Shape 13"/>
          <p:cNvSpPr/>
          <p:nvPr/>
        </p:nvSpPr>
        <p:spPr>
          <a:xfrm>
            <a:off x="3794760" y="3172968"/>
            <a:ext cx="2240280" cy="548640"/>
          </a:xfrm>
          <a:prstGeom prst="roundRect">
            <a:avLst>
              <a:gd name="adj" fmla="val 20000"/>
            </a:avLst>
          </a:prstGeom>
          <a:solidFill>
            <a:srgbClr val="1E2B45"/>
          </a:solidFill>
          <a:ln w="12700">
            <a:solidFill>
              <a:srgbClr val="1E2B45"/>
            </a:solidFill>
            <a:prstDash val="solid"/>
          </a:ln>
        </p:spPr>
      </p:sp>
      <p:sp>
        <p:nvSpPr>
          <p:cNvPr id="18" name="Text 14"/>
          <p:cNvSpPr txBox="1"/>
          <p:nvPr/>
        </p:nvSpPr>
        <p:spPr>
          <a:xfrm>
            <a:off x="3922776" y="3218688"/>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Suppliers</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catalogue, the matching engine</a:t>
            </a:r>
            <a:endParaRPr lang="en-US" sz="1200" dirty="0"/>
          </a:p>
        </p:txBody>
      </p:sp>
      <p:sp>
        <p:nvSpPr>
          <p:cNvPr id="19" name="Shape 15"/>
          <p:cNvSpPr/>
          <p:nvPr/>
        </p:nvSpPr>
        <p:spPr>
          <a:xfrm>
            <a:off x="6172200" y="3172968"/>
            <a:ext cx="2240280" cy="548640"/>
          </a:xfrm>
          <a:prstGeom prst="roundRect">
            <a:avLst>
              <a:gd name="adj" fmla="val 20000"/>
            </a:avLst>
          </a:prstGeom>
          <a:solidFill>
            <a:srgbClr val="1E2B45"/>
          </a:solidFill>
          <a:ln w="12700">
            <a:solidFill>
              <a:srgbClr val="1E2B45"/>
            </a:solidFill>
            <a:prstDash val="solid"/>
          </a:ln>
        </p:spPr>
      </p:sp>
      <p:sp>
        <p:nvSpPr>
          <p:cNvPr id="20" name="Text 16"/>
          <p:cNvSpPr txBox="1"/>
          <p:nvPr/>
        </p:nvSpPr>
        <p:spPr>
          <a:xfrm>
            <a:off x="6300216" y="3218688"/>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Commerce</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orders, payments, invoices</a:t>
            </a:r>
            <a:endParaRPr lang="en-US" sz="1200" dirty="0"/>
          </a:p>
        </p:txBody>
      </p:sp>
      <p:sp>
        <p:nvSpPr>
          <p:cNvPr id="21" name="Shape 17"/>
          <p:cNvSpPr/>
          <p:nvPr/>
        </p:nvSpPr>
        <p:spPr>
          <a:xfrm>
            <a:off x="3794760" y="3803904"/>
            <a:ext cx="2240280" cy="548640"/>
          </a:xfrm>
          <a:prstGeom prst="roundRect">
            <a:avLst>
              <a:gd name="adj" fmla="val 20000"/>
            </a:avLst>
          </a:prstGeom>
          <a:solidFill>
            <a:srgbClr val="1E2B45"/>
          </a:solidFill>
          <a:ln w="12700">
            <a:solidFill>
              <a:srgbClr val="1E2B45"/>
            </a:solidFill>
            <a:prstDash val="solid"/>
          </a:ln>
        </p:spPr>
      </p:sp>
      <p:sp>
        <p:nvSpPr>
          <p:cNvPr id="22" name="Text 18"/>
          <p:cNvSpPr txBox="1"/>
          <p:nvPr/>
        </p:nvSpPr>
        <p:spPr>
          <a:xfrm>
            <a:off x="3922776" y="3849624"/>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Proof</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payment proof, sealed records</a:t>
            </a:r>
            <a:endParaRPr lang="en-US" sz="1200" dirty="0"/>
          </a:p>
        </p:txBody>
      </p:sp>
      <p:sp>
        <p:nvSpPr>
          <p:cNvPr id="23" name="Shape 19"/>
          <p:cNvSpPr/>
          <p:nvPr/>
        </p:nvSpPr>
        <p:spPr>
          <a:xfrm>
            <a:off x="6172200" y="3803904"/>
            <a:ext cx="2240280" cy="548640"/>
          </a:xfrm>
          <a:prstGeom prst="roundRect">
            <a:avLst>
              <a:gd name="adj" fmla="val 20000"/>
            </a:avLst>
          </a:prstGeom>
          <a:solidFill>
            <a:srgbClr val="1E2B45"/>
          </a:solidFill>
          <a:ln w="12700">
            <a:solidFill>
              <a:srgbClr val="1E2B45"/>
            </a:solidFill>
            <a:prstDash val="solid"/>
          </a:ln>
        </p:spPr>
      </p:sp>
      <p:sp>
        <p:nvSpPr>
          <p:cNvPr id="24" name="Text 20"/>
          <p:cNvSpPr txBox="1"/>
          <p:nvPr/>
        </p:nvSpPr>
        <p:spPr>
          <a:xfrm>
            <a:off x="6300216" y="3849624"/>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Platform</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alerts, audit trail</a:t>
            </a:r>
            <a:endParaRPr lang="en-US" sz="1200" dirty="0"/>
          </a:p>
        </p:txBody>
      </p:sp>
      <p:sp>
        <p:nvSpPr>
          <p:cNvPr id="25" name="Shape 21"/>
          <p:cNvSpPr/>
          <p:nvPr/>
        </p:nvSpPr>
        <p:spPr>
          <a:xfrm>
            <a:off x="8961120" y="1645920"/>
            <a:ext cx="2679192" cy="2834640"/>
          </a:xfrm>
          <a:prstGeom prst="roundRect">
            <a:avLst>
              <a:gd name="adj" fmla="val 4096"/>
            </a:avLst>
          </a:prstGeom>
          <a:solidFill>
            <a:srgbClr val="17223A"/>
          </a:solidFill>
          <a:ln w="12700">
            <a:solidFill>
              <a:srgbClr val="17223A"/>
            </a:solidFill>
            <a:prstDash val="solid"/>
          </a:ln>
        </p:spPr>
      </p:sp>
      <p:sp>
        <p:nvSpPr>
          <p:cNvPr id="26" name="Shape 22"/>
          <p:cNvSpPr/>
          <p:nvPr/>
        </p:nvSpPr>
        <p:spPr>
          <a:xfrm>
            <a:off x="9189720" y="1847088"/>
            <a:ext cx="566928" cy="566928"/>
          </a:xfrm>
          <a:prstGeom prst="ellipse">
            <a:avLst/>
          </a:prstGeom>
          <a:solidFill>
            <a:srgbClr val="1E2B45"/>
          </a:solidFill>
          <a:ln w="19050">
            <a:solidFill>
              <a:srgbClr val="34D399"/>
            </a:solidFill>
            <a:prstDash val="solid"/>
          </a:ln>
        </p:spPr>
      </p:sp>
      <p:pic>
        <p:nvPicPr>
          <p:cNvPr id="27" name="Image 2" descr="preencoded.png">    </p:cNvPr>
          <p:cNvPicPr>
            <a:picLocks noChangeAspect="1"/>
          </p:cNvPicPr>
          <p:nvPr/>
        </p:nvPicPr>
        <p:blipFill>
          <a:blip r:embed="rId3"/>
          <a:stretch>
            <a:fillRect/>
          </a:stretch>
        </p:blipFill>
        <p:spPr>
          <a:xfrm>
            <a:off x="9325783" y="1983151"/>
            <a:ext cx="294803" cy="294803"/>
          </a:xfrm>
          <a:prstGeom prst="rect">
            <a:avLst/>
          </a:prstGeom>
        </p:spPr>
      </p:pic>
      <p:sp>
        <p:nvSpPr>
          <p:cNvPr id="28" name="Text 23"/>
          <p:cNvSpPr txBox="1"/>
          <p:nvPr/>
        </p:nvSpPr>
        <p:spPr>
          <a:xfrm>
            <a:off x="9875520" y="1956816"/>
            <a:ext cx="169164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PostgreSQL</a:t>
            </a:r>
            <a:endParaRPr lang="en-US" sz="1700" dirty="0"/>
          </a:p>
        </p:txBody>
      </p:sp>
      <p:sp>
        <p:nvSpPr>
          <p:cNvPr id="29" name="Text 24"/>
          <p:cNvSpPr txBox="1"/>
          <p:nvPr/>
        </p:nvSpPr>
        <p:spPr>
          <a:xfrm>
            <a:off x="9189720" y="2606040"/>
            <a:ext cx="2286000" cy="178308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One schema per area</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Versioned migrations</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Audit trail with no personal data</a:t>
            </a:r>
            <a:endParaRPr lang="en-US" sz="1250" dirty="0"/>
          </a:p>
        </p:txBody>
      </p:sp>
      <p:sp>
        <p:nvSpPr>
          <p:cNvPr id="30" name="Shape 25"/>
          <p:cNvSpPr/>
          <p:nvPr/>
        </p:nvSpPr>
        <p:spPr>
          <a:xfrm>
            <a:off x="3264408" y="3063240"/>
            <a:ext cx="329184" cy="0"/>
          </a:xfrm>
          <a:prstGeom prst="line">
            <a:avLst/>
          </a:prstGeom>
          <a:noFill/>
          <a:ln w="25400">
            <a:solidFill>
              <a:srgbClr val="10B981"/>
            </a:solidFill>
            <a:prstDash val="solid"/>
            <a:headEnd type="triangle"/>
            <a:tailEnd type="triangle"/>
          </a:ln>
        </p:spPr>
      </p:sp>
      <p:sp>
        <p:nvSpPr>
          <p:cNvPr id="31" name="Shape 26"/>
          <p:cNvSpPr/>
          <p:nvPr/>
        </p:nvSpPr>
        <p:spPr>
          <a:xfrm>
            <a:off x="8613648" y="3063240"/>
            <a:ext cx="329184" cy="0"/>
          </a:xfrm>
          <a:prstGeom prst="line">
            <a:avLst/>
          </a:prstGeom>
          <a:noFill/>
          <a:ln w="25400">
            <a:solidFill>
              <a:srgbClr val="10B981"/>
            </a:solidFill>
            <a:prstDash val="solid"/>
            <a:headEnd type="triangle"/>
            <a:tailEnd type="triangle"/>
          </a:ln>
        </p:spPr>
      </p:sp>
      <p:sp>
        <p:nvSpPr>
          <p:cNvPr id="32" name="Text 27"/>
          <p:cNvSpPr txBox="1"/>
          <p:nvPr/>
        </p:nvSpPr>
        <p:spPr>
          <a:xfrm>
            <a:off x="548640" y="4590288"/>
            <a:ext cx="4572000" cy="228600"/>
          </a:xfrm>
          <a:prstGeom prst="rect">
            <a:avLst/>
          </a:prstGeom>
          <a:noFill/>
          <a:ln/>
        </p:spPr>
        <p:txBody>
          <a:bodyPr wrap="square" lIns="0" tIns="0" rIns="0" bIns="0" rtlCol="0" anchor="t"/>
          <a:lstStyle/>
          <a:p>
            <a:pPr indent="0" marL="0">
              <a:buNone/>
            </a:pPr>
            <a:r>
              <a:rPr lang="en-US" sz="1100" b="1" spc="200" kern="0" dirty="0">
                <a:solidFill>
                  <a:srgbClr val="64748B"/>
                </a:solidFill>
                <a:latin typeface="Calibri" pitchFamily="34" charset="0"/>
                <a:ea typeface="Calibri" pitchFamily="34" charset="-122"/>
                <a:cs typeface="Calibri" pitchFamily="34" charset="-120"/>
              </a:rPr>
              <a:t>SERVICES WE USE</a:t>
            </a:r>
            <a:endParaRPr lang="en-US" sz="1100" dirty="0"/>
          </a:p>
        </p:txBody>
      </p:sp>
      <p:sp>
        <p:nvSpPr>
          <p:cNvPr id="33" name="Shape 28"/>
          <p:cNvSpPr/>
          <p:nvPr/>
        </p:nvSpPr>
        <p:spPr>
          <a:xfrm>
            <a:off x="548640" y="4864608"/>
            <a:ext cx="2651760" cy="621792"/>
          </a:xfrm>
          <a:prstGeom prst="roundRect">
            <a:avLst>
              <a:gd name="adj" fmla="val 17647"/>
            </a:avLst>
          </a:prstGeom>
          <a:solidFill>
            <a:srgbClr val="17223A"/>
          </a:solidFill>
          <a:ln w="12700">
            <a:solidFill>
              <a:srgbClr val="17223A"/>
            </a:solidFill>
            <a:prstDash val="solid"/>
          </a:ln>
        </p:spPr>
      </p:sp>
      <p:sp>
        <p:nvSpPr>
          <p:cNvPr id="34" name="Shape 29"/>
          <p:cNvSpPr/>
          <p:nvPr/>
        </p:nvSpPr>
        <p:spPr>
          <a:xfrm>
            <a:off x="676656" y="4937760"/>
            <a:ext cx="475488" cy="475488"/>
          </a:xfrm>
          <a:prstGeom prst="ellipse">
            <a:avLst/>
          </a:prstGeom>
          <a:solidFill>
            <a:srgbClr val="1E2B45"/>
          </a:solidFill>
          <a:ln w="19050">
            <a:solidFill>
              <a:srgbClr val="10B981"/>
            </a:solidFill>
            <a:prstDash val="solid"/>
          </a:ln>
        </p:spPr>
      </p:sp>
      <p:pic>
        <p:nvPicPr>
          <p:cNvPr id="35" name="Image 3" descr="preencoded.png">    </p:cNvPr>
          <p:cNvPicPr>
            <a:picLocks noChangeAspect="1"/>
          </p:cNvPicPr>
          <p:nvPr/>
        </p:nvPicPr>
        <p:blipFill>
          <a:blip r:embed="rId4"/>
          <a:stretch>
            <a:fillRect/>
          </a:stretch>
        </p:blipFill>
        <p:spPr>
          <a:xfrm>
            <a:off x="790773" y="5051877"/>
            <a:ext cx="247254" cy="247254"/>
          </a:xfrm>
          <a:prstGeom prst="rect">
            <a:avLst/>
          </a:prstGeom>
        </p:spPr>
      </p:pic>
      <p:sp>
        <p:nvSpPr>
          <p:cNvPr id="36" name="Text 30"/>
          <p:cNvSpPr txBox="1"/>
          <p:nvPr/>
        </p:nvSpPr>
        <p:spPr>
          <a:xfrm>
            <a:off x="1280160" y="4919472"/>
            <a:ext cx="1847088" cy="512064"/>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PayFast</a:t>
            </a:r>
            <a:endParaRPr lang="en-US" sz="1250" dirty="0"/>
          </a:p>
          <a:p>
            <a:pPr indent="0" marL="0">
              <a:buNone/>
            </a:pPr>
            <a:r>
              <a:rPr lang="en-US" sz="1050" dirty="0">
                <a:solidFill>
                  <a:srgbClr val="A3B3C9"/>
                </a:solidFill>
                <a:latin typeface="Calibri" pitchFamily="34" charset="0"/>
                <a:ea typeface="Calibri" pitchFamily="34" charset="-122"/>
                <a:cs typeface="Calibri" pitchFamily="34" charset="-120"/>
              </a:rPr>
              <a:t>payments, checked 4 ways</a:t>
            </a:r>
            <a:endParaRPr lang="en-US" sz="1250" dirty="0"/>
          </a:p>
        </p:txBody>
      </p:sp>
      <p:sp>
        <p:nvSpPr>
          <p:cNvPr id="37" name="Shape 31"/>
          <p:cNvSpPr/>
          <p:nvPr/>
        </p:nvSpPr>
        <p:spPr>
          <a:xfrm>
            <a:off x="3364992" y="4864608"/>
            <a:ext cx="2651760" cy="621792"/>
          </a:xfrm>
          <a:prstGeom prst="roundRect">
            <a:avLst>
              <a:gd name="adj" fmla="val 17647"/>
            </a:avLst>
          </a:prstGeom>
          <a:solidFill>
            <a:srgbClr val="17223A"/>
          </a:solidFill>
          <a:ln w="12700">
            <a:solidFill>
              <a:srgbClr val="17223A"/>
            </a:solidFill>
            <a:prstDash val="solid"/>
          </a:ln>
        </p:spPr>
      </p:sp>
      <p:sp>
        <p:nvSpPr>
          <p:cNvPr id="38" name="Shape 32"/>
          <p:cNvSpPr/>
          <p:nvPr/>
        </p:nvSpPr>
        <p:spPr>
          <a:xfrm>
            <a:off x="3493008" y="4937760"/>
            <a:ext cx="475488" cy="475488"/>
          </a:xfrm>
          <a:prstGeom prst="ellipse">
            <a:avLst/>
          </a:prstGeom>
          <a:solidFill>
            <a:srgbClr val="1E2B45"/>
          </a:solidFill>
          <a:ln w="19050">
            <a:solidFill>
              <a:srgbClr val="10B981"/>
            </a:solidFill>
            <a:prstDash val="solid"/>
          </a:ln>
        </p:spPr>
      </p:sp>
      <p:pic>
        <p:nvPicPr>
          <p:cNvPr id="39" name="Image 4" descr="preencoded.png">    </p:cNvPr>
          <p:cNvPicPr>
            <a:picLocks noChangeAspect="1"/>
          </p:cNvPicPr>
          <p:nvPr/>
        </p:nvPicPr>
        <p:blipFill>
          <a:blip r:embed="rId5"/>
          <a:stretch>
            <a:fillRect/>
          </a:stretch>
        </p:blipFill>
        <p:spPr>
          <a:xfrm>
            <a:off x="3607125" y="5051877"/>
            <a:ext cx="247254" cy="247254"/>
          </a:xfrm>
          <a:prstGeom prst="rect">
            <a:avLst/>
          </a:prstGeom>
        </p:spPr>
      </p:pic>
      <p:sp>
        <p:nvSpPr>
          <p:cNvPr id="40" name="Text 33"/>
          <p:cNvSpPr txBox="1"/>
          <p:nvPr/>
        </p:nvSpPr>
        <p:spPr>
          <a:xfrm>
            <a:off x="4096512" y="4919472"/>
            <a:ext cx="1847088" cy="512064"/>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Cloudinary</a:t>
            </a:r>
            <a:endParaRPr lang="en-US" sz="1250" dirty="0"/>
          </a:p>
          <a:p>
            <a:pPr indent="0" marL="0">
              <a:buNone/>
            </a:pPr>
            <a:r>
              <a:rPr lang="en-US" sz="1050" dirty="0">
                <a:solidFill>
                  <a:srgbClr val="A3B3C9"/>
                </a:solidFill>
                <a:latin typeface="Calibri" pitchFamily="34" charset="0"/>
                <a:ea typeface="Calibri" pitchFamily="34" charset="-122"/>
                <a:cs typeface="Calibri" pitchFamily="34" charset="-120"/>
              </a:rPr>
              <a:t>signed photo uploads</a:t>
            </a:r>
            <a:endParaRPr lang="en-US" sz="1250" dirty="0"/>
          </a:p>
        </p:txBody>
      </p:sp>
      <p:sp>
        <p:nvSpPr>
          <p:cNvPr id="41" name="Shape 34"/>
          <p:cNvSpPr/>
          <p:nvPr/>
        </p:nvSpPr>
        <p:spPr>
          <a:xfrm>
            <a:off x="6181344" y="4864608"/>
            <a:ext cx="2651760" cy="621792"/>
          </a:xfrm>
          <a:prstGeom prst="roundRect">
            <a:avLst>
              <a:gd name="adj" fmla="val 17647"/>
            </a:avLst>
          </a:prstGeom>
          <a:solidFill>
            <a:srgbClr val="17223A"/>
          </a:solidFill>
          <a:ln w="12700">
            <a:solidFill>
              <a:srgbClr val="17223A"/>
            </a:solidFill>
            <a:prstDash val="solid"/>
          </a:ln>
        </p:spPr>
      </p:sp>
      <p:sp>
        <p:nvSpPr>
          <p:cNvPr id="42" name="Shape 35"/>
          <p:cNvSpPr/>
          <p:nvPr/>
        </p:nvSpPr>
        <p:spPr>
          <a:xfrm>
            <a:off x="6309360" y="4937760"/>
            <a:ext cx="475488" cy="475488"/>
          </a:xfrm>
          <a:prstGeom prst="ellipse">
            <a:avLst/>
          </a:prstGeom>
          <a:solidFill>
            <a:srgbClr val="1E2B45"/>
          </a:solidFill>
          <a:ln w="19050">
            <a:solidFill>
              <a:srgbClr val="10B981"/>
            </a:solidFill>
            <a:prstDash val="solid"/>
          </a:ln>
        </p:spPr>
      </p:sp>
      <p:pic>
        <p:nvPicPr>
          <p:cNvPr id="43" name="Image 5" descr="preencoded.png">    </p:cNvPr>
          <p:cNvPicPr>
            <a:picLocks noChangeAspect="1"/>
          </p:cNvPicPr>
          <p:nvPr/>
        </p:nvPicPr>
        <p:blipFill>
          <a:blip r:embed="rId6"/>
          <a:stretch>
            <a:fillRect/>
          </a:stretch>
        </p:blipFill>
        <p:spPr>
          <a:xfrm>
            <a:off x="6423477" y="5051877"/>
            <a:ext cx="247254" cy="247254"/>
          </a:xfrm>
          <a:prstGeom prst="rect">
            <a:avLst/>
          </a:prstGeom>
        </p:spPr>
      </p:pic>
      <p:sp>
        <p:nvSpPr>
          <p:cNvPr id="44" name="Text 36"/>
          <p:cNvSpPr txBox="1"/>
          <p:nvPr/>
        </p:nvSpPr>
        <p:spPr>
          <a:xfrm>
            <a:off x="6912864" y="4919472"/>
            <a:ext cx="1847088" cy="512064"/>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Mapbox</a:t>
            </a:r>
            <a:endParaRPr lang="en-US" sz="1250" dirty="0"/>
          </a:p>
          <a:p>
            <a:pPr indent="0" marL="0">
              <a:buNone/>
            </a:pPr>
            <a:r>
              <a:rPr lang="en-US" sz="1050" dirty="0">
                <a:solidFill>
                  <a:srgbClr val="A3B3C9"/>
                </a:solidFill>
                <a:latin typeface="Calibri" pitchFamily="34" charset="0"/>
                <a:ea typeface="Calibri" pitchFamily="34" charset="-122"/>
                <a:cs typeface="Calibri" pitchFamily="34" charset="-120"/>
              </a:rPr>
              <a:t>address search</a:t>
            </a:r>
            <a:endParaRPr lang="en-US" sz="1250" dirty="0"/>
          </a:p>
        </p:txBody>
      </p:sp>
      <p:sp>
        <p:nvSpPr>
          <p:cNvPr id="45" name="Shape 37"/>
          <p:cNvSpPr/>
          <p:nvPr/>
        </p:nvSpPr>
        <p:spPr>
          <a:xfrm>
            <a:off x="8997696" y="4864608"/>
            <a:ext cx="2651760" cy="621792"/>
          </a:xfrm>
          <a:prstGeom prst="roundRect">
            <a:avLst>
              <a:gd name="adj" fmla="val 17647"/>
            </a:avLst>
          </a:prstGeom>
          <a:solidFill>
            <a:srgbClr val="17223A"/>
          </a:solidFill>
          <a:ln w="12700">
            <a:solidFill>
              <a:srgbClr val="17223A"/>
            </a:solidFill>
            <a:prstDash val="solid"/>
          </a:ln>
        </p:spPr>
      </p:sp>
      <p:sp>
        <p:nvSpPr>
          <p:cNvPr id="46" name="Shape 38"/>
          <p:cNvSpPr/>
          <p:nvPr/>
        </p:nvSpPr>
        <p:spPr>
          <a:xfrm>
            <a:off x="9125712" y="4937760"/>
            <a:ext cx="475488" cy="475488"/>
          </a:xfrm>
          <a:prstGeom prst="ellipse">
            <a:avLst/>
          </a:prstGeom>
          <a:solidFill>
            <a:srgbClr val="1E2B45"/>
          </a:solidFill>
          <a:ln w="19050">
            <a:solidFill>
              <a:srgbClr val="10B981"/>
            </a:solidFill>
            <a:prstDash val="solid"/>
          </a:ln>
        </p:spPr>
      </p:sp>
      <p:pic>
        <p:nvPicPr>
          <p:cNvPr id="47" name="Image 6" descr="preencoded.png">    </p:cNvPr>
          <p:cNvPicPr>
            <a:picLocks noChangeAspect="1"/>
          </p:cNvPicPr>
          <p:nvPr/>
        </p:nvPicPr>
        <p:blipFill>
          <a:blip r:embed="rId7"/>
          <a:stretch>
            <a:fillRect/>
          </a:stretch>
        </p:blipFill>
        <p:spPr>
          <a:xfrm>
            <a:off x="9239829" y="5051877"/>
            <a:ext cx="247254" cy="247254"/>
          </a:xfrm>
          <a:prstGeom prst="rect">
            <a:avLst/>
          </a:prstGeom>
        </p:spPr>
      </p:pic>
      <p:sp>
        <p:nvSpPr>
          <p:cNvPr id="48" name="Text 39"/>
          <p:cNvSpPr txBox="1"/>
          <p:nvPr/>
        </p:nvSpPr>
        <p:spPr>
          <a:xfrm>
            <a:off x="9729216" y="4919472"/>
            <a:ext cx="1847088" cy="512064"/>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Email</a:t>
            </a:r>
            <a:endParaRPr lang="en-US" sz="1250" dirty="0"/>
          </a:p>
          <a:p>
            <a:pPr indent="0" marL="0">
              <a:buNone/>
            </a:pPr>
            <a:r>
              <a:rPr lang="en-US" sz="1050" dirty="0">
                <a:solidFill>
                  <a:srgbClr val="A3B3C9"/>
                </a:solidFill>
                <a:latin typeface="Calibri" pitchFamily="34" charset="0"/>
                <a:ea typeface="Calibri" pitchFamily="34" charset="-122"/>
                <a:cs typeface="Calibri" pitchFamily="34" charset="-120"/>
              </a:rPr>
              <a:t>codes, receipts, alerts</a:t>
            </a:r>
            <a:endParaRPr lang="en-US" sz="1250" dirty="0"/>
          </a:p>
        </p:txBody>
      </p:sp>
      <p:sp>
        <p:nvSpPr>
          <p:cNvPr id="49" name="Shape 40"/>
          <p:cNvSpPr/>
          <p:nvPr/>
        </p:nvSpPr>
        <p:spPr>
          <a:xfrm>
            <a:off x="548640" y="5596128"/>
            <a:ext cx="11091672" cy="603504"/>
          </a:xfrm>
          <a:prstGeom prst="roundRect">
            <a:avLst>
              <a:gd name="adj" fmla="val 18182"/>
            </a:avLst>
          </a:prstGeom>
          <a:solidFill>
            <a:srgbClr val="1E2B45"/>
          </a:solidFill>
          <a:ln w="12700">
            <a:solidFill>
              <a:srgbClr val="1E2B45"/>
            </a:solidFill>
            <a:prstDash val="solid"/>
          </a:ln>
        </p:spPr>
      </p:sp>
      <p:sp>
        <p:nvSpPr>
          <p:cNvPr id="50" name="Text 41"/>
          <p:cNvSpPr txBox="1"/>
          <p:nvPr/>
        </p:nvSpPr>
        <p:spPr>
          <a:xfrm>
            <a:off x="777240" y="5596128"/>
            <a:ext cx="10652760" cy="603504"/>
          </a:xfrm>
          <a:prstGeom prst="rect">
            <a:avLst/>
          </a:prstGeom>
          <a:noFill/>
          <a:ln/>
        </p:spPr>
        <p:txBody>
          <a:bodyPr wrap="square" lIns="0" tIns="0" rIns="0" bIns="0" rtlCol="0" anchor="ctr"/>
          <a:lstStyle/>
          <a:p>
            <a:pPr indent="0" marL="0">
              <a:buNone/>
            </a:pPr>
            <a:r>
              <a:rPr lang="en-US" sz="1250" dirty="0">
                <a:solidFill>
                  <a:srgbClr val="F8FAFC"/>
                </a:solidFill>
                <a:latin typeface="Calibri" pitchFamily="34" charset="0"/>
                <a:ea typeface="Calibri" pitchFamily="34" charset="-122"/>
                <a:cs typeface="Calibri" pitchFamily="34" charset="-120"/>
              </a:rPr>
              <a:t>On every request: HTTPS, a signed-in token, only the owner's data (anyone else's is 'not found'), strict input checks, rate limits, no double orders, and the server sets every price.</a:t>
            </a:r>
            <a:endParaRPr lang="en-US" sz="1250" dirty="0"/>
          </a:p>
        </p:txBody>
      </p:sp>
      <p:pic>
        <p:nvPicPr>
          <p:cNvPr id="51"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52" name="Text 4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DATA PRIVACY POLICY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Your data is yours. POPIA from day one.</a:t>
            </a:r>
            <a:endParaRPr lang="en-US" sz="3400" dirty="0"/>
          </a:p>
        </p:txBody>
      </p:sp>
      <p:sp>
        <p:nvSpPr>
          <p:cNvPr id="4" name="Shape 2"/>
          <p:cNvSpPr/>
          <p:nvPr/>
        </p:nvSpPr>
        <p:spPr>
          <a:xfrm>
            <a:off x="548640" y="1645920"/>
            <a:ext cx="6812280" cy="3246120"/>
          </a:xfrm>
          <a:prstGeom prst="roundRect">
            <a:avLst>
              <a:gd name="adj" fmla="val 3380"/>
            </a:avLst>
          </a:prstGeom>
          <a:solidFill>
            <a:srgbClr val="17223A"/>
          </a:solidFill>
          <a:ln w="12700">
            <a:solidFill>
              <a:srgbClr val="17223A"/>
            </a:solidFill>
            <a:prstDash val="solid"/>
          </a:ln>
        </p:spPr>
      </p:sp>
      <p:sp>
        <p:nvSpPr>
          <p:cNvPr id="5" name="Text 3"/>
          <p:cNvSpPr txBox="1"/>
          <p:nvPr/>
        </p:nvSpPr>
        <p:spPr>
          <a:xfrm>
            <a:off x="822960" y="1810512"/>
            <a:ext cx="630936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What we collect, and why</a:t>
            </a:r>
            <a:endParaRPr lang="en-US" sz="1700" dirty="0"/>
          </a:p>
        </p:txBody>
      </p:sp>
      <p:sp>
        <p:nvSpPr>
          <p:cNvPr id="6" name="Shape 4"/>
          <p:cNvSpPr/>
          <p:nvPr/>
        </p:nvSpPr>
        <p:spPr>
          <a:xfrm>
            <a:off x="841248" y="2450592"/>
            <a:ext cx="128016" cy="128016"/>
          </a:xfrm>
          <a:prstGeom prst="ellipse">
            <a:avLst/>
          </a:prstGeom>
          <a:solidFill>
            <a:srgbClr val="10B981"/>
          </a:solidFill>
          <a:ln w="12700">
            <a:solidFill>
              <a:srgbClr val="10B981"/>
            </a:solidFill>
            <a:prstDash val="solid"/>
          </a:ln>
        </p:spPr>
      </p:sp>
      <p:sp>
        <p:nvSpPr>
          <p:cNvPr id="7" name="Text 5"/>
          <p:cNvSpPr txBox="1"/>
          <p:nvPr/>
        </p:nvSpPr>
        <p:spPr>
          <a:xfrm>
            <a:off x="1097280" y="2331720"/>
            <a:ext cx="3154680" cy="36576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Email and password (stored hashed)</a:t>
            </a:r>
            <a:endParaRPr lang="en-US" sz="1350" dirty="0"/>
          </a:p>
        </p:txBody>
      </p:sp>
      <p:sp>
        <p:nvSpPr>
          <p:cNvPr id="8" name="Text 6"/>
          <p:cNvSpPr txBox="1"/>
          <p:nvPr/>
        </p:nvSpPr>
        <p:spPr>
          <a:xfrm>
            <a:off x="4297680" y="2331720"/>
            <a:ext cx="2926080" cy="365760"/>
          </a:xfrm>
          <a:prstGeom prst="rect">
            <a:avLst/>
          </a:prstGeom>
          <a:noFill/>
          <a:ln/>
        </p:spPr>
        <p:txBody>
          <a:bodyPr wrap="square" lIns="0" tIns="0" rIns="0" bIns="0" rtlCol="0" anchor="ctr"/>
          <a:lstStyle/>
          <a:p>
            <a:pPr indent="0" marL="0">
              <a:buNone/>
            </a:pPr>
            <a:r>
              <a:rPr lang="en-US" sz="1300" dirty="0">
                <a:solidFill>
                  <a:srgbClr val="A3B3C9"/>
                </a:solidFill>
                <a:latin typeface="Calibri" pitchFamily="34" charset="0"/>
                <a:ea typeface="Calibri" pitchFamily="34" charset="-122"/>
                <a:cs typeface="Calibri" pitchFamily="34" charset="-120"/>
              </a:rPr>
              <a:t>to sign you in</a:t>
            </a:r>
            <a:endParaRPr lang="en-US" sz="1300" dirty="0"/>
          </a:p>
        </p:txBody>
      </p:sp>
      <p:sp>
        <p:nvSpPr>
          <p:cNvPr id="9" name="Shape 7"/>
          <p:cNvSpPr/>
          <p:nvPr/>
        </p:nvSpPr>
        <p:spPr>
          <a:xfrm>
            <a:off x="841248" y="2944368"/>
            <a:ext cx="128016" cy="128016"/>
          </a:xfrm>
          <a:prstGeom prst="ellipse">
            <a:avLst/>
          </a:prstGeom>
          <a:solidFill>
            <a:srgbClr val="10B981"/>
          </a:solidFill>
          <a:ln w="12700">
            <a:solidFill>
              <a:srgbClr val="10B981"/>
            </a:solidFill>
            <a:prstDash val="solid"/>
          </a:ln>
        </p:spPr>
      </p:sp>
      <p:sp>
        <p:nvSpPr>
          <p:cNvPr id="10" name="Text 8"/>
          <p:cNvSpPr txBox="1"/>
          <p:nvPr/>
        </p:nvSpPr>
        <p:spPr>
          <a:xfrm>
            <a:off x="1097280" y="2825496"/>
            <a:ext cx="3154680" cy="36576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Business name, type and area</a:t>
            </a:r>
            <a:endParaRPr lang="en-US" sz="1350" dirty="0"/>
          </a:p>
        </p:txBody>
      </p:sp>
      <p:sp>
        <p:nvSpPr>
          <p:cNvPr id="11" name="Text 9"/>
          <p:cNvSpPr txBox="1"/>
          <p:nvPr/>
        </p:nvSpPr>
        <p:spPr>
          <a:xfrm>
            <a:off x="4297680" y="2825496"/>
            <a:ext cx="2926080" cy="365760"/>
          </a:xfrm>
          <a:prstGeom prst="rect">
            <a:avLst/>
          </a:prstGeom>
          <a:noFill/>
          <a:ln/>
        </p:spPr>
        <p:txBody>
          <a:bodyPr wrap="square" lIns="0" tIns="0" rIns="0" bIns="0" rtlCol="0" anchor="ctr"/>
          <a:lstStyle/>
          <a:p>
            <a:pPr indent="0" marL="0">
              <a:buNone/>
            </a:pPr>
            <a:r>
              <a:rPr lang="en-US" sz="1300" dirty="0">
                <a:solidFill>
                  <a:srgbClr val="A3B3C9"/>
                </a:solidFill>
                <a:latin typeface="Calibri" pitchFamily="34" charset="0"/>
                <a:ea typeface="Calibri" pitchFamily="34" charset="-122"/>
                <a:cs typeface="Calibri" pitchFamily="34" charset="-120"/>
              </a:rPr>
              <a:t>the right tools and suppliers</a:t>
            </a:r>
            <a:endParaRPr lang="en-US" sz="1300" dirty="0"/>
          </a:p>
        </p:txBody>
      </p:sp>
      <p:sp>
        <p:nvSpPr>
          <p:cNvPr id="12" name="Shape 10"/>
          <p:cNvSpPr/>
          <p:nvPr/>
        </p:nvSpPr>
        <p:spPr>
          <a:xfrm>
            <a:off x="841248" y="3438144"/>
            <a:ext cx="128016" cy="128016"/>
          </a:xfrm>
          <a:prstGeom prst="ellipse">
            <a:avLst/>
          </a:prstGeom>
          <a:solidFill>
            <a:srgbClr val="10B981"/>
          </a:solidFill>
          <a:ln w="12700">
            <a:solidFill>
              <a:srgbClr val="10B981"/>
            </a:solidFill>
            <a:prstDash val="solid"/>
          </a:ln>
        </p:spPr>
      </p:sp>
      <p:sp>
        <p:nvSpPr>
          <p:cNvPr id="13" name="Text 11"/>
          <p:cNvSpPr txBox="1"/>
          <p:nvPr/>
        </p:nvSpPr>
        <p:spPr>
          <a:xfrm>
            <a:off x="1097280" y="3319272"/>
            <a:ext cx="3154680" cy="36576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A CIPC number, only if you choose</a:t>
            </a:r>
            <a:endParaRPr lang="en-US" sz="1350" dirty="0"/>
          </a:p>
        </p:txBody>
      </p:sp>
      <p:sp>
        <p:nvSpPr>
          <p:cNvPr id="14" name="Text 12"/>
          <p:cNvSpPr txBox="1"/>
          <p:nvPr/>
        </p:nvSpPr>
        <p:spPr>
          <a:xfrm>
            <a:off x="4297680" y="3319272"/>
            <a:ext cx="2926080" cy="365760"/>
          </a:xfrm>
          <a:prstGeom prst="rect">
            <a:avLst/>
          </a:prstGeom>
          <a:noFill/>
          <a:ln/>
        </p:spPr>
        <p:txBody>
          <a:bodyPr wrap="square" lIns="0" tIns="0" rIns="0" bIns="0" rtlCol="0" anchor="ctr"/>
          <a:lstStyle/>
          <a:p>
            <a:pPr indent="0" marL="0">
              <a:buNone/>
            </a:pPr>
            <a:r>
              <a:rPr lang="en-US" sz="1300" dirty="0">
                <a:solidFill>
                  <a:srgbClr val="A3B3C9"/>
                </a:solidFill>
                <a:latin typeface="Calibri" pitchFamily="34" charset="0"/>
                <a:ea typeface="Calibri" pitchFamily="34" charset="-122"/>
                <a:cs typeface="Calibri" pitchFamily="34" charset="-120"/>
              </a:rPr>
              <a:t>a badge, checked on the register</a:t>
            </a:r>
            <a:endParaRPr lang="en-US" sz="1300" dirty="0"/>
          </a:p>
        </p:txBody>
      </p:sp>
      <p:sp>
        <p:nvSpPr>
          <p:cNvPr id="15" name="Shape 13"/>
          <p:cNvSpPr/>
          <p:nvPr/>
        </p:nvSpPr>
        <p:spPr>
          <a:xfrm>
            <a:off x="841248" y="3931920"/>
            <a:ext cx="128016" cy="128016"/>
          </a:xfrm>
          <a:prstGeom prst="ellipse">
            <a:avLst/>
          </a:prstGeom>
          <a:solidFill>
            <a:srgbClr val="10B981"/>
          </a:solidFill>
          <a:ln w="12700">
            <a:solidFill>
              <a:srgbClr val="10B981"/>
            </a:solidFill>
            <a:prstDash val="solid"/>
          </a:ln>
        </p:spPr>
      </p:sp>
      <p:sp>
        <p:nvSpPr>
          <p:cNvPr id="16" name="Text 14"/>
          <p:cNvSpPr txBox="1"/>
          <p:nvPr/>
        </p:nvSpPr>
        <p:spPr>
          <a:xfrm>
            <a:off x="1097280" y="3813048"/>
            <a:ext cx="3154680" cy="36576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Orders and payment results</a:t>
            </a:r>
            <a:endParaRPr lang="en-US" sz="1350" dirty="0"/>
          </a:p>
        </p:txBody>
      </p:sp>
      <p:sp>
        <p:nvSpPr>
          <p:cNvPr id="17" name="Text 15"/>
          <p:cNvSpPr txBox="1"/>
          <p:nvPr/>
        </p:nvSpPr>
        <p:spPr>
          <a:xfrm>
            <a:off x="4297680" y="3813048"/>
            <a:ext cx="2926080" cy="365760"/>
          </a:xfrm>
          <a:prstGeom prst="rect">
            <a:avLst/>
          </a:prstGeom>
          <a:noFill/>
          <a:ln/>
        </p:spPr>
        <p:txBody>
          <a:bodyPr wrap="square" lIns="0" tIns="0" rIns="0" bIns="0" rtlCol="0" anchor="ctr"/>
          <a:lstStyle/>
          <a:p>
            <a:pPr indent="0" marL="0">
              <a:buNone/>
            </a:pPr>
            <a:r>
              <a:rPr lang="en-US" sz="1300" dirty="0">
                <a:solidFill>
                  <a:srgbClr val="A3B3C9"/>
                </a:solidFill>
                <a:latin typeface="Calibri" pitchFamily="34" charset="0"/>
                <a:ea typeface="Calibri" pitchFamily="34" charset="-122"/>
                <a:cs typeface="Calibri" pitchFamily="34" charset="-120"/>
              </a:rPr>
              <a:t>invoices, receipts and your record</a:t>
            </a:r>
            <a:endParaRPr lang="en-US" sz="1300" dirty="0"/>
          </a:p>
        </p:txBody>
      </p:sp>
      <p:sp>
        <p:nvSpPr>
          <p:cNvPr id="18" name="Shape 16"/>
          <p:cNvSpPr/>
          <p:nvPr/>
        </p:nvSpPr>
        <p:spPr>
          <a:xfrm>
            <a:off x="841248" y="4425696"/>
            <a:ext cx="128016" cy="128016"/>
          </a:xfrm>
          <a:prstGeom prst="ellipse">
            <a:avLst/>
          </a:prstGeom>
          <a:solidFill>
            <a:srgbClr val="10B981"/>
          </a:solidFill>
          <a:ln w="12700">
            <a:solidFill>
              <a:srgbClr val="10B981"/>
            </a:solidFill>
            <a:prstDash val="solid"/>
          </a:ln>
        </p:spPr>
      </p:sp>
      <p:sp>
        <p:nvSpPr>
          <p:cNvPr id="19" name="Text 17"/>
          <p:cNvSpPr txBox="1"/>
          <p:nvPr/>
        </p:nvSpPr>
        <p:spPr>
          <a:xfrm>
            <a:off x="1097280" y="4306824"/>
            <a:ext cx="3154680" cy="36576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Your tools: credit book, jobs</a:t>
            </a:r>
            <a:endParaRPr lang="en-US" sz="1350" dirty="0"/>
          </a:p>
        </p:txBody>
      </p:sp>
      <p:sp>
        <p:nvSpPr>
          <p:cNvPr id="20" name="Text 18"/>
          <p:cNvSpPr txBox="1"/>
          <p:nvPr/>
        </p:nvSpPr>
        <p:spPr>
          <a:xfrm>
            <a:off x="4297680" y="4306824"/>
            <a:ext cx="2926080" cy="365760"/>
          </a:xfrm>
          <a:prstGeom prst="rect">
            <a:avLst/>
          </a:prstGeom>
          <a:noFill/>
          <a:ln/>
        </p:spPr>
        <p:txBody>
          <a:bodyPr wrap="square" lIns="0" tIns="0" rIns="0" bIns="0" rtlCol="0" anchor="ctr"/>
          <a:lstStyle/>
          <a:p>
            <a:pPr indent="0" marL="0">
              <a:buNone/>
            </a:pPr>
            <a:r>
              <a:rPr lang="en-US" sz="1300" dirty="0">
                <a:solidFill>
                  <a:srgbClr val="A3B3C9"/>
                </a:solidFill>
                <a:latin typeface="Calibri" pitchFamily="34" charset="0"/>
                <a:ea typeface="Calibri" pitchFamily="34" charset="-122"/>
                <a:cs typeface="Calibri" pitchFamily="34" charset="-120"/>
              </a:rPr>
              <a:t>yours; suppliers never see it</a:t>
            </a:r>
            <a:endParaRPr lang="en-US" sz="1300" dirty="0"/>
          </a:p>
        </p:txBody>
      </p:sp>
      <p:sp>
        <p:nvSpPr>
          <p:cNvPr id="21" name="Shape 19"/>
          <p:cNvSpPr/>
          <p:nvPr/>
        </p:nvSpPr>
        <p:spPr>
          <a:xfrm>
            <a:off x="7589520" y="1645920"/>
            <a:ext cx="4050792" cy="3246120"/>
          </a:xfrm>
          <a:prstGeom prst="roundRect">
            <a:avLst>
              <a:gd name="adj" fmla="val 3380"/>
            </a:avLst>
          </a:prstGeom>
          <a:solidFill>
            <a:srgbClr val="1E2B45"/>
          </a:solidFill>
          <a:ln w="12700">
            <a:solidFill>
              <a:srgbClr val="1E2B45"/>
            </a:solidFill>
            <a:prstDash val="solid"/>
          </a:ln>
        </p:spPr>
      </p:sp>
      <p:sp>
        <p:nvSpPr>
          <p:cNvPr id="22" name="Text 20"/>
          <p:cNvSpPr txBox="1"/>
          <p:nvPr/>
        </p:nvSpPr>
        <p:spPr>
          <a:xfrm>
            <a:off x="7863840" y="1810512"/>
            <a:ext cx="356616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What we never do</a:t>
            </a:r>
            <a:endParaRPr lang="en-US" sz="1700" dirty="0"/>
          </a:p>
        </p:txBody>
      </p:sp>
      <p:sp>
        <p:nvSpPr>
          <p:cNvPr id="23" name="Shape 21"/>
          <p:cNvSpPr/>
          <p:nvPr/>
        </p:nvSpPr>
        <p:spPr>
          <a:xfrm>
            <a:off x="7863840" y="2331720"/>
            <a:ext cx="402336" cy="402336"/>
          </a:xfrm>
          <a:prstGeom prst="ellipse">
            <a:avLst/>
          </a:prstGeom>
          <a:solidFill>
            <a:srgbClr val="1E2B45"/>
          </a:solidFill>
          <a:ln w="19050">
            <a:solidFill>
              <a:srgbClr val="FBBF24"/>
            </a:solidFill>
            <a:prstDash val="solid"/>
          </a:ln>
        </p:spPr>
      </p:sp>
      <p:pic>
        <p:nvPicPr>
          <p:cNvPr id="24" name="Image 0" descr="preencoded.png">    </p:cNvPr>
          <p:cNvPicPr>
            <a:picLocks noChangeAspect="1"/>
          </p:cNvPicPr>
          <p:nvPr/>
        </p:nvPicPr>
        <p:blipFill>
          <a:blip r:embed="rId1"/>
          <a:stretch>
            <a:fillRect/>
          </a:stretch>
        </p:blipFill>
        <p:spPr>
          <a:xfrm>
            <a:off x="7960401" y="2428281"/>
            <a:ext cx="209215" cy="209215"/>
          </a:xfrm>
          <a:prstGeom prst="rect">
            <a:avLst/>
          </a:prstGeom>
        </p:spPr>
      </p:pic>
      <p:sp>
        <p:nvSpPr>
          <p:cNvPr id="25" name="Text 22"/>
          <p:cNvSpPr txBox="1"/>
          <p:nvPr/>
        </p:nvSpPr>
        <p:spPr>
          <a:xfrm>
            <a:off x="8412480" y="2276856"/>
            <a:ext cx="3063240" cy="512064"/>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Ask for an ID number or passport</a:t>
            </a:r>
            <a:endParaRPr lang="en-US" sz="1350" dirty="0"/>
          </a:p>
        </p:txBody>
      </p:sp>
      <p:sp>
        <p:nvSpPr>
          <p:cNvPr id="26" name="Shape 23"/>
          <p:cNvSpPr/>
          <p:nvPr/>
        </p:nvSpPr>
        <p:spPr>
          <a:xfrm>
            <a:off x="7863840" y="2935224"/>
            <a:ext cx="402336" cy="402336"/>
          </a:xfrm>
          <a:prstGeom prst="ellipse">
            <a:avLst/>
          </a:prstGeom>
          <a:solidFill>
            <a:srgbClr val="1E2B45"/>
          </a:solidFill>
          <a:ln w="19050">
            <a:solidFill>
              <a:srgbClr val="FBBF24"/>
            </a:solidFill>
            <a:prstDash val="solid"/>
          </a:ln>
        </p:spPr>
      </p:sp>
      <p:pic>
        <p:nvPicPr>
          <p:cNvPr id="27" name="Image 1" descr="preencoded.png">    </p:cNvPr>
          <p:cNvPicPr>
            <a:picLocks noChangeAspect="1"/>
          </p:cNvPicPr>
          <p:nvPr/>
        </p:nvPicPr>
        <p:blipFill>
          <a:blip r:embed="rId2"/>
          <a:stretch>
            <a:fillRect/>
          </a:stretch>
        </p:blipFill>
        <p:spPr>
          <a:xfrm>
            <a:off x="7960401" y="3031785"/>
            <a:ext cx="209215" cy="209215"/>
          </a:xfrm>
          <a:prstGeom prst="rect">
            <a:avLst/>
          </a:prstGeom>
        </p:spPr>
      </p:pic>
      <p:sp>
        <p:nvSpPr>
          <p:cNvPr id="28" name="Text 24"/>
          <p:cNvSpPr txBox="1"/>
          <p:nvPr/>
        </p:nvSpPr>
        <p:spPr>
          <a:xfrm>
            <a:off x="8412480" y="2880360"/>
            <a:ext cx="3063240" cy="512064"/>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See or store card numbers</a:t>
            </a:r>
            <a:endParaRPr lang="en-US" sz="1350" dirty="0"/>
          </a:p>
        </p:txBody>
      </p:sp>
      <p:sp>
        <p:nvSpPr>
          <p:cNvPr id="29" name="Shape 25"/>
          <p:cNvSpPr/>
          <p:nvPr/>
        </p:nvSpPr>
        <p:spPr>
          <a:xfrm>
            <a:off x="7863840" y="3538728"/>
            <a:ext cx="402336" cy="402336"/>
          </a:xfrm>
          <a:prstGeom prst="ellipse">
            <a:avLst/>
          </a:prstGeom>
          <a:solidFill>
            <a:srgbClr val="1E2B45"/>
          </a:solidFill>
          <a:ln w="19050">
            <a:solidFill>
              <a:srgbClr val="FBBF24"/>
            </a:solidFill>
            <a:prstDash val="solid"/>
          </a:ln>
        </p:spPr>
      </p:sp>
      <p:pic>
        <p:nvPicPr>
          <p:cNvPr id="30" name="Image 2" descr="preencoded.png">    </p:cNvPr>
          <p:cNvPicPr>
            <a:picLocks noChangeAspect="1"/>
          </p:cNvPicPr>
          <p:nvPr/>
        </p:nvPicPr>
        <p:blipFill>
          <a:blip r:embed="rId3"/>
          <a:stretch>
            <a:fillRect/>
          </a:stretch>
        </p:blipFill>
        <p:spPr>
          <a:xfrm>
            <a:off x="7960401" y="3635289"/>
            <a:ext cx="209215" cy="209215"/>
          </a:xfrm>
          <a:prstGeom prst="rect">
            <a:avLst/>
          </a:prstGeom>
        </p:spPr>
      </p:pic>
      <p:sp>
        <p:nvSpPr>
          <p:cNvPr id="31" name="Text 26"/>
          <p:cNvSpPr txBox="1"/>
          <p:nvPr/>
        </p:nvSpPr>
        <p:spPr>
          <a:xfrm>
            <a:off x="8412480" y="3483864"/>
            <a:ext cx="3063240" cy="512064"/>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Sell your data, or use it for ads</a:t>
            </a:r>
            <a:endParaRPr lang="en-US" sz="1350" dirty="0"/>
          </a:p>
        </p:txBody>
      </p:sp>
      <p:sp>
        <p:nvSpPr>
          <p:cNvPr id="32" name="Shape 27"/>
          <p:cNvSpPr/>
          <p:nvPr/>
        </p:nvSpPr>
        <p:spPr>
          <a:xfrm>
            <a:off x="7863840" y="4142232"/>
            <a:ext cx="402336" cy="402336"/>
          </a:xfrm>
          <a:prstGeom prst="ellipse">
            <a:avLst/>
          </a:prstGeom>
          <a:solidFill>
            <a:srgbClr val="1E2B45"/>
          </a:solidFill>
          <a:ln w="19050">
            <a:solidFill>
              <a:srgbClr val="FBBF24"/>
            </a:solidFill>
            <a:prstDash val="solid"/>
          </a:ln>
        </p:spPr>
      </p:sp>
      <p:pic>
        <p:nvPicPr>
          <p:cNvPr id="33" name="Image 3" descr="preencoded.png">    </p:cNvPr>
          <p:cNvPicPr>
            <a:picLocks noChangeAspect="1"/>
          </p:cNvPicPr>
          <p:nvPr/>
        </p:nvPicPr>
        <p:blipFill>
          <a:blip r:embed="rId4"/>
          <a:stretch>
            <a:fillRect/>
          </a:stretch>
        </p:blipFill>
        <p:spPr>
          <a:xfrm>
            <a:off x="7960401" y="4238793"/>
            <a:ext cx="209215" cy="209215"/>
          </a:xfrm>
          <a:prstGeom prst="rect">
            <a:avLst/>
          </a:prstGeom>
        </p:spPr>
      </p:pic>
      <p:sp>
        <p:nvSpPr>
          <p:cNvPr id="34" name="Text 28"/>
          <p:cNvSpPr txBox="1"/>
          <p:nvPr/>
        </p:nvSpPr>
        <p:spPr>
          <a:xfrm>
            <a:off x="8412480" y="4087368"/>
            <a:ext cx="3063240" cy="512064"/>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Show your customers' names to suppliers</a:t>
            </a:r>
            <a:endParaRPr lang="en-US" sz="1350" dirty="0"/>
          </a:p>
        </p:txBody>
      </p:sp>
      <p:sp>
        <p:nvSpPr>
          <p:cNvPr id="35" name="Shape 29"/>
          <p:cNvSpPr/>
          <p:nvPr/>
        </p:nvSpPr>
        <p:spPr>
          <a:xfrm>
            <a:off x="548640" y="5074920"/>
            <a:ext cx="11091672" cy="1097280"/>
          </a:xfrm>
          <a:prstGeom prst="roundRect">
            <a:avLst>
              <a:gd name="adj" fmla="val 10000"/>
            </a:avLst>
          </a:prstGeom>
          <a:solidFill>
            <a:srgbClr val="17223A"/>
          </a:solidFill>
          <a:ln w="12700">
            <a:solidFill>
              <a:srgbClr val="17223A"/>
            </a:solidFill>
            <a:prstDash val="solid"/>
          </a:ln>
        </p:spPr>
      </p:sp>
      <p:sp>
        <p:nvSpPr>
          <p:cNvPr id="36" name="Text 30"/>
          <p:cNvSpPr txBox="1"/>
          <p:nvPr/>
        </p:nvSpPr>
        <p:spPr>
          <a:xfrm>
            <a:off x="822960" y="5193792"/>
            <a:ext cx="3657600" cy="256032"/>
          </a:xfrm>
          <a:prstGeom prst="rect">
            <a:avLst/>
          </a:prstGeom>
          <a:noFill/>
          <a:ln/>
        </p:spPr>
        <p:txBody>
          <a:bodyPr wrap="square" lIns="0" tIns="0" rIns="0" bIns="0" rtlCol="0" anchor="t"/>
          <a:lstStyle/>
          <a:p>
            <a:pPr indent="0" marL="0">
              <a:buNone/>
            </a:pPr>
            <a:r>
              <a:rPr lang="en-US" sz="1150" b="1" spc="200" kern="0" dirty="0">
                <a:solidFill>
                  <a:srgbClr val="10B981"/>
                </a:solidFill>
                <a:latin typeface="Calibri" pitchFamily="34" charset="0"/>
                <a:ea typeface="Calibri" pitchFamily="34" charset="-122"/>
                <a:cs typeface="Calibri" pitchFamily="34" charset="-120"/>
              </a:rPr>
              <a:t>YOUR RIGHTS</a:t>
            </a:r>
            <a:endParaRPr lang="en-US" sz="1150" dirty="0"/>
          </a:p>
        </p:txBody>
      </p:sp>
      <p:sp>
        <p:nvSpPr>
          <p:cNvPr id="37" name="Text 31"/>
          <p:cNvSpPr txBox="1"/>
          <p:nvPr/>
        </p:nvSpPr>
        <p:spPr>
          <a:xfrm>
            <a:off x="822960" y="5468112"/>
            <a:ext cx="2560320" cy="274320"/>
          </a:xfrm>
          <a:prstGeom prst="rect">
            <a:avLst/>
          </a:prstGeom>
          <a:noFill/>
          <a:ln/>
        </p:spPr>
        <p:txBody>
          <a:bodyPr wrap="square" lIns="0" tIns="0" rIns="0" bIns="0" rtlCol="0" anchor="t"/>
          <a:lstStyle/>
          <a:p>
            <a:pPr indent="0" marL="0">
              <a:buNone/>
            </a:pPr>
            <a:r>
              <a:rPr lang="en-US" sz="1350" b="1" dirty="0">
                <a:solidFill>
                  <a:srgbClr val="F8FAFC"/>
                </a:solidFill>
                <a:latin typeface="Calibri" pitchFamily="34" charset="0"/>
                <a:ea typeface="Calibri" pitchFamily="34" charset="-122"/>
                <a:cs typeface="Calibri" pitchFamily="34" charset="-120"/>
              </a:rPr>
              <a:t>See and download your data</a:t>
            </a:r>
            <a:endParaRPr lang="en-US" sz="1350" dirty="0"/>
          </a:p>
        </p:txBody>
      </p:sp>
      <p:sp>
        <p:nvSpPr>
          <p:cNvPr id="38" name="Text 32"/>
          <p:cNvSpPr txBox="1"/>
          <p:nvPr/>
        </p:nvSpPr>
        <p:spPr>
          <a:xfrm>
            <a:off x="822960" y="5742432"/>
            <a:ext cx="2560320" cy="384048"/>
          </a:xfrm>
          <a:prstGeom prst="rect">
            <a:avLst/>
          </a:prstGeom>
          <a:noFill/>
          <a:ln/>
        </p:spPr>
        <p:txBody>
          <a:bodyPr wrap="square" lIns="0" tIns="0" rIns="0" bIns="0" rtlCol="0" anchor="t"/>
          <a:lstStyle/>
          <a:p>
            <a:pPr indent="0" marL="0">
              <a:buNone/>
            </a:pPr>
            <a:r>
              <a:rPr lang="en-US" sz="1100" dirty="0">
                <a:solidFill>
                  <a:srgbClr val="A3B3C9"/>
                </a:solidFill>
                <a:latin typeface="Calibri" pitchFamily="34" charset="0"/>
                <a:ea typeface="Calibri" pitchFamily="34" charset="-122"/>
                <a:cs typeface="Calibri" pitchFamily="34" charset="-120"/>
              </a:rPr>
              <a:t>On our server today; the app button is next</a:t>
            </a:r>
            <a:endParaRPr lang="en-US" sz="1100" dirty="0"/>
          </a:p>
        </p:txBody>
      </p:sp>
      <p:sp>
        <p:nvSpPr>
          <p:cNvPr id="39" name="Text 33"/>
          <p:cNvSpPr txBox="1"/>
          <p:nvPr/>
        </p:nvSpPr>
        <p:spPr>
          <a:xfrm>
            <a:off x="3538728" y="5468112"/>
            <a:ext cx="2560320" cy="274320"/>
          </a:xfrm>
          <a:prstGeom prst="rect">
            <a:avLst/>
          </a:prstGeom>
          <a:noFill/>
          <a:ln/>
        </p:spPr>
        <p:txBody>
          <a:bodyPr wrap="square" lIns="0" tIns="0" rIns="0" bIns="0" rtlCol="0" anchor="t"/>
          <a:lstStyle/>
          <a:p>
            <a:pPr indent="0" marL="0">
              <a:buNone/>
            </a:pPr>
            <a:r>
              <a:rPr lang="en-US" sz="1350" b="1" dirty="0">
                <a:solidFill>
                  <a:srgbClr val="F8FAFC"/>
                </a:solidFill>
                <a:latin typeface="Calibri" pitchFamily="34" charset="0"/>
                <a:ea typeface="Calibri" pitchFamily="34" charset="-122"/>
                <a:cs typeface="Calibri" pitchFamily="34" charset="-120"/>
              </a:rPr>
              <a:t>Close your account</a:t>
            </a:r>
            <a:endParaRPr lang="en-US" sz="1350" dirty="0"/>
          </a:p>
        </p:txBody>
      </p:sp>
      <p:sp>
        <p:nvSpPr>
          <p:cNvPr id="40" name="Text 34"/>
          <p:cNvSpPr txBox="1"/>
          <p:nvPr/>
        </p:nvSpPr>
        <p:spPr>
          <a:xfrm>
            <a:off x="3538728" y="5742432"/>
            <a:ext cx="2560320" cy="384048"/>
          </a:xfrm>
          <a:prstGeom prst="rect">
            <a:avLst/>
          </a:prstGeom>
          <a:noFill/>
          <a:ln/>
        </p:spPr>
        <p:txBody>
          <a:bodyPr wrap="square" lIns="0" tIns="0" rIns="0" bIns="0" rtlCol="0" anchor="t"/>
          <a:lstStyle/>
          <a:p>
            <a:pPr indent="0" marL="0">
              <a:buNone/>
            </a:pPr>
            <a:r>
              <a:rPr lang="en-US" sz="1100" dirty="0">
                <a:solidFill>
                  <a:srgbClr val="A3B3C9"/>
                </a:solidFill>
                <a:latin typeface="Calibri" pitchFamily="34" charset="0"/>
                <a:ea typeface="Calibri" pitchFamily="34" charset="-122"/>
                <a:cs typeface="Calibri" pitchFamily="34" charset="-120"/>
              </a:rPr>
              <a:t>In the app today; every phone is signed out</a:t>
            </a:r>
            <a:endParaRPr lang="en-US" sz="1100" dirty="0"/>
          </a:p>
        </p:txBody>
      </p:sp>
      <p:sp>
        <p:nvSpPr>
          <p:cNvPr id="41" name="Text 35"/>
          <p:cNvSpPr txBox="1"/>
          <p:nvPr/>
        </p:nvSpPr>
        <p:spPr>
          <a:xfrm>
            <a:off x="6254496" y="5468112"/>
            <a:ext cx="2560320" cy="274320"/>
          </a:xfrm>
          <a:prstGeom prst="rect">
            <a:avLst/>
          </a:prstGeom>
          <a:noFill/>
          <a:ln/>
        </p:spPr>
        <p:txBody>
          <a:bodyPr wrap="square" lIns="0" tIns="0" rIns="0" bIns="0" rtlCol="0" anchor="t"/>
          <a:lstStyle/>
          <a:p>
            <a:pPr indent="0" marL="0">
              <a:buNone/>
            </a:pPr>
            <a:r>
              <a:rPr lang="en-US" sz="1350" b="1" dirty="0">
                <a:solidFill>
                  <a:srgbClr val="F8FAFC"/>
                </a:solidFill>
                <a:latin typeface="Calibri" pitchFamily="34" charset="0"/>
                <a:ea typeface="Calibri" pitchFamily="34" charset="-122"/>
                <a:cs typeface="Calibri" pitchFamily="34" charset="-120"/>
              </a:rPr>
              <a:t>Delete your data</a:t>
            </a:r>
            <a:endParaRPr lang="en-US" sz="1350" dirty="0"/>
          </a:p>
        </p:txBody>
      </p:sp>
      <p:sp>
        <p:nvSpPr>
          <p:cNvPr id="42" name="Text 36"/>
          <p:cNvSpPr txBox="1"/>
          <p:nvPr/>
        </p:nvSpPr>
        <p:spPr>
          <a:xfrm>
            <a:off x="6254496" y="5742432"/>
            <a:ext cx="2560320" cy="384048"/>
          </a:xfrm>
          <a:prstGeom prst="rect">
            <a:avLst/>
          </a:prstGeom>
          <a:noFill/>
          <a:ln/>
        </p:spPr>
        <p:txBody>
          <a:bodyPr wrap="square" lIns="0" tIns="0" rIns="0" bIns="0" rtlCol="0" anchor="t"/>
          <a:lstStyle/>
          <a:p>
            <a:pPr indent="0" marL="0">
              <a:buNone/>
            </a:pPr>
            <a:r>
              <a:rPr lang="en-US" sz="1100" dirty="0">
                <a:solidFill>
                  <a:srgbClr val="A3B3C9"/>
                </a:solidFill>
                <a:latin typeface="Calibri" pitchFamily="34" charset="0"/>
                <a:ea typeface="Calibri" pitchFamily="34" charset="-122"/>
                <a:cs typeface="Calibri" pitchFamily="34" charset="-120"/>
              </a:rPr>
              <a:t>Next. Tax records stay 5 years, by law</a:t>
            </a:r>
            <a:endParaRPr lang="en-US" sz="1100" dirty="0"/>
          </a:p>
        </p:txBody>
      </p:sp>
      <p:sp>
        <p:nvSpPr>
          <p:cNvPr id="43" name="Text 37"/>
          <p:cNvSpPr txBox="1"/>
          <p:nvPr/>
        </p:nvSpPr>
        <p:spPr>
          <a:xfrm>
            <a:off x="8970264" y="5468112"/>
            <a:ext cx="2560320" cy="274320"/>
          </a:xfrm>
          <a:prstGeom prst="rect">
            <a:avLst/>
          </a:prstGeom>
          <a:noFill/>
          <a:ln/>
        </p:spPr>
        <p:txBody>
          <a:bodyPr wrap="square" lIns="0" tIns="0" rIns="0" bIns="0" rtlCol="0" anchor="t"/>
          <a:lstStyle/>
          <a:p>
            <a:pPr indent="0" marL="0">
              <a:buNone/>
            </a:pPr>
            <a:r>
              <a:rPr lang="en-US" sz="1350" b="1" dirty="0">
                <a:solidFill>
                  <a:srgbClr val="F8FAFC"/>
                </a:solidFill>
                <a:latin typeface="Calibri" pitchFamily="34" charset="0"/>
                <a:ea typeface="Calibri" pitchFamily="34" charset="-122"/>
                <a:cs typeface="Calibri" pitchFamily="34" charset="-120"/>
              </a:rPr>
              <a:t>If there's ever a breach</a:t>
            </a:r>
            <a:endParaRPr lang="en-US" sz="1350" dirty="0"/>
          </a:p>
        </p:txBody>
      </p:sp>
      <p:sp>
        <p:nvSpPr>
          <p:cNvPr id="44" name="Text 38"/>
          <p:cNvSpPr txBox="1"/>
          <p:nvPr/>
        </p:nvSpPr>
        <p:spPr>
          <a:xfrm>
            <a:off x="8970264" y="5742432"/>
            <a:ext cx="2560320" cy="384048"/>
          </a:xfrm>
          <a:prstGeom prst="rect">
            <a:avLst/>
          </a:prstGeom>
          <a:noFill/>
          <a:ln/>
        </p:spPr>
        <p:txBody>
          <a:bodyPr wrap="square" lIns="0" tIns="0" rIns="0" bIns="0" rtlCol="0" anchor="t"/>
          <a:lstStyle/>
          <a:p>
            <a:pPr indent="0" marL="0">
              <a:buNone/>
            </a:pPr>
            <a:r>
              <a:rPr lang="en-US" sz="1100" dirty="0">
                <a:solidFill>
                  <a:srgbClr val="A3B3C9"/>
                </a:solidFill>
                <a:latin typeface="Calibri" pitchFamily="34" charset="0"/>
                <a:ea typeface="Calibri" pitchFamily="34" charset="-122"/>
                <a:cs typeface="Calibri" pitchFamily="34" charset="-120"/>
              </a:rPr>
              <a:t>We tell you and the Information Regulator</a:t>
            </a:r>
            <a:endParaRPr lang="en-US" sz="1100" dirty="0"/>
          </a:p>
        </p:txBody>
      </p:sp>
      <p:pic>
        <p:nvPicPr>
          <p:cNvPr id="45"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46" name="Text 39"/>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
        <p:nvSpPr>
          <p:cNvPr id="47" name="Text 40"/>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A summary of our privacy policy (v0.2, a draft: a legal review comes before launch). Some providers store data outside South Africa, under POPIA section 72.</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SECURITY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Safe by design, simple to use</a:t>
            </a:r>
            <a:endParaRPr lang="en-US" sz="3400" dirty="0"/>
          </a:p>
        </p:txBody>
      </p:sp>
      <p:sp>
        <p:nvSpPr>
          <p:cNvPr id="4" name="Shape 2"/>
          <p:cNvSpPr/>
          <p:nvPr/>
        </p:nvSpPr>
        <p:spPr>
          <a:xfrm>
            <a:off x="548640" y="1783080"/>
            <a:ext cx="3474720" cy="1965960"/>
          </a:xfrm>
          <a:prstGeom prst="roundRect">
            <a:avLst>
              <a:gd name="adj" fmla="val 5581"/>
            </a:avLst>
          </a:prstGeom>
          <a:solidFill>
            <a:srgbClr val="17223A"/>
          </a:solidFill>
          <a:ln w="12700">
            <a:solidFill>
              <a:srgbClr val="17223A"/>
            </a:solidFill>
            <a:prstDash val="solid"/>
          </a:ln>
        </p:spPr>
      </p:sp>
      <p:sp>
        <p:nvSpPr>
          <p:cNvPr id="5" name="Shape 3"/>
          <p:cNvSpPr/>
          <p:nvPr/>
        </p:nvSpPr>
        <p:spPr>
          <a:xfrm>
            <a:off x="822960" y="2057400"/>
            <a:ext cx="640080" cy="64008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76579" y="2211019"/>
            <a:ext cx="332842" cy="332842"/>
          </a:xfrm>
          <a:prstGeom prst="rect">
            <a:avLst/>
          </a:prstGeom>
        </p:spPr>
      </p:pic>
      <p:sp>
        <p:nvSpPr>
          <p:cNvPr id="7" name="Text 4"/>
          <p:cNvSpPr txBox="1"/>
          <p:nvPr/>
        </p:nvSpPr>
        <p:spPr>
          <a:xfrm>
            <a:off x="160020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Your data is yours</a:t>
            </a:r>
            <a:endParaRPr lang="en-US" sz="1600" dirty="0"/>
          </a:p>
        </p:txBody>
      </p:sp>
      <p:sp>
        <p:nvSpPr>
          <p:cNvPr id="8" name="Text 5"/>
          <p:cNvSpPr txBox="1"/>
          <p:nvPr/>
        </p:nvSpPr>
        <p:spPr>
          <a:xfrm>
            <a:off x="82296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Every request is limited to the owner. Anyone else's record answers 'not found'.</a:t>
            </a:r>
            <a:endParaRPr lang="en-US" sz="1300" dirty="0"/>
          </a:p>
        </p:txBody>
      </p:sp>
      <p:sp>
        <p:nvSpPr>
          <p:cNvPr id="9" name="Shape 6"/>
          <p:cNvSpPr/>
          <p:nvPr/>
        </p:nvSpPr>
        <p:spPr>
          <a:xfrm>
            <a:off x="4297680" y="1783080"/>
            <a:ext cx="3474720" cy="1965960"/>
          </a:xfrm>
          <a:prstGeom prst="roundRect">
            <a:avLst>
              <a:gd name="adj" fmla="val 5581"/>
            </a:avLst>
          </a:prstGeom>
          <a:solidFill>
            <a:srgbClr val="17223A"/>
          </a:solidFill>
          <a:ln w="12700">
            <a:solidFill>
              <a:srgbClr val="17223A"/>
            </a:solidFill>
            <a:prstDash val="solid"/>
          </a:ln>
        </p:spPr>
      </p:sp>
      <p:sp>
        <p:nvSpPr>
          <p:cNvPr id="10" name="Shape 7"/>
          <p:cNvSpPr/>
          <p:nvPr/>
        </p:nvSpPr>
        <p:spPr>
          <a:xfrm>
            <a:off x="4572000" y="2057400"/>
            <a:ext cx="640080" cy="640080"/>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4725619" y="2211019"/>
            <a:ext cx="332842" cy="332842"/>
          </a:xfrm>
          <a:prstGeom prst="rect">
            <a:avLst/>
          </a:prstGeom>
        </p:spPr>
      </p:pic>
      <p:sp>
        <p:nvSpPr>
          <p:cNvPr id="12" name="Text 8"/>
          <p:cNvSpPr txBox="1"/>
          <p:nvPr/>
        </p:nvSpPr>
        <p:spPr>
          <a:xfrm>
            <a:off x="534924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Simple, still safe</a:t>
            </a:r>
            <a:endParaRPr lang="en-US" sz="1600" dirty="0"/>
          </a:p>
        </p:txBody>
      </p:sp>
      <p:sp>
        <p:nvSpPr>
          <p:cNvPr id="13" name="Text 9"/>
          <p:cNvSpPr txBox="1"/>
          <p:nvPr/>
        </p:nvSpPr>
        <p:spPr>
          <a:xfrm>
            <a:off x="457200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Email and password; one code only on a new phone. The rest runs on our side.</a:t>
            </a:r>
            <a:endParaRPr lang="en-US" sz="1300" dirty="0"/>
          </a:p>
        </p:txBody>
      </p:sp>
      <p:sp>
        <p:nvSpPr>
          <p:cNvPr id="14" name="Shape 10"/>
          <p:cNvSpPr/>
          <p:nvPr/>
        </p:nvSpPr>
        <p:spPr>
          <a:xfrm>
            <a:off x="8046720" y="1783080"/>
            <a:ext cx="3474720" cy="1965960"/>
          </a:xfrm>
          <a:prstGeom prst="roundRect">
            <a:avLst>
              <a:gd name="adj" fmla="val 5581"/>
            </a:avLst>
          </a:prstGeom>
          <a:solidFill>
            <a:srgbClr val="17223A"/>
          </a:solidFill>
          <a:ln w="12700">
            <a:solidFill>
              <a:srgbClr val="17223A"/>
            </a:solidFill>
            <a:prstDash val="solid"/>
          </a:ln>
        </p:spPr>
      </p:sp>
      <p:sp>
        <p:nvSpPr>
          <p:cNvPr id="15" name="Shape 11"/>
          <p:cNvSpPr/>
          <p:nvPr/>
        </p:nvSpPr>
        <p:spPr>
          <a:xfrm>
            <a:off x="8321040" y="2057400"/>
            <a:ext cx="640080" cy="640080"/>
          </a:xfrm>
          <a:prstGeom prst="ellipse">
            <a:avLst/>
          </a:prstGeom>
          <a:solidFill>
            <a:srgbClr val="1E2B45"/>
          </a:solidFill>
          <a:ln w="19050">
            <a:solidFill>
              <a:srgbClr val="10B981"/>
            </a:solidFill>
            <a:prstDash val="solid"/>
          </a:ln>
        </p:spPr>
      </p:sp>
      <p:pic>
        <p:nvPicPr>
          <p:cNvPr id="16" name="Image 2" descr="preencoded.png">    </p:cNvPr>
          <p:cNvPicPr>
            <a:picLocks noChangeAspect="1"/>
          </p:cNvPicPr>
          <p:nvPr/>
        </p:nvPicPr>
        <p:blipFill>
          <a:blip r:embed="rId3"/>
          <a:stretch>
            <a:fillRect/>
          </a:stretch>
        </p:blipFill>
        <p:spPr>
          <a:xfrm>
            <a:off x="8474659" y="2211019"/>
            <a:ext cx="332842" cy="332842"/>
          </a:xfrm>
          <a:prstGeom prst="rect">
            <a:avLst/>
          </a:prstGeom>
        </p:spPr>
      </p:pic>
      <p:sp>
        <p:nvSpPr>
          <p:cNvPr id="17" name="Text 12"/>
          <p:cNvSpPr txBox="1"/>
          <p:nvPr/>
        </p:nvSpPr>
        <p:spPr>
          <a:xfrm>
            <a:off x="909828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No card data</a:t>
            </a:r>
            <a:endParaRPr lang="en-US" sz="1600" dirty="0"/>
          </a:p>
        </p:txBody>
      </p:sp>
      <p:sp>
        <p:nvSpPr>
          <p:cNvPr id="18" name="Text 13"/>
          <p:cNvSpPr txBox="1"/>
          <p:nvPr/>
        </p:nvSpPr>
        <p:spPr>
          <a:xfrm>
            <a:off x="832104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The payment provider's own page. A payment counts only after 4 checks.</a:t>
            </a:r>
            <a:endParaRPr lang="en-US" sz="1300" dirty="0"/>
          </a:p>
        </p:txBody>
      </p:sp>
      <p:sp>
        <p:nvSpPr>
          <p:cNvPr id="19" name="Shape 14"/>
          <p:cNvSpPr/>
          <p:nvPr/>
        </p:nvSpPr>
        <p:spPr>
          <a:xfrm>
            <a:off x="548640" y="3931920"/>
            <a:ext cx="3474720" cy="1965960"/>
          </a:xfrm>
          <a:prstGeom prst="roundRect">
            <a:avLst>
              <a:gd name="adj" fmla="val 5581"/>
            </a:avLst>
          </a:prstGeom>
          <a:solidFill>
            <a:srgbClr val="17223A"/>
          </a:solidFill>
          <a:ln w="12700">
            <a:solidFill>
              <a:srgbClr val="17223A"/>
            </a:solidFill>
            <a:prstDash val="solid"/>
          </a:ln>
        </p:spPr>
      </p:sp>
      <p:sp>
        <p:nvSpPr>
          <p:cNvPr id="20" name="Shape 15"/>
          <p:cNvSpPr/>
          <p:nvPr/>
        </p:nvSpPr>
        <p:spPr>
          <a:xfrm>
            <a:off x="822960" y="4206240"/>
            <a:ext cx="640080" cy="640080"/>
          </a:xfrm>
          <a:prstGeom prst="ellipse">
            <a:avLst/>
          </a:prstGeom>
          <a:solidFill>
            <a:srgbClr val="1E2B45"/>
          </a:solidFill>
          <a:ln w="19050">
            <a:solidFill>
              <a:srgbClr val="10B981"/>
            </a:solidFill>
            <a:prstDash val="solid"/>
          </a:ln>
        </p:spPr>
      </p:sp>
      <p:pic>
        <p:nvPicPr>
          <p:cNvPr id="21" name="Image 3" descr="preencoded.png">    </p:cNvPr>
          <p:cNvPicPr>
            <a:picLocks noChangeAspect="1"/>
          </p:cNvPicPr>
          <p:nvPr/>
        </p:nvPicPr>
        <p:blipFill>
          <a:blip r:embed="rId4"/>
          <a:stretch>
            <a:fillRect/>
          </a:stretch>
        </p:blipFill>
        <p:spPr>
          <a:xfrm>
            <a:off x="976579" y="4359859"/>
            <a:ext cx="332842" cy="332842"/>
          </a:xfrm>
          <a:prstGeom prst="rect">
            <a:avLst/>
          </a:prstGeom>
        </p:spPr>
      </p:pic>
      <p:sp>
        <p:nvSpPr>
          <p:cNvPr id="22" name="Text 16"/>
          <p:cNvSpPr txBox="1"/>
          <p:nvPr/>
        </p:nvSpPr>
        <p:spPr>
          <a:xfrm>
            <a:off x="160020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Signed links</a:t>
            </a:r>
            <a:endParaRPr lang="en-US" sz="1600" dirty="0"/>
          </a:p>
        </p:txBody>
      </p:sp>
      <p:sp>
        <p:nvSpPr>
          <p:cNvPr id="23" name="Text 17"/>
          <p:cNvSpPr txBox="1"/>
          <p:nvPr/>
        </p:nvSpPr>
        <p:spPr>
          <a:xfrm>
            <a:off x="82296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Invoice, receipt and payment links are signed and expire. A QR check shows no personal details.</a:t>
            </a:r>
            <a:endParaRPr lang="en-US" sz="1300" dirty="0"/>
          </a:p>
        </p:txBody>
      </p:sp>
      <p:sp>
        <p:nvSpPr>
          <p:cNvPr id="24" name="Shape 18"/>
          <p:cNvSpPr/>
          <p:nvPr/>
        </p:nvSpPr>
        <p:spPr>
          <a:xfrm>
            <a:off x="4297680" y="3931920"/>
            <a:ext cx="3474720" cy="1965960"/>
          </a:xfrm>
          <a:prstGeom prst="roundRect">
            <a:avLst>
              <a:gd name="adj" fmla="val 5581"/>
            </a:avLst>
          </a:prstGeom>
          <a:solidFill>
            <a:srgbClr val="17223A"/>
          </a:solidFill>
          <a:ln w="12700">
            <a:solidFill>
              <a:srgbClr val="17223A"/>
            </a:solidFill>
            <a:prstDash val="solid"/>
          </a:ln>
        </p:spPr>
      </p:sp>
      <p:sp>
        <p:nvSpPr>
          <p:cNvPr id="25" name="Shape 19"/>
          <p:cNvSpPr/>
          <p:nvPr/>
        </p:nvSpPr>
        <p:spPr>
          <a:xfrm>
            <a:off x="4572000" y="4206240"/>
            <a:ext cx="640080" cy="640080"/>
          </a:xfrm>
          <a:prstGeom prst="ellipse">
            <a:avLst/>
          </a:prstGeom>
          <a:solidFill>
            <a:srgbClr val="1E2B45"/>
          </a:solidFill>
          <a:ln w="19050">
            <a:solidFill>
              <a:srgbClr val="FBBF24"/>
            </a:solidFill>
            <a:prstDash val="solid"/>
          </a:ln>
        </p:spPr>
      </p:sp>
      <p:pic>
        <p:nvPicPr>
          <p:cNvPr id="26" name="Image 4" descr="preencoded.png">    </p:cNvPr>
          <p:cNvPicPr>
            <a:picLocks noChangeAspect="1"/>
          </p:cNvPicPr>
          <p:nvPr/>
        </p:nvPicPr>
        <p:blipFill>
          <a:blip r:embed="rId5"/>
          <a:stretch>
            <a:fillRect/>
          </a:stretch>
        </p:blipFill>
        <p:spPr>
          <a:xfrm>
            <a:off x="4725619" y="4359859"/>
            <a:ext cx="332842" cy="332842"/>
          </a:xfrm>
          <a:prstGeom prst="rect">
            <a:avLst/>
          </a:prstGeom>
        </p:spPr>
      </p:pic>
      <p:sp>
        <p:nvSpPr>
          <p:cNvPr id="27" name="Text 20"/>
          <p:cNvSpPr txBox="1"/>
          <p:nvPr/>
        </p:nvSpPr>
        <p:spPr>
          <a:xfrm>
            <a:off x="534924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Honest proof</a:t>
            </a:r>
            <a:endParaRPr lang="en-US" sz="1600" dirty="0"/>
          </a:p>
        </p:txBody>
      </p:sp>
      <p:sp>
        <p:nvSpPr>
          <p:cNvPr id="28" name="Text 21"/>
          <p:cNvSpPr txBox="1"/>
          <p:nvPr/>
        </p:nvSpPr>
        <p:spPr>
          <a:xfrm>
            <a:off x="457200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Only provider-confirmed payments are proof. The rest is the owner's own record.</a:t>
            </a:r>
            <a:endParaRPr lang="en-US" sz="1300" dirty="0"/>
          </a:p>
        </p:txBody>
      </p:sp>
      <p:sp>
        <p:nvSpPr>
          <p:cNvPr id="29" name="Shape 22"/>
          <p:cNvSpPr/>
          <p:nvPr/>
        </p:nvSpPr>
        <p:spPr>
          <a:xfrm>
            <a:off x="8046720" y="3931920"/>
            <a:ext cx="3474720" cy="1965960"/>
          </a:xfrm>
          <a:prstGeom prst="roundRect">
            <a:avLst>
              <a:gd name="adj" fmla="val 5581"/>
            </a:avLst>
          </a:prstGeom>
          <a:solidFill>
            <a:srgbClr val="17223A"/>
          </a:solidFill>
          <a:ln w="12700">
            <a:solidFill>
              <a:srgbClr val="17223A"/>
            </a:solidFill>
            <a:prstDash val="solid"/>
          </a:ln>
        </p:spPr>
      </p:sp>
      <p:sp>
        <p:nvSpPr>
          <p:cNvPr id="30" name="Shape 23"/>
          <p:cNvSpPr/>
          <p:nvPr/>
        </p:nvSpPr>
        <p:spPr>
          <a:xfrm>
            <a:off x="8321040" y="4206240"/>
            <a:ext cx="640080" cy="640080"/>
          </a:xfrm>
          <a:prstGeom prst="ellipse">
            <a:avLst/>
          </a:prstGeom>
          <a:solidFill>
            <a:srgbClr val="1E2B45"/>
          </a:solidFill>
          <a:ln w="19050">
            <a:solidFill>
              <a:srgbClr val="10B981"/>
            </a:solidFill>
            <a:prstDash val="solid"/>
          </a:ln>
        </p:spPr>
      </p:sp>
      <p:pic>
        <p:nvPicPr>
          <p:cNvPr id="31" name="Image 5" descr="preencoded.png">    </p:cNvPr>
          <p:cNvPicPr>
            <a:picLocks noChangeAspect="1"/>
          </p:cNvPicPr>
          <p:nvPr/>
        </p:nvPicPr>
        <p:blipFill>
          <a:blip r:embed="rId6"/>
          <a:stretch>
            <a:fillRect/>
          </a:stretch>
        </p:blipFill>
        <p:spPr>
          <a:xfrm>
            <a:off x="8474659" y="4359859"/>
            <a:ext cx="332842" cy="332842"/>
          </a:xfrm>
          <a:prstGeom prst="rect">
            <a:avLst/>
          </a:prstGeom>
        </p:spPr>
      </p:pic>
      <p:sp>
        <p:nvSpPr>
          <p:cNvPr id="32" name="Text 24"/>
          <p:cNvSpPr txBox="1"/>
          <p:nvPr/>
        </p:nvSpPr>
        <p:spPr>
          <a:xfrm>
            <a:off x="909828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Tested like an attacker</a:t>
            </a:r>
            <a:endParaRPr lang="en-US" sz="1600" dirty="0"/>
          </a:p>
        </p:txBody>
      </p:sp>
      <p:sp>
        <p:nvSpPr>
          <p:cNvPr id="33" name="Text 25"/>
          <p:cNvSpPr txBox="1"/>
          <p:nvPr/>
        </p:nvSpPr>
        <p:spPr>
          <a:xfrm>
            <a:off x="832104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Hostile-input tests on every endpoint, rate limits, the OWASP API Top 10.</a:t>
            </a:r>
            <a:endParaRPr lang="en-US" sz="1300" dirty="0"/>
          </a:p>
        </p:txBody>
      </p:sp>
      <p:pic>
        <p:nvPicPr>
          <p:cNvPr id="34" name="Image 6"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35" name="Text 2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GO-TO-MARKET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One supplier brings hundreds of businesses</a:t>
            </a:r>
            <a:endParaRPr lang="en-US" sz="3400" dirty="0"/>
          </a:p>
        </p:txBody>
      </p:sp>
      <p:sp>
        <p:nvSpPr>
          <p:cNvPr id="4" name="Shape 2"/>
          <p:cNvSpPr/>
          <p:nvPr/>
        </p:nvSpPr>
        <p:spPr>
          <a:xfrm>
            <a:off x="548640" y="1783080"/>
            <a:ext cx="3474720" cy="3977640"/>
          </a:xfrm>
          <a:prstGeom prst="roundRect">
            <a:avLst>
              <a:gd name="adj" fmla="val 3158"/>
            </a:avLst>
          </a:prstGeom>
          <a:solidFill>
            <a:srgbClr val="17223A"/>
          </a:solidFill>
          <a:ln w="12700">
            <a:solidFill>
              <a:srgbClr val="17223A"/>
            </a:solidFill>
            <a:prstDash val="solid"/>
          </a:ln>
        </p:spPr>
      </p:sp>
      <p:sp>
        <p:nvSpPr>
          <p:cNvPr id="5" name="Text 3"/>
          <p:cNvSpPr txBox="1"/>
          <p:nvPr/>
        </p:nvSpPr>
        <p:spPr>
          <a:xfrm>
            <a:off x="86868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0-6 months</a:t>
            </a:r>
            <a:endParaRPr lang="en-US" sz="1400" dirty="0"/>
          </a:p>
        </p:txBody>
      </p:sp>
      <p:sp>
        <p:nvSpPr>
          <p:cNvPr id="6" name="Text 4"/>
          <p:cNvSpPr txBox="1"/>
          <p:nvPr/>
        </p:nvSpPr>
        <p:spPr>
          <a:xfrm>
            <a:off x="868680" y="2377440"/>
            <a:ext cx="2834640" cy="68580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Pilot</a:t>
            </a:r>
            <a:endParaRPr lang="en-US" sz="3200" dirty="0"/>
          </a:p>
        </p:txBody>
      </p:sp>
      <p:sp>
        <p:nvSpPr>
          <p:cNvPr id="7" name="Text 5"/>
          <p:cNvSpPr txBox="1"/>
          <p:nvPr/>
        </p:nvSpPr>
        <p:spPr>
          <a:xfrm>
            <a:off x="86868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 50-100 businesses they already serve</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A field agent at the counter and on the route</a:t>
            </a:r>
            <a:endParaRPr lang="en-US" sz="1600" dirty="0"/>
          </a:p>
        </p:txBody>
      </p:sp>
      <p:sp>
        <p:nvSpPr>
          <p:cNvPr id="8" name="Shape 6"/>
          <p:cNvSpPr/>
          <p:nvPr/>
        </p:nvSpPr>
        <p:spPr>
          <a:xfrm>
            <a:off x="4041648" y="3749040"/>
            <a:ext cx="237744" cy="0"/>
          </a:xfrm>
          <a:prstGeom prst="line">
            <a:avLst/>
          </a:prstGeom>
          <a:noFill/>
          <a:ln w="19050">
            <a:solidFill>
              <a:srgbClr val="64748B"/>
            </a:solidFill>
            <a:prstDash val="solid"/>
            <a:tailEnd type="triangle"/>
          </a:ln>
        </p:spPr>
      </p:sp>
      <p:sp>
        <p:nvSpPr>
          <p:cNvPr id="9" name="Shape 7"/>
          <p:cNvSpPr/>
          <p:nvPr/>
        </p:nvSpPr>
        <p:spPr>
          <a:xfrm>
            <a:off x="4297680" y="1783080"/>
            <a:ext cx="3474720" cy="3977640"/>
          </a:xfrm>
          <a:prstGeom prst="roundRect">
            <a:avLst>
              <a:gd name="adj" fmla="val 3158"/>
            </a:avLst>
          </a:prstGeom>
          <a:solidFill>
            <a:srgbClr val="17223A"/>
          </a:solidFill>
          <a:ln w="12700">
            <a:solidFill>
              <a:srgbClr val="17223A"/>
            </a:solidFill>
            <a:prstDash val="solid"/>
          </a:ln>
        </p:spPr>
      </p:sp>
      <p:sp>
        <p:nvSpPr>
          <p:cNvPr id="10" name="Text 8"/>
          <p:cNvSpPr txBox="1"/>
          <p:nvPr/>
        </p:nvSpPr>
        <p:spPr>
          <a:xfrm>
            <a:off x="461772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6-18 months</a:t>
            </a:r>
            <a:endParaRPr lang="en-US" sz="1400" dirty="0"/>
          </a:p>
        </p:txBody>
      </p:sp>
      <p:sp>
        <p:nvSpPr>
          <p:cNvPr id="11" name="Text 9"/>
          <p:cNvSpPr txBox="1"/>
          <p:nvPr/>
        </p:nvSpPr>
        <p:spPr>
          <a:xfrm>
            <a:off x="4617720" y="2377440"/>
            <a:ext cx="2834640" cy="68580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Grow</a:t>
            </a:r>
            <a:endParaRPr lang="en-US" sz="3200" dirty="0"/>
          </a:p>
        </p:txBody>
      </p:sp>
      <p:sp>
        <p:nvSpPr>
          <p:cNvPr id="12" name="Text 10"/>
          <p:cNvSpPr txBox="1"/>
          <p:nvPr/>
        </p:nvSpPr>
        <p:spPr>
          <a:xfrm>
            <a:off x="461772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15 paying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1,000 active businesses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Owners invite the suppliers they use</a:t>
            </a:r>
            <a:endParaRPr lang="en-US" sz="1600" dirty="0"/>
          </a:p>
        </p:txBody>
      </p:sp>
      <p:sp>
        <p:nvSpPr>
          <p:cNvPr id="13" name="Shape 11"/>
          <p:cNvSpPr/>
          <p:nvPr/>
        </p:nvSpPr>
        <p:spPr>
          <a:xfrm>
            <a:off x="7790688" y="3749040"/>
            <a:ext cx="237744" cy="0"/>
          </a:xfrm>
          <a:prstGeom prst="line">
            <a:avLst/>
          </a:prstGeom>
          <a:noFill/>
          <a:ln w="19050">
            <a:solidFill>
              <a:srgbClr val="64748B"/>
            </a:solidFill>
            <a:prstDash val="solid"/>
            <a:tailEnd type="triangle"/>
          </a:ln>
        </p:spPr>
      </p:sp>
      <p:sp>
        <p:nvSpPr>
          <p:cNvPr id="14" name="Shape 12"/>
          <p:cNvSpPr/>
          <p:nvPr/>
        </p:nvSpPr>
        <p:spPr>
          <a:xfrm>
            <a:off x="8046720" y="1783080"/>
            <a:ext cx="3474720" cy="3977640"/>
          </a:xfrm>
          <a:prstGeom prst="roundRect">
            <a:avLst>
              <a:gd name="adj" fmla="val 3158"/>
            </a:avLst>
          </a:prstGeom>
          <a:solidFill>
            <a:srgbClr val="17223A"/>
          </a:solidFill>
          <a:ln w="12700">
            <a:solidFill>
              <a:srgbClr val="17223A"/>
            </a:solidFill>
            <a:prstDash val="solid"/>
          </a:ln>
        </p:spPr>
      </p:sp>
      <p:sp>
        <p:nvSpPr>
          <p:cNvPr id="15" name="Text 13"/>
          <p:cNvSpPr txBox="1"/>
          <p:nvPr/>
        </p:nvSpPr>
        <p:spPr>
          <a:xfrm>
            <a:off x="836676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18-36 months</a:t>
            </a:r>
            <a:endParaRPr lang="en-US" sz="1400" dirty="0"/>
          </a:p>
        </p:txBody>
      </p:sp>
      <p:sp>
        <p:nvSpPr>
          <p:cNvPr id="16" name="Text 14"/>
          <p:cNvSpPr txBox="1"/>
          <p:nvPr/>
        </p:nvSpPr>
        <p:spPr>
          <a:xfrm>
            <a:off x="8366760" y="2377440"/>
            <a:ext cx="2834640" cy="685800"/>
          </a:xfrm>
          <a:prstGeom prst="rect">
            <a:avLst/>
          </a:prstGeom>
          <a:noFill/>
          <a:ln/>
        </p:spPr>
        <p:txBody>
          <a:bodyPr wrap="square" lIns="0" tIns="0" rIns="0" bIns="0" rtlCol="0" anchor="t"/>
          <a:lstStyle/>
          <a:p>
            <a:pPr indent="0" marL="0">
              <a:buNone/>
            </a:pPr>
            <a:r>
              <a:rPr lang="en-US" sz="3200" b="1" dirty="0">
                <a:solidFill>
                  <a:srgbClr val="34D399"/>
                </a:solidFill>
                <a:latin typeface="Georgia" pitchFamily="34" charset="0"/>
                <a:ea typeface="Georgia" pitchFamily="34" charset="-122"/>
                <a:cs typeface="Georgia" pitchFamily="34" charset="-120"/>
              </a:rPr>
              <a:t>Scale</a:t>
            </a:r>
            <a:endParaRPr lang="en-US" sz="3200" dirty="0"/>
          </a:p>
        </p:txBody>
      </p:sp>
      <p:sp>
        <p:nvSpPr>
          <p:cNvPr id="17" name="Text 15"/>
          <p:cNvSpPr txBox="1"/>
          <p:nvPr/>
        </p:nvSpPr>
        <p:spPr>
          <a:xfrm>
            <a:off x="836676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200 suppliers, all 9 provinces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Business associations, trade events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Then other African markets</a:t>
            </a:r>
            <a:endParaRPr lang="en-US" sz="1600" dirty="0"/>
          </a:p>
        </p:txBody>
      </p:sp>
      <p:sp>
        <p:nvSpPr>
          <p:cNvPr id="18" name="Text 16"/>
          <p:cNvSpPr txBox="1"/>
          <p:nvPr/>
        </p:nvSpPr>
        <p:spPr>
          <a:xfrm>
            <a:off x="548640" y="5897880"/>
            <a:ext cx="11064240" cy="365760"/>
          </a:xfrm>
          <a:prstGeom prst="rect">
            <a:avLst/>
          </a:prstGeom>
          <a:noFill/>
          <a:ln/>
        </p:spPr>
        <p:txBody>
          <a:bodyPr wrap="square" lIns="0" tIns="0" rIns="0" bIns="0" rtlCol="0" anchor="t"/>
          <a:lstStyle/>
          <a:p>
            <a:pPr indent="0" marL="0">
              <a:buNone/>
            </a:pPr>
            <a:r>
              <a:rPr lang="en-US" sz="1500" i="1" dirty="0">
                <a:solidFill>
                  <a:srgbClr val="10B981"/>
                </a:solidFill>
                <a:latin typeface="Calibri" pitchFamily="34" charset="0"/>
                <a:ea typeface="Calibri" pitchFamily="34" charset="-122"/>
                <a:cs typeface="Calibri" pitchFamily="34" charset="-120"/>
              </a:rPr>
              <a:t>Suppliers are both our customer and our channel: no expensive ads, one relationship at a time.</a:t>
            </a:r>
            <a:endParaRPr lang="en-US" sz="1500" dirty="0"/>
          </a:p>
        </p:txBody>
      </p:sp>
      <p:pic>
        <p:nvPicPr>
          <p:cNvPr id="1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0"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TRACTION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Not an idea. It's built, and it works.</a:t>
            </a:r>
            <a:endParaRPr lang="en-US" sz="3400" dirty="0"/>
          </a:p>
        </p:txBody>
      </p:sp>
      <p:sp>
        <p:nvSpPr>
          <p:cNvPr id="4" name="Shape 2"/>
          <p:cNvSpPr/>
          <p:nvPr/>
        </p:nvSpPr>
        <p:spPr>
          <a:xfrm>
            <a:off x="548640" y="1783080"/>
            <a:ext cx="2606040" cy="1828800"/>
          </a:xfrm>
          <a:prstGeom prst="roundRect">
            <a:avLst>
              <a:gd name="adj" fmla="val 6000"/>
            </a:avLst>
          </a:prstGeom>
          <a:solidFill>
            <a:srgbClr val="17223A"/>
          </a:solidFill>
          <a:ln w="12700">
            <a:solidFill>
              <a:srgbClr val="17223A"/>
            </a:solidFill>
            <a:prstDash val="solid"/>
          </a:ln>
        </p:spPr>
      </p:sp>
      <p:sp>
        <p:nvSpPr>
          <p:cNvPr id="5" name="Text 3"/>
          <p:cNvSpPr txBox="1"/>
          <p:nvPr/>
        </p:nvSpPr>
        <p:spPr>
          <a:xfrm>
            <a:off x="685800"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1,281</a:t>
            </a:r>
            <a:endParaRPr lang="en-US" sz="4400" dirty="0"/>
          </a:p>
        </p:txBody>
      </p:sp>
      <p:sp>
        <p:nvSpPr>
          <p:cNvPr id="6" name="Text 4"/>
          <p:cNvSpPr txBox="1"/>
          <p:nvPr/>
        </p:nvSpPr>
        <p:spPr>
          <a:xfrm>
            <a:off x="731520"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automated system tests pass</a:t>
            </a:r>
            <a:endParaRPr lang="en-US" sz="1400" dirty="0"/>
          </a:p>
        </p:txBody>
      </p:sp>
      <p:sp>
        <p:nvSpPr>
          <p:cNvPr id="7" name="Shape 5"/>
          <p:cNvSpPr/>
          <p:nvPr/>
        </p:nvSpPr>
        <p:spPr>
          <a:xfrm>
            <a:off x="3364992" y="1783080"/>
            <a:ext cx="2606040" cy="1828800"/>
          </a:xfrm>
          <a:prstGeom prst="roundRect">
            <a:avLst>
              <a:gd name="adj" fmla="val 6000"/>
            </a:avLst>
          </a:prstGeom>
          <a:solidFill>
            <a:srgbClr val="17223A"/>
          </a:solidFill>
          <a:ln w="12700">
            <a:solidFill>
              <a:srgbClr val="17223A"/>
            </a:solidFill>
            <a:prstDash val="solid"/>
          </a:ln>
        </p:spPr>
      </p:sp>
      <p:sp>
        <p:nvSpPr>
          <p:cNvPr id="8" name="Text 6"/>
          <p:cNvSpPr txBox="1"/>
          <p:nvPr/>
        </p:nvSpPr>
        <p:spPr>
          <a:xfrm>
            <a:off x="3502152"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204</a:t>
            </a:r>
            <a:endParaRPr lang="en-US" sz="4400" dirty="0"/>
          </a:p>
        </p:txBody>
      </p:sp>
      <p:sp>
        <p:nvSpPr>
          <p:cNvPr id="9" name="Text 7"/>
          <p:cNvSpPr txBox="1"/>
          <p:nvPr/>
        </p:nvSpPr>
        <p:spPr>
          <a:xfrm>
            <a:off x="3547872"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app tests pass</a:t>
            </a:r>
            <a:endParaRPr lang="en-US" sz="1400" dirty="0"/>
          </a:p>
        </p:txBody>
      </p:sp>
      <p:sp>
        <p:nvSpPr>
          <p:cNvPr id="10" name="Shape 8"/>
          <p:cNvSpPr/>
          <p:nvPr/>
        </p:nvSpPr>
        <p:spPr>
          <a:xfrm>
            <a:off x="6181344" y="1783080"/>
            <a:ext cx="2606040" cy="1828800"/>
          </a:xfrm>
          <a:prstGeom prst="roundRect">
            <a:avLst>
              <a:gd name="adj" fmla="val 6000"/>
            </a:avLst>
          </a:prstGeom>
          <a:solidFill>
            <a:srgbClr val="17223A"/>
          </a:solidFill>
          <a:ln w="12700">
            <a:solidFill>
              <a:srgbClr val="17223A"/>
            </a:solidFill>
            <a:prstDash val="solid"/>
          </a:ln>
        </p:spPr>
      </p:sp>
      <p:sp>
        <p:nvSpPr>
          <p:cNvPr id="11" name="Text 9"/>
          <p:cNvSpPr txBox="1"/>
          <p:nvPr/>
        </p:nvSpPr>
        <p:spPr>
          <a:xfrm>
            <a:off x="6318504"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1,672</a:t>
            </a:r>
            <a:endParaRPr lang="en-US" sz="4400" dirty="0"/>
          </a:p>
        </p:txBody>
      </p:sp>
      <p:sp>
        <p:nvSpPr>
          <p:cNvPr id="12" name="Text 10"/>
          <p:cNvSpPr txBox="1"/>
          <p:nvPr/>
        </p:nvSpPr>
        <p:spPr>
          <a:xfrm>
            <a:off x="6364224"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products from 11 sample suppliers</a:t>
            </a:r>
            <a:endParaRPr lang="en-US" sz="1400" dirty="0"/>
          </a:p>
        </p:txBody>
      </p:sp>
      <p:sp>
        <p:nvSpPr>
          <p:cNvPr id="13" name="Shape 11"/>
          <p:cNvSpPr/>
          <p:nvPr/>
        </p:nvSpPr>
        <p:spPr>
          <a:xfrm>
            <a:off x="8997696" y="1783080"/>
            <a:ext cx="2606040" cy="1828800"/>
          </a:xfrm>
          <a:prstGeom prst="roundRect">
            <a:avLst>
              <a:gd name="adj" fmla="val 6000"/>
            </a:avLst>
          </a:prstGeom>
          <a:solidFill>
            <a:srgbClr val="17223A"/>
          </a:solidFill>
          <a:ln w="12700">
            <a:solidFill>
              <a:srgbClr val="17223A"/>
            </a:solidFill>
            <a:prstDash val="solid"/>
          </a:ln>
        </p:spPr>
      </p:sp>
      <p:sp>
        <p:nvSpPr>
          <p:cNvPr id="14" name="Text 12"/>
          <p:cNvSpPr txBox="1"/>
          <p:nvPr/>
        </p:nvSpPr>
        <p:spPr>
          <a:xfrm>
            <a:off x="9134856" y="1965960"/>
            <a:ext cx="2331720" cy="868680"/>
          </a:xfrm>
          <a:prstGeom prst="rect">
            <a:avLst/>
          </a:prstGeom>
          <a:noFill/>
          <a:ln/>
        </p:spPr>
        <p:txBody>
          <a:bodyPr wrap="square" lIns="0" tIns="0" rIns="0" bIns="0" rtlCol="0" anchor="t"/>
          <a:lstStyle/>
          <a:p>
            <a:pPr algn="ctr" indent="0" marL="0">
              <a:buNone/>
            </a:pPr>
            <a:r>
              <a:rPr lang="en-US" sz="4400" b="1" dirty="0">
                <a:solidFill>
                  <a:srgbClr val="FBBF24"/>
                </a:solidFill>
                <a:latin typeface="Georgia" pitchFamily="34" charset="0"/>
                <a:ea typeface="Georgia" pitchFamily="34" charset="-122"/>
                <a:cs typeface="Georgia" pitchFamily="34" charset="-120"/>
              </a:rPr>
              <a:t>0</a:t>
            </a:r>
            <a:endParaRPr lang="en-US" sz="4400" dirty="0"/>
          </a:p>
        </p:txBody>
      </p:sp>
      <p:sp>
        <p:nvSpPr>
          <p:cNvPr id="15" name="Text 13"/>
          <p:cNvSpPr txBox="1"/>
          <p:nvPr/>
        </p:nvSpPr>
        <p:spPr>
          <a:xfrm>
            <a:off x="9180576"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card numbers ever touch our servers</a:t>
            </a:r>
            <a:endParaRPr lang="en-US" sz="1400" dirty="0"/>
          </a:p>
        </p:txBody>
      </p:sp>
      <p:sp>
        <p:nvSpPr>
          <p:cNvPr id="16" name="Shape 14"/>
          <p:cNvSpPr/>
          <p:nvPr/>
        </p:nvSpPr>
        <p:spPr>
          <a:xfrm>
            <a:off x="594360" y="4069080"/>
            <a:ext cx="329184" cy="329184"/>
          </a:xfrm>
          <a:prstGeom prst="ellipse">
            <a:avLst/>
          </a:prstGeom>
          <a:solidFill>
            <a:srgbClr val="10B981"/>
          </a:solidFill>
          <a:ln w="12700">
            <a:solidFill>
              <a:srgbClr val="10B981"/>
            </a:solidFill>
            <a:prstDash val="solid"/>
          </a:ln>
        </p:spPr>
      </p:sp>
      <p:sp>
        <p:nvSpPr>
          <p:cNvPr id="17" name="Text 15"/>
          <p:cNvSpPr txBox="1"/>
          <p:nvPr/>
        </p:nvSpPr>
        <p:spPr>
          <a:xfrm>
            <a:off x="1097280" y="4032504"/>
            <a:ext cx="265176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TRL 4  ·  today</a:t>
            </a:r>
            <a:endParaRPr lang="en-US" sz="1600" dirty="0"/>
          </a:p>
        </p:txBody>
      </p:sp>
      <p:sp>
        <p:nvSpPr>
          <p:cNvPr id="18" name="Text 16"/>
          <p:cNvSpPr txBox="1"/>
          <p:nvPr/>
        </p:nvSpPr>
        <p:spPr>
          <a:xfrm>
            <a:off x="3749040" y="40325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Every flow works end to end in our own environment, with real payments in the provider's sandbox.</a:t>
            </a:r>
            <a:endParaRPr lang="en-US" sz="1500" dirty="0"/>
          </a:p>
        </p:txBody>
      </p:sp>
      <p:sp>
        <p:nvSpPr>
          <p:cNvPr id="19" name="Shape 17"/>
          <p:cNvSpPr/>
          <p:nvPr/>
        </p:nvSpPr>
        <p:spPr>
          <a:xfrm>
            <a:off x="594360" y="4754880"/>
            <a:ext cx="329184" cy="329184"/>
          </a:xfrm>
          <a:prstGeom prst="ellipse">
            <a:avLst/>
          </a:prstGeom>
          <a:solidFill>
            <a:srgbClr val="FBBF24"/>
          </a:solidFill>
          <a:ln w="12700">
            <a:solidFill>
              <a:srgbClr val="FBBF24"/>
            </a:solidFill>
            <a:prstDash val="solid"/>
          </a:ln>
        </p:spPr>
      </p:sp>
      <p:sp>
        <p:nvSpPr>
          <p:cNvPr id="20" name="Text 18"/>
          <p:cNvSpPr txBox="1"/>
          <p:nvPr/>
        </p:nvSpPr>
        <p:spPr>
          <a:xfrm>
            <a:off x="1097280" y="4718304"/>
            <a:ext cx="2651760" cy="411480"/>
          </a:xfrm>
          <a:prstGeom prst="rect">
            <a:avLst/>
          </a:prstGeom>
          <a:noFill/>
          <a:ln/>
        </p:spPr>
        <p:txBody>
          <a:bodyPr wrap="square" lIns="0" tIns="0" rIns="0" bIns="0" rtlCol="0" anchor="t"/>
          <a:lstStyle/>
          <a:p>
            <a:pPr indent="0" marL="0">
              <a:buNone/>
            </a:pPr>
            <a:r>
              <a:rPr lang="en-US" sz="1600" b="1" dirty="0">
                <a:solidFill>
                  <a:srgbClr val="FBBF24"/>
                </a:solidFill>
                <a:latin typeface="Calibri" pitchFamily="34" charset="0"/>
                <a:ea typeface="Calibri" pitchFamily="34" charset="-122"/>
                <a:cs typeface="Calibri" pitchFamily="34" charset="-120"/>
              </a:rPr>
              <a:t>TRL 5-6  ·  pilot</a:t>
            </a:r>
            <a:endParaRPr lang="en-US" sz="1600" dirty="0"/>
          </a:p>
        </p:txBody>
      </p:sp>
      <p:sp>
        <p:nvSpPr>
          <p:cNvPr id="21" name="Text 19"/>
          <p:cNvSpPr txBox="1"/>
          <p:nvPr/>
        </p:nvSpPr>
        <p:spPr>
          <a:xfrm>
            <a:off x="3749040" y="47183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Real suppliers and businesses, live payments, in their own shops and sites.</a:t>
            </a:r>
            <a:endParaRPr lang="en-US" sz="1500" dirty="0"/>
          </a:p>
        </p:txBody>
      </p:sp>
      <p:sp>
        <p:nvSpPr>
          <p:cNvPr id="22" name="Shape 20"/>
          <p:cNvSpPr/>
          <p:nvPr/>
        </p:nvSpPr>
        <p:spPr>
          <a:xfrm>
            <a:off x="594360" y="5440680"/>
            <a:ext cx="329184" cy="329184"/>
          </a:xfrm>
          <a:prstGeom prst="ellipse">
            <a:avLst/>
          </a:prstGeom>
          <a:solidFill>
            <a:srgbClr val="34D399"/>
          </a:solidFill>
          <a:ln w="12700">
            <a:solidFill>
              <a:srgbClr val="34D399"/>
            </a:solidFill>
            <a:prstDash val="solid"/>
          </a:ln>
        </p:spPr>
      </p:sp>
      <p:sp>
        <p:nvSpPr>
          <p:cNvPr id="23" name="Text 21"/>
          <p:cNvSpPr txBox="1"/>
          <p:nvPr/>
        </p:nvSpPr>
        <p:spPr>
          <a:xfrm>
            <a:off x="1097280" y="5404104"/>
            <a:ext cx="2651760" cy="411480"/>
          </a:xfrm>
          <a:prstGeom prst="rect">
            <a:avLst/>
          </a:prstGeom>
          <a:noFill/>
          <a:ln/>
        </p:spPr>
        <p:txBody>
          <a:bodyPr wrap="square" lIns="0" tIns="0" rIns="0" bIns="0" rtlCol="0" anchor="t"/>
          <a:lstStyle/>
          <a:p>
            <a:pPr indent="0" marL="0">
              <a:buNone/>
            </a:pPr>
            <a:r>
              <a:rPr lang="en-US" sz="1600" b="1" dirty="0">
                <a:solidFill>
                  <a:srgbClr val="34D399"/>
                </a:solidFill>
                <a:latin typeface="Calibri" pitchFamily="34" charset="0"/>
                <a:ea typeface="Calibri" pitchFamily="34" charset="-122"/>
                <a:cs typeface="Calibri" pitchFamily="34" charset="-120"/>
              </a:rPr>
              <a:t>TRL 7+  ·  year 1</a:t>
            </a:r>
            <a:endParaRPr lang="en-US" sz="1600" dirty="0"/>
          </a:p>
        </p:txBody>
      </p:sp>
      <p:sp>
        <p:nvSpPr>
          <p:cNvPr id="24" name="Text 22"/>
          <p:cNvSpPr txBox="1"/>
          <p:nvPr/>
        </p:nvSpPr>
        <p:spPr>
          <a:xfrm>
            <a:off x="3749040" y="54041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All nine provinces; suppliers' stock systems connected.</a:t>
            </a:r>
            <a:endParaRPr lang="en-US" sz="1500" dirty="0"/>
          </a:p>
        </p:txBody>
      </p:sp>
      <p:pic>
        <p:nvPicPr>
          <p:cNvPr id="25"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6" name="Text 2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Small to start. Profitable by year 3.</a:t>
            </a:r>
            <a:endParaRPr lang="en-US" sz="3400" dirty="0"/>
          </a:p>
        </p:txBody>
      </p:sp>
      <p:sp>
        <p:nvSpPr>
          <p:cNvPr id="4" name="Shape 2"/>
          <p:cNvSpPr/>
          <p:nvPr/>
        </p:nvSpPr>
        <p:spPr>
          <a:xfrm>
            <a:off x="548640" y="1828800"/>
            <a:ext cx="4846320" cy="1188720"/>
          </a:xfrm>
          <a:prstGeom prst="roundRect">
            <a:avLst>
              <a:gd name="adj" fmla="val 9231"/>
            </a:avLst>
          </a:prstGeom>
          <a:solidFill>
            <a:srgbClr val="17223A"/>
          </a:solidFill>
          <a:ln w="12700">
            <a:solidFill>
              <a:srgbClr val="17223A"/>
            </a:solidFill>
            <a:prstDash val="solid"/>
          </a:ln>
        </p:spPr>
      </p:sp>
      <p:sp>
        <p:nvSpPr>
          <p:cNvPr id="5" name="Text 3"/>
          <p:cNvSpPr txBox="1"/>
          <p:nvPr/>
        </p:nvSpPr>
        <p:spPr>
          <a:xfrm>
            <a:off x="777240" y="19385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START</a:t>
            </a:r>
            <a:endParaRPr lang="en-US" sz="1200" dirty="0"/>
          </a:p>
        </p:txBody>
      </p:sp>
      <p:sp>
        <p:nvSpPr>
          <p:cNvPr id="6" name="Text 4"/>
          <p:cNvSpPr txBox="1"/>
          <p:nvPr/>
        </p:nvSpPr>
        <p:spPr>
          <a:xfrm>
            <a:off x="777240" y="2240280"/>
            <a:ext cx="2011680" cy="594360"/>
          </a:xfrm>
          <a:prstGeom prst="rect">
            <a:avLst/>
          </a:prstGeom>
          <a:noFill/>
          <a:ln/>
        </p:spPr>
        <p:txBody>
          <a:bodyPr wrap="square" lIns="0" tIns="0" rIns="0" bIns="0" rtlCol="0" anchor="t"/>
          <a:lstStyle/>
          <a:p>
            <a:pPr indent="0" marL="0">
              <a:buNone/>
            </a:pPr>
            <a:r>
              <a:rPr lang="en-US" sz="3000" b="1" dirty="0">
                <a:solidFill>
                  <a:srgbClr val="FBBF24"/>
                </a:solidFill>
                <a:latin typeface="Georgia" pitchFamily="34" charset="0"/>
                <a:ea typeface="Georgia" pitchFamily="34" charset="-122"/>
                <a:cs typeface="Georgia" pitchFamily="34" charset="-120"/>
              </a:rPr>
              <a:t>R300k</a:t>
            </a:r>
            <a:endParaRPr lang="en-US" sz="3000" dirty="0"/>
          </a:p>
        </p:txBody>
      </p:sp>
      <p:sp>
        <p:nvSpPr>
          <p:cNvPr id="7" name="Text 5"/>
          <p:cNvSpPr txBox="1"/>
          <p:nvPr/>
        </p:nvSpPr>
        <p:spPr>
          <a:xfrm>
            <a:off x="2743200" y="20116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One-off: the 6-month pilot (the ask)</a:t>
            </a:r>
            <a:endParaRPr lang="en-US" sz="1350" dirty="0"/>
          </a:p>
        </p:txBody>
      </p:sp>
      <p:sp>
        <p:nvSpPr>
          <p:cNvPr id="8" name="Shape 6"/>
          <p:cNvSpPr/>
          <p:nvPr/>
        </p:nvSpPr>
        <p:spPr>
          <a:xfrm>
            <a:off x="548640" y="3200400"/>
            <a:ext cx="4846320" cy="1188720"/>
          </a:xfrm>
          <a:prstGeom prst="roundRect">
            <a:avLst>
              <a:gd name="adj" fmla="val 9231"/>
            </a:avLst>
          </a:prstGeom>
          <a:solidFill>
            <a:srgbClr val="17223A"/>
          </a:solidFill>
          <a:ln w="12700">
            <a:solidFill>
              <a:srgbClr val="17223A"/>
            </a:solidFill>
            <a:prstDash val="solid"/>
          </a:ln>
        </p:spPr>
      </p:sp>
      <p:sp>
        <p:nvSpPr>
          <p:cNvPr id="9" name="Text 7"/>
          <p:cNvSpPr txBox="1"/>
          <p:nvPr/>
        </p:nvSpPr>
        <p:spPr>
          <a:xfrm>
            <a:off x="777240" y="33101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GROW</a:t>
            </a:r>
            <a:endParaRPr lang="en-US" sz="1200" dirty="0"/>
          </a:p>
        </p:txBody>
      </p:sp>
      <p:sp>
        <p:nvSpPr>
          <p:cNvPr id="10" name="Text 8"/>
          <p:cNvSpPr txBox="1"/>
          <p:nvPr/>
        </p:nvSpPr>
        <p:spPr>
          <a:xfrm>
            <a:off x="777240" y="3611880"/>
            <a:ext cx="2011680" cy="594360"/>
          </a:xfrm>
          <a:prstGeom prst="rect">
            <a:avLst/>
          </a:prstGeom>
          <a:noFill/>
          <a:ln/>
        </p:spPr>
        <p:txBody>
          <a:bodyPr wrap="square" lIns="0" tIns="0" rIns="0" bIns="0" rtlCol="0" anchor="t"/>
          <a:lstStyle/>
          <a:p>
            <a:pPr indent="0" marL="0">
              <a:buNone/>
            </a:pPr>
            <a:r>
              <a:rPr lang="en-US" sz="3000" b="1" dirty="0">
                <a:solidFill>
                  <a:srgbClr val="34D399"/>
                </a:solidFill>
                <a:latin typeface="Georgia" pitchFamily="34" charset="0"/>
                <a:ea typeface="Georgia" pitchFamily="34" charset="-122"/>
                <a:cs typeface="Georgia" pitchFamily="34" charset="-120"/>
              </a:rPr>
              <a:t>~R1.5m</a:t>
            </a:r>
            <a:endParaRPr lang="en-US" sz="3000" dirty="0"/>
          </a:p>
        </p:txBody>
      </p:sp>
      <p:sp>
        <p:nvSpPr>
          <p:cNvPr id="11" name="Text 9"/>
          <p:cNvSpPr txBox="1"/>
          <p:nvPr/>
        </p:nvSpPr>
        <p:spPr>
          <a:xfrm>
            <a:off x="2743200" y="33832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Raised after the pilot, to hire ahead of revenue</a:t>
            </a:r>
            <a:endParaRPr lang="en-US" sz="1350" dirty="0"/>
          </a:p>
        </p:txBody>
      </p:sp>
      <p:sp>
        <p:nvSpPr>
          <p:cNvPr id="12" name="Shape 10"/>
          <p:cNvSpPr/>
          <p:nvPr/>
        </p:nvSpPr>
        <p:spPr>
          <a:xfrm>
            <a:off x="548640" y="4572000"/>
            <a:ext cx="4846320" cy="1188720"/>
          </a:xfrm>
          <a:prstGeom prst="roundRect">
            <a:avLst>
              <a:gd name="adj" fmla="val 9231"/>
            </a:avLst>
          </a:prstGeom>
          <a:solidFill>
            <a:srgbClr val="17223A"/>
          </a:solidFill>
          <a:ln w="12700">
            <a:solidFill>
              <a:srgbClr val="17223A"/>
            </a:solidFill>
            <a:prstDash val="solid"/>
          </a:ln>
        </p:spPr>
      </p:sp>
      <p:sp>
        <p:nvSpPr>
          <p:cNvPr id="13" name="Text 11"/>
          <p:cNvSpPr txBox="1"/>
          <p:nvPr/>
        </p:nvSpPr>
        <p:spPr>
          <a:xfrm>
            <a:off x="777240" y="46817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BREAK EVEN</a:t>
            </a:r>
            <a:endParaRPr lang="en-US" sz="1200" dirty="0"/>
          </a:p>
        </p:txBody>
      </p:sp>
      <p:sp>
        <p:nvSpPr>
          <p:cNvPr id="14" name="Text 12"/>
          <p:cNvSpPr txBox="1"/>
          <p:nvPr/>
        </p:nvSpPr>
        <p:spPr>
          <a:xfrm>
            <a:off x="777240" y="4983480"/>
            <a:ext cx="2011680" cy="594360"/>
          </a:xfrm>
          <a:prstGeom prst="rect">
            <a:avLst/>
          </a:prstGeom>
          <a:noFill/>
          <a:ln/>
        </p:spPr>
        <p:txBody>
          <a:bodyPr wrap="square" lIns="0" tIns="0" rIns="0" bIns="0" rtlCol="0" anchor="t"/>
          <a:lstStyle/>
          <a:p>
            <a:pPr indent="0" marL="0">
              <a:buNone/>
            </a:pPr>
            <a:r>
              <a:rPr lang="en-US" sz="3000" b="1" dirty="0">
                <a:solidFill>
                  <a:srgbClr val="10B981"/>
                </a:solidFill>
                <a:latin typeface="Georgia" pitchFamily="34" charset="0"/>
                <a:ea typeface="Georgia" pitchFamily="34" charset="-122"/>
                <a:cs typeface="Georgia" pitchFamily="34" charset="-120"/>
              </a:rPr>
              <a:t>Year 2</a:t>
            </a:r>
            <a:endParaRPr lang="en-US" sz="3000" dirty="0"/>
          </a:p>
        </p:txBody>
      </p:sp>
      <p:sp>
        <p:nvSpPr>
          <p:cNvPr id="15" name="Text 13"/>
          <p:cNvSpPr txBox="1"/>
          <p:nvPr/>
        </p:nvSpPr>
        <p:spPr>
          <a:xfrm>
            <a:off x="2743200" y="47548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Suppliers' fees cover all costs</a:t>
            </a:r>
            <a:endParaRPr lang="en-US" sz="1350" dirty="0"/>
          </a:p>
        </p:txBody>
      </p:sp>
      <p:sp>
        <p:nvSpPr>
          <p:cNvPr id="16" name="Shape 14"/>
          <p:cNvSpPr/>
          <p:nvPr/>
        </p:nvSpPr>
        <p:spPr>
          <a:xfrm>
            <a:off x="5760720" y="1737360"/>
            <a:ext cx="5852160" cy="4023360"/>
          </a:xfrm>
          <a:prstGeom prst="roundRect">
            <a:avLst>
              <a:gd name="adj" fmla="val 2727"/>
            </a:avLst>
          </a:prstGeom>
          <a:solidFill>
            <a:srgbClr val="17223A"/>
          </a:solidFill>
          <a:ln w="12700">
            <a:solidFill>
              <a:srgbClr val="17223A"/>
            </a:solidFill>
            <a:prstDash val="solid"/>
          </a:ln>
        </p:spPr>
      </p:sp>
      <p:graphicFrame>
        <p:nvGraphicFramePr>
          <p:cNvPr id="17" name="Chart 0" descr=""/>
          <p:cNvGraphicFramePr/>
          <p:nvPr/>
        </p:nvGraphicFramePr>
        <p:xfrm>
          <a:off x="5852160" y="18288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760720" y="5852160"/>
            <a:ext cx="5852160" cy="365760"/>
          </a:xfrm>
          <a:prstGeom prst="rect">
            <a:avLst/>
          </a:prstGeom>
          <a:noFill/>
          <a:ln/>
        </p:spPr>
        <p:txBody>
          <a:bodyPr wrap="square" lIns="0" tIns="0" rIns="0" bIns="0" rtlCol="0" anchor="t"/>
          <a:lstStyle/>
          <a:p>
            <a:pPr indent="0" marL="0">
              <a:buNone/>
            </a:pPr>
            <a:r>
              <a:rPr lang="en-US" sz="1250" i="1" dirty="0">
                <a:solidFill>
                  <a:srgbClr val="FBBF24"/>
                </a:solidFill>
                <a:latin typeface="Calibri" pitchFamily="34" charset="0"/>
                <a:ea typeface="Calibri" pitchFamily="34" charset="-122"/>
                <a:cs typeface="Calibri" pitchFamily="34" charset="-120"/>
              </a:rPr>
              <a:t>Most of the cost is people: the team and field agents.</a:t>
            </a:r>
            <a:endParaRPr lang="en-US" sz="1250" dirty="0"/>
          </a:p>
        </p:txBody>
      </p:sp>
      <p:pic>
        <p:nvPicPr>
          <p:cNvPr id="19"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0"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23</a:t>
            </a:r>
            <a:endParaRPr lang="en-US" sz="1000" dirty="0"/>
          </a:p>
        </p:txBody>
      </p:sp>
      <p:sp>
        <p:nvSpPr>
          <p:cNvPr id="21" name="Text 17"/>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Costs: team, field agents, sales, hosting and messaging, security and POPIA.</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TEAM PR</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Builders who know the kasi</a:t>
            </a:r>
            <a:endParaRPr lang="en-US" sz="3400" dirty="0"/>
          </a:p>
        </p:txBody>
      </p:sp>
      <p:sp>
        <p:nvSpPr>
          <p:cNvPr id="4" name="Shape 2"/>
          <p:cNvSpPr/>
          <p:nvPr/>
        </p:nvSpPr>
        <p:spPr>
          <a:xfrm>
            <a:off x="548640" y="1783080"/>
            <a:ext cx="5349240" cy="2926080"/>
          </a:xfrm>
          <a:prstGeom prst="roundRect">
            <a:avLst>
              <a:gd name="adj" fmla="val 3750"/>
            </a:avLst>
          </a:prstGeom>
          <a:solidFill>
            <a:srgbClr val="17223A"/>
          </a:solidFill>
          <a:ln w="12700">
            <a:solidFill>
              <a:srgbClr val="17223A"/>
            </a:solidFill>
            <a:prstDash val="solid"/>
          </a:ln>
        </p:spPr>
      </p:sp>
      <p:sp>
        <p:nvSpPr>
          <p:cNvPr id="5" name="Shape 3"/>
          <p:cNvSpPr/>
          <p:nvPr/>
        </p:nvSpPr>
        <p:spPr>
          <a:xfrm>
            <a:off x="914400" y="2103120"/>
            <a:ext cx="1234440" cy="12344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210666" y="2399386"/>
            <a:ext cx="641909" cy="641909"/>
          </a:xfrm>
          <a:prstGeom prst="rect">
            <a:avLst/>
          </a:prstGeom>
        </p:spPr>
      </p:pic>
      <p:sp>
        <p:nvSpPr>
          <p:cNvPr id="7" name="Text 4"/>
          <p:cNvSpPr txBox="1"/>
          <p:nvPr/>
        </p:nvSpPr>
        <p:spPr>
          <a:xfrm>
            <a:off x="2423160" y="2148840"/>
            <a:ext cx="3291840" cy="64008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Mandla</a:t>
            </a:r>
            <a:endParaRPr lang="en-US" sz="3200" dirty="0"/>
          </a:p>
        </p:txBody>
      </p:sp>
      <p:sp>
        <p:nvSpPr>
          <p:cNvPr id="8" name="Text 5"/>
          <p:cNvSpPr txBox="1"/>
          <p:nvPr/>
        </p:nvSpPr>
        <p:spPr>
          <a:xfrm>
            <a:off x="242316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Team lead</a:t>
            </a:r>
            <a:endParaRPr lang="en-US" sz="1600" dirty="0"/>
          </a:p>
        </p:txBody>
      </p:sp>
      <p:sp>
        <p:nvSpPr>
          <p:cNvPr id="9" name="Text 6"/>
          <p:cNvSpPr txBox="1"/>
          <p:nvPr/>
        </p:nvSpPr>
        <p:spPr>
          <a:xfrm>
            <a:off x="242316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Product, backend, payments and the supplier engine</a:t>
            </a:r>
            <a:endParaRPr lang="en-US" sz="1500" dirty="0"/>
          </a:p>
        </p:txBody>
      </p:sp>
      <p:sp>
        <p:nvSpPr>
          <p:cNvPr id="10" name="Shape 7"/>
          <p:cNvSpPr/>
          <p:nvPr/>
        </p:nvSpPr>
        <p:spPr>
          <a:xfrm>
            <a:off x="6172200" y="1783080"/>
            <a:ext cx="5349240" cy="2926080"/>
          </a:xfrm>
          <a:prstGeom prst="roundRect">
            <a:avLst>
              <a:gd name="adj" fmla="val 3750"/>
            </a:avLst>
          </a:prstGeom>
          <a:solidFill>
            <a:srgbClr val="17223A"/>
          </a:solidFill>
          <a:ln w="12700">
            <a:solidFill>
              <a:srgbClr val="17223A"/>
            </a:solidFill>
            <a:prstDash val="solid"/>
          </a:ln>
        </p:spPr>
      </p:sp>
      <p:sp>
        <p:nvSpPr>
          <p:cNvPr id="11" name="Shape 8"/>
          <p:cNvSpPr/>
          <p:nvPr/>
        </p:nvSpPr>
        <p:spPr>
          <a:xfrm>
            <a:off x="6537960" y="2103120"/>
            <a:ext cx="1234440" cy="12344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6834226" y="2399386"/>
            <a:ext cx="641909" cy="641909"/>
          </a:xfrm>
          <a:prstGeom prst="rect">
            <a:avLst/>
          </a:prstGeom>
        </p:spPr>
      </p:pic>
      <p:sp>
        <p:nvSpPr>
          <p:cNvPr id="13" name="Text 9"/>
          <p:cNvSpPr txBox="1"/>
          <p:nvPr/>
        </p:nvSpPr>
        <p:spPr>
          <a:xfrm>
            <a:off x="8046720" y="2148840"/>
            <a:ext cx="3291840" cy="64008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Risuna</a:t>
            </a:r>
            <a:endParaRPr lang="en-US" sz="3200" dirty="0"/>
          </a:p>
        </p:txBody>
      </p:sp>
      <p:sp>
        <p:nvSpPr>
          <p:cNvPr id="14" name="Text 10"/>
          <p:cNvSpPr txBox="1"/>
          <p:nvPr/>
        </p:nvSpPr>
        <p:spPr>
          <a:xfrm>
            <a:off x="804672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Business tools</a:t>
            </a:r>
            <a:endParaRPr lang="en-US" sz="1600" dirty="0"/>
          </a:p>
        </p:txBody>
      </p:sp>
      <p:sp>
        <p:nvSpPr>
          <p:cNvPr id="15" name="Text 11"/>
          <p:cNvSpPr txBox="1"/>
          <p:nvPr/>
        </p:nvSpPr>
        <p:spPr>
          <a:xfrm>
            <a:off x="804672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Credit book, order book, jobs, builder network, notifications</a:t>
            </a:r>
            <a:endParaRPr lang="en-US" sz="1500" dirty="0"/>
          </a:p>
        </p:txBody>
      </p:sp>
      <p:sp>
        <p:nvSpPr>
          <p:cNvPr id="16" name="Shape 12"/>
          <p:cNvSpPr/>
          <p:nvPr/>
        </p:nvSpPr>
        <p:spPr>
          <a:xfrm>
            <a:off x="548640" y="4983480"/>
            <a:ext cx="11064240" cy="1005840"/>
          </a:xfrm>
          <a:prstGeom prst="roundRect">
            <a:avLst>
              <a:gd name="adj" fmla="val 10909"/>
            </a:avLst>
          </a:prstGeom>
          <a:solidFill>
            <a:srgbClr val="1E2B45"/>
          </a:solidFill>
          <a:ln w="12700">
            <a:solidFill>
              <a:srgbClr val="1E2B45"/>
            </a:solidFill>
            <a:prstDash val="solid"/>
          </a:ln>
        </p:spPr>
      </p:sp>
      <p:sp>
        <p:nvSpPr>
          <p:cNvPr id="17" name="Text 13"/>
          <p:cNvSpPr txBox="1"/>
          <p:nvPr/>
        </p:nvSpPr>
        <p:spPr>
          <a:xfrm>
            <a:off x="868680" y="5230368"/>
            <a:ext cx="10424160" cy="548640"/>
          </a:xfrm>
          <a:prstGeom prst="rect">
            <a:avLst/>
          </a:prstGeom>
          <a:noFill/>
          <a:ln/>
        </p:spPr>
        <p:txBody>
          <a:bodyPr wrap="square" lIns="0" tIns="0" rIns="0" bIns="0" rtlCol="0" anchor="ctr"/>
          <a:lstStyle/>
          <a:p>
            <a:pPr indent="0" marL="0">
              <a:buNone/>
            </a:pPr>
            <a:r>
              <a:rPr lang="en-US" sz="1600" dirty="0">
                <a:solidFill>
                  <a:srgbClr val="F8FAFC"/>
                </a:solidFill>
                <a:latin typeface="Calibri" pitchFamily="34" charset="0"/>
                <a:ea typeface="Calibri" pitchFamily="34" charset="-122"/>
                <a:cs typeface="Calibri" pitchFamily="34" charset="-120"/>
              </a:rPr>
              <a:t>Built this weekend, end to end: the app, the system behind it and real payments, with over 1,400 automated tests.</a:t>
            </a:r>
            <a:endParaRPr lang="en-US" sz="1600" dirty="0"/>
          </a:p>
        </p:txBody>
      </p:sp>
      <p:pic>
        <p:nvPicPr>
          <p:cNvPr id="18"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9"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WHAT'S NEXT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The road from here</a:t>
            </a:r>
            <a:endParaRPr lang="en-US" sz="3400" dirty="0"/>
          </a:p>
        </p:txBody>
      </p:sp>
      <p:sp>
        <p:nvSpPr>
          <p:cNvPr id="4" name="Shape 2"/>
          <p:cNvSpPr/>
          <p:nvPr/>
        </p:nvSpPr>
        <p:spPr>
          <a:xfrm>
            <a:off x="548640" y="1783080"/>
            <a:ext cx="3474720" cy="4023360"/>
          </a:xfrm>
          <a:prstGeom prst="roundRect">
            <a:avLst>
              <a:gd name="adj" fmla="val 3158"/>
            </a:avLst>
          </a:prstGeom>
          <a:solidFill>
            <a:srgbClr val="17223A"/>
          </a:solidFill>
          <a:ln w="12700">
            <a:solidFill>
              <a:srgbClr val="17223A"/>
            </a:solidFill>
            <a:prstDash val="solid"/>
          </a:ln>
        </p:spPr>
      </p:sp>
      <p:sp>
        <p:nvSpPr>
          <p:cNvPr id="5" name="Text 3"/>
          <p:cNvSpPr txBox="1"/>
          <p:nvPr/>
        </p:nvSpPr>
        <p:spPr>
          <a:xfrm>
            <a:off x="868680" y="2011680"/>
            <a:ext cx="2926080" cy="457200"/>
          </a:xfrm>
          <a:prstGeom prst="rect">
            <a:avLst/>
          </a:prstGeom>
          <a:noFill/>
          <a:ln/>
        </p:spPr>
        <p:txBody>
          <a:bodyPr wrap="square" lIns="0" tIns="0" rIns="0" bIns="0" rtlCol="0" anchor="t"/>
          <a:lstStyle/>
          <a:p>
            <a:pPr indent="0" marL="0">
              <a:buNone/>
            </a:pPr>
            <a:r>
              <a:rPr lang="en-US" sz="2200" b="1" dirty="0">
                <a:solidFill>
                  <a:srgbClr val="10B981"/>
                </a:solidFill>
                <a:latin typeface="Georgia" pitchFamily="34" charset="0"/>
                <a:ea typeface="Georgia" pitchFamily="34" charset="-122"/>
                <a:cs typeface="Georgia" pitchFamily="34" charset="-120"/>
              </a:rPr>
              <a:t>Next 3 months</a:t>
            </a:r>
            <a:endParaRPr lang="en-US" sz="2200" dirty="0"/>
          </a:p>
        </p:txBody>
      </p:sp>
      <p:sp>
        <p:nvSpPr>
          <p:cNvPr id="6" name="Text 4"/>
          <p:cNvSpPr txBox="1"/>
          <p:nvPr/>
        </p:nvSpPr>
        <p:spPr>
          <a:xfrm>
            <a:off x="86868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Google sign-in, phone push alerts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Two-phone cash confirmation</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Cloudflare protection on our own domain</a:t>
            </a:r>
            <a:endParaRPr lang="en-US" sz="1550" dirty="0"/>
          </a:p>
        </p:txBody>
      </p:sp>
      <p:sp>
        <p:nvSpPr>
          <p:cNvPr id="7" name="Shape 5"/>
          <p:cNvSpPr/>
          <p:nvPr/>
        </p:nvSpPr>
        <p:spPr>
          <a:xfrm>
            <a:off x="4297680" y="1783080"/>
            <a:ext cx="3474720" cy="4023360"/>
          </a:xfrm>
          <a:prstGeom prst="roundRect">
            <a:avLst>
              <a:gd name="adj" fmla="val 3158"/>
            </a:avLst>
          </a:prstGeom>
          <a:solidFill>
            <a:srgbClr val="17223A"/>
          </a:solidFill>
          <a:ln w="12700">
            <a:solidFill>
              <a:srgbClr val="17223A"/>
            </a:solidFill>
            <a:prstDash val="solid"/>
          </a:ln>
        </p:spPr>
      </p:sp>
      <p:sp>
        <p:nvSpPr>
          <p:cNvPr id="8" name="Text 6"/>
          <p:cNvSpPr txBox="1"/>
          <p:nvPr/>
        </p:nvSpPr>
        <p:spPr>
          <a:xfrm>
            <a:off x="4617720" y="2011680"/>
            <a:ext cx="2926080" cy="457200"/>
          </a:xfrm>
          <a:prstGeom prst="rect">
            <a:avLst/>
          </a:prstGeom>
          <a:noFill/>
          <a:ln/>
        </p:spPr>
        <p:txBody>
          <a:bodyPr wrap="square" lIns="0" tIns="0" rIns="0" bIns="0" rtlCol="0" anchor="t"/>
          <a:lstStyle/>
          <a:p>
            <a:pPr indent="0" marL="0">
              <a:buNone/>
            </a:pPr>
            <a:r>
              <a:rPr lang="en-US" sz="2200" b="1" dirty="0">
                <a:solidFill>
                  <a:srgbClr val="FBBF24"/>
                </a:solidFill>
                <a:latin typeface="Georgia" pitchFamily="34" charset="0"/>
                <a:ea typeface="Georgia" pitchFamily="34" charset="-122"/>
                <a:cs typeface="Georgia" pitchFamily="34" charset="-120"/>
              </a:rPr>
              <a:t>Next 12 months</a:t>
            </a:r>
            <a:endParaRPr lang="en-US" sz="2200" dirty="0"/>
          </a:p>
        </p:txBody>
      </p:sp>
      <p:sp>
        <p:nvSpPr>
          <p:cNvPr id="9" name="Text 7"/>
          <p:cNvSpPr txBox="1"/>
          <p:nvPr/>
        </p:nvSpPr>
        <p:spPr>
          <a:xfrm>
            <a:off x="461772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Direct links to suppliers' stock systems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Split payouts straight to suppliers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Share your record with a lender, by consent</a:t>
            </a:r>
            <a:endParaRPr lang="en-US" sz="1550" dirty="0"/>
          </a:p>
        </p:txBody>
      </p:sp>
      <p:sp>
        <p:nvSpPr>
          <p:cNvPr id="10" name="Shape 8"/>
          <p:cNvSpPr/>
          <p:nvPr/>
        </p:nvSpPr>
        <p:spPr>
          <a:xfrm>
            <a:off x="8046720" y="1783080"/>
            <a:ext cx="3474720" cy="4023360"/>
          </a:xfrm>
          <a:prstGeom prst="roundRect">
            <a:avLst>
              <a:gd name="adj" fmla="val 3158"/>
            </a:avLst>
          </a:prstGeom>
          <a:solidFill>
            <a:srgbClr val="1E2B45"/>
          </a:solidFill>
          <a:ln w="12700">
            <a:solidFill>
              <a:srgbClr val="1E2B45"/>
            </a:solidFill>
            <a:prstDash val="solid"/>
          </a:ln>
        </p:spPr>
      </p:sp>
      <p:sp>
        <p:nvSpPr>
          <p:cNvPr id="11" name="Text 9"/>
          <p:cNvSpPr txBox="1"/>
          <p:nvPr/>
        </p:nvSpPr>
        <p:spPr>
          <a:xfrm>
            <a:off x="8366760" y="2011680"/>
            <a:ext cx="2926080" cy="457200"/>
          </a:xfrm>
          <a:prstGeom prst="rect">
            <a:avLst/>
          </a:prstGeom>
          <a:noFill/>
          <a:ln/>
        </p:spPr>
        <p:txBody>
          <a:bodyPr wrap="square" lIns="0" tIns="0" rIns="0" bIns="0" rtlCol="0" anchor="t"/>
          <a:lstStyle/>
          <a:p>
            <a:pPr indent="0" marL="0">
              <a:buNone/>
            </a:pPr>
            <a:r>
              <a:rPr lang="en-US" sz="2200" b="1" dirty="0">
                <a:solidFill>
                  <a:srgbClr val="34D399"/>
                </a:solidFill>
                <a:latin typeface="Georgia" pitchFamily="34" charset="0"/>
                <a:ea typeface="Georgia" pitchFamily="34" charset="-122"/>
                <a:cs typeface="Georgia" pitchFamily="34" charset="-120"/>
              </a:rPr>
              <a:t>Quantum-safe</a:t>
            </a:r>
            <a:endParaRPr lang="en-US" sz="2200" dirty="0"/>
          </a:p>
        </p:txBody>
      </p:sp>
      <p:sp>
        <p:nvSpPr>
          <p:cNvPr id="12" name="Text 10"/>
          <p:cNvSpPr txBox="1"/>
          <p:nvPr/>
        </p:nvSpPr>
        <p:spPr>
          <a:xfrm>
            <a:off x="836676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Built: the owner seals their record with ML-DSA-65 (NIST FIPS 204) plus Ed25519</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check shows any record changed or deleted</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Next: invoices and receipts too</a:t>
            </a:r>
            <a:endParaRPr lang="en-US" sz="1550" dirty="0"/>
          </a:p>
        </p:txBody>
      </p:sp>
      <p:pic>
        <p:nvPicPr>
          <p:cNvPr id="13"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4" name="Text 1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2026-09-27T01:15:26Z</dcterms:created>
  <dcterms:modified xsi:type="dcterms:W3CDTF">2026-09-27T01:15:26Z</dcterms:modified>
</cp:coreProperties>
</file>