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Monthly revenue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8FAFC"/>
                </a:solidFill>
                <a:latin typeface="Calibri"/>
              </a:defRPr>
            </a:pPr>
            <a:r>
              <a:rPr sz="1400" b="0" i="0" u="none" strike="noStrike">
                <a:solidFill>
                  <a:srgbClr val="F8FAFC"/>
                </a:solidFill>
                <a:latin typeface="Calibri"/>
              </a:rPr>
              <a:t>Where the R300,000 goes (R thousand)</a:t>
            </a:r>
          </a:p>
        </c:rich>
      </c:tx>
      <c:layout/>
      <c:overlay val="0"/>
    </c:title>
    <c:autoTitleDeleted val="0"/>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F59E0B"/>
              </a:solidFill>
              <a:effectLst/>
            </c:spPr>
          </c:dPt>
          <c:dPt>
            <c:idx val="2"/>
            <c:bubble3D val="0"/>
            <c:spPr>
              <a:solidFill>
                <a:srgbClr val="34D399"/>
              </a:solidFill>
              <a:effectLst/>
            </c:spPr>
          </c:dPt>
          <c:dPt>
            <c:idx val="3"/>
            <c:bubble3D val="0"/>
            <c:spPr>
              <a:solidFill>
                <a:srgbClr val="7C93B5"/>
              </a:solidFill>
              <a:effectLst/>
            </c:spPr>
          </c:dPt>
          <c:dPt>
            <c:idx val="4"/>
            <c:bubble3D val="0"/>
            <c:spPr>
              <a:solidFill>
                <a:srgbClr val="F87171"/>
              </a:solidFill>
              <a:effectLst/>
            </c:spPr>
          </c:dPt>
          <c:dPt>
            <c:idx val="5"/>
            <c:bubble3D val="0"/>
            <c:spPr>
              <a:solidFill>
                <a:srgbClr val="C4B5FD"/>
              </a:solidFill>
              <a:effectLst/>
            </c:spPr>
          </c:dPt>
          <c:dLbls>
            <c:dLbl>
              <c:idx val="0"/>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3"/>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4"/>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5"/>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Stipends for pilot businesses</c:v>
                </c:pt>
                <c:pt idx="1">
                  <c:v>Field agent</c:v>
                </c:pt>
                <c:pt idx="2">
                  <c:v>Data bundles</c:v>
                </c:pt>
                <c:pt idx="3">
                  <c:v>Running costs</c:v>
                </c:pt>
                <c:pt idx="4">
                  <c:v>POPIA review + security test</c:v>
                </c:pt>
                <c:pt idx="5">
                  <c:v>Devices + contingency</c:v>
                </c:pt>
              </c:strCache>
            </c:strRef>
          </c:cat>
          <c:val>
            <c:numRef>
              <c:f>Sheet1!$B$2:$B$7</c:f>
              <c:numCache>
                <c:ptCount val="6"/>
                <c:pt idx="0">
                  <c:v>96</c:v>
                </c:pt>
                <c:pt idx="1">
                  <c:v>60</c:v>
                </c:pt>
                <c:pt idx="2">
                  <c:v>60</c:v>
                </c:pt>
                <c:pt idx="3">
                  <c:v>24</c:v>
                </c:pt>
                <c:pt idx="4">
                  <c:v>30</c:v>
                </c:pt>
                <c:pt idx="5">
                  <c:v>30</c:v>
                </c:pt>
              </c:numCache>
            </c:numRef>
          </c:val>
        </c:ser>
        <c:firstSliceAng val="0"/>
        <c:holeSize val="55"/>
      </c:doughnutChart>
      <c:spPr>
        <a:noFill/>
        <a:ln>
          <a:noFill/>
        </a:ln>
        <a:effectLst/>
      </c:spPr>
    </c:plotArea>
    <c:legend>
      <c:legendPos val="b"/>
      <c:overlay val="0"/>
      <c:txPr>
        <a:bodyPr/>
        <a:lstStyle/>
        <a:p>
          <a:pPr>
            <a:defRPr sz="115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 s): 'Good morning. We're Team PR, and this is Akayza. Keep it in the kasi.'
Then go straight to the next slide. No introductions of ourselves yet: the problem earns the attention, the team comes before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That's how much moves through South Africa's township economy every year: shops, builders, food sellers, salons, mechanics. It feeds communities and creates jobs. And almost none of it can be seen. Not by banks, not by suppliers, not by support funds, not even by the owner, who runs it on cash and memory.'
IF ASKED where R900 bn comes from: Standard Bank's first Township Informal Economy Report, launched October 2025, research by Foshizi, over 250 businesses across Gauteng, KwaZulu-Natal, Western Cape, Limpopo and North West. Say 'about R900 billion', never 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'Being invisible has a price. Fewer than 9% of these businesses can get a bank loan. When government put R500 million on the table for spaza shops, 354 applications failed verification and only R179.6 million reached shops. And 80% are unregistered, so there are no supplier terms, no credit, and every cash dispute is one person's word against another's.'
NOTE: the Spaza fund figures are specifically about spaza shops (DSBD, May 2026): say 'spaza shops' only for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hasn't anyone fixed this? Because the tools were built for formal businesses: they assume a registered company, a bookkeeper, card machines. Informal businesses run on cash, trust and a phone, busy all day, buying from the same few suppliers for years. Nothing fits how they work, so nothing gets captured.'
WhatsApp is how they talk to each other; it isn't the problem. The problem is that nothing turns their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(30 s): 'That's where Akayza comes in. It makes informal businesses visible, and ready for tomorrow. One free app that runs the business and connects it to the suppliers it already trusts. Today, the owner runs it with less stress. This week, she buys better and pays safely. And tomorrow, she has a trading history she owns: the first step to credit, support funds and registration.'
Honest wording if pushed: payments made in the app are confirmed by the payment provider; the rest is the owner's own record. We never call tool records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tell it as a story: 'Meet Thandi. Monday she restocks from her usual supplier in two minutes. Wednesday a customer pays back his credit, and it's off her book on the spot. Friday she pays her supplier in the app: no cash on the road, the payment is confirmed and the invoice arrives. And at month end, for the first time, she can see her business.' Then: 'The same week works for a builder, a food seller, a mechanic.'
Thandi is an illustration, not a real customer. If asked: 'she's the kind of owner we built for; the pilot puts real names to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in the chain gains. Businesses use it free. Suppliers pay us, because we bring them more orders from the shops and builders they already serve and end the cash lost between the driver and the depot. And next, banks, funds and government get businesses they can finally see, only with the owner's consent.'
Partners are the roadmap, not revenue today. Our revenue is suppliers.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'The whole township economy is R900 billion. Spaza shops alone spend about R150 billion in cash a year with their suppliers: one segment, already buying every week. Our goal is 20,000 businesses and 200 paying suppliers by year three, about R13 million a year.'
R150 bn is specifically spaza shops (that's what the evidence measures), so we name them here. Everywhere else: informal and small businesses.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South Africa first, not Africa? Because we know this market from the inside. It's big and dense, it's already moving to digital payments (56% prefer EFT), and the rules are clear. Win here, then take the same model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the health link green. Replace '[paste here]' with the real link and add it to the play button (Insert &gt;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'Suppliers pay, businesses never do. R299 or R1,499 a month for suppliers, and about 1% only on digital orders, never on cash. End of year one: about R56,000 a month. Year three: about R1.1 million a month.'
IF ASKED how: subscriptions = supplier mix × price; commission = active businesses × ~R4,000 digital orders a month × 1%. Year 1: 5 Starter + 10 Pro suppliers, 1,000 businesses. They're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And it gets smarter with use.'
Our biggest competitor is the habit of WhatsApp and a notebook. Don't attack anyone; show the gap. We complement payment apps; we don't replace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'We don't chase businesses one by one. We sign a supplier, and the supplier brings the businesses it already delivers to. Two suppliers in the pilot, fifteen in the first year, two hundred by year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 s): 'This isn't a mock-up. It's built: over a thousand automated tests pass before every change, payments run end to end in the provider's sandbox, and card numbers never touch our servers. We're at TRL 4 today; the pilot takes us to 6.'
If a mentor rated the TRL differently, change it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'We're asking for R300,000 for a six-month pilot. It buys two suppliers live, fifty to a hundred businesses using it every week, and proof in real shops and sites. Running it costs about R460 a month, so two suppliers on our Starter plan already cover it.'
Use of funds: stipends R96k, field agent R60k, data R60k, running costs R24k, POPIA review + external security test R30k, devices + contingency R30k.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(10 s): who we are in one line each. Edit the roles to how you want to be introduced; add the DataQuest 2026 win here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App -&gt; API -&gt; database; payments, photos, maps and email behind the API. Each feature is its own module, and an automated test stops one reaching into another's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'won't security make it hard to use?': 'Security is invisible to the owner: email, password, and a code only on a new phone. Everything else happens on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Post-quantum outline (bonus points for outlining it): 'Records and invoices are meant to prove things for years. Quantum computers will break today's signatures, so we'll sign with ML-DSA, the NIST post-quantum standard.' Say clearly it's planned,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97280"/>
            <a:ext cx="1554480" cy="1554480"/>
          </a:xfrm>
          <a:prstGeom prst="rect">
            <a:avLst/>
          </a:prstGeom>
        </p:spPr>
      </p:pic>
      <p:sp>
        <p:nvSpPr>
          <p:cNvPr id="3" name="Text 0"/>
          <p:cNvSpPr txBox="1"/>
          <p:nvPr/>
        </p:nvSpPr>
        <p:spPr>
          <a:xfrm>
            <a:off x="658368" y="278892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406908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75488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businesses visible, and ready for what's next.</a:t>
            </a:r>
            <a:endParaRPr lang="en-US" sz="1800" dirty="0"/>
          </a:p>
        </p:txBody>
      </p:sp>
      <p:sp>
        <p:nvSpPr>
          <p:cNvPr id="6" name="Text 3"/>
          <p:cNvSpPr txBox="1"/>
          <p:nvPr/>
        </p:nvSpPr>
        <p:spPr>
          <a:xfrm>
            <a:off x="731520" y="5806440"/>
            <a:ext cx="73152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1143000"/>
            <a:ext cx="10972800" cy="1463040"/>
          </a:xfrm>
          <a:prstGeom prst="rect">
            <a:avLst/>
          </a:prstGeom>
          <a:noFill/>
          <a:ln/>
        </p:spPr>
        <p:txBody>
          <a:bodyPr wrap="square" lIns="0" tIns="0" rIns="0" bIns="0" rtlCol="0" anchor="t"/>
          <a:lstStyle/>
          <a:p>
            <a:pPr indent="0" marL="0">
              <a:buNone/>
            </a:pPr>
            <a:r>
              <a:rPr lang="en-US" sz="9600" b="1" dirty="0">
                <a:solidFill>
                  <a:srgbClr val="FBBF24"/>
                </a:solidFill>
                <a:latin typeface="Georgia" pitchFamily="34" charset="0"/>
                <a:ea typeface="Georgia" pitchFamily="34" charset="-122"/>
                <a:cs typeface="Georgia" pitchFamily="34" charset="-120"/>
              </a:rPr>
              <a:t>R900 billion</a:t>
            </a:r>
            <a:endParaRPr lang="en-US" sz="9600" dirty="0"/>
          </a:p>
        </p:txBody>
      </p:sp>
      <p:sp>
        <p:nvSpPr>
          <p:cNvPr id="4" name="Text 2"/>
          <p:cNvSpPr txBox="1"/>
          <p:nvPr/>
        </p:nvSpPr>
        <p:spPr>
          <a:xfrm>
            <a:off x="548640" y="2651760"/>
            <a:ext cx="10972800" cy="548640"/>
          </a:xfrm>
          <a:prstGeom prst="rect">
            <a:avLst/>
          </a:prstGeom>
          <a:noFill/>
          <a:ln/>
        </p:spPr>
        <p:txBody>
          <a:bodyPr wrap="square" lIns="0" tIns="0" rIns="0" bIns="0" rtlCol="0" anchor="t"/>
          <a:lstStyle/>
          <a:p>
            <a:pPr indent="0" marL="0">
              <a:buNone/>
            </a:pPr>
            <a:r>
              <a:rPr lang="en-US" sz="2600" dirty="0">
                <a:solidFill>
                  <a:srgbClr val="F8FAFC"/>
                </a:solidFill>
                <a:latin typeface="Calibri" pitchFamily="34" charset="0"/>
                <a:ea typeface="Calibri" pitchFamily="34" charset="-122"/>
                <a:cs typeface="Calibri" pitchFamily="34" charset="-120"/>
              </a:rPr>
              <a:t>moves through South Africa's township economy every year.</a:t>
            </a:r>
            <a:endParaRPr lang="en-US" sz="2600" dirty="0"/>
          </a:p>
        </p:txBody>
      </p:sp>
      <p:sp>
        <p:nvSpPr>
          <p:cNvPr id="5" name="Text 3"/>
          <p:cNvSpPr txBox="1"/>
          <p:nvPr/>
        </p:nvSpPr>
        <p:spPr>
          <a:xfrm>
            <a:off x="548640" y="3429000"/>
            <a:ext cx="10972800" cy="640080"/>
          </a:xfrm>
          <a:prstGeom prst="rect">
            <a:avLst/>
          </a:prstGeom>
          <a:noFill/>
          <a:ln/>
        </p:spPr>
        <p:txBody>
          <a:bodyPr wrap="square" lIns="0" tIns="0" rIns="0" bIns="0" rtlCol="0" anchor="t"/>
          <a:lstStyle/>
          <a:p>
            <a:pPr indent="0" marL="0">
              <a:buNone/>
            </a:pPr>
            <a:r>
              <a:rPr lang="en-US" sz="3400" b="1" i="1" dirty="0">
                <a:solidFill>
                  <a:srgbClr val="F8FAFC"/>
                </a:solidFill>
                <a:latin typeface="Georgia" pitchFamily="34" charset="0"/>
                <a:ea typeface="Georgia" pitchFamily="34" charset="-122"/>
                <a:cs typeface="Georgia" pitchFamily="34" charset="-120"/>
              </a:rPr>
              <a:t>And almost none of it can be seen.</a:t>
            </a:r>
            <a:endParaRPr lang="en-US" sz="3400" dirty="0"/>
          </a:p>
        </p:txBody>
      </p:sp>
      <p:sp>
        <p:nvSpPr>
          <p:cNvPr id="6" name="Shape 4"/>
          <p:cNvSpPr/>
          <p:nvPr/>
        </p:nvSpPr>
        <p:spPr>
          <a:xfrm>
            <a:off x="548640" y="4526280"/>
            <a:ext cx="640080" cy="64008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702259" y="4679899"/>
            <a:ext cx="332842" cy="332842"/>
          </a:xfrm>
          <a:prstGeom prst="rect">
            <a:avLst/>
          </a:prstGeom>
        </p:spPr>
      </p:pic>
      <p:sp>
        <p:nvSpPr>
          <p:cNvPr id="8" name="Text 5"/>
          <p:cNvSpPr txBox="1"/>
          <p:nvPr/>
        </p:nvSpPr>
        <p:spPr>
          <a:xfrm>
            <a:off x="1325880"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banks</a:t>
            </a:r>
            <a:endParaRPr lang="en-US" sz="1600" dirty="0"/>
          </a:p>
        </p:txBody>
      </p:sp>
      <p:sp>
        <p:nvSpPr>
          <p:cNvPr id="9" name="Shape 6"/>
          <p:cNvSpPr/>
          <p:nvPr/>
        </p:nvSpPr>
        <p:spPr>
          <a:xfrm>
            <a:off x="3364992" y="4526280"/>
            <a:ext cx="640080" cy="64008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3518611" y="4679899"/>
            <a:ext cx="332842" cy="332842"/>
          </a:xfrm>
          <a:prstGeom prst="rect">
            <a:avLst/>
          </a:prstGeom>
        </p:spPr>
      </p:pic>
      <p:sp>
        <p:nvSpPr>
          <p:cNvPr id="11" name="Text 7"/>
          <p:cNvSpPr txBox="1"/>
          <p:nvPr/>
        </p:nvSpPr>
        <p:spPr>
          <a:xfrm>
            <a:off x="4142232"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suppliers</a:t>
            </a:r>
            <a:endParaRPr lang="en-US" sz="1600" dirty="0"/>
          </a:p>
        </p:txBody>
      </p:sp>
      <p:sp>
        <p:nvSpPr>
          <p:cNvPr id="12" name="Shape 8"/>
          <p:cNvSpPr/>
          <p:nvPr/>
        </p:nvSpPr>
        <p:spPr>
          <a:xfrm>
            <a:off x="6181344" y="4526280"/>
            <a:ext cx="640080" cy="640080"/>
          </a:xfrm>
          <a:prstGeom prst="ellipse">
            <a:avLst/>
          </a:prstGeom>
          <a:solidFill>
            <a:srgbClr val="1E2B45"/>
          </a:solidFill>
          <a:ln w="1905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6334963" y="4679899"/>
            <a:ext cx="332842" cy="332842"/>
          </a:xfrm>
          <a:prstGeom prst="rect">
            <a:avLst/>
          </a:prstGeom>
        </p:spPr>
      </p:pic>
      <p:sp>
        <p:nvSpPr>
          <p:cNvPr id="14" name="Text 9"/>
          <p:cNvSpPr txBox="1"/>
          <p:nvPr/>
        </p:nvSpPr>
        <p:spPr>
          <a:xfrm>
            <a:off x="6958584"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support funds</a:t>
            </a:r>
            <a:endParaRPr lang="en-US" sz="1600" dirty="0"/>
          </a:p>
        </p:txBody>
      </p:sp>
      <p:sp>
        <p:nvSpPr>
          <p:cNvPr id="15" name="Shape 10"/>
          <p:cNvSpPr/>
          <p:nvPr/>
        </p:nvSpPr>
        <p:spPr>
          <a:xfrm>
            <a:off x="8997696" y="4526280"/>
            <a:ext cx="640080" cy="640080"/>
          </a:xfrm>
          <a:prstGeom prst="ellipse">
            <a:avLst/>
          </a:prstGeom>
          <a:solidFill>
            <a:srgbClr val="1E2B45"/>
          </a:solidFill>
          <a:ln w="19050">
            <a:solidFill>
              <a:srgbClr val="F59E0B"/>
            </a:solidFill>
            <a:prstDash val="solid"/>
          </a:ln>
        </p:spPr>
      </p:sp>
      <p:pic>
        <p:nvPicPr>
          <p:cNvPr id="16" name="Image 3" descr="preencoded.png">    </p:cNvPr>
          <p:cNvPicPr>
            <a:picLocks noChangeAspect="1"/>
          </p:cNvPicPr>
          <p:nvPr/>
        </p:nvPicPr>
        <p:blipFill>
          <a:blip r:embed="rId4"/>
          <a:stretch>
            <a:fillRect/>
          </a:stretch>
        </p:blipFill>
        <p:spPr>
          <a:xfrm>
            <a:off x="9151315" y="4679899"/>
            <a:ext cx="332842" cy="332842"/>
          </a:xfrm>
          <a:prstGeom prst="rect">
            <a:avLst/>
          </a:prstGeom>
        </p:spPr>
      </p:pic>
      <p:sp>
        <p:nvSpPr>
          <p:cNvPr id="17" name="Text 11"/>
          <p:cNvSpPr txBox="1"/>
          <p:nvPr/>
        </p:nvSpPr>
        <p:spPr>
          <a:xfrm>
            <a:off x="9774936"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even by the owner</a:t>
            </a:r>
            <a:endParaRPr lang="en-US" sz="1600" dirty="0"/>
          </a:p>
        </p:txBody>
      </p:sp>
      <p:pic>
        <p:nvPicPr>
          <p:cNvPr id="18"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19" name="Text 1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0" name="Text 13"/>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October 2025 (research by Foshizi; 250+ businesses in 5 provinces).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Invisible means locked out</a:t>
            </a:r>
            <a:endParaRPr lang="en-US" sz="3400" dirty="0"/>
          </a:p>
        </p:txBody>
      </p:sp>
      <p:sp>
        <p:nvSpPr>
          <p:cNvPr id="4" name="Shape 2"/>
          <p:cNvSpPr/>
          <p:nvPr/>
        </p:nvSpPr>
        <p:spPr>
          <a:xfrm>
            <a:off x="548640" y="1828800"/>
            <a:ext cx="3474720" cy="416052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103120"/>
            <a:ext cx="731520" cy="731520"/>
          </a:xfrm>
          <a:prstGeom prst="ellipse">
            <a:avLst/>
          </a:prstGeom>
          <a:solidFill>
            <a:srgbClr val="1E2B45"/>
          </a:solidFill>
          <a:ln w="19050">
            <a:solidFill>
              <a:srgbClr val="F59E0B"/>
            </a:solidFill>
            <a:prstDash val="solid"/>
          </a:ln>
        </p:spPr>
      </p:sp>
      <p:pic>
        <p:nvPicPr>
          <p:cNvPr id="6" name="Image 0" descr="preencoded.png">    </p:cNvPr>
          <p:cNvPicPr>
            <a:picLocks noChangeAspect="1"/>
          </p:cNvPicPr>
          <p:nvPr/>
        </p:nvPicPr>
        <p:blipFill>
          <a:blip r:embed="rId1"/>
          <a:stretch>
            <a:fillRect/>
          </a:stretch>
        </p:blipFill>
        <p:spPr>
          <a:xfrm>
            <a:off x="1044245" y="2278685"/>
            <a:ext cx="380390" cy="380390"/>
          </a:xfrm>
          <a:prstGeom prst="rect">
            <a:avLst/>
          </a:prstGeom>
        </p:spPr>
      </p:pic>
      <p:sp>
        <p:nvSpPr>
          <p:cNvPr id="7" name="Text 4"/>
          <p:cNvSpPr txBox="1"/>
          <p:nvPr/>
        </p:nvSpPr>
        <p:spPr>
          <a:xfrm>
            <a:off x="178308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finance</a:t>
            </a:r>
            <a:endParaRPr lang="en-US" sz="2100" dirty="0"/>
          </a:p>
        </p:txBody>
      </p:sp>
      <p:sp>
        <p:nvSpPr>
          <p:cNvPr id="8" name="Text 5"/>
          <p:cNvSpPr txBox="1"/>
          <p:nvPr/>
        </p:nvSpPr>
        <p:spPr>
          <a:xfrm>
            <a:off x="868680" y="3063240"/>
            <a:ext cx="2926080" cy="914400"/>
          </a:xfrm>
          <a:prstGeom prst="rect">
            <a:avLst/>
          </a:prstGeom>
          <a:noFill/>
          <a:ln/>
        </p:spPr>
        <p:txBody>
          <a:bodyPr wrap="square" lIns="0" tIns="0" rIns="0" bIns="0" rtlCol="0" anchor="t"/>
          <a:lstStyle/>
          <a:p>
            <a:pPr indent="0" marL="0">
              <a:buNone/>
            </a:pPr>
            <a:r>
              <a:rPr lang="en-US" sz="5000" b="1" dirty="0">
                <a:solidFill>
                  <a:srgbClr val="F59E0B"/>
                </a:solidFill>
                <a:latin typeface="Georgia" pitchFamily="34" charset="0"/>
                <a:ea typeface="Georgia" pitchFamily="34" charset="-122"/>
                <a:cs typeface="Georgia" pitchFamily="34" charset="-120"/>
              </a:rPr>
              <a:t>&lt; 9%</a:t>
            </a:r>
            <a:endParaRPr lang="en-US" sz="5000" dirty="0"/>
          </a:p>
        </p:txBody>
      </p:sp>
      <p:sp>
        <p:nvSpPr>
          <p:cNvPr id="9" name="Text 6"/>
          <p:cNvSpPr txBox="1"/>
          <p:nvPr/>
        </p:nvSpPr>
        <p:spPr>
          <a:xfrm>
            <a:off x="86868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of township businesses can get a bank loan. 57% run on savings and family.</a:t>
            </a:r>
            <a:endParaRPr lang="en-US" sz="1500" dirty="0"/>
          </a:p>
        </p:txBody>
      </p:sp>
      <p:sp>
        <p:nvSpPr>
          <p:cNvPr id="10" name="Shape 7"/>
          <p:cNvSpPr/>
          <p:nvPr/>
        </p:nvSpPr>
        <p:spPr>
          <a:xfrm>
            <a:off x="4297680" y="1828800"/>
            <a:ext cx="3474720" cy="4160520"/>
          </a:xfrm>
          <a:prstGeom prst="roundRect">
            <a:avLst>
              <a:gd name="adj" fmla="val 3158"/>
            </a:avLst>
          </a:prstGeom>
          <a:solidFill>
            <a:srgbClr val="17223A"/>
          </a:solidFill>
          <a:ln w="12700">
            <a:solidFill>
              <a:srgbClr val="17223A"/>
            </a:solidFill>
            <a:prstDash val="solid"/>
          </a:ln>
        </p:spPr>
      </p:sp>
      <p:sp>
        <p:nvSpPr>
          <p:cNvPr id="11" name="Shape 8"/>
          <p:cNvSpPr/>
          <p:nvPr/>
        </p:nvSpPr>
        <p:spPr>
          <a:xfrm>
            <a:off x="4617720" y="2103120"/>
            <a:ext cx="731520" cy="731520"/>
          </a:xfrm>
          <a:prstGeom prst="ellipse">
            <a:avLst/>
          </a:prstGeom>
          <a:solidFill>
            <a:srgbClr val="1E2B45"/>
          </a:solidFill>
          <a:ln w="19050">
            <a:solidFill>
              <a:srgbClr val="F87171"/>
            </a:solidFill>
            <a:prstDash val="solid"/>
          </a:ln>
        </p:spPr>
      </p:sp>
      <p:pic>
        <p:nvPicPr>
          <p:cNvPr id="12" name="Image 1" descr="preencoded.png">    </p:cNvPr>
          <p:cNvPicPr>
            <a:picLocks noChangeAspect="1"/>
          </p:cNvPicPr>
          <p:nvPr/>
        </p:nvPicPr>
        <p:blipFill>
          <a:blip r:embed="rId2"/>
          <a:stretch>
            <a:fillRect/>
          </a:stretch>
        </p:blipFill>
        <p:spPr>
          <a:xfrm>
            <a:off x="4793285" y="2278685"/>
            <a:ext cx="380390" cy="380390"/>
          </a:xfrm>
          <a:prstGeom prst="rect">
            <a:avLst/>
          </a:prstGeom>
        </p:spPr>
      </p:pic>
      <p:sp>
        <p:nvSpPr>
          <p:cNvPr id="13" name="Text 9"/>
          <p:cNvSpPr txBox="1"/>
          <p:nvPr/>
        </p:nvSpPr>
        <p:spPr>
          <a:xfrm>
            <a:off x="553212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support</a:t>
            </a:r>
            <a:endParaRPr lang="en-US" sz="2100" dirty="0"/>
          </a:p>
        </p:txBody>
      </p:sp>
      <p:sp>
        <p:nvSpPr>
          <p:cNvPr id="14" name="Text 10"/>
          <p:cNvSpPr txBox="1"/>
          <p:nvPr/>
        </p:nvSpPr>
        <p:spPr>
          <a:xfrm>
            <a:off x="4617720" y="3063240"/>
            <a:ext cx="2926080" cy="914400"/>
          </a:xfrm>
          <a:prstGeom prst="rect">
            <a:avLst/>
          </a:prstGeom>
          <a:noFill/>
          <a:ln/>
        </p:spPr>
        <p:txBody>
          <a:bodyPr wrap="square" lIns="0" tIns="0" rIns="0" bIns="0" rtlCol="0" anchor="t"/>
          <a:lstStyle/>
          <a:p>
            <a:pPr indent="0" marL="0">
              <a:buNone/>
            </a:pPr>
            <a:r>
              <a:rPr lang="en-US" sz="5000" b="1" dirty="0">
                <a:solidFill>
                  <a:srgbClr val="F87171"/>
                </a:solidFill>
                <a:latin typeface="Georgia" pitchFamily="34" charset="0"/>
                <a:ea typeface="Georgia" pitchFamily="34" charset="-122"/>
                <a:cs typeface="Georgia" pitchFamily="34" charset="-120"/>
              </a:rPr>
              <a:t>354</a:t>
            </a:r>
            <a:endParaRPr lang="en-US" sz="5000" dirty="0"/>
          </a:p>
        </p:txBody>
      </p:sp>
      <p:sp>
        <p:nvSpPr>
          <p:cNvPr id="15" name="Text 11"/>
          <p:cNvSpPr txBox="1"/>
          <p:nvPr/>
        </p:nvSpPr>
        <p:spPr>
          <a:xfrm>
            <a:off x="461772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applications to the R500m Spaza Shop Support Fund failed verification. Only R179.6m reached shops.</a:t>
            </a:r>
            <a:endParaRPr lang="en-US" sz="1500" dirty="0"/>
          </a:p>
        </p:txBody>
      </p:sp>
      <p:sp>
        <p:nvSpPr>
          <p:cNvPr id="16" name="Shape 12"/>
          <p:cNvSpPr/>
          <p:nvPr/>
        </p:nvSpPr>
        <p:spPr>
          <a:xfrm>
            <a:off x="8046720" y="1828800"/>
            <a:ext cx="3474720" cy="416052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103120"/>
            <a:ext cx="731520" cy="731520"/>
          </a:xfrm>
          <a:prstGeom prst="ellipse">
            <a:avLst/>
          </a:prstGeom>
          <a:solidFill>
            <a:srgbClr val="1E2B45"/>
          </a:solidFill>
          <a:ln w="19050">
            <a:solidFill>
              <a:srgbClr val="10B981"/>
            </a:solidFill>
            <a:prstDash val="solid"/>
          </a:ln>
        </p:spPr>
      </p:sp>
      <p:pic>
        <p:nvPicPr>
          <p:cNvPr id="18" name="Image 2" descr="preencoded.png">    </p:cNvPr>
          <p:cNvPicPr>
            <a:picLocks noChangeAspect="1"/>
          </p:cNvPicPr>
          <p:nvPr/>
        </p:nvPicPr>
        <p:blipFill>
          <a:blip r:embed="rId3"/>
          <a:stretch>
            <a:fillRect/>
          </a:stretch>
        </p:blipFill>
        <p:spPr>
          <a:xfrm>
            <a:off x="8542325" y="2278685"/>
            <a:ext cx="380390" cy="380390"/>
          </a:xfrm>
          <a:prstGeom prst="rect">
            <a:avLst/>
          </a:prstGeom>
        </p:spPr>
      </p:pic>
      <p:sp>
        <p:nvSpPr>
          <p:cNvPr id="19" name="Text 14"/>
          <p:cNvSpPr txBox="1"/>
          <p:nvPr/>
        </p:nvSpPr>
        <p:spPr>
          <a:xfrm>
            <a:off x="928116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leverage</a:t>
            </a:r>
            <a:endParaRPr lang="en-US" sz="2100" dirty="0"/>
          </a:p>
        </p:txBody>
      </p:sp>
      <p:sp>
        <p:nvSpPr>
          <p:cNvPr id="20" name="Text 15"/>
          <p:cNvSpPr txBox="1"/>
          <p:nvPr/>
        </p:nvSpPr>
        <p:spPr>
          <a:xfrm>
            <a:off x="8366760" y="3063240"/>
            <a:ext cx="2926080" cy="914400"/>
          </a:xfrm>
          <a:prstGeom prst="rect">
            <a:avLst/>
          </a:prstGeom>
          <a:noFill/>
          <a:ln/>
        </p:spPr>
        <p:txBody>
          <a:bodyPr wrap="square" lIns="0" tIns="0" rIns="0" bIns="0" rtlCol="0" anchor="t"/>
          <a:lstStyle/>
          <a:p>
            <a:pPr indent="0" marL="0">
              <a:buNone/>
            </a:pPr>
            <a:r>
              <a:rPr lang="en-US" sz="5000" b="1" dirty="0">
                <a:solidFill>
                  <a:srgbClr val="10B981"/>
                </a:solidFill>
                <a:latin typeface="Georgia" pitchFamily="34" charset="0"/>
                <a:ea typeface="Georgia" pitchFamily="34" charset="-122"/>
                <a:cs typeface="Georgia" pitchFamily="34" charset="-120"/>
              </a:rPr>
              <a:t>80%</a:t>
            </a:r>
            <a:endParaRPr lang="en-US" sz="5000" dirty="0"/>
          </a:p>
        </p:txBody>
      </p:sp>
      <p:sp>
        <p:nvSpPr>
          <p:cNvPr id="21" name="Text 16"/>
          <p:cNvSpPr txBox="1"/>
          <p:nvPr/>
        </p:nvSpPr>
        <p:spPr>
          <a:xfrm>
            <a:off x="836676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are unregistered. With no history, there are no supplier terms and no plan: every order is cash, every dispute is word against word.</a:t>
            </a:r>
            <a:endParaRPr lang="en-US" sz="15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Text 1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2025; DSBD &amp; dtic, Spaza Shop Support Fund update, May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NOBODY HAS FIXED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Business tools were built for the formal few</a:t>
            </a:r>
            <a:endParaRPr lang="en-US" sz="3400" dirty="0"/>
          </a:p>
        </p:txBody>
      </p:sp>
      <p:sp>
        <p:nvSpPr>
          <p:cNvPr id="4" name="Shape 2"/>
          <p:cNvSpPr/>
          <p:nvPr/>
        </p:nvSpPr>
        <p:spPr>
          <a:xfrm>
            <a:off x="548640" y="1828800"/>
            <a:ext cx="5394960" cy="4114800"/>
          </a:xfrm>
          <a:prstGeom prst="roundRect">
            <a:avLst>
              <a:gd name="adj" fmla="val 2667"/>
            </a:avLst>
          </a:prstGeom>
          <a:solidFill>
            <a:srgbClr val="17223A"/>
          </a:solidFill>
          <a:ln w="12700">
            <a:solidFill>
              <a:srgbClr val="17223A"/>
            </a:solidFill>
            <a:prstDash val="solid"/>
          </a:ln>
        </p:spPr>
      </p:sp>
      <p:sp>
        <p:nvSpPr>
          <p:cNvPr id="5" name="Text 3"/>
          <p:cNvSpPr txBox="1"/>
          <p:nvPr/>
        </p:nvSpPr>
        <p:spPr>
          <a:xfrm>
            <a:off x="868680" y="2057400"/>
            <a:ext cx="4754880" cy="411480"/>
          </a:xfrm>
          <a:prstGeom prst="rect">
            <a:avLst/>
          </a:prstGeom>
          <a:noFill/>
          <a:ln/>
        </p:spPr>
        <p:txBody>
          <a:bodyPr wrap="square" lIns="0" tIns="0" rIns="0" bIns="0" rtlCol="0" anchor="t"/>
          <a:lstStyle/>
          <a:p>
            <a:pPr indent="0" marL="0">
              <a:buNone/>
            </a:pPr>
            <a:r>
              <a:rPr lang="en-US" sz="1900" b="1" dirty="0">
                <a:solidFill>
                  <a:srgbClr val="A3B3C9"/>
                </a:solidFill>
                <a:latin typeface="Calibri" pitchFamily="34" charset="0"/>
                <a:ea typeface="Calibri" pitchFamily="34" charset="-122"/>
                <a:cs typeface="Calibri" pitchFamily="34" charset="-120"/>
              </a:rPr>
              <a:t>What the tools assume</a:t>
            </a:r>
            <a:endParaRPr lang="en-US" sz="1900" dirty="0"/>
          </a:p>
        </p:txBody>
      </p:sp>
      <p:sp>
        <p:nvSpPr>
          <p:cNvPr id="6" name="Shape 4"/>
          <p:cNvSpPr/>
          <p:nvPr/>
        </p:nvSpPr>
        <p:spPr>
          <a:xfrm>
            <a:off x="868680" y="2697480"/>
            <a:ext cx="457200" cy="457200"/>
          </a:xfrm>
          <a:prstGeom prst="ellipse">
            <a:avLst/>
          </a:prstGeom>
          <a:solidFill>
            <a:srgbClr val="1E2B45"/>
          </a:solidFill>
          <a:ln w="19050">
            <a:solidFill>
              <a:srgbClr val="64748B"/>
            </a:solidFill>
            <a:prstDash val="solid"/>
          </a:ln>
        </p:spPr>
      </p:sp>
      <p:pic>
        <p:nvPicPr>
          <p:cNvPr id="7" name="Image 0" descr="preencoded.png">    </p:cNvPr>
          <p:cNvPicPr>
            <a:picLocks noChangeAspect="1"/>
          </p:cNvPicPr>
          <p:nvPr/>
        </p:nvPicPr>
        <p:blipFill>
          <a:blip r:embed="rId1"/>
          <a:stretch>
            <a:fillRect/>
          </a:stretch>
        </p:blipFill>
        <p:spPr>
          <a:xfrm>
            <a:off x="978408" y="2807208"/>
            <a:ext cx="237744" cy="237744"/>
          </a:xfrm>
          <a:prstGeom prst="rect">
            <a:avLst/>
          </a:prstGeom>
        </p:spPr>
      </p:pic>
      <p:sp>
        <p:nvSpPr>
          <p:cNvPr id="8" name="Text 5"/>
          <p:cNvSpPr txBox="1"/>
          <p:nvPr/>
        </p:nvSpPr>
        <p:spPr>
          <a:xfrm>
            <a:off x="1463040" y="276148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A registered company and a bookkeeper</a:t>
            </a:r>
            <a:endParaRPr lang="en-US" sz="1600" dirty="0"/>
          </a:p>
        </p:txBody>
      </p:sp>
      <p:sp>
        <p:nvSpPr>
          <p:cNvPr id="9" name="Shape 6"/>
          <p:cNvSpPr/>
          <p:nvPr/>
        </p:nvSpPr>
        <p:spPr>
          <a:xfrm>
            <a:off x="868680" y="3474720"/>
            <a:ext cx="457200" cy="457200"/>
          </a:xfrm>
          <a:prstGeom prst="ellipse">
            <a:avLst/>
          </a:prstGeom>
          <a:solidFill>
            <a:srgbClr val="1E2B45"/>
          </a:solidFill>
          <a:ln w="19050">
            <a:solidFill>
              <a:srgbClr val="64748B"/>
            </a:solidFill>
            <a:prstDash val="solid"/>
          </a:ln>
        </p:spPr>
      </p:sp>
      <p:pic>
        <p:nvPicPr>
          <p:cNvPr id="10" name="Image 1" descr="preencoded.png">    </p:cNvPr>
          <p:cNvPicPr>
            <a:picLocks noChangeAspect="1"/>
          </p:cNvPicPr>
          <p:nvPr/>
        </p:nvPicPr>
        <p:blipFill>
          <a:blip r:embed="rId2"/>
          <a:stretch>
            <a:fillRect/>
          </a:stretch>
        </p:blipFill>
        <p:spPr>
          <a:xfrm>
            <a:off x="978408" y="3584448"/>
            <a:ext cx="237744" cy="237744"/>
          </a:xfrm>
          <a:prstGeom prst="rect">
            <a:avLst/>
          </a:prstGeom>
        </p:spPr>
      </p:pic>
      <p:sp>
        <p:nvSpPr>
          <p:cNvPr id="11" name="Text 7"/>
          <p:cNvSpPr txBox="1"/>
          <p:nvPr/>
        </p:nvSpPr>
        <p:spPr>
          <a:xfrm>
            <a:off x="1463040" y="353872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Card machines and bank statements</a:t>
            </a:r>
            <a:endParaRPr lang="en-US" sz="1600" dirty="0"/>
          </a:p>
        </p:txBody>
      </p:sp>
      <p:sp>
        <p:nvSpPr>
          <p:cNvPr id="12" name="Shape 8"/>
          <p:cNvSpPr/>
          <p:nvPr/>
        </p:nvSpPr>
        <p:spPr>
          <a:xfrm>
            <a:off x="868680" y="4251960"/>
            <a:ext cx="457200" cy="457200"/>
          </a:xfrm>
          <a:prstGeom prst="ellipse">
            <a:avLst/>
          </a:prstGeom>
          <a:solidFill>
            <a:srgbClr val="1E2B45"/>
          </a:solidFill>
          <a:ln w="19050">
            <a:solidFill>
              <a:srgbClr val="64748B"/>
            </a:solidFill>
            <a:prstDash val="solid"/>
          </a:ln>
        </p:spPr>
      </p:sp>
      <p:pic>
        <p:nvPicPr>
          <p:cNvPr id="13" name="Image 2" descr="preencoded.png">    </p:cNvPr>
          <p:cNvPicPr>
            <a:picLocks noChangeAspect="1"/>
          </p:cNvPicPr>
          <p:nvPr/>
        </p:nvPicPr>
        <p:blipFill>
          <a:blip r:embed="rId3"/>
          <a:stretch>
            <a:fillRect/>
          </a:stretch>
        </p:blipFill>
        <p:spPr>
          <a:xfrm>
            <a:off x="978408" y="4361688"/>
            <a:ext cx="237744" cy="237744"/>
          </a:xfrm>
          <a:prstGeom prst="rect">
            <a:avLst/>
          </a:prstGeom>
        </p:spPr>
      </p:pic>
      <p:sp>
        <p:nvSpPr>
          <p:cNvPr id="14" name="Text 9"/>
          <p:cNvSpPr txBox="1"/>
          <p:nvPr/>
        </p:nvSpPr>
        <p:spPr>
          <a:xfrm>
            <a:off x="1463040" y="431596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Time at a desk to capture everything</a:t>
            </a:r>
            <a:endParaRPr lang="en-US" sz="1600" dirty="0"/>
          </a:p>
        </p:txBody>
      </p:sp>
      <p:sp>
        <p:nvSpPr>
          <p:cNvPr id="15" name="Shape 10"/>
          <p:cNvSpPr/>
          <p:nvPr/>
        </p:nvSpPr>
        <p:spPr>
          <a:xfrm>
            <a:off x="868680" y="5029200"/>
            <a:ext cx="457200" cy="457200"/>
          </a:xfrm>
          <a:prstGeom prst="ellipse">
            <a:avLst/>
          </a:prstGeom>
          <a:solidFill>
            <a:srgbClr val="1E2B45"/>
          </a:solidFill>
          <a:ln w="19050">
            <a:solidFill>
              <a:srgbClr val="64748B"/>
            </a:solidFill>
            <a:prstDash val="solid"/>
          </a:ln>
        </p:spPr>
      </p:sp>
      <p:pic>
        <p:nvPicPr>
          <p:cNvPr id="16" name="Image 3" descr="preencoded.png">    </p:cNvPr>
          <p:cNvPicPr>
            <a:picLocks noChangeAspect="1"/>
          </p:cNvPicPr>
          <p:nvPr/>
        </p:nvPicPr>
        <p:blipFill>
          <a:blip r:embed="rId4"/>
          <a:stretch>
            <a:fillRect/>
          </a:stretch>
        </p:blipFill>
        <p:spPr>
          <a:xfrm>
            <a:off x="978408" y="5138928"/>
            <a:ext cx="237744" cy="237744"/>
          </a:xfrm>
          <a:prstGeom prst="rect">
            <a:avLst/>
          </a:prstGeom>
        </p:spPr>
      </p:pic>
      <p:sp>
        <p:nvSpPr>
          <p:cNvPr id="17" name="Text 11"/>
          <p:cNvSpPr txBox="1"/>
          <p:nvPr/>
        </p:nvSpPr>
        <p:spPr>
          <a:xfrm>
            <a:off x="1463040" y="509320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One supplier's shop, or a marketplace</a:t>
            </a:r>
            <a:endParaRPr lang="en-US" sz="1600" dirty="0"/>
          </a:p>
        </p:txBody>
      </p:sp>
      <p:sp>
        <p:nvSpPr>
          <p:cNvPr id="18" name="Shape 12"/>
          <p:cNvSpPr/>
          <p:nvPr/>
        </p:nvSpPr>
        <p:spPr>
          <a:xfrm>
            <a:off x="6217920" y="1828800"/>
            <a:ext cx="5394960" cy="4114800"/>
          </a:xfrm>
          <a:prstGeom prst="roundRect">
            <a:avLst>
              <a:gd name="adj" fmla="val 2667"/>
            </a:avLst>
          </a:prstGeom>
          <a:solidFill>
            <a:srgbClr val="1E2B45"/>
          </a:solidFill>
          <a:ln w="12700">
            <a:solidFill>
              <a:srgbClr val="1E2B45"/>
            </a:solidFill>
            <a:prstDash val="solid"/>
          </a:ln>
        </p:spPr>
      </p:sp>
      <p:sp>
        <p:nvSpPr>
          <p:cNvPr id="19" name="Text 13"/>
          <p:cNvSpPr txBox="1"/>
          <p:nvPr/>
        </p:nvSpPr>
        <p:spPr>
          <a:xfrm>
            <a:off x="6537960" y="2057400"/>
            <a:ext cx="4846320" cy="411480"/>
          </a:xfrm>
          <a:prstGeom prst="rect">
            <a:avLst/>
          </a:prstGeom>
          <a:noFill/>
          <a:ln/>
        </p:spPr>
        <p:txBody>
          <a:bodyPr wrap="square" lIns="0" tIns="0" rIns="0" bIns="0" rtlCol="0" anchor="t"/>
          <a:lstStyle/>
          <a:p>
            <a:pPr indent="0" marL="0">
              <a:buNone/>
            </a:pPr>
            <a:r>
              <a:rPr lang="en-US" sz="1900" b="1" dirty="0">
                <a:solidFill>
                  <a:srgbClr val="34D399"/>
                </a:solidFill>
                <a:latin typeface="Calibri" pitchFamily="34" charset="0"/>
                <a:ea typeface="Calibri" pitchFamily="34" charset="-122"/>
                <a:cs typeface="Calibri" pitchFamily="34" charset="-120"/>
              </a:rPr>
              <a:t>How they really work</a:t>
            </a:r>
            <a:endParaRPr lang="en-US" sz="1900" dirty="0"/>
          </a:p>
        </p:txBody>
      </p:sp>
      <p:sp>
        <p:nvSpPr>
          <p:cNvPr id="20" name="Shape 14"/>
          <p:cNvSpPr/>
          <p:nvPr/>
        </p:nvSpPr>
        <p:spPr>
          <a:xfrm>
            <a:off x="6537960" y="2697480"/>
            <a:ext cx="457200" cy="457200"/>
          </a:xfrm>
          <a:prstGeom prst="ellipse">
            <a:avLst/>
          </a:prstGeom>
          <a:solidFill>
            <a:srgbClr val="1E2B45"/>
          </a:solidFill>
          <a:ln w="19050">
            <a:solidFill>
              <a:srgbClr val="10B981"/>
            </a:solidFill>
            <a:prstDash val="solid"/>
          </a:ln>
        </p:spPr>
      </p:sp>
      <p:pic>
        <p:nvPicPr>
          <p:cNvPr id="21" name="Image 4" descr="preencoded.png">    </p:cNvPr>
          <p:cNvPicPr>
            <a:picLocks noChangeAspect="1"/>
          </p:cNvPicPr>
          <p:nvPr/>
        </p:nvPicPr>
        <p:blipFill>
          <a:blip r:embed="rId5"/>
          <a:stretch>
            <a:fillRect/>
          </a:stretch>
        </p:blipFill>
        <p:spPr>
          <a:xfrm>
            <a:off x="6647688" y="2807208"/>
            <a:ext cx="237744" cy="237744"/>
          </a:xfrm>
          <a:prstGeom prst="rect">
            <a:avLst/>
          </a:prstGeom>
        </p:spPr>
      </p:pic>
      <p:sp>
        <p:nvSpPr>
          <p:cNvPr id="22" name="Text 15"/>
          <p:cNvSpPr txBox="1"/>
          <p:nvPr/>
        </p:nvSpPr>
        <p:spPr>
          <a:xfrm>
            <a:off x="7132320" y="276148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Cash, credit on trust, and memory</a:t>
            </a:r>
            <a:endParaRPr lang="en-US" sz="1600" dirty="0"/>
          </a:p>
        </p:txBody>
      </p:sp>
      <p:sp>
        <p:nvSpPr>
          <p:cNvPr id="23" name="Shape 16"/>
          <p:cNvSpPr/>
          <p:nvPr/>
        </p:nvSpPr>
        <p:spPr>
          <a:xfrm>
            <a:off x="6537960" y="3474720"/>
            <a:ext cx="457200" cy="457200"/>
          </a:xfrm>
          <a:prstGeom prst="ellipse">
            <a:avLst/>
          </a:prstGeom>
          <a:solidFill>
            <a:srgbClr val="1E2B45"/>
          </a:solidFill>
          <a:ln w="19050">
            <a:solidFill>
              <a:srgbClr val="10B981"/>
            </a:solidFill>
            <a:prstDash val="solid"/>
          </a:ln>
        </p:spPr>
      </p:sp>
      <p:pic>
        <p:nvPicPr>
          <p:cNvPr id="24" name="Image 5" descr="preencoded.png">    </p:cNvPr>
          <p:cNvPicPr>
            <a:picLocks noChangeAspect="1"/>
          </p:cNvPicPr>
          <p:nvPr/>
        </p:nvPicPr>
        <p:blipFill>
          <a:blip r:embed="rId6"/>
          <a:stretch>
            <a:fillRect/>
          </a:stretch>
        </p:blipFill>
        <p:spPr>
          <a:xfrm>
            <a:off x="6647688" y="3584448"/>
            <a:ext cx="237744" cy="237744"/>
          </a:xfrm>
          <a:prstGeom prst="rect">
            <a:avLst/>
          </a:prstGeom>
        </p:spPr>
      </p:pic>
      <p:sp>
        <p:nvSpPr>
          <p:cNvPr id="25" name="Text 17"/>
          <p:cNvSpPr txBox="1"/>
          <p:nvPr/>
        </p:nvSpPr>
        <p:spPr>
          <a:xfrm>
            <a:off x="7132320" y="353872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A phone that's also the business</a:t>
            </a:r>
            <a:endParaRPr lang="en-US" sz="1600" dirty="0"/>
          </a:p>
        </p:txBody>
      </p:sp>
      <p:sp>
        <p:nvSpPr>
          <p:cNvPr id="26" name="Shape 18"/>
          <p:cNvSpPr/>
          <p:nvPr/>
        </p:nvSpPr>
        <p:spPr>
          <a:xfrm>
            <a:off x="6537960" y="4251960"/>
            <a:ext cx="457200" cy="457200"/>
          </a:xfrm>
          <a:prstGeom prst="ellipse">
            <a:avLst/>
          </a:prstGeom>
          <a:solidFill>
            <a:srgbClr val="1E2B45"/>
          </a:solidFill>
          <a:ln w="19050">
            <a:solidFill>
              <a:srgbClr val="10B981"/>
            </a:solidFill>
            <a:prstDash val="solid"/>
          </a:ln>
        </p:spPr>
      </p:sp>
      <p:pic>
        <p:nvPicPr>
          <p:cNvPr id="27" name="Image 6" descr="preencoded.png">    </p:cNvPr>
          <p:cNvPicPr>
            <a:picLocks noChangeAspect="1"/>
          </p:cNvPicPr>
          <p:nvPr/>
        </p:nvPicPr>
        <p:blipFill>
          <a:blip r:embed="rId7"/>
          <a:stretch>
            <a:fillRect/>
          </a:stretch>
        </p:blipFill>
        <p:spPr>
          <a:xfrm>
            <a:off x="6647688" y="4361688"/>
            <a:ext cx="237744" cy="237744"/>
          </a:xfrm>
          <a:prstGeom prst="rect">
            <a:avLst/>
          </a:prstGeom>
        </p:spPr>
      </p:pic>
      <p:sp>
        <p:nvSpPr>
          <p:cNvPr id="28" name="Text 19"/>
          <p:cNvSpPr txBox="1"/>
          <p:nvPr/>
        </p:nvSpPr>
        <p:spPr>
          <a:xfrm>
            <a:off x="7132320" y="431596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Busy all day at the counter or on site</a:t>
            </a:r>
            <a:endParaRPr lang="en-US" sz="1600" dirty="0"/>
          </a:p>
        </p:txBody>
      </p:sp>
      <p:sp>
        <p:nvSpPr>
          <p:cNvPr id="29" name="Shape 20"/>
          <p:cNvSpPr/>
          <p:nvPr/>
        </p:nvSpPr>
        <p:spPr>
          <a:xfrm>
            <a:off x="6537960" y="5029200"/>
            <a:ext cx="457200" cy="457200"/>
          </a:xfrm>
          <a:prstGeom prst="ellipse">
            <a:avLst/>
          </a:prstGeom>
          <a:solidFill>
            <a:srgbClr val="1E2B45"/>
          </a:solidFill>
          <a:ln w="19050">
            <a:solidFill>
              <a:srgbClr val="10B981"/>
            </a:solidFill>
            <a:prstDash val="solid"/>
          </a:ln>
        </p:spPr>
      </p:sp>
      <p:pic>
        <p:nvPicPr>
          <p:cNvPr id="30" name="Image 7" descr="preencoded.png">    </p:cNvPr>
          <p:cNvPicPr>
            <a:picLocks noChangeAspect="1"/>
          </p:cNvPicPr>
          <p:nvPr/>
        </p:nvPicPr>
        <p:blipFill>
          <a:blip r:embed="rId8"/>
          <a:stretch>
            <a:fillRect/>
          </a:stretch>
        </p:blipFill>
        <p:spPr>
          <a:xfrm>
            <a:off x="6647688" y="5138928"/>
            <a:ext cx="237744" cy="237744"/>
          </a:xfrm>
          <a:prstGeom prst="rect">
            <a:avLst/>
          </a:prstGeom>
        </p:spPr>
      </p:pic>
      <p:sp>
        <p:nvSpPr>
          <p:cNvPr id="31" name="Text 21"/>
          <p:cNvSpPr txBox="1"/>
          <p:nvPr/>
        </p:nvSpPr>
        <p:spPr>
          <a:xfrm>
            <a:off x="7132320" y="509320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same few suppliers, for years</a:t>
            </a:r>
            <a:endParaRPr lang="en-US" sz="1600" dirty="0"/>
          </a:p>
        </p:txBody>
      </p:sp>
      <p:pic>
        <p:nvPicPr>
          <p:cNvPr id="32"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33"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822960" cy="822960"/>
          </a:xfrm>
          <a:prstGeom prst="rect">
            <a:avLst/>
          </a:prstGeom>
        </p:spPr>
      </p:pic>
      <p:sp>
        <p:nvSpPr>
          <p:cNvPr id="3" name="Text 0"/>
          <p:cNvSpPr txBox="1"/>
          <p:nvPr/>
        </p:nvSpPr>
        <p:spPr>
          <a:xfrm>
            <a:off x="548640" y="384048"/>
            <a:ext cx="8229600" cy="320040"/>
          </a:xfrm>
          <a:prstGeom prst="rect">
            <a:avLst/>
          </a:prstGeom>
          <a:noFill/>
          <a:ln/>
        </p:spPr>
        <p:txBody>
          <a:bodyPr wrap="square" lIns="0" tIns="0" rIns="0" bIns="0" rtlCol="0" anchor="t"/>
          <a:lstStyle/>
          <a:p>
            <a:pPr indent="0" marL="0">
              <a:buNone/>
            </a:pPr>
            <a:endParaRPr lang="en-US" sz="1300" dirty="0"/>
          </a:p>
        </p:txBody>
      </p:sp>
      <p:sp>
        <p:nvSpPr>
          <p:cNvPr id="4" name="Text 1"/>
          <p:cNvSpPr txBox="1"/>
          <p:nvPr/>
        </p:nvSpPr>
        <p:spPr>
          <a:xfrm>
            <a:off x="1600200" y="502920"/>
            <a:ext cx="9966960" cy="91440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Akayza makes informal businesses visible, and ready for tomorrow.</a:t>
            </a:r>
            <a:endParaRPr lang="en-US" sz="3000" dirty="0"/>
          </a:p>
        </p:txBody>
      </p:sp>
      <p:sp>
        <p:nvSpPr>
          <p:cNvPr id="5" name="Text 2"/>
          <p:cNvSpPr txBox="1"/>
          <p:nvPr/>
        </p:nvSpPr>
        <p:spPr>
          <a:xfrm>
            <a:off x="548640" y="1600200"/>
            <a:ext cx="1106424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One free app that runs the business and connects it to the suppliers it already trusts. Every sale, order and payment becomes a record the owner holds.</a:t>
            </a:r>
            <a:endParaRPr lang="en-US" sz="1800" dirty="0"/>
          </a:p>
        </p:txBody>
      </p:sp>
      <p:sp>
        <p:nvSpPr>
          <p:cNvPr id="6" name="Shape 3"/>
          <p:cNvSpPr/>
          <p:nvPr/>
        </p:nvSpPr>
        <p:spPr>
          <a:xfrm>
            <a:off x="548640" y="2606040"/>
            <a:ext cx="3474720" cy="3383280"/>
          </a:xfrm>
          <a:prstGeom prst="roundRect">
            <a:avLst>
              <a:gd name="adj" fmla="val 3243"/>
            </a:avLst>
          </a:prstGeom>
          <a:solidFill>
            <a:srgbClr val="17223A"/>
          </a:solidFill>
          <a:ln w="12700">
            <a:solidFill>
              <a:srgbClr val="17223A"/>
            </a:solidFill>
            <a:prstDash val="solid"/>
          </a:ln>
        </p:spPr>
      </p:sp>
      <p:sp>
        <p:nvSpPr>
          <p:cNvPr id="7" name="Text 4"/>
          <p:cNvSpPr txBox="1"/>
          <p:nvPr/>
        </p:nvSpPr>
        <p:spPr>
          <a:xfrm>
            <a:off x="868680" y="2834640"/>
            <a:ext cx="283464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TODAY</a:t>
            </a:r>
            <a:endParaRPr lang="en-US" sz="1300" dirty="0"/>
          </a:p>
        </p:txBody>
      </p:sp>
      <p:sp>
        <p:nvSpPr>
          <p:cNvPr id="8" name="Shape 5"/>
          <p:cNvSpPr/>
          <p:nvPr/>
        </p:nvSpPr>
        <p:spPr>
          <a:xfrm>
            <a:off x="3063240" y="2788920"/>
            <a:ext cx="685800" cy="685800"/>
          </a:xfrm>
          <a:prstGeom prst="ellipse">
            <a:avLst/>
          </a:prstGeom>
          <a:solidFill>
            <a:srgbClr val="1E2B45"/>
          </a:solidFill>
          <a:ln w="19050">
            <a:solidFill>
              <a:srgbClr val="10B981"/>
            </a:solidFill>
            <a:prstDash val="solid"/>
          </a:ln>
        </p:spPr>
      </p:sp>
      <p:pic>
        <p:nvPicPr>
          <p:cNvPr id="9" name="Image 1" descr="preencoded.png">    </p:cNvPr>
          <p:cNvPicPr>
            <a:picLocks noChangeAspect="1"/>
          </p:cNvPicPr>
          <p:nvPr/>
        </p:nvPicPr>
        <p:blipFill>
          <a:blip r:embed="rId2"/>
          <a:stretch>
            <a:fillRect/>
          </a:stretch>
        </p:blipFill>
        <p:spPr>
          <a:xfrm>
            <a:off x="3227832" y="2953512"/>
            <a:ext cx="356616" cy="356616"/>
          </a:xfrm>
          <a:prstGeom prst="rect">
            <a:avLst/>
          </a:prstGeom>
        </p:spPr>
      </p:pic>
      <p:sp>
        <p:nvSpPr>
          <p:cNvPr id="10" name="Text 6"/>
          <p:cNvSpPr txBox="1"/>
          <p:nvPr/>
        </p:nvSpPr>
        <p:spPr>
          <a:xfrm>
            <a:off x="86868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Run it with less stress</a:t>
            </a:r>
            <a:endParaRPr lang="en-US" sz="2200" dirty="0"/>
          </a:p>
        </p:txBody>
      </p:sp>
      <p:sp>
        <p:nvSpPr>
          <p:cNvPr id="11" name="Text 7"/>
          <p:cNvSpPr txBox="1"/>
          <p:nvPr/>
        </p:nvSpPr>
        <p:spPr>
          <a:xfrm>
            <a:off x="86868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Know who owes you, what sold and what's coming, without a notebook.</a:t>
            </a:r>
            <a:endParaRPr lang="en-US" sz="1500" dirty="0"/>
          </a:p>
        </p:txBody>
      </p:sp>
      <p:sp>
        <p:nvSpPr>
          <p:cNvPr id="12" name="Shape 8"/>
          <p:cNvSpPr/>
          <p:nvPr/>
        </p:nvSpPr>
        <p:spPr>
          <a:xfrm>
            <a:off x="4297680" y="2606040"/>
            <a:ext cx="3474720" cy="3383280"/>
          </a:xfrm>
          <a:prstGeom prst="roundRect">
            <a:avLst>
              <a:gd name="adj" fmla="val 3243"/>
            </a:avLst>
          </a:prstGeom>
          <a:solidFill>
            <a:srgbClr val="17223A"/>
          </a:solidFill>
          <a:ln w="12700">
            <a:solidFill>
              <a:srgbClr val="17223A"/>
            </a:solidFill>
            <a:prstDash val="solid"/>
          </a:ln>
        </p:spPr>
      </p:sp>
      <p:sp>
        <p:nvSpPr>
          <p:cNvPr id="13" name="Text 9"/>
          <p:cNvSpPr txBox="1"/>
          <p:nvPr/>
        </p:nvSpPr>
        <p:spPr>
          <a:xfrm>
            <a:off x="4617720" y="2834640"/>
            <a:ext cx="2834640" cy="320040"/>
          </a:xfrm>
          <a:prstGeom prst="rect">
            <a:avLst/>
          </a:prstGeom>
          <a:noFill/>
          <a:ln/>
        </p:spPr>
        <p:txBody>
          <a:bodyPr wrap="square" lIns="0" tIns="0" rIns="0" bIns="0" rtlCol="0" anchor="t"/>
          <a:lstStyle/>
          <a:p>
            <a:pPr indent="0" marL="0">
              <a:buNone/>
            </a:pPr>
            <a:r>
              <a:rPr lang="en-US" sz="1300" b="1" spc="300" kern="0" dirty="0">
                <a:solidFill>
                  <a:srgbClr val="FBBF24"/>
                </a:solidFill>
                <a:latin typeface="Calibri" pitchFamily="34" charset="0"/>
                <a:ea typeface="Calibri" pitchFamily="34" charset="-122"/>
                <a:cs typeface="Calibri" pitchFamily="34" charset="-120"/>
              </a:rPr>
              <a:t>THIS WEEK</a:t>
            </a:r>
            <a:endParaRPr lang="en-US" sz="1300" dirty="0"/>
          </a:p>
        </p:txBody>
      </p:sp>
      <p:sp>
        <p:nvSpPr>
          <p:cNvPr id="14" name="Shape 10"/>
          <p:cNvSpPr/>
          <p:nvPr/>
        </p:nvSpPr>
        <p:spPr>
          <a:xfrm>
            <a:off x="6812280" y="2788920"/>
            <a:ext cx="685800" cy="685800"/>
          </a:xfrm>
          <a:prstGeom prst="ellipse">
            <a:avLst/>
          </a:prstGeom>
          <a:solidFill>
            <a:srgbClr val="1E2B45"/>
          </a:solidFill>
          <a:ln w="19050">
            <a:solidFill>
              <a:srgbClr val="FBBF24"/>
            </a:solidFill>
            <a:prstDash val="solid"/>
          </a:ln>
        </p:spPr>
      </p:sp>
      <p:pic>
        <p:nvPicPr>
          <p:cNvPr id="15" name="Image 2" descr="preencoded.png">    </p:cNvPr>
          <p:cNvPicPr>
            <a:picLocks noChangeAspect="1"/>
          </p:cNvPicPr>
          <p:nvPr/>
        </p:nvPicPr>
        <p:blipFill>
          <a:blip r:embed="rId3"/>
          <a:stretch>
            <a:fillRect/>
          </a:stretch>
        </p:blipFill>
        <p:spPr>
          <a:xfrm>
            <a:off x="6976872" y="2953512"/>
            <a:ext cx="356616" cy="356616"/>
          </a:xfrm>
          <a:prstGeom prst="rect">
            <a:avLst/>
          </a:prstGeom>
        </p:spPr>
      </p:pic>
      <p:sp>
        <p:nvSpPr>
          <p:cNvPr id="16" name="Text 11"/>
          <p:cNvSpPr txBox="1"/>
          <p:nvPr/>
        </p:nvSpPr>
        <p:spPr>
          <a:xfrm>
            <a:off x="461772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Buy better, pay safely</a:t>
            </a:r>
            <a:endParaRPr lang="en-US" sz="2200" dirty="0"/>
          </a:p>
        </p:txBody>
      </p:sp>
      <p:sp>
        <p:nvSpPr>
          <p:cNvPr id="17" name="Text 12"/>
          <p:cNvSpPr txBox="1"/>
          <p:nvPr/>
        </p:nvSpPr>
        <p:spPr>
          <a:xfrm>
            <a:off x="461772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Order from your own suppliers, pay digitally or cash, get a proper invoice.</a:t>
            </a:r>
            <a:endParaRPr lang="en-US" sz="1500" dirty="0"/>
          </a:p>
        </p:txBody>
      </p:sp>
      <p:sp>
        <p:nvSpPr>
          <p:cNvPr id="18" name="Shape 13"/>
          <p:cNvSpPr/>
          <p:nvPr/>
        </p:nvSpPr>
        <p:spPr>
          <a:xfrm>
            <a:off x="8046720" y="2606040"/>
            <a:ext cx="3474720" cy="3383280"/>
          </a:xfrm>
          <a:prstGeom prst="roundRect">
            <a:avLst>
              <a:gd name="adj" fmla="val 3243"/>
            </a:avLst>
          </a:prstGeom>
          <a:solidFill>
            <a:srgbClr val="17223A"/>
          </a:solidFill>
          <a:ln w="12700">
            <a:solidFill>
              <a:srgbClr val="17223A"/>
            </a:solidFill>
            <a:prstDash val="solid"/>
          </a:ln>
        </p:spPr>
      </p:sp>
      <p:sp>
        <p:nvSpPr>
          <p:cNvPr id="19" name="Text 14"/>
          <p:cNvSpPr txBox="1"/>
          <p:nvPr/>
        </p:nvSpPr>
        <p:spPr>
          <a:xfrm>
            <a:off x="8366760" y="2834640"/>
            <a:ext cx="2834640" cy="320040"/>
          </a:xfrm>
          <a:prstGeom prst="rect">
            <a:avLst/>
          </a:prstGeom>
          <a:noFill/>
          <a:ln/>
        </p:spPr>
        <p:txBody>
          <a:bodyPr wrap="square" lIns="0" tIns="0" rIns="0" bIns="0" rtlCol="0" anchor="t"/>
          <a:lstStyle/>
          <a:p>
            <a:pPr indent="0" marL="0">
              <a:buNone/>
            </a:pPr>
            <a:r>
              <a:rPr lang="en-US" sz="1300" b="1" spc="300" kern="0" dirty="0">
                <a:solidFill>
                  <a:srgbClr val="34D399"/>
                </a:solidFill>
                <a:latin typeface="Calibri" pitchFamily="34" charset="0"/>
                <a:ea typeface="Calibri" pitchFamily="34" charset="-122"/>
                <a:cs typeface="Calibri" pitchFamily="34" charset="-120"/>
              </a:rPr>
              <a:t>TOMORROW</a:t>
            </a:r>
            <a:endParaRPr lang="en-US" sz="1300" dirty="0"/>
          </a:p>
        </p:txBody>
      </p:sp>
      <p:sp>
        <p:nvSpPr>
          <p:cNvPr id="20" name="Shape 15"/>
          <p:cNvSpPr/>
          <p:nvPr/>
        </p:nvSpPr>
        <p:spPr>
          <a:xfrm>
            <a:off x="10561320" y="2788920"/>
            <a:ext cx="685800" cy="685800"/>
          </a:xfrm>
          <a:prstGeom prst="ellipse">
            <a:avLst/>
          </a:prstGeom>
          <a:solidFill>
            <a:srgbClr val="1E2B45"/>
          </a:solidFill>
          <a:ln w="19050">
            <a:solidFill>
              <a:srgbClr val="34D399"/>
            </a:solidFill>
            <a:prstDash val="solid"/>
          </a:ln>
        </p:spPr>
      </p:sp>
      <p:pic>
        <p:nvPicPr>
          <p:cNvPr id="21" name="Image 3" descr="preencoded.png">    </p:cNvPr>
          <p:cNvPicPr>
            <a:picLocks noChangeAspect="1"/>
          </p:cNvPicPr>
          <p:nvPr/>
        </p:nvPicPr>
        <p:blipFill>
          <a:blip r:embed="rId4"/>
          <a:stretch>
            <a:fillRect/>
          </a:stretch>
        </p:blipFill>
        <p:spPr>
          <a:xfrm>
            <a:off x="10725912" y="2953512"/>
            <a:ext cx="356616" cy="356616"/>
          </a:xfrm>
          <a:prstGeom prst="rect">
            <a:avLst/>
          </a:prstGeom>
        </p:spPr>
      </p:pic>
      <p:sp>
        <p:nvSpPr>
          <p:cNvPr id="22" name="Text 16"/>
          <p:cNvSpPr txBox="1"/>
          <p:nvPr/>
        </p:nvSpPr>
        <p:spPr>
          <a:xfrm>
            <a:off x="836676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Be ready to grow</a:t>
            </a:r>
            <a:endParaRPr lang="en-US" sz="2200" dirty="0"/>
          </a:p>
        </p:txBody>
      </p:sp>
      <p:sp>
        <p:nvSpPr>
          <p:cNvPr id="23" name="Text 17"/>
          <p:cNvSpPr txBox="1"/>
          <p:nvPr/>
        </p:nvSpPr>
        <p:spPr>
          <a:xfrm>
            <a:off x="836676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 trading history you own: the first step to credit, support funds and formal registration.</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Thandi's week, with Akayza</a:t>
            </a:r>
            <a:endParaRPr lang="en-US" sz="3400" dirty="0"/>
          </a:p>
        </p:txBody>
      </p:sp>
      <p:sp>
        <p:nvSpPr>
          <p:cNvPr id="4" name="Text 2"/>
          <p:cNvSpPr txBox="1"/>
          <p:nvPr/>
        </p:nvSpPr>
        <p:spPr>
          <a:xfrm>
            <a:off x="548640" y="1508760"/>
            <a:ext cx="11064240" cy="457200"/>
          </a:xfrm>
          <a:prstGeom prst="rect">
            <a:avLst/>
          </a:prstGeom>
          <a:noFill/>
          <a:ln/>
        </p:spPr>
        <p:txBody>
          <a:bodyPr wrap="square" lIns="0" tIns="0" rIns="0" bIns="0" rtlCol="0" anchor="t"/>
          <a:lstStyle/>
          <a:p>
            <a:pPr indent="0" marL="0">
              <a:buNone/>
            </a:pPr>
            <a:r>
              <a:rPr lang="en-US" sz="1700" i="1" dirty="0">
                <a:solidFill>
                  <a:srgbClr val="A3B3C9"/>
                </a:solidFill>
                <a:latin typeface="Calibri" pitchFamily="34" charset="0"/>
                <a:ea typeface="Calibri" pitchFamily="34" charset="-122"/>
                <a:cs typeface="Calibri" pitchFamily="34" charset="-120"/>
              </a:rPr>
              <a:t>Thandi runs a small business. She's busy, she trusts her customers, and she's never had a record of it.</a:t>
            </a:r>
            <a:endParaRPr lang="en-US" sz="1700" dirty="0"/>
          </a:p>
        </p:txBody>
      </p:sp>
      <p:sp>
        <p:nvSpPr>
          <p:cNvPr id="5" name="Shape 3"/>
          <p:cNvSpPr/>
          <p:nvPr/>
        </p:nvSpPr>
        <p:spPr>
          <a:xfrm>
            <a:off x="548640" y="2286000"/>
            <a:ext cx="2606040" cy="361188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60320"/>
            <a:ext cx="731520" cy="73152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8525" y="2735885"/>
            <a:ext cx="380390" cy="380390"/>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Restocks in 2 minutes</a:t>
            </a:r>
            <a:endParaRPr lang="en-US" sz="1800" dirty="0"/>
          </a:p>
        </p:txBody>
      </p:sp>
      <p:sp>
        <p:nvSpPr>
          <p:cNvPr id="10" name="Text 7"/>
          <p:cNvSpPr txBox="1"/>
          <p:nvPr/>
        </p:nvSpPr>
        <p:spPr>
          <a:xfrm>
            <a:off x="822960"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286000"/>
            <a:ext cx="2606040" cy="361188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60320"/>
            <a:ext cx="731520" cy="731520"/>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4877" y="2735885"/>
            <a:ext cx="380390" cy="380390"/>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Gets paid back</a:t>
            </a:r>
            <a:endParaRPr lang="en-US" sz="1800" dirty="0"/>
          </a:p>
        </p:txBody>
      </p:sp>
      <p:sp>
        <p:nvSpPr>
          <p:cNvPr id="17" name="Text 13"/>
          <p:cNvSpPr txBox="1"/>
          <p:nvPr/>
        </p:nvSpPr>
        <p:spPr>
          <a:xfrm>
            <a:off x="3639312"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It's written off her book on the spot.</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286000"/>
            <a:ext cx="2606040" cy="361188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60320"/>
            <a:ext cx="731520" cy="731520"/>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31229" y="2735885"/>
            <a:ext cx="380390" cy="380390"/>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Pays without cash risk</a:t>
            </a:r>
            <a:endParaRPr lang="en-US" sz="1800" dirty="0"/>
          </a:p>
        </p:txBody>
      </p:sp>
      <p:sp>
        <p:nvSpPr>
          <p:cNvPr id="24" name="Text 19"/>
          <p:cNvSpPr txBox="1"/>
          <p:nvPr/>
        </p:nvSpPr>
        <p:spPr>
          <a:xfrm>
            <a:off x="6455664"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payment is confirmed,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286000"/>
            <a:ext cx="2606040" cy="361188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60320"/>
            <a:ext cx="731520" cy="731520"/>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7581" y="2735885"/>
            <a:ext cx="380390" cy="380390"/>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Sees her business</a:t>
            </a:r>
            <a:endParaRPr lang="en-US" sz="1800" dirty="0"/>
          </a:p>
        </p:txBody>
      </p:sp>
      <p:sp>
        <p:nvSpPr>
          <p:cNvPr id="31" name="Text 25"/>
          <p:cNvSpPr txBox="1"/>
          <p:nvPr/>
        </p:nvSpPr>
        <p:spPr>
          <a:xfrm>
            <a:off x="9272016"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What she sold, what she's owed, what she bought: her own record.</a:t>
            </a:r>
            <a:endParaRPr lang="en-US" sz="1350" dirty="0"/>
          </a:p>
        </p:txBody>
      </p:sp>
      <p:sp>
        <p:nvSpPr>
          <p:cNvPr id="32" name="Text 26"/>
          <p:cNvSpPr txBox="1"/>
          <p:nvPr/>
        </p:nvSpPr>
        <p:spPr>
          <a:xfrm>
            <a:off x="548640" y="5943600"/>
            <a:ext cx="10972800" cy="32004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The same week works for a builder, a food seller, a mechanic, a salon.</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WHO WINS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Everyone gains. Suppliers pay.</a:t>
            </a:r>
            <a:endParaRPr lang="en-US" sz="3400" dirty="0"/>
          </a:p>
        </p:txBody>
      </p:sp>
      <p:sp>
        <p:nvSpPr>
          <p:cNvPr id="4" name="Shape 2"/>
          <p:cNvSpPr/>
          <p:nvPr/>
        </p:nvSpPr>
        <p:spPr>
          <a:xfrm>
            <a:off x="548640" y="1783080"/>
            <a:ext cx="3474720" cy="420624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057400"/>
            <a:ext cx="777240" cy="7772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055218" y="2243938"/>
            <a:ext cx="404165" cy="404165"/>
          </a:xfrm>
          <a:prstGeom prst="rect">
            <a:avLst/>
          </a:prstGeom>
        </p:spPr>
      </p:pic>
      <p:sp>
        <p:nvSpPr>
          <p:cNvPr id="7" name="Text 4"/>
          <p:cNvSpPr txBox="1"/>
          <p:nvPr/>
        </p:nvSpPr>
        <p:spPr>
          <a:xfrm>
            <a:off x="1828800" y="2103120"/>
            <a:ext cx="2103120" cy="411480"/>
          </a:xfrm>
          <a:prstGeom prst="rect">
            <a:avLst/>
          </a:prstGeom>
          <a:noFill/>
          <a:ln/>
        </p:spPr>
        <p:txBody>
          <a:bodyPr wrap="square" lIns="0" tIns="0" rIns="0" bIns="0" rtlCol="0" anchor="t"/>
          <a:lstStyle/>
          <a:p>
            <a:pPr indent="0" marL="0">
              <a:buNone/>
            </a:pPr>
            <a:r>
              <a:rPr lang="en-US" sz="2100" b="1" dirty="0">
                <a:solidFill>
                  <a:srgbClr val="10B981"/>
                </a:solidFill>
                <a:latin typeface="Calibri" pitchFamily="34" charset="0"/>
                <a:ea typeface="Calibri" pitchFamily="34" charset="-122"/>
                <a:cs typeface="Calibri" pitchFamily="34" charset="-120"/>
              </a:rPr>
              <a:t>Businesses</a:t>
            </a:r>
            <a:endParaRPr lang="en-US" sz="2100" dirty="0"/>
          </a:p>
        </p:txBody>
      </p:sp>
      <p:sp>
        <p:nvSpPr>
          <p:cNvPr id="8" name="Text 5"/>
          <p:cNvSpPr txBox="1"/>
          <p:nvPr/>
        </p:nvSpPr>
        <p:spPr>
          <a:xfrm>
            <a:off x="182880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Use it free, always</a:t>
            </a:r>
            <a:endParaRPr lang="en-US" sz="1350" dirty="0"/>
          </a:p>
        </p:txBody>
      </p:sp>
      <p:sp>
        <p:nvSpPr>
          <p:cNvPr id="9" name="Text 6"/>
          <p:cNvSpPr txBox="1"/>
          <p:nvPr/>
        </p:nvSpPr>
        <p:spPr>
          <a:xfrm>
            <a:off x="86868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Less stress, less lost money</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Better buying from their own suppliers</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A record they own, for tomorrow</a:t>
            </a:r>
            <a:endParaRPr lang="en-US" sz="1600" dirty="0"/>
          </a:p>
        </p:txBody>
      </p:sp>
      <p:sp>
        <p:nvSpPr>
          <p:cNvPr id="10" name="Shape 7"/>
          <p:cNvSpPr/>
          <p:nvPr/>
        </p:nvSpPr>
        <p:spPr>
          <a:xfrm>
            <a:off x="4297680" y="1783080"/>
            <a:ext cx="3474720" cy="4206240"/>
          </a:xfrm>
          <a:prstGeom prst="roundRect">
            <a:avLst>
              <a:gd name="adj" fmla="val 3158"/>
            </a:avLst>
          </a:prstGeom>
          <a:solidFill>
            <a:srgbClr val="1E2B45"/>
          </a:solidFill>
          <a:ln w="12700">
            <a:solidFill>
              <a:srgbClr val="1E2B45"/>
            </a:solidFill>
            <a:prstDash val="solid"/>
          </a:ln>
        </p:spPr>
      </p:sp>
      <p:sp>
        <p:nvSpPr>
          <p:cNvPr id="11" name="Shape 8"/>
          <p:cNvSpPr/>
          <p:nvPr/>
        </p:nvSpPr>
        <p:spPr>
          <a:xfrm>
            <a:off x="4617720" y="2057400"/>
            <a:ext cx="777240" cy="7772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4804258" y="2243938"/>
            <a:ext cx="404165" cy="404165"/>
          </a:xfrm>
          <a:prstGeom prst="rect">
            <a:avLst/>
          </a:prstGeom>
        </p:spPr>
      </p:pic>
      <p:sp>
        <p:nvSpPr>
          <p:cNvPr id="13" name="Text 9"/>
          <p:cNvSpPr txBox="1"/>
          <p:nvPr/>
        </p:nvSpPr>
        <p:spPr>
          <a:xfrm>
            <a:off x="5577840" y="2103120"/>
            <a:ext cx="2103120" cy="411480"/>
          </a:xfrm>
          <a:prstGeom prst="rect">
            <a:avLst/>
          </a:prstGeom>
          <a:noFill/>
          <a:ln/>
        </p:spPr>
        <p:txBody>
          <a:bodyPr wrap="square" lIns="0" tIns="0" rIns="0" bIns="0" rtlCol="0" anchor="t"/>
          <a:lstStyle/>
          <a:p>
            <a:pPr indent="0" marL="0">
              <a:buNone/>
            </a:pPr>
            <a:r>
              <a:rPr lang="en-US" sz="2100" b="1" dirty="0">
                <a:solidFill>
                  <a:srgbClr val="FBBF24"/>
                </a:solidFill>
                <a:latin typeface="Calibri" pitchFamily="34" charset="0"/>
                <a:ea typeface="Calibri" pitchFamily="34" charset="-122"/>
                <a:cs typeface="Calibri" pitchFamily="34" charset="-120"/>
              </a:rPr>
              <a:t>Suppliers</a:t>
            </a:r>
            <a:endParaRPr lang="en-US" sz="2100" dirty="0"/>
          </a:p>
        </p:txBody>
      </p:sp>
      <p:sp>
        <p:nvSpPr>
          <p:cNvPr id="14" name="Text 10"/>
          <p:cNvSpPr txBox="1"/>
          <p:nvPr/>
        </p:nvSpPr>
        <p:spPr>
          <a:xfrm>
            <a:off x="557784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Our paying customers</a:t>
            </a:r>
            <a:endParaRPr lang="en-US" sz="1350" dirty="0"/>
          </a:p>
        </p:txBody>
      </p:sp>
      <p:sp>
        <p:nvSpPr>
          <p:cNvPr id="15" name="Text 11"/>
          <p:cNvSpPr txBox="1"/>
          <p:nvPr/>
        </p:nvSpPr>
        <p:spPr>
          <a:xfrm>
            <a:off x="461772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More orders from shops they already serve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No cash lost between driver and depot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See what their customers will need</a:t>
            </a:r>
            <a:endParaRPr lang="en-US" sz="1600" dirty="0"/>
          </a:p>
        </p:txBody>
      </p:sp>
      <p:sp>
        <p:nvSpPr>
          <p:cNvPr id="16" name="Shape 12"/>
          <p:cNvSpPr/>
          <p:nvPr/>
        </p:nvSpPr>
        <p:spPr>
          <a:xfrm>
            <a:off x="8046720" y="1783080"/>
            <a:ext cx="3474720" cy="420624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057400"/>
            <a:ext cx="777240" cy="777240"/>
          </a:xfrm>
          <a:prstGeom prst="ellipse">
            <a:avLst/>
          </a:prstGeom>
          <a:solidFill>
            <a:srgbClr val="1E2B45"/>
          </a:solidFill>
          <a:ln w="19050">
            <a:solidFill>
              <a:srgbClr val="34D399"/>
            </a:solidFill>
            <a:prstDash val="solid"/>
          </a:ln>
        </p:spPr>
      </p:sp>
      <p:pic>
        <p:nvPicPr>
          <p:cNvPr id="18" name="Image 2" descr="preencoded.png">    </p:cNvPr>
          <p:cNvPicPr>
            <a:picLocks noChangeAspect="1"/>
          </p:cNvPicPr>
          <p:nvPr/>
        </p:nvPicPr>
        <p:blipFill>
          <a:blip r:embed="rId3"/>
          <a:stretch>
            <a:fillRect/>
          </a:stretch>
        </p:blipFill>
        <p:spPr>
          <a:xfrm>
            <a:off x="8553298" y="2243938"/>
            <a:ext cx="404165" cy="404165"/>
          </a:xfrm>
          <a:prstGeom prst="rect">
            <a:avLst/>
          </a:prstGeom>
        </p:spPr>
      </p:pic>
      <p:sp>
        <p:nvSpPr>
          <p:cNvPr id="19" name="Text 14"/>
          <p:cNvSpPr txBox="1"/>
          <p:nvPr/>
        </p:nvSpPr>
        <p:spPr>
          <a:xfrm>
            <a:off x="9326880" y="2103120"/>
            <a:ext cx="2103120" cy="411480"/>
          </a:xfrm>
          <a:prstGeom prst="rect">
            <a:avLst/>
          </a:prstGeom>
          <a:noFill/>
          <a:ln/>
        </p:spPr>
        <p:txBody>
          <a:bodyPr wrap="square" lIns="0" tIns="0" rIns="0" bIns="0" rtlCol="0" anchor="t"/>
          <a:lstStyle/>
          <a:p>
            <a:pPr indent="0" marL="0">
              <a:buNone/>
            </a:pPr>
            <a:r>
              <a:rPr lang="en-US" sz="2100" b="1" dirty="0">
                <a:solidFill>
                  <a:srgbClr val="34D399"/>
                </a:solidFill>
                <a:latin typeface="Calibri" pitchFamily="34" charset="0"/>
                <a:ea typeface="Calibri" pitchFamily="34" charset="-122"/>
                <a:cs typeface="Calibri" pitchFamily="34" charset="-120"/>
              </a:rPr>
              <a:t>Partners</a:t>
            </a:r>
            <a:endParaRPr lang="en-US" sz="2100" dirty="0"/>
          </a:p>
        </p:txBody>
      </p:sp>
      <p:sp>
        <p:nvSpPr>
          <p:cNvPr id="20" name="Text 15"/>
          <p:cNvSpPr txBox="1"/>
          <p:nvPr/>
        </p:nvSpPr>
        <p:spPr>
          <a:xfrm>
            <a:off x="932688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Next: banks, funds, government</a:t>
            </a:r>
            <a:endParaRPr lang="en-US" sz="1350" dirty="0"/>
          </a:p>
        </p:txBody>
      </p:sp>
      <p:sp>
        <p:nvSpPr>
          <p:cNvPr id="21" name="Text 16"/>
          <p:cNvSpPr txBox="1"/>
          <p:nvPr/>
        </p:nvSpPr>
        <p:spPr>
          <a:xfrm>
            <a:off x="836676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Businesses they can finally see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Shared only with the owner's consent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Faster, fairer verification</a:t>
            </a:r>
            <a:endParaRPr lang="en-US" sz="16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OPPORTUNITY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Start where the money already moves</a:t>
            </a:r>
            <a:endParaRPr lang="en-US" sz="3400" dirty="0"/>
          </a:p>
        </p:txBody>
      </p:sp>
      <p:sp>
        <p:nvSpPr>
          <p:cNvPr id="4" name="Shape 2"/>
          <p:cNvSpPr/>
          <p:nvPr/>
        </p:nvSpPr>
        <p:spPr>
          <a:xfrm>
            <a:off x="548640" y="1783080"/>
            <a:ext cx="4206240" cy="4206240"/>
          </a:xfrm>
          <a:prstGeom prst="ellipse">
            <a:avLst/>
          </a:prstGeom>
          <a:solidFill>
            <a:srgbClr val="17223A"/>
          </a:solidFill>
          <a:ln w="19050">
            <a:solidFill>
              <a:srgbClr val="64748B"/>
            </a:solidFill>
            <a:prstDash val="solid"/>
          </a:ln>
        </p:spPr>
      </p:sp>
      <p:sp>
        <p:nvSpPr>
          <p:cNvPr id="5" name="Shape 3"/>
          <p:cNvSpPr/>
          <p:nvPr/>
        </p:nvSpPr>
        <p:spPr>
          <a:xfrm>
            <a:off x="1188720" y="2651760"/>
            <a:ext cx="2926080" cy="2926080"/>
          </a:xfrm>
          <a:prstGeom prst="ellipse">
            <a:avLst/>
          </a:prstGeom>
          <a:solidFill>
            <a:srgbClr val="1E2B45"/>
          </a:solidFill>
          <a:ln w="19050">
            <a:solidFill>
              <a:srgbClr val="F59E0B"/>
            </a:solidFill>
            <a:prstDash val="solid"/>
          </a:ln>
        </p:spPr>
      </p:sp>
      <p:sp>
        <p:nvSpPr>
          <p:cNvPr id="6" name="Shape 4"/>
          <p:cNvSpPr/>
          <p:nvPr/>
        </p:nvSpPr>
        <p:spPr>
          <a:xfrm>
            <a:off x="1783080" y="3474720"/>
            <a:ext cx="1737360" cy="1737360"/>
          </a:xfrm>
          <a:prstGeom prst="ellipse">
            <a:avLst/>
          </a:prstGeom>
          <a:solidFill>
            <a:srgbClr val="10B981"/>
          </a:solidFill>
          <a:ln w="19050">
            <a:solidFill>
              <a:srgbClr val="10B981"/>
            </a:solidFill>
            <a:prstDash val="solid"/>
          </a:ln>
        </p:spPr>
      </p:sp>
      <p:sp>
        <p:nvSpPr>
          <p:cNvPr id="7" name="Text 5"/>
          <p:cNvSpPr txBox="1"/>
          <p:nvPr/>
        </p:nvSpPr>
        <p:spPr>
          <a:xfrm>
            <a:off x="548640" y="2011680"/>
            <a:ext cx="4206240" cy="457200"/>
          </a:xfrm>
          <a:prstGeom prst="rect">
            <a:avLst/>
          </a:prstGeom>
          <a:noFill/>
          <a:ln/>
        </p:spPr>
        <p:txBody>
          <a:bodyPr wrap="square" lIns="0" tIns="0" rIns="0" bIns="0" rtlCol="0" anchor="t"/>
          <a:lstStyle/>
          <a:p>
            <a:pPr algn="ctr" indent="0" marL="0">
              <a:buNone/>
            </a:pPr>
            <a:r>
              <a:rPr lang="en-US" sz="2200" b="1" dirty="0">
                <a:solidFill>
                  <a:srgbClr val="A3B3C9"/>
                </a:solidFill>
                <a:latin typeface="Georgia" pitchFamily="34" charset="0"/>
                <a:ea typeface="Georgia" pitchFamily="34" charset="-122"/>
                <a:cs typeface="Georgia" pitchFamily="34" charset="-120"/>
              </a:rPr>
              <a:t>R900 bn</a:t>
            </a:r>
            <a:endParaRPr lang="en-US" sz="2200" dirty="0"/>
          </a:p>
        </p:txBody>
      </p:sp>
      <p:sp>
        <p:nvSpPr>
          <p:cNvPr id="8" name="Text 6"/>
          <p:cNvSpPr txBox="1"/>
          <p:nvPr/>
        </p:nvSpPr>
        <p:spPr>
          <a:xfrm>
            <a:off x="1188720" y="2880360"/>
            <a:ext cx="2926080" cy="457200"/>
          </a:xfrm>
          <a:prstGeom prst="rect">
            <a:avLst/>
          </a:prstGeom>
          <a:noFill/>
          <a:ln/>
        </p:spPr>
        <p:txBody>
          <a:bodyPr wrap="square" lIns="0" tIns="0" rIns="0" bIns="0" rtlCol="0" anchor="t"/>
          <a:lstStyle/>
          <a:p>
            <a:pPr algn="ctr" indent="0" marL="0">
              <a:buNone/>
            </a:pPr>
            <a:r>
              <a:rPr lang="en-US" sz="2000" b="1" dirty="0">
                <a:solidFill>
                  <a:srgbClr val="FBBF24"/>
                </a:solidFill>
                <a:latin typeface="Georgia" pitchFamily="34" charset="0"/>
                <a:ea typeface="Georgia" pitchFamily="34" charset="-122"/>
                <a:cs typeface="Georgia" pitchFamily="34" charset="-120"/>
              </a:rPr>
              <a:t>R150 bn</a:t>
            </a:r>
            <a:endParaRPr lang="en-US" sz="2000" dirty="0"/>
          </a:p>
        </p:txBody>
      </p:sp>
      <p:sp>
        <p:nvSpPr>
          <p:cNvPr id="9" name="Text 7"/>
          <p:cNvSpPr txBox="1"/>
          <p:nvPr/>
        </p:nvSpPr>
        <p:spPr>
          <a:xfrm>
            <a:off x="1783080" y="4114800"/>
            <a:ext cx="1737360" cy="457200"/>
          </a:xfrm>
          <a:prstGeom prst="rect">
            <a:avLst/>
          </a:prstGeom>
          <a:noFill/>
          <a:ln/>
        </p:spPr>
        <p:txBody>
          <a:bodyPr wrap="square" lIns="0" tIns="0" rIns="0" bIns="0" rtlCol="0" anchor="t"/>
          <a:lstStyle/>
          <a:p>
            <a:pPr algn="ctr" indent="0" marL="0">
              <a:buNone/>
            </a:pPr>
            <a:r>
              <a:rPr lang="en-US" sz="2000" b="1" dirty="0">
                <a:solidFill>
                  <a:srgbClr val="0F172A"/>
                </a:solidFill>
                <a:latin typeface="Georgia" pitchFamily="34" charset="0"/>
                <a:ea typeface="Georgia" pitchFamily="34" charset="-122"/>
                <a:cs typeface="Georgia" pitchFamily="34" charset="-120"/>
              </a:rPr>
              <a:t>20,000</a:t>
            </a:r>
            <a:endParaRPr lang="en-US" sz="2000" dirty="0"/>
          </a:p>
        </p:txBody>
      </p:sp>
      <p:sp>
        <p:nvSpPr>
          <p:cNvPr id="10" name="Text 8"/>
          <p:cNvSpPr txBox="1"/>
          <p:nvPr/>
        </p:nvSpPr>
        <p:spPr>
          <a:xfrm>
            <a:off x="5394960" y="1874520"/>
            <a:ext cx="2011680" cy="548640"/>
          </a:xfrm>
          <a:prstGeom prst="rect">
            <a:avLst/>
          </a:prstGeom>
          <a:noFill/>
          <a:ln/>
        </p:spPr>
        <p:txBody>
          <a:bodyPr wrap="square" lIns="0" tIns="0" rIns="0" bIns="0" rtlCol="0" anchor="t"/>
          <a:lstStyle/>
          <a:p>
            <a:pPr indent="0" marL="0">
              <a:buNone/>
            </a:pPr>
            <a:r>
              <a:rPr lang="en-US" sz="2800" b="1" dirty="0">
                <a:solidFill>
                  <a:srgbClr val="A3B3C9"/>
                </a:solidFill>
                <a:latin typeface="Georgia" pitchFamily="34" charset="0"/>
                <a:ea typeface="Georgia" pitchFamily="34" charset="-122"/>
                <a:cs typeface="Georgia" pitchFamily="34" charset="-120"/>
              </a:rPr>
              <a:t>R900 bn</a:t>
            </a:r>
            <a:endParaRPr lang="en-US" sz="2800" dirty="0"/>
          </a:p>
        </p:txBody>
      </p:sp>
      <p:sp>
        <p:nvSpPr>
          <p:cNvPr id="11" name="Text 9"/>
          <p:cNvSpPr txBox="1"/>
          <p:nvPr/>
        </p:nvSpPr>
        <p:spPr>
          <a:xfrm>
            <a:off x="7452360" y="19202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township economy a year: every informal and small business we can serve.</a:t>
            </a:r>
            <a:endParaRPr lang="en-US" sz="1600" dirty="0"/>
          </a:p>
        </p:txBody>
      </p:sp>
      <p:sp>
        <p:nvSpPr>
          <p:cNvPr id="12" name="Text 10"/>
          <p:cNvSpPr txBox="1"/>
          <p:nvPr/>
        </p:nvSpPr>
        <p:spPr>
          <a:xfrm>
            <a:off x="5394960" y="3246120"/>
            <a:ext cx="2011680" cy="548640"/>
          </a:xfrm>
          <a:prstGeom prst="rect">
            <a:avLst/>
          </a:prstGeom>
          <a:noFill/>
          <a:ln/>
        </p:spPr>
        <p:txBody>
          <a:bodyPr wrap="square" lIns="0" tIns="0" rIns="0" bIns="0" rtlCol="0" anchor="t"/>
          <a:lstStyle/>
          <a:p>
            <a:pPr indent="0" marL="0">
              <a:buNone/>
            </a:pPr>
            <a:r>
              <a:rPr lang="en-US" sz="2800" b="1" dirty="0">
                <a:solidFill>
                  <a:srgbClr val="FBBF24"/>
                </a:solidFill>
                <a:latin typeface="Georgia" pitchFamily="34" charset="0"/>
                <a:ea typeface="Georgia" pitchFamily="34" charset="-122"/>
                <a:cs typeface="Georgia" pitchFamily="34" charset="-120"/>
              </a:rPr>
              <a:t>R150 bn</a:t>
            </a:r>
            <a:endParaRPr lang="en-US" sz="2800" dirty="0"/>
          </a:p>
        </p:txBody>
      </p:sp>
      <p:sp>
        <p:nvSpPr>
          <p:cNvPr id="13" name="Text 11"/>
          <p:cNvSpPr txBox="1"/>
          <p:nvPr/>
        </p:nvSpPr>
        <p:spPr>
          <a:xfrm>
            <a:off x="7452360" y="32918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Spent in cash at about 150,000 spaza shops alone: one segment, already buying from suppliers every week.</a:t>
            </a:r>
            <a:endParaRPr lang="en-US" sz="1600" dirty="0"/>
          </a:p>
        </p:txBody>
      </p:sp>
      <p:sp>
        <p:nvSpPr>
          <p:cNvPr id="14" name="Text 12"/>
          <p:cNvSpPr txBox="1"/>
          <p:nvPr/>
        </p:nvSpPr>
        <p:spPr>
          <a:xfrm>
            <a:off x="5394960" y="4617720"/>
            <a:ext cx="2011680" cy="548640"/>
          </a:xfrm>
          <a:prstGeom prst="rect">
            <a:avLst/>
          </a:prstGeom>
          <a:noFill/>
          <a:ln/>
        </p:spPr>
        <p:txBody>
          <a:bodyPr wrap="square" lIns="0" tIns="0" rIns="0" bIns="0" rtlCol="0" anchor="t"/>
          <a:lstStyle/>
          <a:p>
            <a:pPr indent="0" marL="0">
              <a:buNone/>
            </a:pPr>
            <a:r>
              <a:rPr lang="en-US" sz="2800" b="1" dirty="0">
                <a:solidFill>
                  <a:srgbClr val="34D399"/>
                </a:solidFill>
                <a:latin typeface="Georgia" pitchFamily="34" charset="0"/>
                <a:ea typeface="Georgia" pitchFamily="34" charset="-122"/>
                <a:cs typeface="Georgia" pitchFamily="34" charset="-120"/>
              </a:rPr>
              <a:t>20,000</a:t>
            </a:r>
            <a:endParaRPr lang="en-US" sz="2800" dirty="0"/>
          </a:p>
        </p:txBody>
      </p:sp>
      <p:sp>
        <p:nvSpPr>
          <p:cNvPr id="15" name="Text 13"/>
          <p:cNvSpPr txBox="1"/>
          <p:nvPr/>
        </p:nvSpPr>
        <p:spPr>
          <a:xfrm>
            <a:off x="7452360" y="46634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Businesses and 200 paying suppliers by year 3: about R13 million a year in revenue.</a:t>
            </a:r>
            <a:endParaRPr lang="en-US" sz="1600" dirty="0"/>
          </a:p>
        </p:txBody>
      </p:sp>
      <p:pic>
        <p:nvPicPr>
          <p:cNvPr id="1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7"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18" name="Text 1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size; ~R150 bn cash spend at spaza shops, reported with the report's launch). Year-3 figures are our estimates.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SOUTH AFRICA FIRST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We know this market from the inside</a:t>
            </a:r>
            <a:endParaRPr lang="en-US" sz="3400" dirty="0"/>
          </a:p>
        </p:txBody>
      </p:sp>
      <p:sp>
        <p:nvSpPr>
          <p:cNvPr id="4" name="Shape 2"/>
          <p:cNvSpPr/>
          <p:nvPr/>
        </p:nvSpPr>
        <p:spPr>
          <a:xfrm>
            <a:off x="548640" y="1828800"/>
            <a:ext cx="5349240" cy="1874520"/>
          </a:xfrm>
          <a:prstGeom prst="roundRect">
            <a:avLst>
              <a:gd name="adj" fmla="val 5854"/>
            </a:avLst>
          </a:prstGeom>
          <a:solidFill>
            <a:srgbClr val="17223A"/>
          </a:solidFill>
          <a:ln w="12700">
            <a:solidFill>
              <a:srgbClr val="17223A"/>
            </a:solidFill>
            <a:prstDash val="solid"/>
          </a:ln>
        </p:spPr>
      </p:sp>
      <p:sp>
        <p:nvSpPr>
          <p:cNvPr id="5" name="Shape 3"/>
          <p:cNvSpPr/>
          <p:nvPr/>
        </p:nvSpPr>
        <p:spPr>
          <a:xfrm>
            <a:off x="822960" y="2121408"/>
            <a:ext cx="731520" cy="7315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98525" y="2296973"/>
            <a:ext cx="380390" cy="380390"/>
          </a:xfrm>
          <a:prstGeom prst="rect">
            <a:avLst/>
          </a:prstGeom>
        </p:spPr>
      </p:pic>
      <p:sp>
        <p:nvSpPr>
          <p:cNvPr id="7" name="Text 4"/>
          <p:cNvSpPr txBox="1"/>
          <p:nvPr/>
        </p:nvSpPr>
        <p:spPr>
          <a:xfrm>
            <a:off x="178308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We live it</a:t>
            </a:r>
            <a:endParaRPr lang="en-US" sz="2000" dirty="0"/>
          </a:p>
        </p:txBody>
      </p:sp>
      <p:sp>
        <p:nvSpPr>
          <p:cNvPr id="8" name="Text 5"/>
          <p:cNvSpPr txBox="1"/>
          <p:nvPr/>
        </p:nvSpPr>
        <p:spPr>
          <a:xfrm>
            <a:off x="178308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We grew up in these communities. We know how a business restocks, gives credit and gets paid.</a:t>
            </a:r>
            <a:endParaRPr lang="en-US" sz="1500" dirty="0"/>
          </a:p>
        </p:txBody>
      </p:sp>
      <p:sp>
        <p:nvSpPr>
          <p:cNvPr id="9" name="Shape 6"/>
          <p:cNvSpPr/>
          <p:nvPr/>
        </p:nvSpPr>
        <p:spPr>
          <a:xfrm>
            <a:off x="6172200" y="1828800"/>
            <a:ext cx="5349240" cy="1874520"/>
          </a:xfrm>
          <a:prstGeom prst="roundRect">
            <a:avLst>
              <a:gd name="adj" fmla="val 5854"/>
            </a:avLst>
          </a:prstGeom>
          <a:solidFill>
            <a:srgbClr val="17223A"/>
          </a:solidFill>
          <a:ln w="12700">
            <a:solidFill>
              <a:srgbClr val="17223A"/>
            </a:solidFill>
            <a:prstDash val="solid"/>
          </a:ln>
        </p:spPr>
      </p:sp>
      <p:sp>
        <p:nvSpPr>
          <p:cNvPr id="10" name="Shape 7"/>
          <p:cNvSpPr/>
          <p:nvPr/>
        </p:nvSpPr>
        <p:spPr>
          <a:xfrm>
            <a:off x="6446520" y="2121408"/>
            <a:ext cx="731520" cy="731520"/>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6622085" y="2296973"/>
            <a:ext cx="380390" cy="380390"/>
          </a:xfrm>
          <a:prstGeom prst="rect">
            <a:avLst/>
          </a:prstGeom>
        </p:spPr>
      </p:pic>
      <p:sp>
        <p:nvSpPr>
          <p:cNvPr id="12" name="Text 8"/>
          <p:cNvSpPr txBox="1"/>
          <p:nvPr/>
        </p:nvSpPr>
        <p:spPr>
          <a:xfrm>
            <a:off x="740664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Big and dense</a:t>
            </a:r>
            <a:endParaRPr lang="en-US" sz="2000" dirty="0"/>
          </a:p>
        </p:txBody>
      </p:sp>
      <p:sp>
        <p:nvSpPr>
          <p:cNvPr id="13" name="Text 9"/>
          <p:cNvSpPr txBox="1"/>
          <p:nvPr/>
        </p:nvSpPr>
        <p:spPr>
          <a:xfrm>
            <a:off x="740664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R900 bn, in every province. One supplier serves hundreds of businesses on the same route.</a:t>
            </a:r>
            <a:endParaRPr lang="en-US" sz="1500" dirty="0"/>
          </a:p>
        </p:txBody>
      </p:sp>
      <p:sp>
        <p:nvSpPr>
          <p:cNvPr id="14" name="Shape 10"/>
          <p:cNvSpPr/>
          <p:nvPr/>
        </p:nvSpPr>
        <p:spPr>
          <a:xfrm>
            <a:off x="548640" y="3931920"/>
            <a:ext cx="5349240" cy="1874520"/>
          </a:xfrm>
          <a:prstGeom prst="roundRect">
            <a:avLst>
              <a:gd name="adj" fmla="val 5854"/>
            </a:avLst>
          </a:prstGeom>
          <a:solidFill>
            <a:srgbClr val="17223A"/>
          </a:solidFill>
          <a:ln w="12700">
            <a:solidFill>
              <a:srgbClr val="17223A"/>
            </a:solidFill>
            <a:prstDash val="solid"/>
          </a:ln>
        </p:spPr>
      </p:sp>
      <p:sp>
        <p:nvSpPr>
          <p:cNvPr id="15" name="Shape 11"/>
          <p:cNvSpPr/>
          <p:nvPr/>
        </p:nvSpPr>
        <p:spPr>
          <a:xfrm>
            <a:off x="822960" y="4224528"/>
            <a:ext cx="731520" cy="731520"/>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998525" y="4400093"/>
            <a:ext cx="380390" cy="380390"/>
          </a:xfrm>
          <a:prstGeom prst="rect">
            <a:avLst/>
          </a:prstGeom>
        </p:spPr>
      </p:pic>
      <p:sp>
        <p:nvSpPr>
          <p:cNvPr id="17" name="Text 12"/>
          <p:cNvSpPr txBox="1"/>
          <p:nvPr/>
        </p:nvSpPr>
        <p:spPr>
          <a:xfrm>
            <a:off x="178308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Ready for digital</a:t>
            </a:r>
            <a:endParaRPr lang="en-US" sz="2000" dirty="0"/>
          </a:p>
        </p:txBody>
      </p:sp>
      <p:sp>
        <p:nvSpPr>
          <p:cNvPr id="18" name="Text 13"/>
          <p:cNvSpPr txBox="1"/>
          <p:nvPr/>
        </p:nvSpPr>
        <p:spPr>
          <a:xfrm>
            <a:off x="178308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56% already prefer EFT. Local payment rails and cheap Android phones are everywhere.</a:t>
            </a:r>
            <a:endParaRPr lang="en-US" sz="1500" dirty="0"/>
          </a:p>
        </p:txBody>
      </p:sp>
      <p:sp>
        <p:nvSpPr>
          <p:cNvPr id="19" name="Shape 14"/>
          <p:cNvSpPr/>
          <p:nvPr/>
        </p:nvSpPr>
        <p:spPr>
          <a:xfrm>
            <a:off x="6172200" y="3931920"/>
            <a:ext cx="5349240" cy="1874520"/>
          </a:xfrm>
          <a:prstGeom prst="roundRect">
            <a:avLst>
              <a:gd name="adj" fmla="val 5854"/>
            </a:avLst>
          </a:prstGeom>
          <a:solidFill>
            <a:srgbClr val="17223A"/>
          </a:solidFill>
          <a:ln w="12700">
            <a:solidFill>
              <a:srgbClr val="17223A"/>
            </a:solidFill>
            <a:prstDash val="solid"/>
          </a:ln>
        </p:spPr>
      </p:sp>
      <p:sp>
        <p:nvSpPr>
          <p:cNvPr id="20" name="Shape 15"/>
          <p:cNvSpPr/>
          <p:nvPr/>
        </p:nvSpPr>
        <p:spPr>
          <a:xfrm>
            <a:off x="6446520" y="4224528"/>
            <a:ext cx="731520" cy="731520"/>
          </a:xfrm>
          <a:prstGeom prst="ellipse">
            <a:avLst/>
          </a:prstGeom>
          <a:solidFill>
            <a:srgbClr val="1E2B45"/>
          </a:solidFill>
          <a:ln w="19050">
            <a:solidFill>
              <a:srgbClr val="FBBF24"/>
            </a:solidFill>
            <a:prstDash val="solid"/>
          </a:ln>
        </p:spPr>
      </p:sp>
      <p:pic>
        <p:nvPicPr>
          <p:cNvPr id="21" name="Image 3" descr="preencoded.png">    </p:cNvPr>
          <p:cNvPicPr>
            <a:picLocks noChangeAspect="1"/>
          </p:cNvPicPr>
          <p:nvPr/>
        </p:nvPicPr>
        <p:blipFill>
          <a:blip r:embed="rId4"/>
          <a:stretch>
            <a:fillRect/>
          </a:stretch>
        </p:blipFill>
        <p:spPr>
          <a:xfrm>
            <a:off x="6622085" y="4400093"/>
            <a:ext cx="380390" cy="380390"/>
          </a:xfrm>
          <a:prstGeom prst="rect">
            <a:avLst/>
          </a:prstGeom>
        </p:spPr>
      </p:pic>
      <p:sp>
        <p:nvSpPr>
          <p:cNvPr id="22" name="Text 16"/>
          <p:cNvSpPr txBox="1"/>
          <p:nvPr/>
        </p:nvSpPr>
        <p:spPr>
          <a:xfrm>
            <a:off x="740664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Clear rules</a:t>
            </a:r>
            <a:endParaRPr lang="en-US" sz="2000" dirty="0"/>
          </a:p>
        </p:txBody>
      </p:sp>
      <p:sp>
        <p:nvSpPr>
          <p:cNvPr id="23" name="Text 17"/>
          <p:cNvSpPr txBox="1"/>
          <p:nvPr/>
        </p:nvSpPr>
        <p:spPr>
          <a:xfrm>
            <a:off x="740664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POPIA, CIPC, VAT invoicing: we built to them from day one. Then: the rest of Africa.</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
        <p:nvSpPr>
          <p:cNvPr id="26" name="Text 19"/>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(56% prefer EFT or bank transfer).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DON'T TAKE OUR WORD FOR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See it working</a:t>
            </a:r>
            <a:endParaRPr lang="en-US" sz="3400" dirty="0"/>
          </a:p>
        </p:txBody>
      </p:sp>
      <p:sp>
        <p:nvSpPr>
          <p:cNvPr id="4" name="Shape 2"/>
          <p:cNvSpPr/>
          <p:nvPr/>
        </p:nvSpPr>
        <p:spPr>
          <a:xfrm>
            <a:off x="548640" y="1783080"/>
            <a:ext cx="7315200" cy="4160520"/>
          </a:xfrm>
          <a:prstGeom prst="roundRect">
            <a:avLst>
              <a:gd name="adj" fmla="val 2637"/>
            </a:avLst>
          </a:prstGeom>
          <a:solidFill>
            <a:srgbClr val="1E2B45"/>
          </a:solidFill>
          <a:ln w="12700">
            <a:solidFill>
              <a:srgbClr val="1E2B45"/>
            </a:solidFill>
            <a:prstDash val="solid"/>
          </a:ln>
        </p:spPr>
      </p:sp>
      <p:sp>
        <p:nvSpPr>
          <p:cNvPr id="5" name="Shape 3"/>
          <p:cNvSpPr/>
          <p:nvPr/>
        </p:nvSpPr>
        <p:spPr>
          <a:xfrm>
            <a:off x="3520440" y="2926080"/>
            <a:ext cx="1371600" cy="1371600"/>
          </a:xfrm>
          <a:prstGeom prst="ellipse">
            <a:avLst/>
          </a:prstGeom>
          <a:solidFill>
            <a:srgbClr val="1E2B45"/>
          </a:solidFill>
          <a:ln w="19050">
            <a:solidFill>
              <a:srgbClr val="FBBF24"/>
            </a:solidFill>
            <a:prstDash val="solid"/>
          </a:ln>
        </p:spPr>
      </p:sp>
      <p:pic>
        <p:nvPicPr>
          <p:cNvPr id="6" name="Image 0" descr="preencoded.png">    </p:cNvPr>
          <p:cNvPicPr>
            <a:picLocks noChangeAspect="1"/>
          </p:cNvPicPr>
          <p:nvPr/>
        </p:nvPicPr>
        <p:blipFill>
          <a:blip r:embed="rId1"/>
          <a:stretch>
            <a:fillRect/>
          </a:stretch>
        </p:blipFill>
        <p:spPr>
          <a:xfrm>
            <a:off x="3849624" y="3255264"/>
            <a:ext cx="713232" cy="713232"/>
          </a:xfrm>
          <a:prstGeom prst="rect">
            <a:avLst/>
          </a:prstGeom>
        </p:spPr>
      </p:pic>
      <p:sp>
        <p:nvSpPr>
          <p:cNvPr id="7" name="Text 4"/>
          <p:cNvSpPr txBox="1"/>
          <p:nvPr/>
        </p:nvSpPr>
        <p:spPr>
          <a:xfrm>
            <a:off x="548640" y="4526280"/>
            <a:ext cx="7315200" cy="411480"/>
          </a:xfrm>
          <a:prstGeom prst="rect">
            <a:avLst/>
          </a:prstGeom>
          <a:noFill/>
          <a:ln/>
        </p:spPr>
        <p:txBody>
          <a:bodyPr wrap="square" lIns="0" tIns="0" rIns="0" bIns="0" rtlCol="0" anchor="t"/>
          <a:lstStyle/>
          <a:p>
            <a:pPr algn="ctr" indent="0" marL="0">
              <a:buNone/>
            </a:pPr>
            <a:r>
              <a:rPr lang="en-US" sz="16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600" dirty="0"/>
          </a:p>
        </p:txBody>
      </p:sp>
      <p:sp>
        <p:nvSpPr>
          <p:cNvPr id="8" name="Text 5"/>
          <p:cNvSpPr txBox="1"/>
          <p:nvPr/>
        </p:nvSpPr>
        <p:spPr>
          <a:xfrm>
            <a:off x="548640" y="4983480"/>
            <a:ext cx="7315200" cy="365760"/>
          </a:xfrm>
          <a:prstGeom prst="rect">
            <a:avLst/>
          </a:prstGeom>
          <a:noFill/>
          <a:ln/>
        </p:spPr>
        <p:txBody>
          <a:bodyPr wrap="square" lIns="0" tIns="0" rIns="0" bIns="0" rtlCol="0" anchor="t"/>
          <a:lstStyle/>
          <a:p>
            <a:pPr algn="ctr" indent="0" marL="0">
              <a:buNone/>
            </a:pPr>
            <a:r>
              <a:rPr lang="en-US" sz="1300" dirty="0">
                <a:solidFill>
                  <a:srgbClr val="A3B3C9"/>
                </a:solidFill>
                <a:latin typeface="Calibri" pitchFamily="34" charset="0"/>
                <a:ea typeface="Calibri" pitchFamily="34" charset="-122"/>
                <a:cs typeface="Calibri" pitchFamily="34" charset="-120"/>
              </a:rPr>
              <a:t>Video link: [paste here]</a:t>
            </a:r>
            <a:endParaRPr lang="en-US" sz="1300" dirty="0"/>
          </a:p>
        </p:txBody>
      </p:sp>
      <p:sp>
        <p:nvSpPr>
          <p:cNvPr id="9" name="Text 6"/>
          <p:cNvSpPr txBox="1"/>
          <p:nvPr/>
        </p:nvSpPr>
        <p:spPr>
          <a:xfrm>
            <a:off x="8229600" y="1828800"/>
            <a:ext cx="3383280" cy="41148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Watch for</a:t>
            </a:r>
            <a:endParaRPr lang="en-US" sz="1800" dirty="0"/>
          </a:p>
        </p:txBody>
      </p:sp>
      <p:sp>
        <p:nvSpPr>
          <p:cNvPr id="10" name="Text 7"/>
          <p:cNvSpPr txBox="1"/>
          <p:nvPr/>
        </p:nvSpPr>
        <p:spPr>
          <a:xfrm>
            <a:off x="8229600" y="2331720"/>
            <a:ext cx="3383280" cy="356616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Sign-up in under a minute</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Suppliers matched to the business, with the reason why</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An order paid and confirmed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proper invoice with a QR check</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client signing off a builder's work</a:t>
            </a:r>
            <a:endParaRPr lang="en-US" sz="1550" dirty="0"/>
          </a:p>
        </p:txBody>
      </p:sp>
      <p:pic>
        <p:nvPicPr>
          <p:cNvPr id="11" name="Image 1"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12" name="Text 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Suppliers pay. Businesses never do.</a:t>
            </a:r>
            <a:endParaRPr lang="en-US" sz="3400" dirty="0"/>
          </a:p>
        </p:txBody>
      </p:sp>
      <p:sp>
        <p:nvSpPr>
          <p:cNvPr id="4" name="Shape 2"/>
          <p:cNvSpPr/>
          <p:nvPr/>
        </p:nvSpPr>
        <p:spPr>
          <a:xfrm>
            <a:off x="548640" y="1783080"/>
            <a:ext cx="4663440" cy="896112"/>
          </a:xfrm>
          <a:prstGeom prst="roundRect">
            <a:avLst>
              <a:gd name="adj" fmla="val 12245"/>
            </a:avLst>
          </a:prstGeom>
          <a:solidFill>
            <a:srgbClr val="17223A"/>
          </a:solidFill>
          <a:ln w="12700">
            <a:solidFill>
              <a:srgbClr val="17223A"/>
            </a:solidFill>
            <a:prstDash val="solid"/>
          </a:ln>
        </p:spPr>
      </p:sp>
      <p:sp>
        <p:nvSpPr>
          <p:cNvPr id="5" name="Text 3"/>
          <p:cNvSpPr txBox="1"/>
          <p:nvPr/>
        </p:nvSpPr>
        <p:spPr>
          <a:xfrm>
            <a:off x="822960" y="203911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Starter</a:t>
            </a:r>
            <a:endParaRPr lang="en-US" sz="1800" dirty="0"/>
          </a:p>
        </p:txBody>
      </p:sp>
      <p:sp>
        <p:nvSpPr>
          <p:cNvPr id="6" name="Text 4"/>
          <p:cNvSpPr txBox="1"/>
          <p:nvPr/>
        </p:nvSpPr>
        <p:spPr>
          <a:xfrm>
            <a:off x="2468880" y="187452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R299</a:t>
            </a:r>
            <a:endParaRPr lang="en-US" sz="3000" dirty="0"/>
          </a:p>
        </p:txBody>
      </p:sp>
      <p:sp>
        <p:nvSpPr>
          <p:cNvPr id="7" name="Text 5"/>
          <p:cNvSpPr txBox="1"/>
          <p:nvPr/>
        </p:nvSpPr>
        <p:spPr>
          <a:xfrm>
            <a:off x="4251960" y="210312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8" name="Shape 6"/>
          <p:cNvSpPr/>
          <p:nvPr/>
        </p:nvSpPr>
        <p:spPr>
          <a:xfrm>
            <a:off x="548640" y="2834640"/>
            <a:ext cx="4663440" cy="896112"/>
          </a:xfrm>
          <a:prstGeom prst="roundRect">
            <a:avLst>
              <a:gd name="adj" fmla="val 12245"/>
            </a:avLst>
          </a:prstGeom>
          <a:solidFill>
            <a:srgbClr val="17223A"/>
          </a:solidFill>
          <a:ln w="12700">
            <a:solidFill>
              <a:srgbClr val="17223A"/>
            </a:solidFill>
            <a:prstDash val="solid"/>
          </a:ln>
        </p:spPr>
      </p:sp>
      <p:sp>
        <p:nvSpPr>
          <p:cNvPr id="9" name="Text 7"/>
          <p:cNvSpPr txBox="1"/>
          <p:nvPr/>
        </p:nvSpPr>
        <p:spPr>
          <a:xfrm>
            <a:off x="822960" y="309067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Pro</a:t>
            </a:r>
            <a:endParaRPr lang="en-US" sz="1800" dirty="0"/>
          </a:p>
        </p:txBody>
      </p:sp>
      <p:sp>
        <p:nvSpPr>
          <p:cNvPr id="10" name="Text 8"/>
          <p:cNvSpPr txBox="1"/>
          <p:nvPr/>
        </p:nvSpPr>
        <p:spPr>
          <a:xfrm>
            <a:off x="2468880" y="292608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R1,499</a:t>
            </a:r>
            <a:endParaRPr lang="en-US" sz="3000" dirty="0"/>
          </a:p>
        </p:txBody>
      </p:sp>
      <p:sp>
        <p:nvSpPr>
          <p:cNvPr id="11" name="Text 9"/>
          <p:cNvSpPr txBox="1"/>
          <p:nvPr/>
        </p:nvSpPr>
        <p:spPr>
          <a:xfrm>
            <a:off x="4251960" y="315468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12" name="Shape 10"/>
          <p:cNvSpPr/>
          <p:nvPr/>
        </p:nvSpPr>
        <p:spPr>
          <a:xfrm>
            <a:off x="548640" y="3886200"/>
            <a:ext cx="4663440" cy="896112"/>
          </a:xfrm>
          <a:prstGeom prst="roundRect">
            <a:avLst>
              <a:gd name="adj" fmla="val 12245"/>
            </a:avLst>
          </a:prstGeom>
          <a:solidFill>
            <a:srgbClr val="17223A"/>
          </a:solidFill>
          <a:ln w="12700">
            <a:solidFill>
              <a:srgbClr val="17223A"/>
            </a:solidFill>
            <a:prstDash val="solid"/>
          </a:ln>
        </p:spPr>
      </p:sp>
      <p:sp>
        <p:nvSpPr>
          <p:cNvPr id="13" name="Text 11"/>
          <p:cNvSpPr txBox="1"/>
          <p:nvPr/>
        </p:nvSpPr>
        <p:spPr>
          <a:xfrm>
            <a:off x="822960" y="414223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ERP link</a:t>
            </a:r>
            <a:endParaRPr lang="en-US" sz="1800" dirty="0"/>
          </a:p>
        </p:txBody>
      </p:sp>
      <p:sp>
        <p:nvSpPr>
          <p:cNvPr id="14" name="Text 12"/>
          <p:cNvSpPr txBox="1"/>
          <p:nvPr/>
        </p:nvSpPr>
        <p:spPr>
          <a:xfrm>
            <a:off x="2468880" y="397764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R4,999</a:t>
            </a:r>
            <a:endParaRPr lang="en-US" sz="3000" dirty="0"/>
          </a:p>
        </p:txBody>
      </p:sp>
      <p:sp>
        <p:nvSpPr>
          <p:cNvPr id="15" name="Text 13"/>
          <p:cNvSpPr txBox="1"/>
          <p:nvPr/>
        </p:nvSpPr>
        <p:spPr>
          <a:xfrm>
            <a:off x="4251960" y="420624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 + setup</a:t>
            </a:r>
            <a:endParaRPr lang="en-US" sz="1100" dirty="0"/>
          </a:p>
        </p:txBody>
      </p:sp>
      <p:sp>
        <p:nvSpPr>
          <p:cNvPr id="16" name="Shape 14"/>
          <p:cNvSpPr/>
          <p:nvPr/>
        </p:nvSpPr>
        <p:spPr>
          <a:xfrm>
            <a:off x="548640" y="4937760"/>
            <a:ext cx="4663440" cy="896112"/>
          </a:xfrm>
          <a:prstGeom prst="roundRect">
            <a:avLst>
              <a:gd name="adj" fmla="val 12245"/>
            </a:avLst>
          </a:prstGeom>
          <a:solidFill>
            <a:srgbClr val="17223A"/>
          </a:solidFill>
          <a:ln w="12700">
            <a:solidFill>
              <a:srgbClr val="17223A"/>
            </a:solidFill>
            <a:prstDash val="solid"/>
          </a:ln>
        </p:spPr>
      </p:sp>
      <p:sp>
        <p:nvSpPr>
          <p:cNvPr id="17" name="Text 15"/>
          <p:cNvSpPr txBox="1"/>
          <p:nvPr/>
        </p:nvSpPr>
        <p:spPr>
          <a:xfrm>
            <a:off x="822960" y="519379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Digital orders</a:t>
            </a:r>
            <a:endParaRPr lang="en-US" sz="1800" dirty="0"/>
          </a:p>
        </p:txBody>
      </p:sp>
      <p:sp>
        <p:nvSpPr>
          <p:cNvPr id="18" name="Text 16"/>
          <p:cNvSpPr txBox="1"/>
          <p:nvPr/>
        </p:nvSpPr>
        <p:spPr>
          <a:xfrm>
            <a:off x="2468880" y="5029200"/>
            <a:ext cx="1737360" cy="685800"/>
          </a:xfrm>
          <a:prstGeom prst="rect">
            <a:avLst/>
          </a:prstGeom>
          <a:noFill/>
          <a:ln/>
        </p:spPr>
        <p:txBody>
          <a:bodyPr wrap="square" lIns="0" tIns="0" rIns="0" bIns="0" rtlCol="0" anchor="t"/>
          <a:lstStyle/>
          <a:p>
            <a:pPr algn="r" indent="0" marL="0">
              <a:buNone/>
            </a:pPr>
            <a:r>
              <a:rPr lang="en-US" sz="3000" b="1" dirty="0">
                <a:solidFill>
                  <a:srgbClr val="FBBF24"/>
                </a:solidFill>
                <a:latin typeface="Georgia" pitchFamily="34" charset="0"/>
                <a:ea typeface="Georgia" pitchFamily="34" charset="-122"/>
                <a:cs typeface="Georgia" pitchFamily="34" charset="-120"/>
              </a:rPr>
              <a:t>~1%</a:t>
            </a:r>
            <a:endParaRPr lang="en-US" sz="3000" dirty="0"/>
          </a:p>
        </p:txBody>
      </p:sp>
      <p:sp>
        <p:nvSpPr>
          <p:cNvPr id="19" name="Text 17"/>
          <p:cNvSpPr txBox="1"/>
          <p:nvPr/>
        </p:nvSpPr>
        <p:spPr>
          <a:xfrm>
            <a:off x="4251960" y="525780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cash stays free</a:t>
            </a:r>
            <a:endParaRPr lang="en-US" sz="1100" dirty="0"/>
          </a:p>
        </p:txBody>
      </p:sp>
      <p:sp>
        <p:nvSpPr>
          <p:cNvPr id="20" name="Shape 18"/>
          <p:cNvSpPr/>
          <p:nvPr/>
        </p:nvSpPr>
        <p:spPr>
          <a:xfrm>
            <a:off x="5486400" y="1783080"/>
            <a:ext cx="6126480" cy="4206240"/>
          </a:xfrm>
          <a:prstGeom prst="roundRect">
            <a:avLst>
              <a:gd name="adj" fmla="val 2609"/>
            </a:avLst>
          </a:prstGeom>
          <a:solidFill>
            <a:srgbClr val="17223A"/>
          </a:solidFill>
          <a:ln w="12700">
            <a:solidFill>
              <a:srgbClr val="17223A"/>
            </a:solidFill>
            <a:prstDash val="solid"/>
          </a:ln>
        </p:spPr>
      </p:sp>
      <p:graphicFrame>
        <p:nvGraphicFramePr>
          <p:cNvPr id="21" name="Chart 0" descr=""/>
          <p:cNvGraphicFramePr/>
          <p:nvPr/>
        </p:nvGraphicFramePr>
        <p:xfrm>
          <a:off x="5623560" y="1874520"/>
          <a:ext cx="5852160" cy="34290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5669280" y="5349240"/>
            <a:ext cx="5760720" cy="320040"/>
          </a:xfrm>
          <a:prstGeom prst="rect">
            <a:avLst/>
          </a:prstGeom>
          <a:noFill/>
          <a:ln/>
        </p:spPr>
        <p:txBody>
          <a:bodyPr wrap="square" lIns="0" tIns="0" rIns="0" bIns="0" rtlCol="0" anchor="t"/>
          <a:lstStyle/>
          <a:p>
            <a:pPr algn="ctr" indent="0" marL="0">
              <a:buNone/>
            </a:pPr>
            <a:r>
              <a:rPr lang="en-US" sz="1400" b="1" dirty="0">
                <a:solidFill>
                  <a:srgbClr val="F8FAFC"/>
                </a:solidFill>
                <a:latin typeface="Calibri" pitchFamily="34" charset="0"/>
                <a:ea typeface="Calibri" pitchFamily="34" charset="-122"/>
                <a:cs typeface="Calibri" pitchFamily="34" charset="-120"/>
              </a:rPr>
              <a:t>Y1 ≈ R56k  ·  Y2 ≈ R283k  ·  Y3 ≈ R1.1m a month</a:t>
            </a:r>
            <a:endParaRPr lang="en-US" sz="1400" dirty="0"/>
          </a:p>
        </p:txBody>
      </p:sp>
      <p:sp>
        <p:nvSpPr>
          <p:cNvPr id="23" name="Text 20"/>
          <p:cNvSpPr txBox="1"/>
          <p:nvPr/>
        </p:nvSpPr>
        <p:spPr>
          <a:xfrm>
            <a:off x="5669280" y="5650992"/>
            <a:ext cx="5760720" cy="274320"/>
          </a:xfrm>
          <a:prstGeom prst="rect">
            <a:avLst/>
          </a:prstGeom>
          <a:noFill/>
          <a:ln/>
        </p:spPr>
        <p:txBody>
          <a:bodyPr wrap="square" lIns="0" tIns="0" rIns="0" bIns="0" rtlCol="0" anchor="t"/>
          <a:lstStyle/>
          <a:p>
            <a:pPr algn="ctr" indent="0" marL="0">
              <a:buNone/>
            </a:pPr>
            <a:r>
              <a:rPr lang="en-US" sz="1150" dirty="0">
                <a:solidFill>
                  <a:srgbClr val="A3B3C9"/>
                </a:solidFill>
                <a:latin typeface="Calibri" pitchFamily="34" charset="0"/>
                <a:ea typeface="Calibri" pitchFamily="34" charset="-122"/>
                <a:cs typeface="Calibri" pitchFamily="34" charset="-120"/>
              </a:rPr>
              <a:t>15 → 60 → 200 suppliers  ·  1,000 → 5,000 → 20,000 businesses</a:t>
            </a:r>
            <a:endParaRPr lang="en-US" sz="1150" dirty="0"/>
          </a:p>
        </p:txBody>
      </p:sp>
      <p:pic>
        <p:nvPicPr>
          <p:cNvPr id="24"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5" name="Text 2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
        <p:nvSpPr>
          <p:cNvPr id="26" name="Text 22"/>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Commission assumes ~R4,000 of digital orders per business per month.</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They serve a slice. We serve it all.</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621792">
                <a:tc>
                  <a:txBody>
                    <a:bodyPr/>
                    <a:lstStyle/>
                    <a:p>
                      <a:pPr algn="l"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Any kind of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Verified payment</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cards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Text 2"/>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500" i="1" dirty="0">
                <a:solidFill>
                  <a:srgbClr val="FBBF24"/>
                </a:solidFill>
                <a:latin typeface="Calibri" pitchFamily="34" charset="0"/>
                <a:ea typeface="Calibri" pitchFamily="34" charset="-122"/>
                <a:cs typeface="Calibri" pitchFamily="34" charset="-120"/>
              </a:rPr>
              <a:t>And it gets smarter with use: what a business does today shapes the suppliers it's matched with tomorrow.</a:t>
            </a:r>
            <a:endParaRPr lang="en-US" sz="1500" dirty="0"/>
          </a:p>
        </p:txBody>
      </p:sp>
      <p:pic>
        <p:nvPicPr>
          <p:cNvPr id="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7" name="Text 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GO-TO-MARKET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One supplier brings hundreds of businesses</a:t>
            </a:r>
            <a:endParaRPr lang="en-US" sz="3400" dirty="0"/>
          </a:p>
        </p:txBody>
      </p:sp>
      <p:sp>
        <p:nvSpPr>
          <p:cNvPr id="4" name="Shape 2"/>
          <p:cNvSpPr/>
          <p:nvPr/>
        </p:nvSpPr>
        <p:spPr>
          <a:xfrm>
            <a:off x="548640" y="1783080"/>
            <a:ext cx="3474720" cy="397764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0-6 months</a:t>
            </a:r>
            <a:endParaRPr lang="en-US" sz="1400" dirty="0"/>
          </a:p>
        </p:txBody>
      </p:sp>
      <p:sp>
        <p:nvSpPr>
          <p:cNvPr id="6" name="Text 4"/>
          <p:cNvSpPr txBox="1"/>
          <p:nvPr/>
        </p:nvSpPr>
        <p:spPr>
          <a:xfrm>
            <a:off x="868680" y="2377440"/>
            <a:ext cx="2834640" cy="68580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Pilot</a:t>
            </a:r>
            <a:endParaRPr lang="en-US" sz="3200" dirty="0"/>
          </a:p>
        </p:txBody>
      </p:sp>
      <p:sp>
        <p:nvSpPr>
          <p:cNvPr id="7" name="Text 5"/>
          <p:cNvSpPr txBox="1"/>
          <p:nvPr/>
        </p:nvSpPr>
        <p:spPr>
          <a:xfrm>
            <a:off x="86868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 50-100 businesses they already serve</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A field agent at the counter and on the route</a:t>
            </a:r>
            <a:endParaRPr lang="en-US" sz="1600" dirty="0"/>
          </a:p>
        </p:txBody>
      </p:sp>
      <p:sp>
        <p:nvSpPr>
          <p:cNvPr id="8" name="Shape 6"/>
          <p:cNvSpPr/>
          <p:nvPr/>
        </p:nvSpPr>
        <p:spPr>
          <a:xfrm>
            <a:off x="4041648" y="3749040"/>
            <a:ext cx="237744" cy="0"/>
          </a:xfrm>
          <a:prstGeom prst="line">
            <a:avLst/>
          </a:prstGeom>
          <a:noFill/>
          <a:ln w="19050">
            <a:solidFill>
              <a:srgbClr val="64748B"/>
            </a:solidFill>
            <a:prstDash val="solid"/>
            <a:tailEnd type="triangle"/>
          </a:ln>
        </p:spPr>
      </p:sp>
      <p:sp>
        <p:nvSpPr>
          <p:cNvPr id="9" name="Shape 7"/>
          <p:cNvSpPr/>
          <p:nvPr/>
        </p:nvSpPr>
        <p:spPr>
          <a:xfrm>
            <a:off x="4297680" y="1783080"/>
            <a:ext cx="3474720" cy="3977640"/>
          </a:xfrm>
          <a:prstGeom prst="roundRect">
            <a:avLst>
              <a:gd name="adj" fmla="val 3158"/>
            </a:avLst>
          </a:prstGeom>
          <a:solidFill>
            <a:srgbClr val="17223A"/>
          </a:solidFill>
          <a:ln w="12700">
            <a:solidFill>
              <a:srgbClr val="17223A"/>
            </a:solidFill>
            <a:prstDash val="solid"/>
          </a:ln>
        </p:spPr>
      </p:sp>
      <p:sp>
        <p:nvSpPr>
          <p:cNvPr id="10" name="Text 8"/>
          <p:cNvSpPr txBox="1"/>
          <p:nvPr/>
        </p:nvSpPr>
        <p:spPr>
          <a:xfrm>
            <a:off x="461772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6-18 months</a:t>
            </a:r>
            <a:endParaRPr lang="en-US" sz="1400" dirty="0"/>
          </a:p>
        </p:txBody>
      </p:sp>
      <p:sp>
        <p:nvSpPr>
          <p:cNvPr id="11" name="Text 9"/>
          <p:cNvSpPr txBox="1"/>
          <p:nvPr/>
        </p:nvSpPr>
        <p:spPr>
          <a:xfrm>
            <a:off x="4617720" y="2377440"/>
            <a:ext cx="2834640" cy="68580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Grow</a:t>
            </a:r>
            <a:endParaRPr lang="en-US" sz="3200" dirty="0"/>
          </a:p>
        </p:txBody>
      </p:sp>
      <p:sp>
        <p:nvSpPr>
          <p:cNvPr id="12" name="Text 10"/>
          <p:cNvSpPr txBox="1"/>
          <p:nvPr/>
        </p:nvSpPr>
        <p:spPr>
          <a:xfrm>
            <a:off x="461772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15 paying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1,000 active businesses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Owners invite the suppliers they use</a:t>
            </a:r>
            <a:endParaRPr lang="en-US" sz="1600" dirty="0"/>
          </a:p>
        </p:txBody>
      </p:sp>
      <p:sp>
        <p:nvSpPr>
          <p:cNvPr id="13" name="Shape 11"/>
          <p:cNvSpPr/>
          <p:nvPr/>
        </p:nvSpPr>
        <p:spPr>
          <a:xfrm>
            <a:off x="7790688" y="3749040"/>
            <a:ext cx="237744" cy="0"/>
          </a:xfrm>
          <a:prstGeom prst="line">
            <a:avLst/>
          </a:prstGeom>
          <a:noFill/>
          <a:ln w="19050">
            <a:solidFill>
              <a:srgbClr val="64748B"/>
            </a:solidFill>
            <a:prstDash val="solid"/>
            <a:tailEnd type="triangle"/>
          </a:ln>
        </p:spPr>
      </p:sp>
      <p:sp>
        <p:nvSpPr>
          <p:cNvPr id="14" name="Shape 12"/>
          <p:cNvSpPr/>
          <p:nvPr/>
        </p:nvSpPr>
        <p:spPr>
          <a:xfrm>
            <a:off x="8046720" y="1783080"/>
            <a:ext cx="3474720" cy="3977640"/>
          </a:xfrm>
          <a:prstGeom prst="roundRect">
            <a:avLst>
              <a:gd name="adj" fmla="val 3158"/>
            </a:avLst>
          </a:prstGeom>
          <a:solidFill>
            <a:srgbClr val="17223A"/>
          </a:solidFill>
          <a:ln w="12700">
            <a:solidFill>
              <a:srgbClr val="17223A"/>
            </a:solidFill>
            <a:prstDash val="solid"/>
          </a:ln>
        </p:spPr>
      </p:sp>
      <p:sp>
        <p:nvSpPr>
          <p:cNvPr id="15" name="Text 13"/>
          <p:cNvSpPr txBox="1"/>
          <p:nvPr/>
        </p:nvSpPr>
        <p:spPr>
          <a:xfrm>
            <a:off x="836676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18-36 months</a:t>
            </a:r>
            <a:endParaRPr lang="en-US" sz="1400" dirty="0"/>
          </a:p>
        </p:txBody>
      </p:sp>
      <p:sp>
        <p:nvSpPr>
          <p:cNvPr id="16" name="Text 14"/>
          <p:cNvSpPr txBox="1"/>
          <p:nvPr/>
        </p:nvSpPr>
        <p:spPr>
          <a:xfrm>
            <a:off x="8366760" y="2377440"/>
            <a:ext cx="2834640" cy="685800"/>
          </a:xfrm>
          <a:prstGeom prst="rect">
            <a:avLst/>
          </a:prstGeom>
          <a:noFill/>
          <a:ln/>
        </p:spPr>
        <p:txBody>
          <a:bodyPr wrap="square" lIns="0" tIns="0" rIns="0" bIns="0" rtlCol="0" anchor="t"/>
          <a:lstStyle/>
          <a:p>
            <a:pPr indent="0" marL="0">
              <a:buNone/>
            </a:pPr>
            <a:r>
              <a:rPr lang="en-US" sz="3200" b="1" dirty="0">
                <a:solidFill>
                  <a:srgbClr val="34D399"/>
                </a:solidFill>
                <a:latin typeface="Georgia" pitchFamily="34" charset="0"/>
                <a:ea typeface="Georgia" pitchFamily="34" charset="-122"/>
                <a:cs typeface="Georgia" pitchFamily="34" charset="-120"/>
              </a:rPr>
              <a:t>Scale</a:t>
            </a:r>
            <a:endParaRPr lang="en-US" sz="3200" dirty="0"/>
          </a:p>
        </p:txBody>
      </p:sp>
      <p:sp>
        <p:nvSpPr>
          <p:cNvPr id="17" name="Text 15"/>
          <p:cNvSpPr txBox="1"/>
          <p:nvPr/>
        </p:nvSpPr>
        <p:spPr>
          <a:xfrm>
            <a:off x="836676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200 suppliers, all 9 provinces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Business associations, trade events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Then other African markets</a:t>
            </a:r>
            <a:endParaRPr lang="en-US" sz="1600" dirty="0"/>
          </a:p>
        </p:txBody>
      </p:sp>
      <p:sp>
        <p:nvSpPr>
          <p:cNvPr id="18" name="Text 16"/>
          <p:cNvSpPr txBox="1"/>
          <p:nvPr/>
        </p:nvSpPr>
        <p:spPr>
          <a:xfrm>
            <a:off x="548640" y="5897880"/>
            <a:ext cx="11064240" cy="365760"/>
          </a:xfrm>
          <a:prstGeom prst="rect">
            <a:avLst/>
          </a:prstGeom>
          <a:noFill/>
          <a:ln/>
        </p:spPr>
        <p:txBody>
          <a:bodyPr wrap="square" lIns="0" tIns="0" rIns="0" bIns="0" rtlCol="0" anchor="t"/>
          <a:lstStyle/>
          <a:p>
            <a:pPr indent="0" marL="0">
              <a:buNone/>
            </a:pPr>
            <a:r>
              <a:rPr lang="en-US" sz="1500" i="1" dirty="0">
                <a:solidFill>
                  <a:srgbClr val="10B981"/>
                </a:solidFill>
                <a:latin typeface="Calibri" pitchFamily="34" charset="0"/>
                <a:ea typeface="Calibri" pitchFamily="34" charset="-122"/>
                <a:cs typeface="Calibri" pitchFamily="34" charset="-120"/>
              </a:rPr>
              <a:t>Suppliers are both our customer and our channel: no expensive ads, one relationship at a time.</a:t>
            </a:r>
            <a:endParaRPr lang="en-US" sz="1500" dirty="0"/>
          </a:p>
        </p:txBody>
      </p:sp>
      <p:pic>
        <p:nvPicPr>
          <p:cNvPr id="1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0"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TRACTION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Not an idea. It's built, and it works.</a:t>
            </a:r>
            <a:endParaRPr lang="en-US" sz="3400" dirty="0"/>
          </a:p>
        </p:txBody>
      </p:sp>
      <p:sp>
        <p:nvSpPr>
          <p:cNvPr id="4" name="Shape 2"/>
          <p:cNvSpPr/>
          <p:nvPr/>
        </p:nvSpPr>
        <p:spPr>
          <a:xfrm>
            <a:off x="548640" y="1783080"/>
            <a:ext cx="2606040" cy="1828800"/>
          </a:xfrm>
          <a:prstGeom prst="roundRect">
            <a:avLst>
              <a:gd name="adj" fmla="val 6000"/>
            </a:avLst>
          </a:prstGeom>
          <a:solidFill>
            <a:srgbClr val="17223A"/>
          </a:solidFill>
          <a:ln w="12700">
            <a:solidFill>
              <a:srgbClr val="17223A"/>
            </a:solidFill>
            <a:prstDash val="solid"/>
          </a:ln>
        </p:spPr>
      </p:sp>
      <p:sp>
        <p:nvSpPr>
          <p:cNvPr id="5" name="Text 3"/>
          <p:cNvSpPr txBox="1"/>
          <p:nvPr/>
        </p:nvSpPr>
        <p:spPr>
          <a:xfrm>
            <a:off x="685800"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1,239</a:t>
            </a:r>
            <a:endParaRPr lang="en-US" sz="4400" dirty="0"/>
          </a:p>
        </p:txBody>
      </p:sp>
      <p:sp>
        <p:nvSpPr>
          <p:cNvPr id="6" name="Text 4"/>
          <p:cNvSpPr txBox="1"/>
          <p:nvPr/>
        </p:nvSpPr>
        <p:spPr>
          <a:xfrm>
            <a:off x="731520"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automated system tests pass</a:t>
            </a:r>
            <a:endParaRPr lang="en-US" sz="1400" dirty="0"/>
          </a:p>
        </p:txBody>
      </p:sp>
      <p:sp>
        <p:nvSpPr>
          <p:cNvPr id="7" name="Shape 5"/>
          <p:cNvSpPr/>
          <p:nvPr/>
        </p:nvSpPr>
        <p:spPr>
          <a:xfrm>
            <a:off x="3364992" y="1783080"/>
            <a:ext cx="2606040" cy="1828800"/>
          </a:xfrm>
          <a:prstGeom prst="roundRect">
            <a:avLst>
              <a:gd name="adj" fmla="val 6000"/>
            </a:avLst>
          </a:prstGeom>
          <a:solidFill>
            <a:srgbClr val="17223A"/>
          </a:solidFill>
          <a:ln w="12700">
            <a:solidFill>
              <a:srgbClr val="17223A"/>
            </a:solidFill>
            <a:prstDash val="solid"/>
          </a:ln>
        </p:spPr>
      </p:sp>
      <p:sp>
        <p:nvSpPr>
          <p:cNvPr id="8" name="Text 6"/>
          <p:cNvSpPr txBox="1"/>
          <p:nvPr/>
        </p:nvSpPr>
        <p:spPr>
          <a:xfrm>
            <a:off x="3502152"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197</a:t>
            </a:r>
            <a:endParaRPr lang="en-US" sz="4400" dirty="0"/>
          </a:p>
        </p:txBody>
      </p:sp>
      <p:sp>
        <p:nvSpPr>
          <p:cNvPr id="9" name="Text 7"/>
          <p:cNvSpPr txBox="1"/>
          <p:nvPr/>
        </p:nvSpPr>
        <p:spPr>
          <a:xfrm>
            <a:off x="3547872"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app tests pass</a:t>
            </a:r>
            <a:endParaRPr lang="en-US" sz="1400" dirty="0"/>
          </a:p>
        </p:txBody>
      </p:sp>
      <p:sp>
        <p:nvSpPr>
          <p:cNvPr id="10" name="Shape 8"/>
          <p:cNvSpPr/>
          <p:nvPr/>
        </p:nvSpPr>
        <p:spPr>
          <a:xfrm>
            <a:off x="6181344" y="1783080"/>
            <a:ext cx="2606040" cy="1828800"/>
          </a:xfrm>
          <a:prstGeom prst="roundRect">
            <a:avLst>
              <a:gd name="adj" fmla="val 6000"/>
            </a:avLst>
          </a:prstGeom>
          <a:solidFill>
            <a:srgbClr val="17223A"/>
          </a:solidFill>
          <a:ln w="12700">
            <a:solidFill>
              <a:srgbClr val="17223A"/>
            </a:solidFill>
            <a:prstDash val="solid"/>
          </a:ln>
        </p:spPr>
      </p:sp>
      <p:sp>
        <p:nvSpPr>
          <p:cNvPr id="11" name="Text 9"/>
          <p:cNvSpPr txBox="1"/>
          <p:nvPr/>
        </p:nvSpPr>
        <p:spPr>
          <a:xfrm>
            <a:off x="6318504"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1,672</a:t>
            </a:r>
            <a:endParaRPr lang="en-US" sz="4400" dirty="0"/>
          </a:p>
        </p:txBody>
      </p:sp>
      <p:sp>
        <p:nvSpPr>
          <p:cNvPr id="12" name="Text 10"/>
          <p:cNvSpPr txBox="1"/>
          <p:nvPr/>
        </p:nvSpPr>
        <p:spPr>
          <a:xfrm>
            <a:off x="6364224"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products from 11 sample suppliers</a:t>
            </a:r>
            <a:endParaRPr lang="en-US" sz="1400" dirty="0"/>
          </a:p>
        </p:txBody>
      </p:sp>
      <p:sp>
        <p:nvSpPr>
          <p:cNvPr id="13" name="Shape 11"/>
          <p:cNvSpPr/>
          <p:nvPr/>
        </p:nvSpPr>
        <p:spPr>
          <a:xfrm>
            <a:off x="8997696" y="1783080"/>
            <a:ext cx="2606040" cy="1828800"/>
          </a:xfrm>
          <a:prstGeom prst="roundRect">
            <a:avLst>
              <a:gd name="adj" fmla="val 6000"/>
            </a:avLst>
          </a:prstGeom>
          <a:solidFill>
            <a:srgbClr val="17223A"/>
          </a:solidFill>
          <a:ln w="12700">
            <a:solidFill>
              <a:srgbClr val="17223A"/>
            </a:solidFill>
            <a:prstDash val="solid"/>
          </a:ln>
        </p:spPr>
      </p:sp>
      <p:sp>
        <p:nvSpPr>
          <p:cNvPr id="14" name="Text 12"/>
          <p:cNvSpPr txBox="1"/>
          <p:nvPr/>
        </p:nvSpPr>
        <p:spPr>
          <a:xfrm>
            <a:off x="9134856" y="1965960"/>
            <a:ext cx="2331720" cy="868680"/>
          </a:xfrm>
          <a:prstGeom prst="rect">
            <a:avLst/>
          </a:prstGeom>
          <a:noFill/>
          <a:ln/>
        </p:spPr>
        <p:txBody>
          <a:bodyPr wrap="square" lIns="0" tIns="0" rIns="0" bIns="0" rtlCol="0" anchor="t"/>
          <a:lstStyle/>
          <a:p>
            <a:pPr algn="ctr" indent="0" marL="0">
              <a:buNone/>
            </a:pPr>
            <a:r>
              <a:rPr lang="en-US" sz="4400" b="1" dirty="0">
                <a:solidFill>
                  <a:srgbClr val="FBBF24"/>
                </a:solidFill>
                <a:latin typeface="Georgia" pitchFamily="34" charset="0"/>
                <a:ea typeface="Georgia" pitchFamily="34" charset="-122"/>
                <a:cs typeface="Georgia" pitchFamily="34" charset="-120"/>
              </a:rPr>
              <a:t>0</a:t>
            </a:r>
            <a:endParaRPr lang="en-US" sz="4400" dirty="0"/>
          </a:p>
        </p:txBody>
      </p:sp>
      <p:sp>
        <p:nvSpPr>
          <p:cNvPr id="15" name="Text 13"/>
          <p:cNvSpPr txBox="1"/>
          <p:nvPr/>
        </p:nvSpPr>
        <p:spPr>
          <a:xfrm>
            <a:off x="9180576"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card numbers ever touch our servers</a:t>
            </a:r>
            <a:endParaRPr lang="en-US" sz="1400" dirty="0"/>
          </a:p>
        </p:txBody>
      </p:sp>
      <p:sp>
        <p:nvSpPr>
          <p:cNvPr id="16" name="Shape 14"/>
          <p:cNvSpPr/>
          <p:nvPr/>
        </p:nvSpPr>
        <p:spPr>
          <a:xfrm>
            <a:off x="594360" y="4069080"/>
            <a:ext cx="329184" cy="329184"/>
          </a:xfrm>
          <a:prstGeom prst="ellipse">
            <a:avLst/>
          </a:prstGeom>
          <a:solidFill>
            <a:srgbClr val="10B981"/>
          </a:solidFill>
          <a:ln w="12700">
            <a:solidFill>
              <a:srgbClr val="10B981"/>
            </a:solidFill>
            <a:prstDash val="solid"/>
          </a:ln>
        </p:spPr>
      </p:sp>
      <p:sp>
        <p:nvSpPr>
          <p:cNvPr id="17" name="Text 15"/>
          <p:cNvSpPr txBox="1"/>
          <p:nvPr/>
        </p:nvSpPr>
        <p:spPr>
          <a:xfrm>
            <a:off x="1097280" y="4032504"/>
            <a:ext cx="265176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TRL 4  ·  today</a:t>
            </a:r>
            <a:endParaRPr lang="en-US" sz="1600" dirty="0"/>
          </a:p>
        </p:txBody>
      </p:sp>
      <p:sp>
        <p:nvSpPr>
          <p:cNvPr id="18" name="Text 16"/>
          <p:cNvSpPr txBox="1"/>
          <p:nvPr/>
        </p:nvSpPr>
        <p:spPr>
          <a:xfrm>
            <a:off x="3749040" y="40325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Every flow works end to end in our own environment, with real payments in the provider's sandbox.</a:t>
            </a:r>
            <a:endParaRPr lang="en-US" sz="1500" dirty="0"/>
          </a:p>
        </p:txBody>
      </p:sp>
      <p:sp>
        <p:nvSpPr>
          <p:cNvPr id="19" name="Shape 17"/>
          <p:cNvSpPr/>
          <p:nvPr/>
        </p:nvSpPr>
        <p:spPr>
          <a:xfrm>
            <a:off x="594360" y="4754880"/>
            <a:ext cx="329184" cy="329184"/>
          </a:xfrm>
          <a:prstGeom prst="ellipse">
            <a:avLst/>
          </a:prstGeom>
          <a:solidFill>
            <a:srgbClr val="FBBF24"/>
          </a:solidFill>
          <a:ln w="12700">
            <a:solidFill>
              <a:srgbClr val="FBBF24"/>
            </a:solidFill>
            <a:prstDash val="solid"/>
          </a:ln>
        </p:spPr>
      </p:sp>
      <p:sp>
        <p:nvSpPr>
          <p:cNvPr id="20" name="Text 18"/>
          <p:cNvSpPr txBox="1"/>
          <p:nvPr/>
        </p:nvSpPr>
        <p:spPr>
          <a:xfrm>
            <a:off x="1097280" y="4718304"/>
            <a:ext cx="2651760" cy="411480"/>
          </a:xfrm>
          <a:prstGeom prst="rect">
            <a:avLst/>
          </a:prstGeom>
          <a:noFill/>
          <a:ln/>
        </p:spPr>
        <p:txBody>
          <a:bodyPr wrap="square" lIns="0" tIns="0" rIns="0" bIns="0" rtlCol="0" anchor="t"/>
          <a:lstStyle/>
          <a:p>
            <a:pPr indent="0" marL="0">
              <a:buNone/>
            </a:pPr>
            <a:r>
              <a:rPr lang="en-US" sz="1600" b="1" dirty="0">
                <a:solidFill>
                  <a:srgbClr val="FBBF24"/>
                </a:solidFill>
                <a:latin typeface="Calibri" pitchFamily="34" charset="0"/>
                <a:ea typeface="Calibri" pitchFamily="34" charset="-122"/>
                <a:cs typeface="Calibri" pitchFamily="34" charset="-120"/>
              </a:rPr>
              <a:t>TRL 5-6  ·  pilot</a:t>
            </a:r>
            <a:endParaRPr lang="en-US" sz="1600" dirty="0"/>
          </a:p>
        </p:txBody>
      </p:sp>
      <p:sp>
        <p:nvSpPr>
          <p:cNvPr id="21" name="Text 19"/>
          <p:cNvSpPr txBox="1"/>
          <p:nvPr/>
        </p:nvSpPr>
        <p:spPr>
          <a:xfrm>
            <a:off x="3749040" y="47183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Real suppliers and businesses, live payments, in their own shops and sites.</a:t>
            </a:r>
            <a:endParaRPr lang="en-US" sz="1500" dirty="0"/>
          </a:p>
        </p:txBody>
      </p:sp>
      <p:sp>
        <p:nvSpPr>
          <p:cNvPr id="22" name="Shape 20"/>
          <p:cNvSpPr/>
          <p:nvPr/>
        </p:nvSpPr>
        <p:spPr>
          <a:xfrm>
            <a:off x="594360" y="5440680"/>
            <a:ext cx="329184" cy="329184"/>
          </a:xfrm>
          <a:prstGeom prst="ellipse">
            <a:avLst/>
          </a:prstGeom>
          <a:solidFill>
            <a:srgbClr val="34D399"/>
          </a:solidFill>
          <a:ln w="12700">
            <a:solidFill>
              <a:srgbClr val="34D399"/>
            </a:solidFill>
            <a:prstDash val="solid"/>
          </a:ln>
        </p:spPr>
      </p:sp>
      <p:sp>
        <p:nvSpPr>
          <p:cNvPr id="23" name="Text 21"/>
          <p:cNvSpPr txBox="1"/>
          <p:nvPr/>
        </p:nvSpPr>
        <p:spPr>
          <a:xfrm>
            <a:off x="1097280" y="5404104"/>
            <a:ext cx="2651760" cy="411480"/>
          </a:xfrm>
          <a:prstGeom prst="rect">
            <a:avLst/>
          </a:prstGeom>
          <a:noFill/>
          <a:ln/>
        </p:spPr>
        <p:txBody>
          <a:bodyPr wrap="square" lIns="0" tIns="0" rIns="0" bIns="0" rtlCol="0" anchor="t"/>
          <a:lstStyle/>
          <a:p>
            <a:pPr indent="0" marL="0">
              <a:buNone/>
            </a:pPr>
            <a:r>
              <a:rPr lang="en-US" sz="1600" b="1" dirty="0">
                <a:solidFill>
                  <a:srgbClr val="34D399"/>
                </a:solidFill>
                <a:latin typeface="Calibri" pitchFamily="34" charset="0"/>
                <a:ea typeface="Calibri" pitchFamily="34" charset="-122"/>
                <a:cs typeface="Calibri" pitchFamily="34" charset="-120"/>
              </a:rPr>
              <a:t>TRL 7+  ·  year 1</a:t>
            </a:r>
            <a:endParaRPr lang="en-US" sz="1600" dirty="0"/>
          </a:p>
        </p:txBody>
      </p:sp>
      <p:sp>
        <p:nvSpPr>
          <p:cNvPr id="24" name="Text 22"/>
          <p:cNvSpPr txBox="1"/>
          <p:nvPr/>
        </p:nvSpPr>
        <p:spPr>
          <a:xfrm>
            <a:off x="3749040" y="54041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All nine provinces; suppliers' stock systems connected.</a:t>
            </a:r>
            <a:endParaRPr lang="en-US" sz="1500" dirty="0"/>
          </a:p>
        </p:txBody>
      </p:sp>
      <p:pic>
        <p:nvPicPr>
          <p:cNvPr id="25"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6" name="Text 2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ASK</a:t>
            </a:r>
            <a:endParaRPr lang="en-US" sz="1300" dirty="0"/>
          </a:p>
        </p:txBody>
      </p:sp>
      <p:sp>
        <p:nvSpPr>
          <p:cNvPr id="3" name="Text 1"/>
          <p:cNvSpPr txBox="1"/>
          <p:nvPr/>
        </p:nvSpPr>
        <p:spPr>
          <a:xfrm>
            <a:off x="548640" y="960120"/>
            <a:ext cx="5486400" cy="1280160"/>
          </a:xfrm>
          <a:prstGeom prst="rect">
            <a:avLst/>
          </a:prstGeom>
          <a:noFill/>
          <a:ln/>
        </p:spPr>
        <p:txBody>
          <a:bodyPr wrap="square" lIns="0" tIns="0" rIns="0" bIns="0" rtlCol="0" anchor="t"/>
          <a:lstStyle/>
          <a:p>
            <a:pPr indent="0" marL="0">
              <a:buNone/>
            </a:pPr>
            <a:r>
              <a:rPr lang="en-US" sz="7200" b="1" dirty="0">
                <a:solidFill>
                  <a:srgbClr val="FBBF24"/>
                </a:solidFill>
                <a:latin typeface="Georgia" pitchFamily="34" charset="0"/>
                <a:ea typeface="Georgia" pitchFamily="34" charset="-122"/>
                <a:cs typeface="Georgia" pitchFamily="34" charset="-120"/>
              </a:rPr>
              <a:t>R300,000</a:t>
            </a:r>
            <a:endParaRPr lang="en-US" sz="7200" dirty="0"/>
          </a:p>
        </p:txBody>
      </p:sp>
      <p:sp>
        <p:nvSpPr>
          <p:cNvPr id="4" name="Text 2"/>
          <p:cNvSpPr txBox="1"/>
          <p:nvPr/>
        </p:nvSpPr>
        <p:spPr>
          <a:xfrm>
            <a:off x="548640" y="2286000"/>
            <a:ext cx="5486400" cy="457200"/>
          </a:xfrm>
          <a:prstGeom prst="rect">
            <a:avLst/>
          </a:prstGeom>
          <a:noFill/>
          <a:ln/>
        </p:spPr>
        <p:txBody>
          <a:bodyPr wrap="square" lIns="0" tIns="0" rIns="0" bIns="0" rtlCol="0" anchor="t"/>
          <a:lstStyle/>
          <a:p>
            <a:pPr indent="0" marL="0">
              <a:buNone/>
            </a:pPr>
            <a:r>
              <a:rPr lang="en-US" sz="2200" b="1" dirty="0">
                <a:solidFill>
                  <a:srgbClr val="F8FAFC"/>
                </a:solidFill>
                <a:latin typeface="Calibri" pitchFamily="34" charset="0"/>
                <a:ea typeface="Calibri" pitchFamily="34" charset="-122"/>
                <a:cs typeface="Calibri" pitchFamily="34" charset="-120"/>
              </a:rPr>
              <a:t>for a 6-month pilot</a:t>
            </a:r>
            <a:endParaRPr lang="en-US" sz="2200" dirty="0"/>
          </a:p>
        </p:txBody>
      </p:sp>
      <p:sp>
        <p:nvSpPr>
          <p:cNvPr id="5" name="Shape 3"/>
          <p:cNvSpPr/>
          <p:nvPr/>
        </p:nvSpPr>
        <p:spPr>
          <a:xfrm>
            <a:off x="548640" y="2971800"/>
            <a:ext cx="502920" cy="5029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669341" y="3092501"/>
            <a:ext cx="261518" cy="261518"/>
          </a:xfrm>
          <a:prstGeom prst="rect">
            <a:avLst/>
          </a:prstGeom>
        </p:spPr>
      </p:pic>
      <p:sp>
        <p:nvSpPr>
          <p:cNvPr id="7" name="Text 4"/>
          <p:cNvSpPr txBox="1"/>
          <p:nvPr/>
        </p:nvSpPr>
        <p:spPr>
          <a:xfrm>
            <a:off x="1234440" y="3044952"/>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2 suppliers</a:t>
            </a:r>
            <a:endParaRPr lang="en-US" sz="1700" dirty="0"/>
          </a:p>
        </p:txBody>
      </p:sp>
      <p:sp>
        <p:nvSpPr>
          <p:cNvPr id="8" name="Text 5"/>
          <p:cNvSpPr txBox="1"/>
          <p:nvPr/>
        </p:nvSpPr>
        <p:spPr>
          <a:xfrm>
            <a:off x="3291840" y="3063240"/>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signed and live</a:t>
            </a:r>
            <a:endParaRPr lang="en-US" sz="1400" dirty="0"/>
          </a:p>
        </p:txBody>
      </p:sp>
      <p:sp>
        <p:nvSpPr>
          <p:cNvPr id="9" name="Shape 6"/>
          <p:cNvSpPr/>
          <p:nvPr/>
        </p:nvSpPr>
        <p:spPr>
          <a:xfrm>
            <a:off x="548640" y="3721608"/>
            <a:ext cx="502920" cy="50292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669341" y="3842309"/>
            <a:ext cx="261518" cy="261518"/>
          </a:xfrm>
          <a:prstGeom prst="rect">
            <a:avLst/>
          </a:prstGeom>
        </p:spPr>
      </p:pic>
      <p:sp>
        <p:nvSpPr>
          <p:cNvPr id="11" name="Text 7"/>
          <p:cNvSpPr txBox="1"/>
          <p:nvPr/>
        </p:nvSpPr>
        <p:spPr>
          <a:xfrm>
            <a:off x="1234440" y="3794760"/>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50-100 businesses</a:t>
            </a:r>
            <a:endParaRPr lang="en-US" sz="1700" dirty="0"/>
          </a:p>
        </p:txBody>
      </p:sp>
      <p:sp>
        <p:nvSpPr>
          <p:cNvPr id="12" name="Text 8"/>
          <p:cNvSpPr txBox="1"/>
          <p:nvPr/>
        </p:nvSpPr>
        <p:spPr>
          <a:xfrm>
            <a:off x="3291840" y="3813048"/>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using it every week</a:t>
            </a:r>
            <a:endParaRPr lang="en-US" sz="1400" dirty="0"/>
          </a:p>
        </p:txBody>
      </p:sp>
      <p:sp>
        <p:nvSpPr>
          <p:cNvPr id="13" name="Shape 9"/>
          <p:cNvSpPr/>
          <p:nvPr/>
        </p:nvSpPr>
        <p:spPr>
          <a:xfrm>
            <a:off x="548640" y="4471416"/>
            <a:ext cx="502920" cy="502920"/>
          </a:xfrm>
          <a:prstGeom prst="ellipse">
            <a:avLst/>
          </a:prstGeom>
          <a:solidFill>
            <a:srgbClr val="1E2B45"/>
          </a:solidFill>
          <a:ln w="19050">
            <a:solidFill>
              <a:srgbClr val="10B981"/>
            </a:solidFill>
            <a:prstDash val="solid"/>
          </a:ln>
        </p:spPr>
      </p:sp>
      <p:pic>
        <p:nvPicPr>
          <p:cNvPr id="14" name="Image 2" descr="preencoded.png">    </p:cNvPr>
          <p:cNvPicPr>
            <a:picLocks noChangeAspect="1"/>
          </p:cNvPicPr>
          <p:nvPr/>
        </p:nvPicPr>
        <p:blipFill>
          <a:blip r:embed="rId3"/>
          <a:stretch>
            <a:fillRect/>
          </a:stretch>
        </p:blipFill>
        <p:spPr>
          <a:xfrm>
            <a:off x="669341" y="4592117"/>
            <a:ext cx="261518" cy="261518"/>
          </a:xfrm>
          <a:prstGeom prst="rect">
            <a:avLst/>
          </a:prstGeom>
        </p:spPr>
      </p:pic>
      <p:sp>
        <p:nvSpPr>
          <p:cNvPr id="15" name="Text 10"/>
          <p:cNvSpPr txBox="1"/>
          <p:nvPr/>
        </p:nvSpPr>
        <p:spPr>
          <a:xfrm>
            <a:off x="1234440" y="4544568"/>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TRL 6</a:t>
            </a:r>
            <a:endParaRPr lang="en-US" sz="1700" dirty="0"/>
          </a:p>
        </p:txBody>
      </p:sp>
      <p:sp>
        <p:nvSpPr>
          <p:cNvPr id="16" name="Text 11"/>
          <p:cNvSpPr txBox="1"/>
          <p:nvPr/>
        </p:nvSpPr>
        <p:spPr>
          <a:xfrm>
            <a:off x="3291840" y="4562856"/>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proven in real shops and sites</a:t>
            </a:r>
            <a:endParaRPr lang="en-US" sz="1400" dirty="0"/>
          </a:p>
        </p:txBody>
      </p:sp>
      <p:sp>
        <p:nvSpPr>
          <p:cNvPr id="17" name="Shape 12"/>
          <p:cNvSpPr/>
          <p:nvPr/>
        </p:nvSpPr>
        <p:spPr>
          <a:xfrm>
            <a:off x="548640" y="5221224"/>
            <a:ext cx="502920" cy="50292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669341" y="5341925"/>
            <a:ext cx="261518" cy="261518"/>
          </a:xfrm>
          <a:prstGeom prst="rect">
            <a:avLst/>
          </a:prstGeom>
        </p:spPr>
      </p:pic>
      <p:sp>
        <p:nvSpPr>
          <p:cNvPr id="19" name="Text 13"/>
          <p:cNvSpPr txBox="1"/>
          <p:nvPr/>
        </p:nvSpPr>
        <p:spPr>
          <a:xfrm>
            <a:off x="1234440" y="5294376"/>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Break-even</a:t>
            </a:r>
            <a:endParaRPr lang="en-US" sz="1700" dirty="0"/>
          </a:p>
        </p:txBody>
      </p:sp>
      <p:sp>
        <p:nvSpPr>
          <p:cNvPr id="20" name="Text 14"/>
          <p:cNvSpPr txBox="1"/>
          <p:nvPr/>
        </p:nvSpPr>
        <p:spPr>
          <a:xfrm>
            <a:off x="3291840" y="5312664"/>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at 2 suppliers on Starter (~R460/month to run)</a:t>
            </a:r>
            <a:endParaRPr lang="en-US" sz="1400" dirty="0"/>
          </a:p>
        </p:txBody>
      </p:sp>
      <p:sp>
        <p:nvSpPr>
          <p:cNvPr id="21" name="Shape 15"/>
          <p:cNvSpPr/>
          <p:nvPr/>
        </p:nvSpPr>
        <p:spPr>
          <a:xfrm>
            <a:off x="6309360" y="1097280"/>
            <a:ext cx="5303520" cy="4892040"/>
          </a:xfrm>
          <a:prstGeom prst="roundRect">
            <a:avLst>
              <a:gd name="adj" fmla="val 2243"/>
            </a:avLst>
          </a:prstGeom>
          <a:solidFill>
            <a:srgbClr val="17223A"/>
          </a:solidFill>
          <a:ln w="12700">
            <a:solidFill>
              <a:srgbClr val="17223A"/>
            </a:solidFill>
            <a:prstDash val="solid"/>
          </a:ln>
        </p:spPr>
      </p:sp>
      <p:graphicFrame>
        <p:nvGraphicFramePr>
          <p:cNvPr id="22" name="Chart 0" descr=""/>
          <p:cNvGraphicFramePr/>
          <p:nvPr/>
        </p:nvGraphicFramePr>
        <p:xfrm>
          <a:off x="6400800" y="1188720"/>
          <a:ext cx="5120640" cy="4709160"/>
        </p:xfrm>
        <a:graphic xmlns:a="http://schemas.openxmlformats.org/drawingml/2006/main">
          <a:graphicData uri="http://schemas.openxmlformats.org/drawingml/2006/chart">
            <c:chart xmlns:c="http://schemas.openxmlformats.org/drawingml/2006/chart" r:id="rId5"/>
          </a:graphicData>
        </a:graphic>
      </p:graphicFrame>
      <p:pic>
        <p:nvPicPr>
          <p:cNvPr id="23" name="Image 4"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24"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TEAM PR</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Builders who know the kasi</a:t>
            </a:r>
            <a:endParaRPr lang="en-US" sz="3400" dirty="0"/>
          </a:p>
        </p:txBody>
      </p:sp>
      <p:sp>
        <p:nvSpPr>
          <p:cNvPr id="4" name="Shape 2"/>
          <p:cNvSpPr/>
          <p:nvPr/>
        </p:nvSpPr>
        <p:spPr>
          <a:xfrm>
            <a:off x="548640" y="1783080"/>
            <a:ext cx="5349240" cy="2926080"/>
          </a:xfrm>
          <a:prstGeom prst="roundRect">
            <a:avLst>
              <a:gd name="adj" fmla="val 3750"/>
            </a:avLst>
          </a:prstGeom>
          <a:solidFill>
            <a:srgbClr val="17223A"/>
          </a:solidFill>
          <a:ln w="12700">
            <a:solidFill>
              <a:srgbClr val="17223A"/>
            </a:solidFill>
            <a:prstDash val="solid"/>
          </a:ln>
        </p:spPr>
      </p:sp>
      <p:sp>
        <p:nvSpPr>
          <p:cNvPr id="5" name="Shape 3"/>
          <p:cNvSpPr/>
          <p:nvPr/>
        </p:nvSpPr>
        <p:spPr>
          <a:xfrm>
            <a:off x="914400" y="2103120"/>
            <a:ext cx="1234440" cy="12344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210666" y="2399386"/>
            <a:ext cx="641909" cy="641909"/>
          </a:xfrm>
          <a:prstGeom prst="rect">
            <a:avLst/>
          </a:prstGeom>
        </p:spPr>
      </p:pic>
      <p:sp>
        <p:nvSpPr>
          <p:cNvPr id="7" name="Text 4"/>
          <p:cNvSpPr txBox="1"/>
          <p:nvPr/>
        </p:nvSpPr>
        <p:spPr>
          <a:xfrm>
            <a:off x="2423160" y="2148840"/>
            <a:ext cx="3291840" cy="64008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Mandla</a:t>
            </a:r>
            <a:endParaRPr lang="en-US" sz="3200" dirty="0"/>
          </a:p>
        </p:txBody>
      </p:sp>
      <p:sp>
        <p:nvSpPr>
          <p:cNvPr id="8" name="Text 5"/>
          <p:cNvSpPr txBox="1"/>
          <p:nvPr/>
        </p:nvSpPr>
        <p:spPr>
          <a:xfrm>
            <a:off x="242316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Team lead</a:t>
            </a:r>
            <a:endParaRPr lang="en-US" sz="1600" dirty="0"/>
          </a:p>
        </p:txBody>
      </p:sp>
      <p:sp>
        <p:nvSpPr>
          <p:cNvPr id="9" name="Text 6"/>
          <p:cNvSpPr txBox="1"/>
          <p:nvPr/>
        </p:nvSpPr>
        <p:spPr>
          <a:xfrm>
            <a:off x="242316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Product, backend, payments and the supplier engine</a:t>
            </a:r>
            <a:endParaRPr lang="en-US" sz="1500" dirty="0"/>
          </a:p>
        </p:txBody>
      </p:sp>
      <p:sp>
        <p:nvSpPr>
          <p:cNvPr id="10" name="Shape 7"/>
          <p:cNvSpPr/>
          <p:nvPr/>
        </p:nvSpPr>
        <p:spPr>
          <a:xfrm>
            <a:off x="6172200" y="1783080"/>
            <a:ext cx="5349240" cy="2926080"/>
          </a:xfrm>
          <a:prstGeom prst="roundRect">
            <a:avLst>
              <a:gd name="adj" fmla="val 3750"/>
            </a:avLst>
          </a:prstGeom>
          <a:solidFill>
            <a:srgbClr val="17223A"/>
          </a:solidFill>
          <a:ln w="12700">
            <a:solidFill>
              <a:srgbClr val="17223A"/>
            </a:solidFill>
            <a:prstDash val="solid"/>
          </a:ln>
        </p:spPr>
      </p:sp>
      <p:sp>
        <p:nvSpPr>
          <p:cNvPr id="11" name="Shape 8"/>
          <p:cNvSpPr/>
          <p:nvPr/>
        </p:nvSpPr>
        <p:spPr>
          <a:xfrm>
            <a:off x="6537960" y="2103120"/>
            <a:ext cx="1234440" cy="12344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6834226" y="2399386"/>
            <a:ext cx="641909" cy="641909"/>
          </a:xfrm>
          <a:prstGeom prst="rect">
            <a:avLst/>
          </a:prstGeom>
        </p:spPr>
      </p:pic>
      <p:sp>
        <p:nvSpPr>
          <p:cNvPr id="13" name="Text 9"/>
          <p:cNvSpPr txBox="1"/>
          <p:nvPr/>
        </p:nvSpPr>
        <p:spPr>
          <a:xfrm>
            <a:off x="8046720" y="2148840"/>
            <a:ext cx="3291840" cy="64008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Risuna</a:t>
            </a:r>
            <a:endParaRPr lang="en-US" sz="3200" dirty="0"/>
          </a:p>
        </p:txBody>
      </p:sp>
      <p:sp>
        <p:nvSpPr>
          <p:cNvPr id="14" name="Text 10"/>
          <p:cNvSpPr txBox="1"/>
          <p:nvPr/>
        </p:nvSpPr>
        <p:spPr>
          <a:xfrm>
            <a:off x="804672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Business tools</a:t>
            </a:r>
            <a:endParaRPr lang="en-US" sz="1600" dirty="0"/>
          </a:p>
        </p:txBody>
      </p:sp>
      <p:sp>
        <p:nvSpPr>
          <p:cNvPr id="15" name="Text 11"/>
          <p:cNvSpPr txBox="1"/>
          <p:nvPr/>
        </p:nvSpPr>
        <p:spPr>
          <a:xfrm>
            <a:off x="804672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Credit book, order book, jobs, builder network, notifications</a:t>
            </a:r>
            <a:endParaRPr lang="en-US" sz="1500" dirty="0"/>
          </a:p>
        </p:txBody>
      </p:sp>
      <p:sp>
        <p:nvSpPr>
          <p:cNvPr id="16" name="Shape 12"/>
          <p:cNvSpPr/>
          <p:nvPr/>
        </p:nvSpPr>
        <p:spPr>
          <a:xfrm>
            <a:off x="548640" y="4983480"/>
            <a:ext cx="11064240" cy="1005840"/>
          </a:xfrm>
          <a:prstGeom prst="roundRect">
            <a:avLst>
              <a:gd name="adj" fmla="val 10909"/>
            </a:avLst>
          </a:prstGeom>
          <a:solidFill>
            <a:srgbClr val="1E2B45"/>
          </a:solidFill>
          <a:ln w="12700">
            <a:solidFill>
              <a:srgbClr val="1E2B45"/>
            </a:solidFill>
            <a:prstDash val="solid"/>
          </a:ln>
        </p:spPr>
      </p:sp>
      <p:sp>
        <p:nvSpPr>
          <p:cNvPr id="17" name="Text 13"/>
          <p:cNvSpPr txBox="1"/>
          <p:nvPr/>
        </p:nvSpPr>
        <p:spPr>
          <a:xfrm>
            <a:off x="868680" y="5230368"/>
            <a:ext cx="10424160" cy="548640"/>
          </a:xfrm>
          <a:prstGeom prst="rect">
            <a:avLst/>
          </a:prstGeom>
          <a:noFill/>
          <a:ln/>
        </p:spPr>
        <p:txBody>
          <a:bodyPr wrap="square" lIns="0" tIns="0" rIns="0" bIns="0" rtlCol="0" anchor="ctr"/>
          <a:lstStyle/>
          <a:p>
            <a:pPr indent="0" marL="0">
              <a:buNone/>
            </a:pPr>
            <a:r>
              <a:rPr lang="en-US" sz="1600" dirty="0">
                <a:solidFill>
                  <a:srgbClr val="F8FAFC"/>
                </a:solidFill>
                <a:latin typeface="Calibri" pitchFamily="34" charset="0"/>
                <a:ea typeface="Calibri" pitchFamily="34" charset="-122"/>
                <a:cs typeface="Calibri" pitchFamily="34" charset="-120"/>
              </a:rPr>
              <a:t>Built this weekend, end to end: the app, the system behind it and real payments, with over 1,400 automated tests.</a:t>
            </a:r>
            <a:endParaRPr lang="en-US" sz="1600" dirty="0"/>
          </a:p>
        </p:txBody>
      </p:sp>
      <p:pic>
        <p:nvPicPr>
          <p:cNvPr id="18"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9"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960120"/>
            <a:ext cx="1280160" cy="1280160"/>
          </a:xfrm>
          <a:prstGeom prst="rect">
            <a:avLst/>
          </a:prstGeom>
        </p:spPr>
      </p:pic>
      <p:sp>
        <p:nvSpPr>
          <p:cNvPr id="3" name="Text 0"/>
          <p:cNvSpPr txBox="1"/>
          <p:nvPr/>
        </p:nvSpPr>
        <p:spPr>
          <a:xfrm>
            <a:off x="685800" y="2423160"/>
            <a:ext cx="10058400" cy="1188720"/>
          </a:xfrm>
          <a:prstGeom prst="rect">
            <a:avLst/>
          </a:prstGeom>
          <a:noFill/>
          <a:ln/>
        </p:spPr>
        <p:txBody>
          <a:bodyPr wrap="square" lIns="0" tIns="0" rIns="0" bIns="0" rtlCol="0" anchor="t"/>
          <a:lstStyle/>
          <a:p>
            <a:pPr indent="0" marL="0">
              <a:buNone/>
            </a:pPr>
            <a:r>
              <a:rPr lang="en-US" sz="6600" b="1" dirty="0">
                <a:solidFill>
                  <a:srgbClr val="F8FAFC"/>
                </a:solidFill>
                <a:latin typeface="Georgia" pitchFamily="34" charset="0"/>
                <a:ea typeface="Georgia" pitchFamily="34" charset="-122"/>
                <a:cs typeface="Georgia" pitchFamily="34" charset="-120"/>
              </a:rPr>
              <a:t>Thank you</a:t>
            </a:r>
            <a:endParaRPr lang="en-US" sz="6600" dirty="0"/>
          </a:p>
        </p:txBody>
      </p:sp>
      <p:sp>
        <p:nvSpPr>
          <p:cNvPr id="4" name="Text 1"/>
          <p:cNvSpPr txBox="1"/>
          <p:nvPr/>
        </p:nvSpPr>
        <p:spPr>
          <a:xfrm>
            <a:off x="731520" y="3611880"/>
            <a:ext cx="10058400" cy="640080"/>
          </a:xfrm>
          <a:prstGeom prst="rect">
            <a:avLst/>
          </a:prstGeom>
          <a:noFill/>
          <a:ln/>
        </p:spPr>
        <p:txBody>
          <a:bodyPr wrap="square" lIns="0" tIns="0" rIns="0" bIns="0" rtlCol="0" anchor="t"/>
          <a:lstStyle/>
          <a:p>
            <a:pPr indent="0" marL="0">
              <a:buNone/>
            </a:pPr>
            <a:r>
              <a:rPr lang="en-US" sz="2800" i="1" dirty="0">
                <a:solidFill>
                  <a:srgbClr val="FBBF24"/>
                </a:solidFill>
                <a:latin typeface="Georgia" pitchFamily="34" charset="0"/>
                <a:ea typeface="Georgia" pitchFamily="34" charset="-122"/>
                <a:cs typeface="Georgia" pitchFamily="34" charset="-120"/>
              </a:rPr>
              <a:t>Keep it in the kasi.</a:t>
            </a:r>
            <a:endParaRPr lang="en-US" sz="2800" dirty="0"/>
          </a:p>
        </p:txBody>
      </p:sp>
      <p:sp>
        <p:nvSpPr>
          <p:cNvPr id="5" name="Text 2"/>
          <p:cNvSpPr txBox="1"/>
          <p:nvPr/>
        </p:nvSpPr>
        <p:spPr>
          <a:xfrm>
            <a:off x="731520" y="4526280"/>
            <a:ext cx="10515600" cy="457200"/>
          </a:xfrm>
          <a:prstGeom prst="rect">
            <a:avLst/>
          </a:prstGeom>
          <a:noFill/>
          <a:ln/>
        </p:spPr>
        <p:txBody>
          <a:bodyPr wrap="square" lIns="0" tIns="0" rIns="0" bIns="0" rtlCol="0" anchor="t"/>
          <a:lstStyle/>
          <a:p>
            <a:pPr indent="0" marL="0">
              <a:buNone/>
            </a:pPr>
            <a:r>
              <a:rPr lang="en-US" sz="2000" b="1" dirty="0">
                <a:solidFill>
                  <a:srgbClr val="34D399"/>
                </a:solidFill>
                <a:latin typeface="Calibri" pitchFamily="34" charset="0"/>
                <a:ea typeface="Calibri" pitchFamily="34" charset="-122"/>
                <a:cs typeface="Calibri" pitchFamily="34" charset="-120"/>
              </a:rPr>
              <a:t>R300,000  ·  6-month pilot  ·  making informal businesses visible</a:t>
            </a:r>
            <a:endParaRPr lang="en-US" sz="2000" dirty="0"/>
          </a:p>
        </p:txBody>
      </p:sp>
      <p:sp>
        <p:nvSpPr>
          <p:cNvPr id="6" name="Text 3"/>
          <p:cNvSpPr txBox="1"/>
          <p:nvPr/>
        </p:nvSpPr>
        <p:spPr>
          <a:xfrm>
            <a:off x="731520" y="5669280"/>
            <a:ext cx="100584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Akayza  ·  prepared by Team PR  ·  GKHack26</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How it's built</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18</a:t>
            </a:r>
            <a:endParaRPr lang="en-US" sz="1000" dirty="0"/>
          </a:p>
        </p:txBody>
      </p:sp>
      <p:sp>
        <p:nvSpPr>
          <p:cNvPr id="6" name="Shape 3"/>
          <p:cNvSpPr/>
          <p:nvPr/>
        </p:nvSpPr>
        <p:spPr>
          <a:xfrm>
            <a:off x="548640" y="1783080"/>
            <a:ext cx="3291840" cy="1920240"/>
          </a:xfrm>
          <a:prstGeom prst="roundRect">
            <a:avLst>
              <a:gd name="adj" fmla="val 5714"/>
            </a:avLst>
          </a:prstGeom>
          <a:solidFill>
            <a:srgbClr val="17223A"/>
          </a:solidFill>
          <a:ln w="12700">
            <a:solidFill>
              <a:srgbClr val="17223A"/>
            </a:solidFill>
            <a:prstDash val="solid"/>
          </a:ln>
        </p:spPr>
      </p:sp>
      <p:sp>
        <p:nvSpPr>
          <p:cNvPr id="7" name="Shape 4"/>
          <p:cNvSpPr/>
          <p:nvPr/>
        </p:nvSpPr>
        <p:spPr>
          <a:xfrm>
            <a:off x="777240" y="2039112"/>
            <a:ext cx="640080" cy="640080"/>
          </a:xfrm>
          <a:prstGeom prst="ellipse">
            <a:avLst/>
          </a:prstGeom>
          <a:solidFill>
            <a:srgbClr val="1E2B45"/>
          </a:solidFill>
          <a:ln w="19050">
            <a:solidFill>
              <a:srgbClr val="10B981"/>
            </a:solidFill>
            <a:prstDash val="solid"/>
          </a:ln>
        </p:spPr>
      </p:sp>
      <p:pic>
        <p:nvPicPr>
          <p:cNvPr id="8" name="Image 1" descr="preencoded.png">    </p:cNvPr>
          <p:cNvPicPr>
            <a:picLocks noChangeAspect="1"/>
          </p:cNvPicPr>
          <p:nvPr/>
        </p:nvPicPr>
        <p:blipFill>
          <a:blip r:embed="rId2"/>
          <a:stretch>
            <a:fillRect/>
          </a:stretch>
        </p:blipFill>
        <p:spPr>
          <a:xfrm>
            <a:off x="930859" y="2192731"/>
            <a:ext cx="332842" cy="332842"/>
          </a:xfrm>
          <a:prstGeom prst="rect">
            <a:avLst/>
          </a:prstGeom>
        </p:spPr>
      </p:pic>
      <p:sp>
        <p:nvSpPr>
          <p:cNvPr id="9" name="Text 5"/>
          <p:cNvSpPr txBox="1"/>
          <p:nvPr/>
        </p:nvSpPr>
        <p:spPr>
          <a:xfrm>
            <a:off x="1554480" y="2039112"/>
            <a:ext cx="2103120" cy="36576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Mobile app</a:t>
            </a:r>
            <a:endParaRPr lang="en-US" sz="1800" dirty="0"/>
          </a:p>
        </p:txBody>
      </p:sp>
      <p:sp>
        <p:nvSpPr>
          <p:cNvPr id="10" name="Text 6"/>
          <p:cNvSpPr txBox="1"/>
          <p:nvPr/>
        </p:nvSpPr>
        <p:spPr>
          <a:xfrm>
            <a:off x="15544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React Native + Expo (TypeScript). Android first. Secure sign-in storage; works offline at the counter.</a:t>
            </a:r>
            <a:endParaRPr lang="en-US" sz="1350" dirty="0"/>
          </a:p>
        </p:txBody>
      </p:sp>
      <p:sp>
        <p:nvSpPr>
          <p:cNvPr id="11" name="Shape 7"/>
          <p:cNvSpPr/>
          <p:nvPr/>
        </p:nvSpPr>
        <p:spPr>
          <a:xfrm>
            <a:off x="4434840" y="1783080"/>
            <a:ext cx="3291840" cy="1920240"/>
          </a:xfrm>
          <a:prstGeom prst="roundRect">
            <a:avLst>
              <a:gd name="adj" fmla="val 5714"/>
            </a:avLst>
          </a:prstGeom>
          <a:solidFill>
            <a:srgbClr val="17223A"/>
          </a:solidFill>
          <a:ln w="12700">
            <a:solidFill>
              <a:srgbClr val="17223A"/>
            </a:solidFill>
            <a:prstDash val="solid"/>
          </a:ln>
        </p:spPr>
      </p:sp>
      <p:sp>
        <p:nvSpPr>
          <p:cNvPr id="12" name="Shape 8"/>
          <p:cNvSpPr/>
          <p:nvPr/>
        </p:nvSpPr>
        <p:spPr>
          <a:xfrm>
            <a:off x="4663440" y="2039112"/>
            <a:ext cx="640080" cy="640080"/>
          </a:xfrm>
          <a:prstGeom prst="ellipse">
            <a:avLst/>
          </a:prstGeom>
          <a:solidFill>
            <a:srgbClr val="1E2B45"/>
          </a:solidFill>
          <a:ln w="19050">
            <a:solidFill>
              <a:srgbClr val="FBBF24"/>
            </a:solidFill>
            <a:prstDash val="solid"/>
          </a:ln>
        </p:spPr>
      </p:sp>
      <p:pic>
        <p:nvPicPr>
          <p:cNvPr id="13" name="Image 2" descr="preencoded.png">    </p:cNvPr>
          <p:cNvPicPr>
            <a:picLocks noChangeAspect="1"/>
          </p:cNvPicPr>
          <p:nvPr/>
        </p:nvPicPr>
        <p:blipFill>
          <a:blip r:embed="rId3"/>
          <a:stretch>
            <a:fillRect/>
          </a:stretch>
        </p:blipFill>
        <p:spPr>
          <a:xfrm>
            <a:off x="4817059" y="2192731"/>
            <a:ext cx="332842" cy="332842"/>
          </a:xfrm>
          <a:prstGeom prst="rect">
            <a:avLst/>
          </a:prstGeom>
        </p:spPr>
      </p:pic>
      <p:sp>
        <p:nvSpPr>
          <p:cNvPr id="14" name="Text 9"/>
          <p:cNvSpPr txBox="1"/>
          <p:nvPr/>
        </p:nvSpPr>
        <p:spPr>
          <a:xfrm>
            <a:off x="5440680" y="2039112"/>
            <a:ext cx="2103120" cy="365760"/>
          </a:xfrm>
          <a:prstGeom prst="rect">
            <a:avLst/>
          </a:prstGeom>
          <a:noFill/>
          <a:ln/>
        </p:spPr>
        <p:txBody>
          <a:bodyPr wrap="square" lIns="0" tIns="0" rIns="0" bIns="0" rtlCol="0" anchor="t"/>
          <a:lstStyle/>
          <a:p>
            <a:pPr indent="0" marL="0">
              <a:buNone/>
            </a:pPr>
            <a:r>
              <a:rPr lang="en-US" sz="1800" b="1" dirty="0">
                <a:solidFill>
                  <a:srgbClr val="FBBF24"/>
                </a:solidFill>
                <a:latin typeface="Calibri" pitchFamily="34" charset="0"/>
                <a:ea typeface="Calibri" pitchFamily="34" charset="-122"/>
                <a:cs typeface="Calibri" pitchFamily="34" charset="-120"/>
              </a:rPr>
              <a:t>API</a:t>
            </a:r>
            <a:endParaRPr lang="en-US" sz="1800" dirty="0"/>
          </a:p>
        </p:txBody>
      </p:sp>
      <p:sp>
        <p:nvSpPr>
          <p:cNvPr id="15" name="Text 10"/>
          <p:cNvSpPr txBox="1"/>
          <p:nvPr/>
        </p:nvSpPr>
        <p:spPr>
          <a:xfrm>
            <a:off x="54406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Python + Flask. Strict input checks, rate limits, orders that can't double. Rule-based supplier engine.</a:t>
            </a:r>
            <a:endParaRPr lang="en-US" sz="1350" dirty="0"/>
          </a:p>
        </p:txBody>
      </p:sp>
      <p:sp>
        <p:nvSpPr>
          <p:cNvPr id="16" name="Shape 11"/>
          <p:cNvSpPr/>
          <p:nvPr/>
        </p:nvSpPr>
        <p:spPr>
          <a:xfrm>
            <a:off x="8321040" y="1783080"/>
            <a:ext cx="3291840" cy="1920240"/>
          </a:xfrm>
          <a:prstGeom prst="roundRect">
            <a:avLst>
              <a:gd name="adj" fmla="val 5714"/>
            </a:avLst>
          </a:prstGeom>
          <a:solidFill>
            <a:srgbClr val="17223A"/>
          </a:solidFill>
          <a:ln w="12700">
            <a:solidFill>
              <a:srgbClr val="17223A"/>
            </a:solidFill>
            <a:prstDash val="solid"/>
          </a:ln>
        </p:spPr>
      </p:sp>
      <p:sp>
        <p:nvSpPr>
          <p:cNvPr id="17" name="Shape 12"/>
          <p:cNvSpPr/>
          <p:nvPr/>
        </p:nvSpPr>
        <p:spPr>
          <a:xfrm>
            <a:off x="8549640" y="2039112"/>
            <a:ext cx="640080" cy="640080"/>
          </a:xfrm>
          <a:prstGeom prst="ellipse">
            <a:avLst/>
          </a:prstGeom>
          <a:solidFill>
            <a:srgbClr val="1E2B45"/>
          </a:solidFill>
          <a:ln w="19050">
            <a:solidFill>
              <a:srgbClr val="34D399"/>
            </a:solidFill>
            <a:prstDash val="solid"/>
          </a:ln>
        </p:spPr>
      </p:sp>
      <p:pic>
        <p:nvPicPr>
          <p:cNvPr id="18" name="Image 3" descr="preencoded.png">    </p:cNvPr>
          <p:cNvPicPr>
            <a:picLocks noChangeAspect="1"/>
          </p:cNvPicPr>
          <p:nvPr/>
        </p:nvPicPr>
        <p:blipFill>
          <a:blip r:embed="rId4"/>
          <a:stretch>
            <a:fillRect/>
          </a:stretch>
        </p:blipFill>
        <p:spPr>
          <a:xfrm>
            <a:off x="8703259" y="2192731"/>
            <a:ext cx="332842" cy="332842"/>
          </a:xfrm>
          <a:prstGeom prst="rect">
            <a:avLst/>
          </a:prstGeom>
        </p:spPr>
      </p:pic>
      <p:sp>
        <p:nvSpPr>
          <p:cNvPr id="19" name="Text 13"/>
          <p:cNvSpPr txBox="1"/>
          <p:nvPr/>
        </p:nvSpPr>
        <p:spPr>
          <a:xfrm>
            <a:off x="9326880" y="2039112"/>
            <a:ext cx="2103120" cy="36576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Database</a:t>
            </a:r>
            <a:endParaRPr lang="en-US" sz="1800" dirty="0"/>
          </a:p>
        </p:txBody>
      </p:sp>
      <p:sp>
        <p:nvSpPr>
          <p:cNvPr id="20" name="Text 14"/>
          <p:cNvSpPr txBox="1"/>
          <p:nvPr/>
        </p:nvSpPr>
        <p:spPr>
          <a:xfrm>
            <a:off x="93268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PostgreSQL, one area per schema, versioned migrations, audit trail with no personal data.</a:t>
            </a:r>
            <a:endParaRPr lang="en-US" sz="1350" dirty="0"/>
          </a:p>
        </p:txBody>
      </p:sp>
      <p:sp>
        <p:nvSpPr>
          <p:cNvPr id="21" name="Shape 15"/>
          <p:cNvSpPr/>
          <p:nvPr/>
        </p:nvSpPr>
        <p:spPr>
          <a:xfrm>
            <a:off x="3886200" y="2743200"/>
            <a:ext cx="502920" cy="0"/>
          </a:xfrm>
          <a:prstGeom prst="line">
            <a:avLst/>
          </a:prstGeom>
          <a:noFill/>
          <a:ln w="25400">
            <a:solidFill>
              <a:srgbClr val="10B981"/>
            </a:solidFill>
            <a:prstDash val="solid"/>
            <a:headEnd type="triangle"/>
            <a:tailEnd type="triangle"/>
          </a:ln>
        </p:spPr>
      </p:sp>
      <p:sp>
        <p:nvSpPr>
          <p:cNvPr id="22" name="Shape 16"/>
          <p:cNvSpPr/>
          <p:nvPr/>
        </p:nvSpPr>
        <p:spPr>
          <a:xfrm>
            <a:off x="7772400" y="2743200"/>
            <a:ext cx="502920" cy="0"/>
          </a:xfrm>
          <a:prstGeom prst="line">
            <a:avLst/>
          </a:prstGeom>
          <a:noFill/>
          <a:ln w="25400">
            <a:solidFill>
              <a:srgbClr val="10B981"/>
            </a:solidFill>
            <a:prstDash val="solid"/>
            <a:headEnd type="triangle"/>
            <a:tailEnd type="triangle"/>
          </a:ln>
        </p:spPr>
      </p:sp>
      <p:sp>
        <p:nvSpPr>
          <p:cNvPr id="23" name="Shape 17"/>
          <p:cNvSpPr/>
          <p:nvPr/>
        </p:nvSpPr>
        <p:spPr>
          <a:xfrm>
            <a:off x="548640" y="4160520"/>
            <a:ext cx="2606040" cy="1554480"/>
          </a:xfrm>
          <a:prstGeom prst="roundRect">
            <a:avLst>
              <a:gd name="adj" fmla="val 7059"/>
            </a:avLst>
          </a:prstGeom>
          <a:solidFill>
            <a:srgbClr val="1E2B45"/>
          </a:solidFill>
          <a:ln w="12700">
            <a:solidFill>
              <a:srgbClr val="1E2B45"/>
            </a:solidFill>
            <a:prstDash val="solid"/>
          </a:ln>
        </p:spPr>
      </p:sp>
      <p:sp>
        <p:nvSpPr>
          <p:cNvPr id="24" name="Shape 18"/>
          <p:cNvSpPr/>
          <p:nvPr/>
        </p:nvSpPr>
        <p:spPr>
          <a:xfrm>
            <a:off x="749808" y="4370832"/>
            <a:ext cx="566928" cy="566928"/>
          </a:xfrm>
          <a:prstGeom prst="ellipse">
            <a:avLst/>
          </a:prstGeom>
          <a:solidFill>
            <a:srgbClr val="1E2B45"/>
          </a:solidFill>
          <a:ln w="19050">
            <a:solidFill>
              <a:srgbClr val="10B981"/>
            </a:solidFill>
            <a:prstDash val="solid"/>
          </a:ln>
        </p:spPr>
      </p:sp>
      <p:pic>
        <p:nvPicPr>
          <p:cNvPr id="25" name="Image 4" descr="preencoded.png">    </p:cNvPr>
          <p:cNvPicPr>
            <a:picLocks noChangeAspect="1"/>
          </p:cNvPicPr>
          <p:nvPr/>
        </p:nvPicPr>
        <p:blipFill>
          <a:blip r:embed="rId5"/>
          <a:stretch>
            <a:fillRect/>
          </a:stretch>
        </p:blipFill>
        <p:spPr>
          <a:xfrm>
            <a:off x="885871" y="4506895"/>
            <a:ext cx="294803" cy="294803"/>
          </a:xfrm>
          <a:prstGeom prst="rect">
            <a:avLst/>
          </a:prstGeom>
        </p:spPr>
      </p:pic>
      <p:sp>
        <p:nvSpPr>
          <p:cNvPr id="26" name="Text 19"/>
          <p:cNvSpPr txBox="1"/>
          <p:nvPr/>
        </p:nvSpPr>
        <p:spPr>
          <a:xfrm>
            <a:off x="1463040"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PayFast</a:t>
            </a:r>
            <a:endParaRPr lang="en-US" sz="1500" dirty="0"/>
          </a:p>
        </p:txBody>
      </p:sp>
      <p:sp>
        <p:nvSpPr>
          <p:cNvPr id="27" name="Text 20"/>
          <p:cNvSpPr txBox="1"/>
          <p:nvPr/>
        </p:nvSpPr>
        <p:spPr>
          <a:xfrm>
            <a:off x="749808"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payments, confirmed by 4 checks</a:t>
            </a:r>
            <a:endParaRPr lang="en-US" sz="1300" dirty="0"/>
          </a:p>
        </p:txBody>
      </p:sp>
      <p:sp>
        <p:nvSpPr>
          <p:cNvPr id="28" name="Shape 21"/>
          <p:cNvSpPr/>
          <p:nvPr/>
        </p:nvSpPr>
        <p:spPr>
          <a:xfrm>
            <a:off x="3364992" y="4160520"/>
            <a:ext cx="2606040" cy="1554480"/>
          </a:xfrm>
          <a:prstGeom prst="roundRect">
            <a:avLst>
              <a:gd name="adj" fmla="val 7059"/>
            </a:avLst>
          </a:prstGeom>
          <a:solidFill>
            <a:srgbClr val="1E2B45"/>
          </a:solidFill>
          <a:ln w="12700">
            <a:solidFill>
              <a:srgbClr val="1E2B45"/>
            </a:solidFill>
            <a:prstDash val="solid"/>
          </a:ln>
        </p:spPr>
      </p:sp>
      <p:sp>
        <p:nvSpPr>
          <p:cNvPr id="29" name="Shape 22"/>
          <p:cNvSpPr/>
          <p:nvPr/>
        </p:nvSpPr>
        <p:spPr>
          <a:xfrm>
            <a:off x="3566160" y="4370832"/>
            <a:ext cx="566928" cy="566928"/>
          </a:xfrm>
          <a:prstGeom prst="ellipse">
            <a:avLst/>
          </a:prstGeom>
          <a:solidFill>
            <a:srgbClr val="1E2B45"/>
          </a:solidFill>
          <a:ln w="19050">
            <a:solidFill>
              <a:srgbClr val="10B981"/>
            </a:solidFill>
            <a:prstDash val="solid"/>
          </a:ln>
        </p:spPr>
      </p:sp>
      <p:pic>
        <p:nvPicPr>
          <p:cNvPr id="30" name="Image 5" descr="preencoded.png">    </p:cNvPr>
          <p:cNvPicPr>
            <a:picLocks noChangeAspect="1"/>
          </p:cNvPicPr>
          <p:nvPr/>
        </p:nvPicPr>
        <p:blipFill>
          <a:blip r:embed="rId6"/>
          <a:stretch>
            <a:fillRect/>
          </a:stretch>
        </p:blipFill>
        <p:spPr>
          <a:xfrm>
            <a:off x="3702223" y="4506895"/>
            <a:ext cx="294803" cy="294803"/>
          </a:xfrm>
          <a:prstGeom prst="rect">
            <a:avLst/>
          </a:prstGeom>
        </p:spPr>
      </p:pic>
      <p:sp>
        <p:nvSpPr>
          <p:cNvPr id="31" name="Text 23"/>
          <p:cNvSpPr txBox="1"/>
          <p:nvPr/>
        </p:nvSpPr>
        <p:spPr>
          <a:xfrm>
            <a:off x="4279392"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Cloudinary</a:t>
            </a:r>
            <a:endParaRPr lang="en-US" sz="1500" dirty="0"/>
          </a:p>
        </p:txBody>
      </p:sp>
      <p:sp>
        <p:nvSpPr>
          <p:cNvPr id="32" name="Text 24"/>
          <p:cNvSpPr txBox="1"/>
          <p:nvPr/>
        </p:nvSpPr>
        <p:spPr>
          <a:xfrm>
            <a:off x="3566160"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signed photo uploads</a:t>
            </a:r>
            <a:endParaRPr lang="en-US" sz="1300" dirty="0"/>
          </a:p>
        </p:txBody>
      </p:sp>
      <p:sp>
        <p:nvSpPr>
          <p:cNvPr id="33" name="Shape 25"/>
          <p:cNvSpPr/>
          <p:nvPr/>
        </p:nvSpPr>
        <p:spPr>
          <a:xfrm>
            <a:off x="6181344" y="4160520"/>
            <a:ext cx="2606040" cy="1554480"/>
          </a:xfrm>
          <a:prstGeom prst="roundRect">
            <a:avLst>
              <a:gd name="adj" fmla="val 7059"/>
            </a:avLst>
          </a:prstGeom>
          <a:solidFill>
            <a:srgbClr val="1E2B45"/>
          </a:solidFill>
          <a:ln w="12700">
            <a:solidFill>
              <a:srgbClr val="1E2B45"/>
            </a:solidFill>
            <a:prstDash val="solid"/>
          </a:ln>
        </p:spPr>
      </p:sp>
      <p:sp>
        <p:nvSpPr>
          <p:cNvPr id="34" name="Shape 26"/>
          <p:cNvSpPr/>
          <p:nvPr/>
        </p:nvSpPr>
        <p:spPr>
          <a:xfrm>
            <a:off x="6382512" y="4370832"/>
            <a:ext cx="566928" cy="566928"/>
          </a:xfrm>
          <a:prstGeom prst="ellipse">
            <a:avLst/>
          </a:prstGeom>
          <a:solidFill>
            <a:srgbClr val="1E2B45"/>
          </a:solidFill>
          <a:ln w="19050">
            <a:solidFill>
              <a:srgbClr val="10B981"/>
            </a:solidFill>
            <a:prstDash val="solid"/>
          </a:ln>
        </p:spPr>
      </p:sp>
      <p:pic>
        <p:nvPicPr>
          <p:cNvPr id="35" name="Image 6" descr="preencoded.png">    </p:cNvPr>
          <p:cNvPicPr>
            <a:picLocks noChangeAspect="1"/>
          </p:cNvPicPr>
          <p:nvPr/>
        </p:nvPicPr>
        <p:blipFill>
          <a:blip r:embed="rId7"/>
          <a:stretch>
            <a:fillRect/>
          </a:stretch>
        </p:blipFill>
        <p:spPr>
          <a:xfrm>
            <a:off x="6518575" y="4506895"/>
            <a:ext cx="294803" cy="294803"/>
          </a:xfrm>
          <a:prstGeom prst="rect">
            <a:avLst/>
          </a:prstGeom>
        </p:spPr>
      </p:pic>
      <p:sp>
        <p:nvSpPr>
          <p:cNvPr id="36" name="Text 27"/>
          <p:cNvSpPr txBox="1"/>
          <p:nvPr/>
        </p:nvSpPr>
        <p:spPr>
          <a:xfrm>
            <a:off x="7095744"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Mapbox</a:t>
            </a:r>
            <a:endParaRPr lang="en-US" sz="1500" dirty="0"/>
          </a:p>
        </p:txBody>
      </p:sp>
      <p:sp>
        <p:nvSpPr>
          <p:cNvPr id="37" name="Text 28"/>
          <p:cNvSpPr txBox="1"/>
          <p:nvPr/>
        </p:nvSpPr>
        <p:spPr>
          <a:xfrm>
            <a:off x="6382512"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address search</a:t>
            </a:r>
            <a:endParaRPr lang="en-US" sz="1300" dirty="0"/>
          </a:p>
        </p:txBody>
      </p:sp>
      <p:sp>
        <p:nvSpPr>
          <p:cNvPr id="38" name="Shape 29"/>
          <p:cNvSpPr/>
          <p:nvPr/>
        </p:nvSpPr>
        <p:spPr>
          <a:xfrm>
            <a:off x="8997696" y="4160520"/>
            <a:ext cx="2606040" cy="1554480"/>
          </a:xfrm>
          <a:prstGeom prst="roundRect">
            <a:avLst>
              <a:gd name="adj" fmla="val 7059"/>
            </a:avLst>
          </a:prstGeom>
          <a:solidFill>
            <a:srgbClr val="1E2B45"/>
          </a:solidFill>
          <a:ln w="12700">
            <a:solidFill>
              <a:srgbClr val="1E2B45"/>
            </a:solidFill>
            <a:prstDash val="solid"/>
          </a:ln>
        </p:spPr>
      </p:sp>
      <p:sp>
        <p:nvSpPr>
          <p:cNvPr id="39" name="Shape 30"/>
          <p:cNvSpPr/>
          <p:nvPr/>
        </p:nvSpPr>
        <p:spPr>
          <a:xfrm>
            <a:off x="9198864" y="4370832"/>
            <a:ext cx="566928" cy="566928"/>
          </a:xfrm>
          <a:prstGeom prst="ellipse">
            <a:avLst/>
          </a:prstGeom>
          <a:solidFill>
            <a:srgbClr val="1E2B45"/>
          </a:solidFill>
          <a:ln w="19050">
            <a:solidFill>
              <a:srgbClr val="10B981"/>
            </a:solidFill>
            <a:prstDash val="solid"/>
          </a:ln>
        </p:spPr>
      </p:sp>
      <p:pic>
        <p:nvPicPr>
          <p:cNvPr id="40" name="Image 7" descr="preencoded.png">    </p:cNvPr>
          <p:cNvPicPr>
            <a:picLocks noChangeAspect="1"/>
          </p:cNvPicPr>
          <p:nvPr/>
        </p:nvPicPr>
        <p:blipFill>
          <a:blip r:embed="rId8"/>
          <a:stretch>
            <a:fillRect/>
          </a:stretch>
        </p:blipFill>
        <p:spPr>
          <a:xfrm>
            <a:off x="9334927" y="4506895"/>
            <a:ext cx="294803" cy="294803"/>
          </a:xfrm>
          <a:prstGeom prst="rect">
            <a:avLst/>
          </a:prstGeom>
        </p:spPr>
      </p:pic>
      <p:sp>
        <p:nvSpPr>
          <p:cNvPr id="41" name="Text 31"/>
          <p:cNvSpPr txBox="1"/>
          <p:nvPr/>
        </p:nvSpPr>
        <p:spPr>
          <a:xfrm>
            <a:off x="9912096"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Email</a:t>
            </a:r>
            <a:endParaRPr lang="en-US" sz="1500" dirty="0"/>
          </a:p>
        </p:txBody>
      </p:sp>
      <p:sp>
        <p:nvSpPr>
          <p:cNvPr id="42" name="Text 32"/>
          <p:cNvSpPr txBox="1"/>
          <p:nvPr/>
        </p:nvSpPr>
        <p:spPr>
          <a:xfrm>
            <a:off x="9198864"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codes, receipts, alerts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Security and data privacy</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
        <p:nvSpPr>
          <p:cNvPr id="6" name="Shape 3"/>
          <p:cNvSpPr/>
          <p:nvPr/>
        </p:nvSpPr>
        <p:spPr>
          <a:xfrm>
            <a:off x="548640" y="1783080"/>
            <a:ext cx="3474720" cy="1965960"/>
          </a:xfrm>
          <a:prstGeom prst="roundRect">
            <a:avLst>
              <a:gd name="adj" fmla="val 5581"/>
            </a:avLst>
          </a:prstGeom>
          <a:solidFill>
            <a:srgbClr val="17223A"/>
          </a:solidFill>
          <a:ln w="12700">
            <a:solidFill>
              <a:srgbClr val="17223A"/>
            </a:solidFill>
            <a:prstDash val="solid"/>
          </a:ln>
        </p:spPr>
      </p:sp>
      <p:sp>
        <p:nvSpPr>
          <p:cNvPr id="7" name="Shape 4"/>
          <p:cNvSpPr/>
          <p:nvPr/>
        </p:nvSpPr>
        <p:spPr>
          <a:xfrm>
            <a:off x="822960" y="2057400"/>
            <a:ext cx="640080" cy="640080"/>
          </a:xfrm>
          <a:prstGeom prst="ellipse">
            <a:avLst/>
          </a:prstGeom>
          <a:solidFill>
            <a:srgbClr val="1E2B45"/>
          </a:solidFill>
          <a:ln w="19050">
            <a:solidFill>
              <a:srgbClr val="10B981"/>
            </a:solidFill>
            <a:prstDash val="solid"/>
          </a:ln>
        </p:spPr>
      </p:sp>
      <p:pic>
        <p:nvPicPr>
          <p:cNvPr id="8" name="Image 1" descr="preencoded.png">    </p:cNvPr>
          <p:cNvPicPr>
            <a:picLocks noChangeAspect="1"/>
          </p:cNvPicPr>
          <p:nvPr/>
        </p:nvPicPr>
        <p:blipFill>
          <a:blip r:embed="rId2"/>
          <a:stretch>
            <a:fillRect/>
          </a:stretch>
        </p:blipFill>
        <p:spPr>
          <a:xfrm>
            <a:off x="976579" y="2211019"/>
            <a:ext cx="332842" cy="332842"/>
          </a:xfrm>
          <a:prstGeom prst="rect">
            <a:avLst/>
          </a:prstGeom>
        </p:spPr>
      </p:pic>
      <p:sp>
        <p:nvSpPr>
          <p:cNvPr id="9" name="Text 5"/>
          <p:cNvSpPr txBox="1"/>
          <p:nvPr/>
        </p:nvSpPr>
        <p:spPr>
          <a:xfrm>
            <a:off x="160020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Your data is yours</a:t>
            </a:r>
            <a:endParaRPr lang="en-US" sz="1600" dirty="0"/>
          </a:p>
        </p:txBody>
      </p:sp>
      <p:sp>
        <p:nvSpPr>
          <p:cNvPr id="10" name="Text 6"/>
          <p:cNvSpPr txBox="1"/>
          <p:nvPr/>
        </p:nvSpPr>
        <p:spPr>
          <a:xfrm>
            <a:off x="82296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Every request is limited to the owner. Anyone else's record answers 'not found'.</a:t>
            </a:r>
            <a:endParaRPr lang="en-US" sz="1300" dirty="0"/>
          </a:p>
        </p:txBody>
      </p:sp>
      <p:sp>
        <p:nvSpPr>
          <p:cNvPr id="11" name="Shape 7"/>
          <p:cNvSpPr/>
          <p:nvPr/>
        </p:nvSpPr>
        <p:spPr>
          <a:xfrm>
            <a:off x="4297680" y="1783080"/>
            <a:ext cx="3474720" cy="1965960"/>
          </a:xfrm>
          <a:prstGeom prst="roundRect">
            <a:avLst>
              <a:gd name="adj" fmla="val 5581"/>
            </a:avLst>
          </a:prstGeom>
          <a:solidFill>
            <a:srgbClr val="17223A"/>
          </a:solidFill>
          <a:ln w="12700">
            <a:solidFill>
              <a:srgbClr val="17223A"/>
            </a:solidFill>
            <a:prstDash val="solid"/>
          </a:ln>
        </p:spPr>
      </p:sp>
      <p:sp>
        <p:nvSpPr>
          <p:cNvPr id="12" name="Shape 8"/>
          <p:cNvSpPr/>
          <p:nvPr/>
        </p:nvSpPr>
        <p:spPr>
          <a:xfrm>
            <a:off x="4572000" y="2057400"/>
            <a:ext cx="640080" cy="640080"/>
          </a:xfrm>
          <a:prstGeom prst="ellipse">
            <a:avLst/>
          </a:prstGeom>
          <a:solidFill>
            <a:srgbClr val="1E2B45"/>
          </a:solidFill>
          <a:ln w="1905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4725619" y="2211019"/>
            <a:ext cx="332842" cy="332842"/>
          </a:xfrm>
          <a:prstGeom prst="rect">
            <a:avLst/>
          </a:prstGeom>
        </p:spPr>
      </p:pic>
      <p:sp>
        <p:nvSpPr>
          <p:cNvPr id="14" name="Text 9"/>
          <p:cNvSpPr txBox="1"/>
          <p:nvPr/>
        </p:nvSpPr>
        <p:spPr>
          <a:xfrm>
            <a:off x="534924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Simple, still safe</a:t>
            </a:r>
            <a:endParaRPr lang="en-US" sz="1600" dirty="0"/>
          </a:p>
        </p:txBody>
      </p:sp>
      <p:sp>
        <p:nvSpPr>
          <p:cNvPr id="15" name="Text 10"/>
          <p:cNvSpPr txBox="1"/>
          <p:nvPr/>
        </p:nvSpPr>
        <p:spPr>
          <a:xfrm>
            <a:off x="457200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Email and password; one code only on a new phone. The rest runs on our side.</a:t>
            </a:r>
            <a:endParaRPr lang="en-US" sz="1300" dirty="0"/>
          </a:p>
        </p:txBody>
      </p:sp>
      <p:sp>
        <p:nvSpPr>
          <p:cNvPr id="16" name="Shape 11"/>
          <p:cNvSpPr/>
          <p:nvPr/>
        </p:nvSpPr>
        <p:spPr>
          <a:xfrm>
            <a:off x="8046720" y="1783080"/>
            <a:ext cx="3474720" cy="1965960"/>
          </a:xfrm>
          <a:prstGeom prst="roundRect">
            <a:avLst>
              <a:gd name="adj" fmla="val 5581"/>
            </a:avLst>
          </a:prstGeom>
          <a:solidFill>
            <a:srgbClr val="17223A"/>
          </a:solidFill>
          <a:ln w="12700">
            <a:solidFill>
              <a:srgbClr val="17223A"/>
            </a:solidFill>
            <a:prstDash val="solid"/>
          </a:ln>
        </p:spPr>
      </p:sp>
      <p:sp>
        <p:nvSpPr>
          <p:cNvPr id="17" name="Shape 12"/>
          <p:cNvSpPr/>
          <p:nvPr/>
        </p:nvSpPr>
        <p:spPr>
          <a:xfrm>
            <a:off x="8321040" y="2057400"/>
            <a:ext cx="640080" cy="64008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8474659" y="2211019"/>
            <a:ext cx="332842" cy="332842"/>
          </a:xfrm>
          <a:prstGeom prst="rect">
            <a:avLst/>
          </a:prstGeom>
        </p:spPr>
      </p:pic>
      <p:sp>
        <p:nvSpPr>
          <p:cNvPr id="19" name="Text 13"/>
          <p:cNvSpPr txBox="1"/>
          <p:nvPr/>
        </p:nvSpPr>
        <p:spPr>
          <a:xfrm>
            <a:off x="909828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No card data</a:t>
            </a:r>
            <a:endParaRPr lang="en-US" sz="1600" dirty="0"/>
          </a:p>
        </p:txBody>
      </p:sp>
      <p:sp>
        <p:nvSpPr>
          <p:cNvPr id="20" name="Text 14"/>
          <p:cNvSpPr txBox="1"/>
          <p:nvPr/>
        </p:nvSpPr>
        <p:spPr>
          <a:xfrm>
            <a:off x="832104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The payment provider's own page. A payment counts only after 4 checks.</a:t>
            </a:r>
            <a:endParaRPr lang="en-US" sz="1300" dirty="0"/>
          </a:p>
        </p:txBody>
      </p:sp>
      <p:sp>
        <p:nvSpPr>
          <p:cNvPr id="21" name="Shape 15"/>
          <p:cNvSpPr/>
          <p:nvPr/>
        </p:nvSpPr>
        <p:spPr>
          <a:xfrm>
            <a:off x="548640" y="3931920"/>
            <a:ext cx="3474720" cy="1965960"/>
          </a:xfrm>
          <a:prstGeom prst="roundRect">
            <a:avLst>
              <a:gd name="adj" fmla="val 5581"/>
            </a:avLst>
          </a:prstGeom>
          <a:solidFill>
            <a:srgbClr val="17223A"/>
          </a:solidFill>
          <a:ln w="12700">
            <a:solidFill>
              <a:srgbClr val="17223A"/>
            </a:solidFill>
            <a:prstDash val="solid"/>
          </a:ln>
        </p:spPr>
      </p:sp>
      <p:sp>
        <p:nvSpPr>
          <p:cNvPr id="22" name="Shape 16"/>
          <p:cNvSpPr/>
          <p:nvPr/>
        </p:nvSpPr>
        <p:spPr>
          <a:xfrm>
            <a:off x="822960" y="4206240"/>
            <a:ext cx="640080" cy="640080"/>
          </a:xfrm>
          <a:prstGeom prst="ellipse">
            <a:avLst/>
          </a:prstGeom>
          <a:solidFill>
            <a:srgbClr val="1E2B45"/>
          </a:solidFill>
          <a:ln w="19050">
            <a:solidFill>
              <a:srgbClr val="10B981"/>
            </a:solidFill>
            <a:prstDash val="solid"/>
          </a:ln>
        </p:spPr>
      </p:sp>
      <p:pic>
        <p:nvPicPr>
          <p:cNvPr id="23" name="Image 4" descr="preencoded.png">    </p:cNvPr>
          <p:cNvPicPr>
            <a:picLocks noChangeAspect="1"/>
          </p:cNvPicPr>
          <p:nvPr/>
        </p:nvPicPr>
        <p:blipFill>
          <a:blip r:embed="rId5"/>
          <a:stretch>
            <a:fillRect/>
          </a:stretch>
        </p:blipFill>
        <p:spPr>
          <a:xfrm>
            <a:off x="976579" y="4359859"/>
            <a:ext cx="332842" cy="332842"/>
          </a:xfrm>
          <a:prstGeom prst="rect">
            <a:avLst/>
          </a:prstGeom>
        </p:spPr>
      </p:pic>
      <p:sp>
        <p:nvSpPr>
          <p:cNvPr id="24" name="Text 17"/>
          <p:cNvSpPr txBox="1"/>
          <p:nvPr/>
        </p:nvSpPr>
        <p:spPr>
          <a:xfrm>
            <a:off x="160020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POPIA by design</a:t>
            </a:r>
            <a:endParaRPr lang="en-US" sz="1600" dirty="0"/>
          </a:p>
        </p:txBody>
      </p:sp>
      <p:sp>
        <p:nvSpPr>
          <p:cNvPr id="25" name="Text 18"/>
          <p:cNvSpPr txBox="1"/>
          <p:nvPr/>
        </p:nvSpPr>
        <p:spPr>
          <a:xfrm>
            <a:off x="82296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Aggregates only in the engine; no names or addresses in logs; data export and account closure.</a:t>
            </a:r>
            <a:endParaRPr lang="en-US" sz="1300" dirty="0"/>
          </a:p>
        </p:txBody>
      </p:sp>
      <p:sp>
        <p:nvSpPr>
          <p:cNvPr id="26" name="Shape 19"/>
          <p:cNvSpPr/>
          <p:nvPr/>
        </p:nvSpPr>
        <p:spPr>
          <a:xfrm>
            <a:off x="4297680" y="3931920"/>
            <a:ext cx="3474720" cy="1965960"/>
          </a:xfrm>
          <a:prstGeom prst="roundRect">
            <a:avLst>
              <a:gd name="adj" fmla="val 5581"/>
            </a:avLst>
          </a:prstGeom>
          <a:solidFill>
            <a:srgbClr val="17223A"/>
          </a:solidFill>
          <a:ln w="12700">
            <a:solidFill>
              <a:srgbClr val="17223A"/>
            </a:solidFill>
            <a:prstDash val="solid"/>
          </a:ln>
        </p:spPr>
      </p:sp>
      <p:sp>
        <p:nvSpPr>
          <p:cNvPr id="27" name="Shape 20"/>
          <p:cNvSpPr/>
          <p:nvPr/>
        </p:nvSpPr>
        <p:spPr>
          <a:xfrm>
            <a:off x="4572000" y="4206240"/>
            <a:ext cx="640080" cy="640080"/>
          </a:xfrm>
          <a:prstGeom prst="ellipse">
            <a:avLst/>
          </a:prstGeom>
          <a:solidFill>
            <a:srgbClr val="1E2B45"/>
          </a:solidFill>
          <a:ln w="19050">
            <a:solidFill>
              <a:srgbClr val="FBBF24"/>
            </a:solidFill>
            <a:prstDash val="solid"/>
          </a:ln>
        </p:spPr>
      </p:sp>
      <p:pic>
        <p:nvPicPr>
          <p:cNvPr id="28" name="Image 5" descr="preencoded.png">    </p:cNvPr>
          <p:cNvPicPr>
            <a:picLocks noChangeAspect="1"/>
          </p:cNvPicPr>
          <p:nvPr/>
        </p:nvPicPr>
        <p:blipFill>
          <a:blip r:embed="rId6"/>
          <a:stretch>
            <a:fillRect/>
          </a:stretch>
        </p:blipFill>
        <p:spPr>
          <a:xfrm>
            <a:off x="4725619" y="4359859"/>
            <a:ext cx="332842" cy="332842"/>
          </a:xfrm>
          <a:prstGeom prst="rect">
            <a:avLst/>
          </a:prstGeom>
        </p:spPr>
      </p:pic>
      <p:sp>
        <p:nvSpPr>
          <p:cNvPr id="29" name="Text 21"/>
          <p:cNvSpPr txBox="1"/>
          <p:nvPr/>
        </p:nvSpPr>
        <p:spPr>
          <a:xfrm>
            <a:off x="534924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Honest proof</a:t>
            </a:r>
            <a:endParaRPr lang="en-US" sz="1600" dirty="0"/>
          </a:p>
        </p:txBody>
      </p:sp>
      <p:sp>
        <p:nvSpPr>
          <p:cNvPr id="30" name="Text 22"/>
          <p:cNvSpPr txBox="1"/>
          <p:nvPr/>
        </p:nvSpPr>
        <p:spPr>
          <a:xfrm>
            <a:off x="457200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Only provider-confirmed payments are proof. The rest is the owner's own record.</a:t>
            </a:r>
            <a:endParaRPr lang="en-US" sz="1300" dirty="0"/>
          </a:p>
        </p:txBody>
      </p:sp>
      <p:sp>
        <p:nvSpPr>
          <p:cNvPr id="31" name="Shape 23"/>
          <p:cNvSpPr/>
          <p:nvPr/>
        </p:nvSpPr>
        <p:spPr>
          <a:xfrm>
            <a:off x="8046720" y="3931920"/>
            <a:ext cx="3474720" cy="1965960"/>
          </a:xfrm>
          <a:prstGeom prst="roundRect">
            <a:avLst>
              <a:gd name="adj" fmla="val 5581"/>
            </a:avLst>
          </a:prstGeom>
          <a:solidFill>
            <a:srgbClr val="17223A"/>
          </a:solidFill>
          <a:ln w="12700">
            <a:solidFill>
              <a:srgbClr val="17223A"/>
            </a:solidFill>
            <a:prstDash val="solid"/>
          </a:ln>
        </p:spPr>
      </p:sp>
      <p:sp>
        <p:nvSpPr>
          <p:cNvPr id="32" name="Shape 24"/>
          <p:cNvSpPr/>
          <p:nvPr/>
        </p:nvSpPr>
        <p:spPr>
          <a:xfrm>
            <a:off x="8321040" y="4206240"/>
            <a:ext cx="640080" cy="640080"/>
          </a:xfrm>
          <a:prstGeom prst="ellipse">
            <a:avLst/>
          </a:prstGeom>
          <a:solidFill>
            <a:srgbClr val="1E2B45"/>
          </a:solidFill>
          <a:ln w="19050">
            <a:solidFill>
              <a:srgbClr val="10B981"/>
            </a:solidFill>
            <a:prstDash val="solid"/>
          </a:ln>
        </p:spPr>
      </p:sp>
      <p:pic>
        <p:nvPicPr>
          <p:cNvPr id="33" name="Image 6" descr="preencoded.png">    </p:cNvPr>
          <p:cNvPicPr>
            <a:picLocks noChangeAspect="1"/>
          </p:cNvPicPr>
          <p:nvPr/>
        </p:nvPicPr>
        <p:blipFill>
          <a:blip r:embed="rId7"/>
          <a:stretch>
            <a:fillRect/>
          </a:stretch>
        </p:blipFill>
        <p:spPr>
          <a:xfrm>
            <a:off x="8474659" y="4359859"/>
            <a:ext cx="332842" cy="332842"/>
          </a:xfrm>
          <a:prstGeom prst="rect">
            <a:avLst/>
          </a:prstGeom>
        </p:spPr>
      </p:pic>
      <p:sp>
        <p:nvSpPr>
          <p:cNvPr id="34" name="Text 25"/>
          <p:cNvSpPr txBox="1"/>
          <p:nvPr/>
        </p:nvSpPr>
        <p:spPr>
          <a:xfrm>
            <a:off x="909828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Tested like an attacker</a:t>
            </a:r>
            <a:endParaRPr lang="en-US" sz="1600" dirty="0"/>
          </a:p>
        </p:txBody>
      </p:sp>
      <p:sp>
        <p:nvSpPr>
          <p:cNvPr id="35" name="Text 26"/>
          <p:cNvSpPr txBox="1"/>
          <p:nvPr/>
        </p:nvSpPr>
        <p:spPr>
          <a:xfrm>
            <a:off x="832104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Hostile-input tests on every endpoint, rate limits, OWASP API Top 10, incident plan.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What's next</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
        <p:nvSpPr>
          <p:cNvPr id="6" name="Shape 3"/>
          <p:cNvSpPr/>
          <p:nvPr/>
        </p:nvSpPr>
        <p:spPr>
          <a:xfrm>
            <a:off x="548640" y="1783080"/>
            <a:ext cx="3474720" cy="4023360"/>
          </a:xfrm>
          <a:prstGeom prst="roundRect">
            <a:avLst>
              <a:gd name="adj" fmla="val 3158"/>
            </a:avLst>
          </a:prstGeom>
          <a:solidFill>
            <a:srgbClr val="17223A"/>
          </a:solidFill>
          <a:ln w="12700">
            <a:solidFill>
              <a:srgbClr val="17223A"/>
            </a:solidFill>
            <a:prstDash val="solid"/>
          </a:ln>
        </p:spPr>
      </p:sp>
      <p:sp>
        <p:nvSpPr>
          <p:cNvPr id="7" name="Text 4"/>
          <p:cNvSpPr txBox="1"/>
          <p:nvPr/>
        </p:nvSpPr>
        <p:spPr>
          <a:xfrm>
            <a:off x="868680" y="2011680"/>
            <a:ext cx="2926080" cy="457200"/>
          </a:xfrm>
          <a:prstGeom prst="rect">
            <a:avLst/>
          </a:prstGeom>
          <a:noFill/>
          <a:ln/>
        </p:spPr>
        <p:txBody>
          <a:bodyPr wrap="square" lIns="0" tIns="0" rIns="0" bIns="0" rtlCol="0" anchor="t"/>
          <a:lstStyle/>
          <a:p>
            <a:pPr indent="0" marL="0">
              <a:buNone/>
            </a:pPr>
            <a:r>
              <a:rPr lang="en-US" sz="2200" b="1" dirty="0">
                <a:solidFill>
                  <a:srgbClr val="10B981"/>
                </a:solidFill>
                <a:latin typeface="Georgia" pitchFamily="34" charset="0"/>
                <a:ea typeface="Georgia" pitchFamily="34" charset="-122"/>
                <a:cs typeface="Georgia" pitchFamily="34" charset="-120"/>
              </a:rPr>
              <a:t>Next 3 months</a:t>
            </a:r>
            <a:endParaRPr lang="en-US" sz="2200" dirty="0"/>
          </a:p>
        </p:txBody>
      </p:sp>
      <p:sp>
        <p:nvSpPr>
          <p:cNvPr id="8" name="Text 5"/>
          <p:cNvSpPr txBox="1"/>
          <p:nvPr/>
        </p:nvSpPr>
        <p:spPr>
          <a:xfrm>
            <a:off x="86868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Google sign-in, phone push alerts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Two-phone cash confirmation</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Cloudflare protection on our own domain</a:t>
            </a:r>
            <a:endParaRPr lang="en-US" sz="1550" dirty="0"/>
          </a:p>
        </p:txBody>
      </p:sp>
      <p:sp>
        <p:nvSpPr>
          <p:cNvPr id="9" name="Shape 6"/>
          <p:cNvSpPr/>
          <p:nvPr/>
        </p:nvSpPr>
        <p:spPr>
          <a:xfrm>
            <a:off x="4297680" y="1783080"/>
            <a:ext cx="3474720" cy="4023360"/>
          </a:xfrm>
          <a:prstGeom prst="roundRect">
            <a:avLst>
              <a:gd name="adj" fmla="val 3158"/>
            </a:avLst>
          </a:prstGeom>
          <a:solidFill>
            <a:srgbClr val="17223A"/>
          </a:solidFill>
          <a:ln w="12700">
            <a:solidFill>
              <a:srgbClr val="17223A"/>
            </a:solidFill>
            <a:prstDash val="solid"/>
          </a:ln>
        </p:spPr>
      </p:sp>
      <p:sp>
        <p:nvSpPr>
          <p:cNvPr id="10" name="Text 7"/>
          <p:cNvSpPr txBox="1"/>
          <p:nvPr/>
        </p:nvSpPr>
        <p:spPr>
          <a:xfrm>
            <a:off x="4617720" y="2011680"/>
            <a:ext cx="2926080" cy="457200"/>
          </a:xfrm>
          <a:prstGeom prst="rect">
            <a:avLst/>
          </a:prstGeom>
          <a:noFill/>
          <a:ln/>
        </p:spPr>
        <p:txBody>
          <a:bodyPr wrap="square" lIns="0" tIns="0" rIns="0" bIns="0" rtlCol="0" anchor="t"/>
          <a:lstStyle/>
          <a:p>
            <a:pPr indent="0" marL="0">
              <a:buNone/>
            </a:pPr>
            <a:r>
              <a:rPr lang="en-US" sz="2200" b="1" dirty="0">
                <a:solidFill>
                  <a:srgbClr val="FBBF24"/>
                </a:solidFill>
                <a:latin typeface="Georgia" pitchFamily="34" charset="0"/>
                <a:ea typeface="Georgia" pitchFamily="34" charset="-122"/>
                <a:cs typeface="Georgia" pitchFamily="34" charset="-120"/>
              </a:rPr>
              <a:t>Next 12 months</a:t>
            </a:r>
            <a:endParaRPr lang="en-US" sz="2200" dirty="0"/>
          </a:p>
        </p:txBody>
      </p:sp>
      <p:sp>
        <p:nvSpPr>
          <p:cNvPr id="11" name="Text 8"/>
          <p:cNvSpPr txBox="1"/>
          <p:nvPr/>
        </p:nvSpPr>
        <p:spPr>
          <a:xfrm>
            <a:off x="461772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Direct links to suppliers' stock systems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Split payouts straight to suppliers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Share your record with a lender, by consent</a:t>
            </a:r>
            <a:endParaRPr lang="en-US" sz="1550" dirty="0"/>
          </a:p>
        </p:txBody>
      </p:sp>
      <p:sp>
        <p:nvSpPr>
          <p:cNvPr id="12" name="Shape 9"/>
          <p:cNvSpPr/>
          <p:nvPr/>
        </p:nvSpPr>
        <p:spPr>
          <a:xfrm>
            <a:off x="8046720" y="1783080"/>
            <a:ext cx="3474720" cy="4023360"/>
          </a:xfrm>
          <a:prstGeom prst="roundRect">
            <a:avLst>
              <a:gd name="adj" fmla="val 3158"/>
            </a:avLst>
          </a:prstGeom>
          <a:solidFill>
            <a:srgbClr val="1E2B45"/>
          </a:solidFill>
          <a:ln w="12700">
            <a:solidFill>
              <a:srgbClr val="1E2B45"/>
            </a:solidFill>
            <a:prstDash val="solid"/>
          </a:ln>
        </p:spPr>
      </p:sp>
      <p:sp>
        <p:nvSpPr>
          <p:cNvPr id="13" name="Text 10"/>
          <p:cNvSpPr txBox="1"/>
          <p:nvPr/>
        </p:nvSpPr>
        <p:spPr>
          <a:xfrm>
            <a:off x="8366760" y="2011680"/>
            <a:ext cx="2926080" cy="457200"/>
          </a:xfrm>
          <a:prstGeom prst="rect">
            <a:avLst/>
          </a:prstGeom>
          <a:noFill/>
          <a:ln/>
        </p:spPr>
        <p:txBody>
          <a:bodyPr wrap="square" lIns="0" tIns="0" rIns="0" bIns="0" rtlCol="0" anchor="t"/>
          <a:lstStyle/>
          <a:p>
            <a:pPr indent="0" marL="0">
              <a:buNone/>
            </a:pPr>
            <a:r>
              <a:rPr lang="en-US" sz="2200" b="1" dirty="0">
                <a:solidFill>
                  <a:srgbClr val="34D399"/>
                </a:solidFill>
                <a:latin typeface="Georgia" pitchFamily="34" charset="0"/>
                <a:ea typeface="Georgia" pitchFamily="34" charset="-122"/>
                <a:cs typeface="Georgia" pitchFamily="34" charset="-120"/>
              </a:rPr>
              <a:t>Post-quantum</a:t>
            </a:r>
            <a:endParaRPr lang="en-US" sz="2200" dirty="0"/>
          </a:p>
        </p:txBody>
      </p:sp>
      <p:sp>
        <p:nvSpPr>
          <p:cNvPr id="14" name="Text 11"/>
          <p:cNvSpPr txBox="1"/>
          <p:nvPr/>
        </p:nvSpPr>
        <p:spPr>
          <a:xfrm>
            <a:off x="836676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Sign records and invoices with ML-DSA (NIST FIPS 204)</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So a record signed today still proves itself in 20 years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Planned, not built yet</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2026-09-26T20:54:27Z</dcterms:created>
  <dcterms:modified xsi:type="dcterms:W3CDTF">2026-09-26T20:54:27Z</dcterms:modified>
</cp:coreProperties>
</file>