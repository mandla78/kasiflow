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4.xml" ContentType="application/vnd.openxmlformats-officedocument.drawingml.chart+xml"/>
  <Override PartName="/ppt/notesSlides/notesSlide8.xml" ContentType="application/vnd.openxmlformats-officedocument.presentationml.notesSlide+xml"/>
  <Override PartName="/ppt/charts/chart5.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6.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3-minute pitch" id="{436932F5-B28E-6517-8DDD-D11E6BB0A7B4}">
          <p14:sldIdLst>
            <p14:sldId id="256"/>
            <p14:sldId id="257"/>
            <p14:sldId id="258"/>
            <p14:sldId id="259"/>
            <p14:sldId id="260"/>
            <p14:sldId id="261"/>
            <p14:sldId id="262"/>
            <p14:sldId id="263"/>
            <p14:sldId id="264"/>
            <p14:sldId id="265"/>
          </p14:sldIdLst>
        </p14:section>
        <p14:section name="The detail" id="{EEA1954D-23B6-A01F-AA01-DF2DAFACB14B}">
          <p14:sldIdLst>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Share</c:v>
                </c:pt>
              </c:strCache>
            </c:strRef>
          </c:tx>
          <c:spPr>
            <a:solidFill>
              <a:srgbClr val="F59E0B"/>
            </a:solidFill>
            <a:effectLst/>
          </c:spPr>
          <c:invertIfNegative val="0"/>
          <c:cat>
            <c:strRef>
              <c:f>Sheet1!$A$2:$A$3</c:f>
              <c:strCache>
                <c:ptCount val="2"/>
                <c:pt idx="0">
                  <c:v>Bank loan  &lt;9%</c:v>
                </c:pt>
                <c:pt idx="1">
                  <c:v>Savings, family  57%</c:v>
                </c:pt>
              </c:strCache>
            </c:strRef>
          </c:cat>
          <c:val>
            <c:numRef>
              <c:f>Sheet1!$B$2:$B$3</c:f>
              <c:numCache>
                <c:formatCode>General</c:formatCode>
                <c:ptCount val="2"/>
                <c:pt idx="0">
                  <c:v>9</c:v>
                </c:pt>
                <c:pt idx="1">
                  <c:v>57</c:v>
                </c:pt>
              </c:numCache>
            </c:numRef>
          </c:val>
          <c:extLst>
            <c:ext xmlns:c16="http://schemas.microsoft.com/office/drawing/2014/chart" uri="{C3380CC4-5D6E-409C-BE32-E72D297353CC}">
              <c16:uniqueId val="{00000000-539C-48C4-BAD1-59F7B1CAD862}"/>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Share</c:v>
                </c:pt>
              </c:strCache>
            </c:strRef>
          </c:tx>
          <c:spPr>
            <a:solidFill>
              <a:srgbClr val="F87171"/>
            </a:solidFill>
            <a:effectLst/>
          </c:spPr>
          <c:invertIfNegative val="0"/>
          <c:cat>
            <c:strRef>
              <c:f>Sheet1!$A$2:$A$3</c:f>
              <c:strCache>
                <c:ptCount val="2"/>
                <c:pt idx="0">
                  <c:v>Reached shops  R179.6m</c:v>
                </c:pt>
                <c:pt idx="1">
                  <c:v>Fund  R500m</c:v>
                </c:pt>
              </c:strCache>
            </c:strRef>
          </c:cat>
          <c:val>
            <c:numRef>
              <c:f>Sheet1!$B$2:$B$3</c:f>
              <c:numCache>
                <c:formatCode>General</c:formatCode>
                <c:ptCount val="2"/>
                <c:pt idx="0">
                  <c:v>179.6</c:v>
                </c:pt>
                <c:pt idx="1">
                  <c:v>500</c:v>
                </c:pt>
              </c:numCache>
            </c:numRef>
          </c:val>
          <c:extLst>
            <c:ext xmlns:c16="http://schemas.microsoft.com/office/drawing/2014/chart" uri="{C3380CC4-5D6E-409C-BE32-E72D297353CC}">
              <c16:uniqueId val="{00000000-359C-4790-9366-4AC908349DDA}"/>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50" b="0" i="0" u="none" strike="noStrike">
                <a:solidFill>
                  <a:srgbClr val="F8FAFC"/>
                </a:solidFill>
                <a:latin typeface="Calibri"/>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doughnutChart>
        <c:varyColors val="1"/>
        <c:ser>
          <c:idx val="0"/>
          <c:order val="0"/>
          <c:tx>
            <c:strRef>
              <c:f>Sheet1!$B$1</c:f>
              <c:strCache>
                <c:ptCount val="1"/>
                <c:pt idx="0">
                  <c:v>Businesses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extLst>
              <c:ext xmlns:c16="http://schemas.microsoft.com/office/drawing/2014/chart" uri="{C3380CC4-5D6E-409C-BE32-E72D297353CC}">
                <c16:uniqueId val="{00000001-5BC2-4B8F-809A-B76B9C93191F}"/>
              </c:ext>
            </c:extLst>
          </c:dPt>
          <c:dPt>
            <c:idx val="1"/>
            <c:bubble3D val="0"/>
            <c:spPr>
              <a:solidFill>
                <a:srgbClr val="64748B"/>
              </a:solidFill>
              <a:effectLst/>
            </c:spPr>
            <c:extLst>
              <c:ext xmlns:c16="http://schemas.microsoft.com/office/drawing/2014/chart" uri="{C3380CC4-5D6E-409C-BE32-E72D297353CC}">
                <c16:uniqueId val="{00000003-5BC2-4B8F-809A-B76B9C93191F}"/>
              </c:ext>
            </c:extLst>
          </c:dPt>
          <c:cat>
            <c:strRef>
              <c:f>Sheet1!$A$2:$A$3</c:f>
              <c:strCache>
                <c:ptCount val="2"/>
                <c:pt idx="0">
                  <c:v>Unregistered</c:v>
                </c:pt>
                <c:pt idx="1">
                  <c:v>Registered</c:v>
                </c:pt>
              </c:strCache>
            </c:strRef>
          </c:cat>
          <c:val>
            <c:numRef>
              <c:f>Sheet1!$B$2:$B$3</c:f>
              <c:numCache>
                <c:formatCode>General</c:formatCode>
                <c:ptCount val="2"/>
                <c:pt idx="0">
                  <c:v>80</c:v>
                </c:pt>
                <c:pt idx="1">
                  <c:v>20</c:v>
                </c:pt>
              </c:numCache>
            </c:numRef>
          </c:val>
          <c:extLst>
            <c:ext xmlns:c16="http://schemas.microsoft.com/office/drawing/2014/chart" uri="{C3380CC4-5D6E-409C-BE32-E72D297353CC}">
              <c16:uniqueId val="{00000004-5BC2-4B8F-809A-B76B9C93191F}"/>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cat>
            <c:strRef>
              <c:f>Sheet1!$A$2:$A$4</c:f>
              <c:strCache>
                <c:ptCount val="3"/>
                <c:pt idx="0">
                  <c:v>Year 1</c:v>
                </c:pt>
                <c:pt idx="1">
                  <c:v>Year 2</c:v>
                </c:pt>
                <c:pt idx="2">
                  <c:v>Year 3</c:v>
                </c:pt>
              </c:strCache>
            </c:strRef>
          </c:cat>
          <c:val>
            <c:numRef>
              <c:f>Sheet1!$B$2:$B$4</c:f>
              <c:numCache>
                <c:formatCode>General</c:formatCode>
                <c:ptCount val="3"/>
                <c:pt idx="0">
                  <c:v>16</c:v>
                </c:pt>
                <c:pt idx="1">
                  <c:v>83</c:v>
                </c:pt>
                <c:pt idx="2">
                  <c:v>310</c:v>
                </c:pt>
              </c:numCache>
            </c:numRef>
          </c:val>
          <c:extLst>
            <c:ext xmlns:c16="http://schemas.microsoft.com/office/drawing/2014/chart" uri="{C3380CC4-5D6E-409C-BE32-E72D297353CC}">
              <c16:uniqueId val="{00000000-D158-404D-9DF7-EFBA73AECF01}"/>
            </c:ext>
          </c:extLst>
        </c:ser>
        <c:ser>
          <c:idx val="1"/>
          <c:order val="1"/>
          <c:tx>
            <c:strRef>
              <c:f>Sheet1!$C$1</c:f>
              <c:strCache>
                <c:ptCount val="1"/>
                <c:pt idx="0">
                  <c:v>~1% on digital orders</c:v>
                </c:pt>
              </c:strCache>
            </c:strRef>
          </c:tx>
          <c:spPr>
            <a:solidFill>
              <a:srgbClr val="F59E0B"/>
            </a:solidFill>
            <a:effectLst/>
          </c:spPr>
          <c:invertIfNegative val="0"/>
          <c:cat>
            <c:strRef>
              <c:f>Sheet1!$A$2:$A$4</c:f>
              <c:strCache>
                <c:ptCount val="3"/>
                <c:pt idx="0">
                  <c:v>Year 1</c:v>
                </c:pt>
                <c:pt idx="1">
                  <c:v>Year 2</c:v>
                </c:pt>
                <c:pt idx="2">
                  <c:v>Year 3</c:v>
                </c:pt>
              </c:strCache>
            </c:strRef>
          </c:cat>
          <c:val>
            <c:numRef>
              <c:f>Sheet1!$C$2:$C$4</c:f>
              <c:numCache>
                <c:formatCode>General</c:formatCode>
                <c:ptCount val="3"/>
                <c:pt idx="0">
                  <c:v>40</c:v>
                </c:pt>
                <c:pt idx="1">
                  <c:v>200</c:v>
                </c:pt>
                <c:pt idx="2">
                  <c:v>800</c:v>
                </c:pt>
              </c:numCache>
            </c:numRef>
          </c:val>
          <c:extLst>
            <c:ext xmlns:c16="http://schemas.microsoft.com/office/drawing/2014/chart" uri="{C3380CC4-5D6E-409C-BE32-E72D297353CC}">
              <c16:uniqueId val="{00000001-D158-404D-9DF7-EFBA73AECF0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What the pilot costs: R300,000 (R thousand)</a:t>
            </a:r>
          </a:p>
        </c:rich>
      </c:tx>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extLst>
              <c:ext xmlns:c16="http://schemas.microsoft.com/office/drawing/2014/chart" uri="{C3380CC4-5D6E-409C-BE32-E72D297353CC}">
                <c16:uniqueId val="{00000001-FC93-48DB-BEF5-3F506ADD4F42}"/>
              </c:ext>
            </c:extLst>
          </c:dPt>
          <c:dPt>
            <c:idx val="1"/>
            <c:bubble3D val="0"/>
            <c:spPr>
              <a:solidFill>
                <a:srgbClr val="F59E0B"/>
              </a:solidFill>
              <a:effectLst/>
            </c:spPr>
            <c:extLst>
              <c:ext xmlns:c16="http://schemas.microsoft.com/office/drawing/2014/chart" uri="{C3380CC4-5D6E-409C-BE32-E72D297353CC}">
                <c16:uniqueId val="{00000003-FC93-48DB-BEF5-3F506ADD4F42}"/>
              </c:ext>
            </c:extLst>
          </c:dPt>
          <c:dPt>
            <c:idx val="2"/>
            <c:bubble3D val="0"/>
            <c:spPr>
              <a:solidFill>
                <a:srgbClr val="34D399"/>
              </a:solidFill>
              <a:effectLst/>
            </c:spPr>
            <c:extLst>
              <c:ext xmlns:c16="http://schemas.microsoft.com/office/drawing/2014/chart" uri="{C3380CC4-5D6E-409C-BE32-E72D297353CC}">
                <c16:uniqueId val="{00000005-FC93-48DB-BEF5-3F506ADD4F42}"/>
              </c:ext>
            </c:extLst>
          </c:dPt>
          <c:dPt>
            <c:idx val="3"/>
            <c:bubble3D val="0"/>
            <c:spPr>
              <a:solidFill>
                <a:srgbClr val="7C93B5"/>
              </a:solidFill>
              <a:effectLst/>
            </c:spPr>
            <c:extLst>
              <c:ext xmlns:c16="http://schemas.microsoft.com/office/drawing/2014/chart" uri="{C3380CC4-5D6E-409C-BE32-E72D297353CC}">
                <c16:uniqueId val="{00000007-FC93-48DB-BEF5-3F506ADD4F42}"/>
              </c:ext>
            </c:extLst>
          </c:dPt>
          <c:dPt>
            <c:idx val="4"/>
            <c:bubble3D val="0"/>
            <c:spPr>
              <a:solidFill>
                <a:srgbClr val="F87171"/>
              </a:solidFill>
              <a:effectLst/>
            </c:spPr>
            <c:extLst>
              <c:ext xmlns:c16="http://schemas.microsoft.com/office/drawing/2014/chart" uri="{C3380CC4-5D6E-409C-BE32-E72D297353CC}">
                <c16:uniqueId val="{00000009-FC93-48DB-BEF5-3F506ADD4F42}"/>
              </c:ext>
            </c:extLst>
          </c:dPt>
          <c:dPt>
            <c:idx val="5"/>
            <c:bubble3D val="0"/>
            <c:spPr>
              <a:solidFill>
                <a:srgbClr val="C4B5FD"/>
              </a:solidFill>
              <a:effectLst/>
            </c:spPr>
            <c:extLst>
              <c:ext xmlns:c16="http://schemas.microsoft.com/office/drawing/2014/chart" uri="{C3380CC4-5D6E-409C-BE32-E72D297353CC}">
                <c16:uniqueId val="{0000000B-FC93-48DB-BEF5-3F506ADD4F42}"/>
              </c:ext>
            </c:extLst>
          </c:dPt>
          <c:dLbls>
            <c:dLbl>
              <c:idx val="0"/>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FC93-48DB-BEF5-3F506ADD4F42}"/>
                </c:ext>
              </c:extLst>
            </c:dLbl>
            <c:dLbl>
              <c:idx val="1"/>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C93-48DB-BEF5-3F506ADD4F42}"/>
                </c:ext>
              </c:extLst>
            </c:dLbl>
            <c:dLbl>
              <c:idx val="2"/>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FC93-48DB-BEF5-3F506ADD4F42}"/>
                </c:ext>
              </c:extLst>
            </c:dLbl>
            <c:dLbl>
              <c:idx val="3"/>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FC93-48DB-BEF5-3F506ADD4F42}"/>
                </c:ext>
              </c:extLst>
            </c:dLbl>
            <c:dLbl>
              <c:idx val="4"/>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FC93-48DB-BEF5-3F506ADD4F42}"/>
                </c:ext>
              </c:extLst>
            </c:dLbl>
            <c:dLbl>
              <c:idx val="5"/>
              <c:numFmt formatCode="General" sourceLinked="0"/>
              <c:spPr/>
              <c:txPr>
                <a:bodyPr/>
                <a:lstStyle/>
                <a:p>
                  <a:pPr>
                    <a:defRPr sz="1200" b="1" i="0" u="none" strike="noStrike">
                      <a:solidFill>
                        <a:srgbClr val="0F172A"/>
                      </a:solidFill>
                      <a:latin typeface="Arial"/>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FC93-48DB-BEF5-3F506ADD4F42}"/>
                </c:ext>
              </c:extLst>
            </c:dLbl>
            <c:numFmt formatCode="General"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formatCode>General</c:formatCode>
                <c:ptCount val="6"/>
                <c:pt idx="0">
                  <c:v>96</c:v>
                </c:pt>
                <c:pt idx="1">
                  <c:v>60</c:v>
                </c:pt>
                <c:pt idx="2">
                  <c:v>60</c:v>
                </c:pt>
                <c:pt idx="3">
                  <c:v>24</c:v>
                </c:pt>
                <c:pt idx="4">
                  <c:v>30</c:v>
                </c:pt>
                <c:pt idx="5">
                  <c:v>30</c:v>
                </c:pt>
              </c:numCache>
            </c:numRef>
          </c:val>
          <c:extLst>
            <c:ext xmlns:c16="http://schemas.microsoft.com/office/drawing/2014/chart" uri="{C3380CC4-5D6E-409C-BE32-E72D297353CC}">
              <c16:uniqueId val="{0000000C-FC93-48DB-BEF5-3F506ADD4F42}"/>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A month at year end (R thousand, estimate)</a:t>
            </a:r>
          </a:p>
        </c:rich>
      </c:tx>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spPr>
              <a:noFill/>
              <a:ln>
                <a:noFill/>
              </a:ln>
              <a:effectLst/>
            </c:spPr>
            <c:txPr>
              <a:bodyPr/>
              <a:lstStyle/>
              <a:p>
                <a:pPr>
                  <a:defRPr sz="1200" b="1" i="0" u="none" strike="noStrike">
                    <a:solidFill>
                      <a:srgbClr val="F8FAF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Year 1</c:v>
                </c:pt>
                <c:pt idx="1">
                  <c:v>Year 2</c:v>
                </c:pt>
                <c:pt idx="2">
                  <c:v>Year 3</c:v>
                </c:pt>
              </c:strCache>
            </c:strRef>
          </c:cat>
          <c:val>
            <c:numRef>
              <c:f>Sheet1!$B$2:$B$4</c:f>
              <c:numCache>
                <c:formatCode>General</c:formatCode>
                <c:ptCount val="3"/>
                <c:pt idx="0">
                  <c:v>75</c:v>
                </c:pt>
                <c:pt idx="1">
                  <c:v>270</c:v>
                </c:pt>
                <c:pt idx="2">
                  <c:v>650</c:v>
                </c:pt>
              </c:numCache>
            </c:numRef>
          </c:val>
          <c:extLst>
            <c:ext xmlns:c16="http://schemas.microsoft.com/office/drawing/2014/chart" uri="{C3380CC4-5D6E-409C-BE32-E72D297353CC}">
              <c16:uniqueId val="{00000000-5E37-4D8D-881E-F697356C1820}"/>
            </c:ext>
          </c:extLst>
        </c:ser>
        <c:ser>
          <c:idx val="1"/>
          <c:order val="1"/>
          <c:tx>
            <c:strRef>
              <c:f>Sheet1!$C$1</c:f>
              <c:strCache>
                <c:ptCount val="1"/>
                <c:pt idx="0">
                  <c:v>Revenue</c:v>
                </c:pt>
              </c:strCache>
            </c:strRef>
          </c:tx>
          <c:spPr>
            <a:solidFill>
              <a:srgbClr val="10B981"/>
            </a:solidFill>
            <a:effectLst/>
          </c:spPr>
          <c:invertIfNegative val="0"/>
          <c:dLbls>
            <c:numFmt formatCode="#,##0" sourceLinked="0"/>
            <c:spPr>
              <a:noFill/>
              <a:ln>
                <a:noFill/>
              </a:ln>
              <a:effectLst/>
            </c:spPr>
            <c:txPr>
              <a:bodyPr/>
              <a:lstStyle/>
              <a:p>
                <a:pPr>
                  <a:defRPr sz="1200" b="1" i="0" u="none" strike="noStrike">
                    <a:solidFill>
                      <a:srgbClr val="F8FAF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Year 1</c:v>
                </c:pt>
                <c:pt idx="1">
                  <c:v>Year 2</c:v>
                </c:pt>
                <c:pt idx="2">
                  <c:v>Year 3</c:v>
                </c:pt>
              </c:strCache>
            </c:strRef>
          </c:cat>
          <c:val>
            <c:numRef>
              <c:f>Sheet1!$C$2:$C$4</c:f>
              <c:numCache>
                <c:formatCode>General</c:formatCode>
                <c:ptCount val="3"/>
                <c:pt idx="0">
                  <c:v>56</c:v>
                </c:pt>
                <c:pt idx="1">
                  <c:v>283</c:v>
                </c:pt>
                <c:pt idx="2">
                  <c:v>1100</c:v>
                </c:pt>
              </c:numCache>
            </c:numRef>
          </c:val>
          <c:extLst>
            <c:ext xmlns:c16="http://schemas.microsoft.com/office/drawing/2014/chart" uri="{C3380CC4-5D6E-409C-BE32-E72D297353CC}">
              <c16:uniqueId val="{00000001-5E37-4D8D-881E-F697356C182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798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we're introduced. Start the speech on the next slide.
THE 3-MINUTE PITCH follows the speech, slides 2-10: 0:00 the problem (2-3) · 0:28 the solution (4-5) · 0:55 the demo video, 50 s (6) · 1:45 cost and ask (7-8) · 2:06 why we stand out (9) · 2:27 the close (10), done by 2:50.
Slides 11 onwards are the detail for the assessors. Don't present them; open one only if a question calls for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(0:00-0:15): 'Everyone wants a piece of the kasi economy. Big retailers are moving into townships. Banks and payment apps are fighting for its customers. Because it's worth about R900 billion a year.'
R900 bn: Standard Bank's Township Informal Economy Report, October 2025 (research by Foshizi, 250+ businesses in 5 provinces). Say 'about R900 billion'. The retailer and bank lines are lived evidence: no number, so don't add one.
Photos: 'Nomonde Tuck Shop' by HelenOnline (CC BY-SA 4.0) and 'Aliwal North - Dukatole - Housebuilding Projekt' by Heinz-Josef Lücking (CC BY-SA 3.0 DE), Wikimedia Commons, resized, with our captions. Credits are also in REUSE.md.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(0:15-0:28): 'But the people who run it can't prove any of it. It runs on cash and word of mouth. Fewer than one in ten can get a bank loan. A spaza owner can't get stock on credit, and a builder can't prove the houses he's built.'
IF ASKED: fewer than 9% can get a bank loan and 57% run on savings and family; about 80% are unregistered (Standard Bank 2025). Of the R500m Spaza Shop Support Fund, R179.6m had reached spaza shops by the end of May 2026, and 354 applications failed verification (DSBD, 29 May 2026). That number is about spaza shops only.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(0:28-0:40): 'Akayza is one free app for the whole kasi economy. Spaza shops and food sellers are matched with suppliers who deliver. Builders log every job with photos, and clients sign off each stage.'
Real screens from our app on a Samsung A56, with sample suppliers and made-up customers. Honest wording: a payment made in the app is confirmed by the payment provider; a job stage is confirmed by both sides. Never call the rest proof.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(0:40-0:55): 'You know airtime advance: your network lends you airtime because it's seen that you always pay. Akayza builds that kind of history for a business. Every paid order and signed-off job adds to a record the owner holds: the first step to credit, better suppliers and new clients.'
IF ASKED 'do you lend?': 'No. We build the record, and the owner decides who sees it. Lenders are next, only with the owner's consent.'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over the video (0:55-1:45), one line per scene; let the screens breathe:
[Business type] 'Akayza works for any kasi business. Meet Sipho, who runs a kota shop by the taxi rank.'
[Location pin] 'He picks Food, and drops a pin where he trades.'
[Suppliers] 'Akayza shows him suppliers who deliver to him.'
[Order and pay] 'He orders bread from a bakery that delivers, and pays in the app. The payment provider confirms it, and his invoice arrives.'
[Order book] 'At the counter, every kota he sells goes in his order book.'
[My record] 'It all adds up in his record, with the confirmed payments marked.'
[Builder job] 'Now meet Thabo, a builder. Every job, stage by stage, is photographed, and the client signs off each stage from a link: confirmed by both. That's his track record.'
The 49-second video is in the deck and starts by itself when this slide opens. It's silent, so speak over it. If it doesn't start, click it (or press Alt+P). No Wi-Fi needed.
The full 81-second version with music is on Google Drive (the link on the slide), for the assessors and Sonke.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(1:45-1:55): 'Businesses use Akayza for free. Suppliers pay: from R299 a month, plus about 1% on digital orders, never on cash. Next, lenders pay to see a business's record, only with the owner's consent.'
IF ASKED how: subscriptions = supplier mix × price; commission = active businesses × ~R4,000 digital orders a month × 1%. Year 1: 5 Starter + 10 Pro suppliers, 1,000 businesses. They're estimates, and we say so. Lenders are next, not revenue today.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(1:55-2:06), slowly, it's the most important number: 'For a six-month pilot in Soshanguve, with 2 suppliers and 50 to 100 businesses, we need R300,000: field agents, stipends for pilot businesses, data, running costs and a POPIA review.'
Use of funds: stipends R96k, field agent R60k, data R60k, running costs R24k, POPIA review + external security test R30k, devices + contingency R30k. After the pilot it costs about R460 a month to run, so two suppliers on Starter already cover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(2:06-2:27): 'Ordering apps give traders a place to buy. Payment apps take cards. Akayza gives the kasi economy something it's never had: a record people can trust. Payments are confirmed by the payment provider, and job stages by both sides, so it's more than a receipt. And the record belongs to the owner: nothing goes to a lender without their consent.'
Our biggest competitor is the habit of WhatsApp and a notebook. Don't attack anyone; show the gap. We complement payment apps; we don't replace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(2:27-2:50), look at the panel, not the screen: 'Richard Maponya started in the 1950s with a milk round in Soweto, delivered by bicycle. His customers trusted him, and decades later he opened Maponya Mall. The next Maponya is out there right now: selling kotas, running a spaza, laying bricks. Everyone wants a piece of the kasi economy. Akayza makes sure the people who run it keep theirs. We don't hold the stock. We build the record. Keep it in the kasi.' Then stop talking.
Maponya: Dube Hygienic Dairy, early 1950s, milk delivered by young men on bicycles to homes without fridges; Maponya Mall opened in 2007 (Daily Maverick, Wikipedia).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in the room. A map for the assessors: each item the organisers asked for, and the slides that answer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slide, not in the pitch. If asked how it works: 'The owner switches on the tools the business needs. Akayza shows the suppliers she already uses, and recommends ones that fit: suppliers, never products. She pays on PayFast's own page, and the provider confirms it. The credit book keeps who owes her. And a builder runs each job in stages, with the client signing off.'
These are real screens from our app on a Samsung A56, recorded for the demo, with sample suppliers and made-up customers.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journey behind the demo. Sipho and Thabo are illustrations of the owners we built for, not real customers. If asked: 'they're the kind of owners we built for; the pilot puts real names to them.'
Honest status: Sipho's payment in the app is confirmed by the payment provider; his order book and credit book are his own records. Thabo's stages are confirmed by both him and the client.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'The app talks to one API over HTTPS. Inside, each area is its own module: identity, business tools, suppliers, commerce, proof and platform. An automated architecture test fails the build if one area reads another's data, and identity is sealed behind one account service. PostgreSQL sits behind it, one schema per area. Payments happen on PayFast's own page and count only after four checks; photos go straight to Cloudinary with a signature from us.'
Numbers: about 1,280 backend tests and 204 app tests run before every merge. Sealed records: the owner can seal the whole record with ML-DSA-65 (NIST FIPS 204, post-quantum) plus Ed25519, and a check shows anything changed or deleted since.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20 s): 'We collect only what the service needs, and we say why. No ID numbers, no card numbers; we never sell data or use it for ads, and suppliers never see your customers. You can download your data and close your account, and if there's ever a breach, we tell you and the Information Regulator.'
HONEST STATUS, don't claim more: data download is built on the server (GET /me/export), but the app has no button for it yet. 'Close my account' works in the app. 'Delete my account and data' says 'Coming soon'; when it comes, personal data is deleted or anonymised, and orders, invoices and payment records stay 5 years (tax law).
The full policy is in the app (src/content/legal/privacyPolicy.ts). Customer names in the credit book stay private to the owner; the supplier engine uses aggregates only. PayFast, Cloudinary, Mapbox and the email provider may store data outside South Africa: POPIA section 72.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'To start, R300,000 for the pilot. After the pilot we raise about R1.5 million to hire ahead of revenue. Costs grow with us, but suppliers' fees grow faster: we break even in year two, and by year three we make about R1.1 million a month against R650,000 in costs.'
IF ASKED for the breakdown (a month at year end, R thousand, estimates): team 40 / 150 / 350 (2, 5, 10 people); field agents 16 / 50 / 120 (2, 6, 15); sales and marketing 10 / 40 / 100; hosting, SMS, email, maps 5 / 15 / 40; security, POPIA, audits 4 / 15 / 40. Totals 75 / 270 / 650.
Why R1.5m: year 1 runs at a loss of about R20-40k a month while suppliers sign up, plus hiring the year-2 team before their revenue arrives, plus six months of safety.
Running costs stay low because we don't hold stock, cash or delivery vans: suppliers deliver, the payment provider holds the money.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image" Target="../media/image6.png"/><Relationship Id="rId7"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chart" Target="../charts/chart1.xml"/><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drive.google.com/file/d/1yYQfVBEG-dnn-hxgRRtD5xDVw8vZV8Es/view?usp=drive_link" TargetMode="External"/><Relationship Id="rId5" Type="http://schemas.openxmlformats.org/officeDocument/2006/relationships/image" Target="../media/image1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chart" Target="../charts/chart5.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1.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s>
</file>

<file path=ppt/slides/_rels/slide1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29.png"/><Relationship Id="rId7"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14.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1.png"/><Relationship Id="rId5" Type="http://schemas.openxmlformats.org/officeDocument/2006/relationships/image" Target="../media/image16.png"/><Relationship Id="rId10" Type="http://schemas.openxmlformats.org/officeDocument/2006/relationships/image" Target="../media/image36.png"/><Relationship Id="rId4" Type="http://schemas.openxmlformats.org/officeDocument/2006/relationships/image" Target="../media/image9.png"/><Relationship Id="rId9"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2.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2.png"/><Relationship Id="rId7"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43.png"/><Relationship Id="rId10" Type="http://schemas.openxmlformats.org/officeDocument/2006/relationships/image" Target="../media/image1.png"/><Relationship Id="rId4" Type="http://schemas.openxmlformats.org/officeDocument/2006/relationships/image" Target="../media/image42.png"/><Relationship Id="rId9"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7.png"/><Relationship Id="rId7"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16.png"/><Relationship Id="rId4" Type="http://schemas.openxmlformats.org/officeDocument/2006/relationships/image" Target="../media/image22.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marL="0" indent="0">
              <a:buNone/>
            </a:pPr>
            <a:r>
              <a:rPr lang="en-US" sz="7200" b="1" dirty="0">
                <a:solidFill>
                  <a:srgbClr val="F8FAFC"/>
                </a:solidFill>
                <a:latin typeface="Arial" pitchFamily="34" charset="0"/>
                <a:ea typeface="Arial" pitchFamily="34" charset="-122"/>
                <a:cs typeface="Arial" pitchFamily="34" charset="-120"/>
              </a:rPr>
              <a:t>akay</a:t>
            </a: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marL="0" indent="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marL="0" indent="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marL="0" indent="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77240"/>
            <a:ext cx="7223760" cy="118872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Everyone wants a piece of the kasi economy</a:t>
            </a:r>
            <a:endParaRPr lang="en-US" sz="3400" dirty="0"/>
          </a:p>
        </p:txBody>
      </p:sp>
      <p:sp>
        <p:nvSpPr>
          <p:cNvPr id="4" name="Shape 2"/>
          <p:cNvSpPr/>
          <p:nvPr/>
        </p:nvSpPr>
        <p:spPr>
          <a:xfrm>
            <a:off x="548640" y="2286000"/>
            <a:ext cx="566928" cy="566928"/>
          </a:xfrm>
          <a:prstGeom prst="ellipse">
            <a:avLst/>
          </a:prstGeom>
          <a:solidFill>
            <a:srgbClr val="1E2B45"/>
          </a:solidFill>
          <a:ln w="19050">
            <a:solidFill>
              <a:srgbClr val="F59E0B"/>
            </a:solidFill>
            <a:prstDash val="solid"/>
          </a:ln>
        </p:spPr>
      </p:sp>
      <p:pic>
        <p:nvPicPr>
          <p:cNvPr id="5" name="Image 0" descr="preencoded.png"/>
          <p:cNvPicPr>
            <a:picLocks noChangeAspect="1"/>
          </p:cNvPicPr>
          <p:nvPr/>
        </p:nvPicPr>
        <p:blipFill>
          <a:blip r:embed="rId3"/>
          <a:stretch>
            <a:fillRect/>
          </a:stretch>
        </p:blipFill>
        <p:spPr>
          <a:xfrm>
            <a:off x="684703" y="2422063"/>
            <a:ext cx="294803" cy="294803"/>
          </a:xfrm>
          <a:prstGeom prst="rect">
            <a:avLst/>
          </a:prstGeom>
        </p:spPr>
      </p:pic>
      <p:sp>
        <p:nvSpPr>
          <p:cNvPr id="6" name="Text 3"/>
          <p:cNvSpPr txBox="1"/>
          <p:nvPr/>
        </p:nvSpPr>
        <p:spPr>
          <a:xfrm>
            <a:off x="1280160" y="2286000"/>
            <a:ext cx="6309360" cy="566928"/>
          </a:xfrm>
          <a:prstGeom prst="rect">
            <a:avLst/>
          </a:prstGeom>
          <a:noFill/>
          <a:ln/>
        </p:spPr>
        <p:txBody>
          <a:bodyPr wrap="square" lIns="0" tIns="0" rIns="0" bIns="0" rtlCol="0" anchor="ctr"/>
          <a:lstStyle/>
          <a:p>
            <a:pPr marL="0" indent="0">
              <a:buNone/>
            </a:pPr>
            <a:r>
              <a:rPr lang="en-US" sz="1700" dirty="0">
                <a:solidFill>
                  <a:srgbClr val="F8FAFC"/>
                </a:solidFill>
                <a:latin typeface="Calibri" pitchFamily="34" charset="0"/>
                <a:ea typeface="Calibri" pitchFamily="34" charset="-122"/>
                <a:cs typeface="Calibri" pitchFamily="34" charset="-120"/>
              </a:rPr>
              <a:t>Big retailers are moving into townships</a:t>
            </a:r>
            <a:endParaRPr lang="en-US" sz="1700" dirty="0"/>
          </a:p>
        </p:txBody>
      </p:sp>
      <p:sp>
        <p:nvSpPr>
          <p:cNvPr id="7" name="Shape 4"/>
          <p:cNvSpPr/>
          <p:nvPr/>
        </p:nvSpPr>
        <p:spPr>
          <a:xfrm>
            <a:off x="548640" y="3063240"/>
            <a:ext cx="566928" cy="566928"/>
          </a:xfrm>
          <a:prstGeom prst="ellipse">
            <a:avLst/>
          </a:prstGeom>
          <a:solidFill>
            <a:srgbClr val="1E2B45"/>
          </a:solidFill>
          <a:ln w="19050">
            <a:solidFill>
              <a:srgbClr val="F59E0B"/>
            </a:solidFill>
            <a:prstDash val="solid"/>
          </a:ln>
        </p:spPr>
      </p:sp>
      <p:pic>
        <p:nvPicPr>
          <p:cNvPr id="8" name="Image 1" descr="preencoded.png"/>
          <p:cNvPicPr>
            <a:picLocks noChangeAspect="1"/>
          </p:cNvPicPr>
          <p:nvPr/>
        </p:nvPicPr>
        <p:blipFill>
          <a:blip r:embed="rId4"/>
          <a:stretch>
            <a:fillRect/>
          </a:stretch>
        </p:blipFill>
        <p:spPr>
          <a:xfrm>
            <a:off x="684703" y="3199303"/>
            <a:ext cx="294803" cy="294803"/>
          </a:xfrm>
          <a:prstGeom prst="rect">
            <a:avLst/>
          </a:prstGeom>
        </p:spPr>
      </p:pic>
      <p:sp>
        <p:nvSpPr>
          <p:cNvPr id="9" name="Text 5"/>
          <p:cNvSpPr txBox="1"/>
          <p:nvPr/>
        </p:nvSpPr>
        <p:spPr>
          <a:xfrm>
            <a:off x="1280160" y="3063240"/>
            <a:ext cx="6309360" cy="566928"/>
          </a:xfrm>
          <a:prstGeom prst="rect">
            <a:avLst/>
          </a:prstGeom>
          <a:noFill/>
          <a:ln/>
        </p:spPr>
        <p:txBody>
          <a:bodyPr wrap="square" lIns="0" tIns="0" rIns="0" bIns="0" rtlCol="0" anchor="ctr"/>
          <a:lstStyle/>
          <a:p>
            <a:pPr marL="0" indent="0">
              <a:buNone/>
            </a:pPr>
            <a:r>
              <a:rPr lang="en-US" sz="1700" dirty="0">
                <a:solidFill>
                  <a:srgbClr val="F8FAFC"/>
                </a:solidFill>
                <a:latin typeface="Calibri" pitchFamily="34" charset="0"/>
                <a:ea typeface="Calibri" pitchFamily="34" charset="-122"/>
                <a:cs typeface="Calibri" pitchFamily="34" charset="-120"/>
              </a:rPr>
              <a:t>Banks and payment apps are fighting for its customers</a:t>
            </a:r>
            <a:endParaRPr lang="en-US" sz="1700" dirty="0"/>
          </a:p>
        </p:txBody>
      </p:sp>
      <p:sp>
        <p:nvSpPr>
          <p:cNvPr id="10" name="Text 6"/>
          <p:cNvSpPr txBox="1"/>
          <p:nvPr/>
        </p:nvSpPr>
        <p:spPr>
          <a:xfrm>
            <a:off x="548640" y="4069080"/>
            <a:ext cx="6858000" cy="365760"/>
          </a:xfrm>
          <a:prstGeom prst="rect">
            <a:avLst/>
          </a:prstGeom>
          <a:noFill/>
          <a:ln/>
        </p:spPr>
        <p:txBody>
          <a:bodyPr wrap="square" lIns="0" tIns="0" rIns="0" bIns="0" rtlCol="0" anchor="t"/>
          <a:lstStyle/>
          <a:p>
            <a:pPr marL="0" indent="0">
              <a:buNone/>
            </a:pPr>
            <a:r>
              <a:rPr lang="en-US" sz="1800" dirty="0">
                <a:solidFill>
                  <a:srgbClr val="A3B3C9"/>
                </a:solidFill>
                <a:latin typeface="Calibri" pitchFamily="34" charset="0"/>
                <a:ea typeface="Calibri" pitchFamily="34" charset="-122"/>
                <a:cs typeface="Calibri" pitchFamily="34" charset="-120"/>
              </a:rPr>
              <a:t>Because it's worth about</a:t>
            </a:r>
            <a:endParaRPr lang="en-US" sz="1800" dirty="0"/>
          </a:p>
        </p:txBody>
      </p:sp>
      <p:sp>
        <p:nvSpPr>
          <p:cNvPr id="11" name="Text 7"/>
          <p:cNvSpPr txBox="1"/>
          <p:nvPr/>
        </p:nvSpPr>
        <p:spPr>
          <a:xfrm>
            <a:off x="548640" y="4434840"/>
            <a:ext cx="7315200" cy="914400"/>
          </a:xfrm>
          <a:prstGeom prst="rect">
            <a:avLst/>
          </a:prstGeom>
          <a:noFill/>
          <a:ln/>
        </p:spPr>
        <p:txBody>
          <a:bodyPr wrap="square" lIns="0" tIns="0" rIns="0" bIns="0" rtlCol="0" anchor="t"/>
          <a:lstStyle/>
          <a:p>
            <a:pPr marL="0" indent="0">
              <a:buNone/>
            </a:pPr>
            <a:r>
              <a:rPr lang="en-US" sz="5000" b="1" dirty="0">
                <a:solidFill>
                  <a:srgbClr val="FBBF24"/>
                </a:solidFill>
                <a:latin typeface="Georgia" pitchFamily="34" charset="0"/>
                <a:ea typeface="Georgia" pitchFamily="34" charset="-122"/>
                <a:cs typeface="Georgia" pitchFamily="34" charset="-120"/>
              </a:rPr>
              <a:t>R900 billion a year</a:t>
            </a:r>
            <a:endParaRPr lang="en-US" sz="5000" dirty="0"/>
          </a:p>
        </p:txBody>
      </p:sp>
      <p:pic>
        <p:nvPicPr>
          <p:cNvPr id="12" name="Image 2" descr="preencoded.png"/>
          <p:cNvPicPr>
            <a:picLocks noChangeAspect="1"/>
          </p:cNvPicPr>
          <p:nvPr/>
        </p:nvPicPr>
        <p:blipFill>
          <a:blip r:embed="rId5"/>
          <a:stretch>
            <a:fillRect/>
          </a:stretch>
        </p:blipFill>
        <p:spPr>
          <a:xfrm>
            <a:off x="8074152" y="1051560"/>
            <a:ext cx="3566160" cy="2377440"/>
          </a:xfrm>
          <a:prstGeom prst="rect">
            <a:avLst/>
          </a:prstGeom>
        </p:spPr>
      </p:pic>
      <p:sp>
        <p:nvSpPr>
          <p:cNvPr id="13" name="Shape 8"/>
          <p:cNvSpPr/>
          <p:nvPr/>
        </p:nvSpPr>
        <p:spPr>
          <a:xfrm>
            <a:off x="8074152" y="3063240"/>
            <a:ext cx="3566160" cy="365760"/>
          </a:xfrm>
          <a:prstGeom prst="rect">
            <a:avLst/>
          </a:prstGeom>
          <a:solidFill>
            <a:srgbClr val="0F172A">
              <a:alpha val="75000"/>
            </a:srgbClr>
          </a:solidFill>
          <a:ln w="12700">
            <a:solidFill>
              <a:srgbClr val="0F172A">
                <a:alpha val="0"/>
              </a:srgbClr>
            </a:solidFill>
            <a:prstDash val="solid"/>
          </a:ln>
        </p:spPr>
      </p:sp>
      <p:sp>
        <p:nvSpPr>
          <p:cNvPr id="14" name="Text 9"/>
          <p:cNvSpPr txBox="1"/>
          <p:nvPr/>
        </p:nvSpPr>
        <p:spPr>
          <a:xfrm>
            <a:off x="8211312" y="3063240"/>
            <a:ext cx="3337560" cy="365760"/>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A spaza shop, and its supplier's truck</a:t>
            </a:r>
            <a:endParaRPr lang="en-US" sz="1250" dirty="0"/>
          </a:p>
        </p:txBody>
      </p:sp>
      <p:pic>
        <p:nvPicPr>
          <p:cNvPr id="15" name="Image 3" descr="preencoded.png"/>
          <p:cNvPicPr>
            <a:picLocks noChangeAspect="1"/>
          </p:cNvPicPr>
          <p:nvPr/>
        </p:nvPicPr>
        <p:blipFill>
          <a:blip r:embed="rId6"/>
          <a:stretch>
            <a:fillRect/>
          </a:stretch>
        </p:blipFill>
        <p:spPr>
          <a:xfrm>
            <a:off x="8074152" y="3593592"/>
            <a:ext cx="3566160" cy="2377440"/>
          </a:xfrm>
          <a:prstGeom prst="rect">
            <a:avLst/>
          </a:prstGeom>
        </p:spPr>
      </p:pic>
      <p:sp>
        <p:nvSpPr>
          <p:cNvPr id="16" name="Shape 10"/>
          <p:cNvSpPr/>
          <p:nvPr/>
        </p:nvSpPr>
        <p:spPr>
          <a:xfrm>
            <a:off x="8074152" y="5605272"/>
            <a:ext cx="3566160" cy="365760"/>
          </a:xfrm>
          <a:prstGeom prst="rect">
            <a:avLst/>
          </a:prstGeom>
          <a:solidFill>
            <a:srgbClr val="0F172A">
              <a:alpha val="75000"/>
            </a:srgbClr>
          </a:solidFill>
          <a:ln w="12700">
            <a:solidFill>
              <a:srgbClr val="0F172A">
                <a:alpha val="0"/>
              </a:srgbClr>
            </a:solidFill>
            <a:prstDash val="solid"/>
          </a:ln>
        </p:spPr>
      </p:sp>
      <p:sp>
        <p:nvSpPr>
          <p:cNvPr id="17" name="Text 11"/>
          <p:cNvSpPr txBox="1"/>
          <p:nvPr/>
        </p:nvSpPr>
        <p:spPr>
          <a:xfrm>
            <a:off x="8211312" y="5605272"/>
            <a:ext cx="3337560" cy="365760"/>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A builder's site: bricks, cash and trust</a:t>
            </a:r>
            <a:endParaRPr lang="en-US" sz="1250" dirty="0"/>
          </a:p>
        </p:txBody>
      </p:sp>
      <p:pic>
        <p:nvPicPr>
          <p:cNvPr id="18" name="Image 4" descr="preencoded.png"/>
          <p:cNvPicPr>
            <a:picLocks noChangeAspect="1"/>
          </p:cNvPicPr>
          <p:nvPr/>
        </p:nvPicPr>
        <p:blipFill>
          <a:blip r:embed="rId7"/>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Standard Bank, Township Informal Economy Report, Oct 2025 (Foshizi; 250+ businesses, 5 provinces). Photos: HelenOnline (CC BY-SA 4.0) and Heinz-Josef Lücking (CC BY-SA 3.0 DE), Wikimedia Commons.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64240" cy="868680"/>
          </a:xfrm>
          <a:prstGeom prst="rect">
            <a:avLst/>
          </a:prstGeom>
          <a:noFill/>
          <a:ln/>
        </p:spPr>
        <p:txBody>
          <a:bodyPr wrap="square" lIns="0" tIns="0" rIns="0" bIns="0" rtlCol="0" anchor="t"/>
          <a:lstStyle/>
          <a:p>
            <a:pPr marL="0" indent="0">
              <a:buNone/>
            </a:pPr>
            <a:r>
              <a:rPr lang="en-US" sz="3200" b="1" dirty="0">
                <a:solidFill>
                  <a:srgbClr val="F8FAFC"/>
                </a:solidFill>
                <a:latin typeface="Georgia" pitchFamily="34" charset="0"/>
                <a:ea typeface="Georgia" pitchFamily="34" charset="-122"/>
                <a:cs typeface="Georgia" pitchFamily="34" charset="-120"/>
              </a:rPr>
              <a:t>The people who run it can't prove any of it</a:t>
            </a:r>
            <a:endParaRPr lang="en-US" sz="3200" dirty="0"/>
          </a:p>
        </p:txBody>
      </p:sp>
      <p:sp>
        <p:nvSpPr>
          <p:cNvPr id="4" name="Shape 2"/>
          <p:cNvSpPr/>
          <p:nvPr/>
        </p:nvSpPr>
        <p:spPr>
          <a:xfrm>
            <a:off x="548640" y="1737360"/>
            <a:ext cx="3474720" cy="388620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22960" y="1901952"/>
            <a:ext cx="603504" cy="603504"/>
          </a:xfrm>
          <a:prstGeom prst="ellipse">
            <a:avLst/>
          </a:prstGeom>
          <a:solidFill>
            <a:srgbClr val="1E2B45"/>
          </a:solidFill>
          <a:ln w="19050">
            <a:solidFill>
              <a:srgbClr val="F59E0B"/>
            </a:solidFill>
            <a:prstDash val="solid"/>
          </a:ln>
        </p:spPr>
      </p:sp>
      <p:pic>
        <p:nvPicPr>
          <p:cNvPr id="6" name="Image 0" descr="preencoded.png"/>
          <p:cNvPicPr>
            <a:picLocks noChangeAspect="1"/>
          </p:cNvPicPr>
          <p:nvPr/>
        </p:nvPicPr>
        <p:blipFill>
          <a:blip r:embed="rId3"/>
          <a:stretch>
            <a:fillRect/>
          </a:stretch>
        </p:blipFill>
        <p:spPr>
          <a:xfrm>
            <a:off x="967801" y="2046793"/>
            <a:ext cx="313822" cy="313822"/>
          </a:xfrm>
          <a:prstGeom prst="rect">
            <a:avLst/>
          </a:prstGeom>
        </p:spPr>
      </p:pic>
      <p:sp>
        <p:nvSpPr>
          <p:cNvPr id="7" name="Text 4"/>
          <p:cNvSpPr txBox="1"/>
          <p:nvPr/>
        </p:nvSpPr>
        <p:spPr>
          <a:xfrm>
            <a:off x="1572768" y="2011680"/>
            <a:ext cx="228600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No finance</a:t>
            </a:r>
            <a:endParaRPr lang="en-US" sz="2000" dirty="0"/>
          </a:p>
        </p:txBody>
      </p:sp>
      <p:sp>
        <p:nvSpPr>
          <p:cNvPr id="8" name="Text 5"/>
          <p:cNvSpPr txBox="1"/>
          <p:nvPr/>
        </p:nvSpPr>
        <p:spPr>
          <a:xfrm>
            <a:off x="822960" y="4526280"/>
            <a:ext cx="2926080" cy="100584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It runs on cash and word of mouth. 57% use savings and family; fewer than 9% can get a bank loan.</a:t>
            </a:r>
            <a:endParaRPr lang="en-US" sz="1300" dirty="0"/>
          </a:p>
        </p:txBody>
      </p:sp>
      <p:sp>
        <p:nvSpPr>
          <p:cNvPr id="9" name="Shape 6"/>
          <p:cNvSpPr/>
          <p:nvPr/>
        </p:nvSpPr>
        <p:spPr>
          <a:xfrm>
            <a:off x="4297680" y="1737360"/>
            <a:ext cx="3474720" cy="3886200"/>
          </a:xfrm>
          <a:prstGeom prst="roundRect">
            <a:avLst>
              <a:gd name="adj" fmla="val 3158"/>
            </a:avLst>
          </a:prstGeom>
          <a:solidFill>
            <a:srgbClr val="17223A"/>
          </a:solidFill>
          <a:ln w="12700">
            <a:solidFill>
              <a:srgbClr val="17223A"/>
            </a:solidFill>
            <a:prstDash val="solid"/>
          </a:ln>
        </p:spPr>
      </p:sp>
      <p:sp>
        <p:nvSpPr>
          <p:cNvPr id="10" name="Shape 7"/>
          <p:cNvSpPr/>
          <p:nvPr/>
        </p:nvSpPr>
        <p:spPr>
          <a:xfrm>
            <a:off x="4572000" y="1901952"/>
            <a:ext cx="603504" cy="603504"/>
          </a:xfrm>
          <a:prstGeom prst="ellipse">
            <a:avLst/>
          </a:prstGeom>
          <a:solidFill>
            <a:srgbClr val="1E2B45"/>
          </a:solidFill>
          <a:ln w="19050">
            <a:solidFill>
              <a:srgbClr val="F87171"/>
            </a:solidFill>
            <a:prstDash val="solid"/>
          </a:ln>
        </p:spPr>
      </p:sp>
      <p:pic>
        <p:nvPicPr>
          <p:cNvPr id="11" name="Image 1" descr="preencoded.png"/>
          <p:cNvPicPr>
            <a:picLocks noChangeAspect="1"/>
          </p:cNvPicPr>
          <p:nvPr/>
        </p:nvPicPr>
        <p:blipFill>
          <a:blip r:embed="rId4"/>
          <a:stretch>
            <a:fillRect/>
          </a:stretch>
        </p:blipFill>
        <p:spPr>
          <a:xfrm>
            <a:off x="4716841" y="2046793"/>
            <a:ext cx="313822" cy="313822"/>
          </a:xfrm>
          <a:prstGeom prst="rect">
            <a:avLst/>
          </a:prstGeom>
        </p:spPr>
      </p:pic>
      <p:sp>
        <p:nvSpPr>
          <p:cNvPr id="12" name="Text 8"/>
          <p:cNvSpPr txBox="1"/>
          <p:nvPr/>
        </p:nvSpPr>
        <p:spPr>
          <a:xfrm>
            <a:off x="5321808" y="2011680"/>
            <a:ext cx="228600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No support</a:t>
            </a:r>
            <a:endParaRPr lang="en-US" sz="2000" dirty="0"/>
          </a:p>
        </p:txBody>
      </p:sp>
      <p:sp>
        <p:nvSpPr>
          <p:cNvPr id="13" name="Text 9"/>
          <p:cNvSpPr txBox="1"/>
          <p:nvPr/>
        </p:nvSpPr>
        <p:spPr>
          <a:xfrm>
            <a:off x="4572000" y="4526280"/>
            <a:ext cx="2926080" cy="100584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Of the R500m Spaza Shop Support Fund, R179.6m reached spaza shops. 354 applications failed verification.</a:t>
            </a:r>
            <a:endParaRPr lang="en-US" sz="1300" dirty="0"/>
          </a:p>
        </p:txBody>
      </p:sp>
      <p:sp>
        <p:nvSpPr>
          <p:cNvPr id="14" name="Shape 10"/>
          <p:cNvSpPr/>
          <p:nvPr/>
        </p:nvSpPr>
        <p:spPr>
          <a:xfrm>
            <a:off x="8046720" y="1737360"/>
            <a:ext cx="3474720" cy="3886200"/>
          </a:xfrm>
          <a:prstGeom prst="roundRect">
            <a:avLst>
              <a:gd name="adj" fmla="val 3158"/>
            </a:avLst>
          </a:prstGeom>
          <a:solidFill>
            <a:srgbClr val="17223A"/>
          </a:solidFill>
          <a:ln w="12700">
            <a:solidFill>
              <a:srgbClr val="17223A"/>
            </a:solidFill>
            <a:prstDash val="solid"/>
          </a:ln>
        </p:spPr>
      </p:sp>
      <p:sp>
        <p:nvSpPr>
          <p:cNvPr id="15" name="Shape 11"/>
          <p:cNvSpPr/>
          <p:nvPr/>
        </p:nvSpPr>
        <p:spPr>
          <a:xfrm>
            <a:off x="8321040" y="1901952"/>
            <a:ext cx="603504" cy="603504"/>
          </a:xfrm>
          <a:prstGeom prst="ellipse">
            <a:avLst/>
          </a:prstGeom>
          <a:solidFill>
            <a:srgbClr val="1E2B45"/>
          </a:solidFill>
          <a:ln w="19050">
            <a:solidFill>
              <a:srgbClr val="10B981"/>
            </a:solidFill>
            <a:prstDash val="solid"/>
          </a:ln>
        </p:spPr>
      </p:sp>
      <p:pic>
        <p:nvPicPr>
          <p:cNvPr id="16" name="Image 2" descr="preencoded.png"/>
          <p:cNvPicPr>
            <a:picLocks noChangeAspect="1"/>
          </p:cNvPicPr>
          <p:nvPr/>
        </p:nvPicPr>
        <p:blipFill>
          <a:blip r:embed="rId5"/>
          <a:stretch>
            <a:fillRect/>
          </a:stretch>
        </p:blipFill>
        <p:spPr>
          <a:xfrm>
            <a:off x="8465881" y="2046793"/>
            <a:ext cx="313822" cy="313822"/>
          </a:xfrm>
          <a:prstGeom prst="rect">
            <a:avLst/>
          </a:prstGeom>
        </p:spPr>
      </p:pic>
      <p:sp>
        <p:nvSpPr>
          <p:cNvPr id="17" name="Text 12"/>
          <p:cNvSpPr txBox="1"/>
          <p:nvPr/>
        </p:nvSpPr>
        <p:spPr>
          <a:xfrm>
            <a:off x="9070848" y="2011680"/>
            <a:ext cx="228600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No record</a:t>
            </a:r>
            <a:endParaRPr lang="en-US" sz="2000" dirty="0"/>
          </a:p>
        </p:txBody>
      </p:sp>
      <p:sp>
        <p:nvSpPr>
          <p:cNvPr id="18" name="Text 13"/>
          <p:cNvSpPr txBox="1"/>
          <p:nvPr/>
        </p:nvSpPr>
        <p:spPr>
          <a:xfrm>
            <a:off x="8321040" y="4526280"/>
            <a:ext cx="2926080" cy="100584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About 80% are unregistered: every order is cash, every dispute is word against word.</a:t>
            </a:r>
            <a:endParaRPr lang="en-US" sz="1300" dirty="0"/>
          </a:p>
        </p:txBody>
      </p:sp>
      <p:graphicFrame>
        <p:nvGraphicFramePr>
          <p:cNvPr id="19" name="Chart 0"/>
          <p:cNvGraphicFramePr/>
          <p:nvPr/>
        </p:nvGraphicFramePr>
        <p:xfrm>
          <a:off x="685800" y="2606040"/>
          <a:ext cx="3200400" cy="18288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20" name="Chart 1"/>
          <p:cNvGraphicFramePr/>
          <p:nvPr/>
        </p:nvGraphicFramePr>
        <p:xfrm>
          <a:off x="4434840" y="2606040"/>
          <a:ext cx="3200400" cy="18288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Chart 2"/>
          <p:cNvGraphicFramePr/>
          <p:nvPr/>
        </p:nvGraphicFramePr>
        <p:xfrm>
          <a:off x="8915400" y="2606040"/>
          <a:ext cx="1737360" cy="1737360"/>
        </p:xfrm>
        <a:graphic>
          <a:graphicData uri="http://schemas.openxmlformats.org/drawingml/2006/chart">
            <c:chart xmlns:c="http://schemas.openxmlformats.org/drawingml/2006/chart" xmlns:r="http://schemas.openxmlformats.org/officeDocument/2006/relationships" r:id="rId8"/>
          </a:graphicData>
        </a:graphic>
      </p:graphicFrame>
      <p:sp>
        <p:nvSpPr>
          <p:cNvPr id="22" name="Text 14"/>
          <p:cNvSpPr txBox="1"/>
          <p:nvPr/>
        </p:nvSpPr>
        <p:spPr>
          <a:xfrm>
            <a:off x="8915400" y="3154680"/>
            <a:ext cx="1737360" cy="411480"/>
          </a:xfrm>
          <a:prstGeom prst="rect">
            <a:avLst/>
          </a:prstGeom>
          <a:noFill/>
          <a:ln/>
        </p:spPr>
        <p:txBody>
          <a:bodyPr wrap="square" lIns="0" tIns="0" rIns="0" bIns="0" rtlCol="0" anchor="t"/>
          <a:lstStyle/>
          <a:p>
            <a:pPr marL="0" indent="0" algn="ctr">
              <a:buNone/>
            </a:pPr>
            <a:r>
              <a:rPr lang="en-US" sz="2400" b="1" dirty="0">
                <a:solidFill>
                  <a:srgbClr val="34D399"/>
                </a:solidFill>
                <a:latin typeface="Georgia" pitchFamily="34" charset="0"/>
                <a:ea typeface="Georgia" pitchFamily="34" charset="-122"/>
                <a:cs typeface="Georgia" pitchFamily="34" charset="-120"/>
              </a:rPr>
              <a:t>80%</a:t>
            </a:r>
            <a:endParaRPr lang="en-US" sz="2400" dirty="0"/>
          </a:p>
        </p:txBody>
      </p:sp>
      <p:sp>
        <p:nvSpPr>
          <p:cNvPr id="23" name="Text 15"/>
          <p:cNvSpPr txBox="1"/>
          <p:nvPr/>
        </p:nvSpPr>
        <p:spPr>
          <a:xfrm>
            <a:off x="8915400" y="3575304"/>
            <a:ext cx="1737360" cy="256032"/>
          </a:xfrm>
          <a:prstGeom prst="rect">
            <a:avLst/>
          </a:prstGeom>
          <a:noFill/>
          <a:ln/>
        </p:spPr>
        <p:txBody>
          <a:bodyPr wrap="square" lIns="0" tIns="0" rIns="0" bIns="0" rtlCol="0" anchor="t"/>
          <a:lstStyle/>
          <a:p>
            <a:pPr marL="0" indent="0" algn="ctr">
              <a:buNone/>
            </a:pPr>
            <a:r>
              <a:rPr lang="en-US" sz="1100" dirty="0">
                <a:solidFill>
                  <a:srgbClr val="A3B3C9"/>
                </a:solidFill>
                <a:latin typeface="Calibri" pitchFamily="34" charset="0"/>
                <a:ea typeface="Calibri" pitchFamily="34" charset="-122"/>
                <a:cs typeface="Calibri" pitchFamily="34" charset="-120"/>
              </a:rPr>
              <a:t>unregistered</a:t>
            </a:r>
            <a:endParaRPr lang="en-US" sz="1100" dirty="0"/>
          </a:p>
        </p:txBody>
      </p:sp>
      <p:sp>
        <p:nvSpPr>
          <p:cNvPr id="24" name="Text 16"/>
          <p:cNvSpPr txBox="1"/>
          <p:nvPr/>
        </p:nvSpPr>
        <p:spPr>
          <a:xfrm>
            <a:off x="548640" y="5742432"/>
            <a:ext cx="11064240" cy="411480"/>
          </a:xfrm>
          <a:prstGeom prst="rect">
            <a:avLst/>
          </a:prstGeom>
          <a:noFill/>
          <a:ln/>
        </p:spPr>
        <p:txBody>
          <a:bodyPr wrap="square" lIns="0" tIns="0" rIns="0" bIns="0" rtlCol="0" anchor="t"/>
          <a:lstStyle/>
          <a:p>
            <a:pPr marL="0" indent="0">
              <a:buNone/>
            </a:pPr>
            <a:r>
              <a:rPr lang="en-US" sz="1800" i="1" dirty="0">
                <a:solidFill>
                  <a:srgbClr val="FBBF24"/>
                </a:solidFill>
                <a:latin typeface="Georgia" pitchFamily="34" charset="0"/>
                <a:ea typeface="Georgia" pitchFamily="34" charset="-122"/>
                <a:cs typeface="Georgia" pitchFamily="34" charset="-120"/>
              </a:rPr>
              <a:t>A spaza owner can't get stock on credit. A builder can't prove the houses he's built.</a:t>
            </a:r>
            <a:endParaRPr lang="en-US" sz="1800" dirty="0"/>
          </a:p>
        </p:txBody>
      </p:sp>
      <p:pic>
        <p:nvPicPr>
          <p:cNvPr id="25" name="Image 3" descr="preencoded.png"/>
          <p:cNvPicPr>
            <a:picLocks noChangeAspect="1"/>
          </p:cNvPicPr>
          <p:nvPr/>
        </p:nvPicPr>
        <p:blipFill>
          <a:blip r:embed="rId9"/>
          <a:stretch>
            <a:fillRect/>
          </a:stretch>
        </p:blipFill>
        <p:spPr>
          <a:xfrm>
            <a:off x="11231575" y="6291072"/>
            <a:ext cx="384048" cy="384048"/>
          </a:xfrm>
          <a:prstGeom prst="rect">
            <a:avLst/>
          </a:prstGeom>
        </p:spPr>
      </p:pic>
      <p:sp>
        <p:nvSpPr>
          <p:cNvPr id="26" name="Text 17"/>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7" name="Text 18"/>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822960" cy="822960"/>
          </a:xfrm>
          <a:prstGeom prst="rect">
            <a:avLst/>
          </a:prstGeom>
        </p:spPr>
      </p:pic>
      <p:sp>
        <p:nvSpPr>
          <p:cNvPr id="3" name="Text 0"/>
          <p:cNvSpPr txBox="1"/>
          <p:nvPr/>
        </p:nvSpPr>
        <p:spPr>
          <a:xfrm>
            <a:off x="1600200" y="603504"/>
            <a:ext cx="9966960" cy="731520"/>
          </a:xfrm>
          <a:prstGeom prst="rect">
            <a:avLst/>
          </a:prstGeom>
          <a:noFill/>
          <a:ln/>
        </p:spPr>
        <p:txBody>
          <a:bodyPr wrap="square" lIns="0" tIns="0" rIns="0" bIns="0" rtlCol="0" anchor="t"/>
          <a:lstStyle/>
          <a:p>
            <a:pPr marL="0" indent="0">
              <a:buNone/>
            </a:pPr>
            <a:r>
              <a:rPr lang="en-US" sz="3200" b="1" dirty="0">
                <a:solidFill>
                  <a:srgbClr val="F8FAFC"/>
                </a:solidFill>
                <a:latin typeface="Georgia" pitchFamily="34" charset="0"/>
                <a:ea typeface="Georgia" pitchFamily="34" charset="-122"/>
                <a:cs typeface="Georgia" pitchFamily="34" charset="-120"/>
              </a:rPr>
              <a:t>One free app for the whole kasi economy</a:t>
            </a:r>
            <a:endParaRPr lang="en-US" sz="3200" dirty="0"/>
          </a:p>
        </p:txBody>
      </p:sp>
      <p:sp>
        <p:nvSpPr>
          <p:cNvPr id="4" name="Shape 1"/>
          <p:cNvSpPr/>
          <p:nvPr/>
        </p:nvSpPr>
        <p:spPr>
          <a:xfrm>
            <a:off x="548640" y="1737360"/>
            <a:ext cx="566928" cy="566928"/>
          </a:xfrm>
          <a:prstGeom prst="ellipse">
            <a:avLst/>
          </a:prstGeom>
          <a:solidFill>
            <a:srgbClr val="1E2B45"/>
          </a:solidFill>
          <a:ln w="19050">
            <a:solidFill>
              <a:srgbClr val="10B981"/>
            </a:solidFill>
            <a:prstDash val="solid"/>
          </a:ln>
        </p:spPr>
      </p:sp>
      <p:pic>
        <p:nvPicPr>
          <p:cNvPr id="5" name="Image 1" descr="preencoded.png"/>
          <p:cNvPicPr>
            <a:picLocks noChangeAspect="1"/>
          </p:cNvPicPr>
          <p:nvPr/>
        </p:nvPicPr>
        <p:blipFill>
          <a:blip r:embed="rId4"/>
          <a:stretch>
            <a:fillRect/>
          </a:stretch>
        </p:blipFill>
        <p:spPr>
          <a:xfrm>
            <a:off x="684703" y="1873423"/>
            <a:ext cx="294803" cy="294803"/>
          </a:xfrm>
          <a:prstGeom prst="rect">
            <a:avLst/>
          </a:prstGeom>
        </p:spPr>
      </p:pic>
      <p:sp>
        <p:nvSpPr>
          <p:cNvPr id="6" name="Text 2"/>
          <p:cNvSpPr txBox="1"/>
          <p:nvPr/>
        </p:nvSpPr>
        <p:spPr>
          <a:xfrm>
            <a:off x="1280160" y="1719072"/>
            <a:ext cx="3611880" cy="1280160"/>
          </a:xfrm>
          <a:prstGeom prst="rect">
            <a:avLst/>
          </a:prstGeom>
          <a:noFill/>
          <a:ln/>
        </p:spPr>
        <p:txBody>
          <a:bodyPr wrap="square" lIns="0" tIns="0" rIns="0" bIns="0" rtlCol="0" anchor="t"/>
          <a:lstStyle/>
          <a:p>
            <a:pPr marL="0" indent="0">
              <a:spcAft>
                <a:spcPts val="400"/>
              </a:spcAft>
              <a:buNone/>
            </a:pPr>
            <a:r>
              <a:rPr lang="en-US" sz="1700" b="1" dirty="0">
                <a:solidFill>
                  <a:srgbClr val="10B981"/>
                </a:solidFill>
                <a:latin typeface="Calibri" pitchFamily="34" charset="0"/>
                <a:ea typeface="Calibri" pitchFamily="34" charset="-122"/>
                <a:cs typeface="Calibri" pitchFamily="34" charset="-120"/>
              </a:rPr>
              <a:t>Matched with suppliers who deliver</a:t>
            </a:r>
            <a:endParaRPr lang="en-US" sz="1700" dirty="0"/>
          </a:p>
          <a:p>
            <a:pPr marL="0" indent="0">
              <a:buNone/>
            </a:pPr>
            <a:r>
              <a:rPr lang="en-US" sz="1350" dirty="0">
                <a:solidFill>
                  <a:srgbClr val="A3B3C9"/>
                </a:solidFill>
                <a:latin typeface="Calibri" pitchFamily="34" charset="0"/>
                <a:ea typeface="Calibri" pitchFamily="34" charset="-122"/>
                <a:cs typeface="Calibri" pitchFamily="34" charset="-120"/>
              </a:rPr>
              <a:t>Spaza shops and food sellers order from the suppliers they use, and ones that fit them.</a:t>
            </a:r>
            <a:endParaRPr lang="en-US" sz="1700" dirty="0"/>
          </a:p>
        </p:txBody>
      </p:sp>
      <p:sp>
        <p:nvSpPr>
          <p:cNvPr id="7" name="Shape 3"/>
          <p:cNvSpPr/>
          <p:nvPr/>
        </p:nvSpPr>
        <p:spPr>
          <a:xfrm>
            <a:off x="5303520" y="1691640"/>
            <a:ext cx="2010615" cy="3986784"/>
          </a:xfrm>
          <a:prstGeom prst="roundRect">
            <a:avLst>
              <a:gd name="adj" fmla="val 5457"/>
            </a:avLst>
          </a:prstGeom>
          <a:solidFill>
            <a:srgbClr val="1E2B45"/>
          </a:solidFill>
          <a:ln w="12700">
            <a:solidFill>
              <a:srgbClr val="1E2B45"/>
            </a:solidFill>
            <a:prstDash val="solid"/>
          </a:ln>
        </p:spPr>
      </p:sp>
      <p:pic>
        <p:nvPicPr>
          <p:cNvPr id="8" name="Image 2" descr="preencoded.png"/>
          <p:cNvPicPr>
            <a:picLocks noChangeAspect="1"/>
          </p:cNvPicPr>
          <p:nvPr/>
        </p:nvPicPr>
        <p:blipFill>
          <a:blip r:embed="rId5"/>
          <a:stretch>
            <a:fillRect/>
          </a:stretch>
        </p:blipFill>
        <p:spPr>
          <a:xfrm>
            <a:off x="5376672" y="1764792"/>
            <a:ext cx="1864311" cy="3840480"/>
          </a:xfrm>
          <a:prstGeom prst="rect">
            <a:avLst/>
          </a:prstGeom>
        </p:spPr>
      </p:pic>
      <p:sp>
        <p:nvSpPr>
          <p:cNvPr id="9" name="Shape 4"/>
          <p:cNvSpPr/>
          <p:nvPr/>
        </p:nvSpPr>
        <p:spPr>
          <a:xfrm>
            <a:off x="5175504" y="1563624"/>
            <a:ext cx="402336" cy="402336"/>
          </a:xfrm>
          <a:prstGeom prst="ellipse">
            <a:avLst/>
          </a:prstGeom>
          <a:solidFill>
            <a:srgbClr val="10B981"/>
          </a:solidFill>
          <a:ln w="25400">
            <a:solidFill>
              <a:srgbClr val="0F172A"/>
            </a:solidFill>
            <a:prstDash val="solid"/>
          </a:ln>
        </p:spPr>
      </p:sp>
      <p:sp>
        <p:nvSpPr>
          <p:cNvPr id="10" name="Text 5"/>
          <p:cNvSpPr txBox="1"/>
          <p:nvPr/>
        </p:nvSpPr>
        <p:spPr>
          <a:xfrm>
            <a:off x="5175504"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1" name="Shape 6"/>
          <p:cNvSpPr/>
          <p:nvPr/>
        </p:nvSpPr>
        <p:spPr>
          <a:xfrm>
            <a:off x="548640" y="3108960"/>
            <a:ext cx="566928" cy="566928"/>
          </a:xfrm>
          <a:prstGeom prst="ellipse">
            <a:avLst/>
          </a:prstGeom>
          <a:solidFill>
            <a:srgbClr val="1E2B45"/>
          </a:solidFill>
          <a:ln w="19050">
            <a:solidFill>
              <a:srgbClr val="FBBF24"/>
            </a:solidFill>
            <a:prstDash val="solid"/>
          </a:ln>
        </p:spPr>
      </p:sp>
      <p:pic>
        <p:nvPicPr>
          <p:cNvPr id="12" name="Image 3" descr="preencoded.png"/>
          <p:cNvPicPr>
            <a:picLocks noChangeAspect="1"/>
          </p:cNvPicPr>
          <p:nvPr/>
        </p:nvPicPr>
        <p:blipFill>
          <a:blip r:embed="rId6"/>
          <a:stretch>
            <a:fillRect/>
          </a:stretch>
        </p:blipFill>
        <p:spPr>
          <a:xfrm>
            <a:off x="684703" y="3245023"/>
            <a:ext cx="294803" cy="294803"/>
          </a:xfrm>
          <a:prstGeom prst="rect">
            <a:avLst/>
          </a:prstGeom>
        </p:spPr>
      </p:pic>
      <p:sp>
        <p:nvSpPr>
          <p:cNvPr id="13" name="Text 7"/>
          <p:cNvSpPr txBox="1"/>
          <p:nvPr/>
        </p:nvSpPr>
        <p:spPr>
          <a:xfrm>
            <a:off x="1280160" y="3090672"/>
            <a:ext cx="3611880" cy="1280160"/>
          </a:xfrm>
          <a:prstGeom prst="rect">
            <a:avLst/>
          </a:prstGeom>
          <a:noFill/>
          <a:ln/>
        </p:spPr>
        <p:txBody>
          <a:bodyPr wrap="square" lIns="0" tIns="0" rIns="0" bIns="0" rtlCol="0" anchor="t"/>
          <a:lstStyle/>
          <a:p>
            <a:pPr marL="0" indent="0">
              <a:spcAft>
                <a:spcPts val="400"/>
              </a:spcAft>
              <a:buNone/>
            </a:pPr>
            <a:r>
              <a:rPr lang="en-US" sz="1700" b="1" dirty="0">
                <a:solidFill>
                  <a:srgbClr val="FBBF24"/>
                </a:solidFill>
                <a:latin typeface="Calibri" pitchFamily="34" charset="0"/>
                <a:ea typeface="Calibri" pitchFamily="34" charset="-122"/>
                <a:cs typeface="Calibri" pitchFamily="34" charset="-120"/>
              </a:rPr>
              <a:t>Every job logged with photos</a:t>
            </a:r>
            <a:endParaRPr lang="en-US" sz="1700" dirty="0"/>
          </a:p>
          <a:p>
            <a:pPr marL="0" indent="0">
              <a:buNone/>
            </a:pPr>
            <a:r>
              <a:rPr lang="en-US" sz="1350" dirty="0">
                <a:solidFill>
                  <a:srgbClr val="A3B3C9"/>
                </a:solidFill>
                <a:latin typeface="Calibri" pitchFamily="34" charset="0"/>
                <a:ea typeface="Calibri" pitchFamily="34" charset="-122"/>
                <a:cs typeface="Calibri" pitchFamily="34" charset="-120"/>
              </a:rPr>
              <a:t>Builders photograph each stage, and the client signs it off from a link.</a:t>
            </a:r>
            <a:endParaRPr lang="en-US" sz="1700" dirty="0"/>
          </a:p>
        </p:txBody>
      </p:sp>
      <p:sp>
        <p:nvSpPr>
          <p:cNvPr id="14" name="Shape 8"/>
          <p:cNvSpPr/>
          <p:nvPr/>
        </p:nvSpPr>
        <p:spPr>
          <a:xfrm>
            <a:off x="7470648" y="1691640"/>
            <a:ext cx="2010615" cy="3986784"/>
          </a:xfrm>
          <a:prstGeom prst="roundRect">
            <a:avLst>
              <a:gd name="adj" fmla="val 5457"/>
            </a:avLst>
          </a:prstGeom>
          <a:solidFill>
            <a:srgbClr val="1E2B45"/>
          </a:solidFill>
          <a:ln w="12700">
            <a:solidFill>
              <a:srgbClr val="1E2B45"/>
            </a:solidFill>
            <a:prstDash val="solid"/>
          </a:ln>
        </p:spPr>
      </p:sp>
      <p:pic>
        <p:nvPicPr>
          <p:cNvPr id="15" name="Image 4" descr="preencoded.png"/>
          <p:cNvPicPr>
            <a:picLocks noChangeAspect="1"/>
          </p:cNvPicPr>
          <p:nvPr/>
        </p:nvPicPr>
        <p:blipFill>
          <a:blip r:embed="rId7"/>
          <a:stretch>
            <a:fillRect/>
          </a:stretch>
        </p:blipFill>
        <p:spPr>
          <a:xfrm>
            <a:off x="7543800" y="1764792"/>
            <a:ext cx="1864311" cy="3840480"/>
          </a:xfrm>
          <a:prstGeom prst="rect">
            <a:avLst/>
          </a:prstGeom>
        </p:spPr>
      </p:pic>
      <p:sp>
        <p:nvSpPr>
          <p:cNvPr id="16" name="Shape 9"/>
          <p:cNvSpPr/>
          <p:nvPr/>
        </p:nvSpPr>
        <p:spPr>
          <a:xfrm>
            <a:off x="7342632" y="1563624"/>
            <a:ext cx="402336" cy="402336"/>
          </a:xfrm>
          <a:prstGeom prst="ellipse">
            <a:avLst/>
          </a:prstGeom>
          <a:solidFill>
            <a:srgbClr val="FBBF24"/>
          </a:solidFill>
          <a:ln w="25400">
            <a:solidFill>
              <a:srgbClr val="0F172A"/>
            </a:solidFill>
            <a:prstDash val="solid"/>
          </a:ln>
        </p:spPr>
      </p:sp>
      <p:sp>
        <p:nvSpPr>
          <p:cNvPr id="17" name="Text 10"/>
          <p:cNvSpPr txBox="1"/>
          <p:nvPr/>
        </p:nvSpPr>
        <p:spPr>
          <a:xfrm>
            <a:off x="7342632"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8" name="Shape 11"/>
          <p:cNvSpPr/>
          <p:nvPr/>
        </p:nvSpPr>
        <p:spPr>
          <a:xfrm>
            <a:off x="548640" y="4480560"/>
            <a:ext cx="566928" cy="566928"/>
          </a:xfrm>
          <a:prstGeom prst="ellipse">
            <a:avLst/>
          </a:prstGeom>
          <a:solidFill>
            <a:srgbClr val="1E2B45"/>
          </a:solidFill>
          <a:ln w="19050">
            <a:solidFill>
              <a:srgbClr val="34D399"/>
            </a:solidFill>
            <a:prstDash val="solid"/>
          </a:ln>
        </p:spPr>
      </p:sp>
      <p:pic>
        <p:nvPicPr>
          <p:cNvPr id="19" name="Image 5" descr="preencoded.png"/>
          <p:cNvPicPr>
            <a:picLocks noChangeAspect="1"/>
          </p:cNvPicPr>
          <p:nvPr/>
        </p:nvPicPr>
        <p:blipFill>
          <a:blip r:embed="rId8"/>
          <a:stretch>
            <a:fillRect/>
          </a:stretch>
        </p:blipFill>
        <p:spPr>
          <a:xfrm>
            <a:off x="684703" y="4616623"/>
            <a:ext cx="294803" cy="294803"/>
          </a:xfrm>
          <a:prstGeom prst="rect">
            <a:avLst/>
          </a:prstGeom>
        </p:spPr>
      </p:pic>
      <p:sp>
        <p:nvSpPr>
          <p:cNvPr id="20" name="Text 12"/>
          <p:cNvSpPr txBox="1"/>
          <p:nvPr/>
        </p:nvSpPr>
        <p:spPr>
          <a:xfrm>
            <a:off x="1280160" y="4462272"/>
            <a:ext cx="3611880" cy="1280160"/>
          </a:xfrm>
          <a:prstGeom prst="rect">
            <a:avLst/>
          </a:prstGeom>
          <a:noFill/>
          <a:ln/>
        </p:spPr>
        <p:txBody>
          <a:bodyPr wrap="square" lIns="0" tIns="0" rIns="0" bIns="0" rtlCol="0" anchor="t"/>
          <a:lstStyle/>
          <a:p>
            <a:pPr marL="0" indent="0">
              <a:spcAft>
                <a:spcPts val="400"/>
              </a:spcAft>
              <a:buNone/>
            </a:pPr>
            <a:r>
              <a:rPr lang="en-US" sz="1700" b="1" dirty="0">
                <a:solidFill>
                  <a:srgbClr val="34D399"/>
                </a:solidFill>
                <a:latin typeface="Calibri" pitchFamily="34" charset="0"/>
                <a:ea typeface="Calibri" pitchFamily="34" charset="-122"/>
                <a:cs typeface="Calibri" pitchFamily="34" charset="-120"/>
              </a:rPr>
              <a:t>Payments confirmed</a:t>
            </a:r>
            <a:endParaRPr lang="en-US" sz="1700" dirty="0"/>
          </a:p>
          <a:p>
            <a:pPr marL="0" indent="0">
              <a:buNone/>
            </a:pPr>
            <a:r>
              <a:rPr lang="en-US" sz="1350" dirty="0">
                <a:solidFill>
                  <a:srgbClr val="A3B3C9"/>
                </a:solidFill>
                <a:latin typeface="Calibri" pitchFamily="34" charset="0"/>
                <a:ea typeface="Calibri" pitchFamily="34" charset="-122"/>
                <a:cs typeface="Calibri" pitchFamily="34" charset="-120"/>
              </a:rPr>
              <a:t>Paid in the app: confirmed by the payment provider. A job stage: confirmed by both sides.</a:t>
            </a:r>
            <a:endParaRPr lang="en-US" sz="1700" dirty="0"/>
          </a:p>
        </p:txBody>
      </p:sp>
      <p:sp>
        <p:nvSpPr>
          <p:cNvPr id="21" name="Shape 13"/>
          <p:cNvSpPr/>
          <p:nvPr/>
        </p:nvSpPr>
        <p:spPr>
          <a:xfrm>
            <a:off x="9637776" y="1691640"/>
            <a:ext cx="2010615" cy="3986784"/>
          </a:xfrm>
          <a:prstGeom prst="roundRect">
            <a:avLst>
              <a:gd name="adj" fmla="val 5457"/>
            </a:avLst>
          </a:prstGeom>
          <a:solidFill>
            <a:srgbClr val="1E2B45"/>
          </a:solidFill>
          <a:ln w="12700">
            <a:solidFill>
              <a:srgbClr val="1E2B45"/>
            </a:solidFill>
            <a:prstDash val="solid"/>
          </a:ln>
        </p:spPr>
      </p:sp>
      <p:pic>
        <p:nvPicPr>
          <p:cNvPr id="22" name="Image 6" descr="preencoded.png"/>
          <p:cNvPicPr>
            <a:picLocks noChangeAspect="1"/>
          </p:cNvPicPr>
          <p:nvPr/>
        </p:nvPicPr>
        <p:blipFill>
          <a:blip r:embed="rId9"/>
          <a:stretch>
            <a:fillRect/>
          </a:stretch>
        </p:blipFill>
        <p:spPr>
          <a:xfrm>
            <a:off x="9710928" y="1764792"/>
            <a:ext cx="1864311" cy="3840480"/>
          </a:xfrm>
          <a:prstGeom prst="rect">
            <a:avLst/>
          </a:prstGeom>
        </p:spPr>
      </p:pic>
      <p:sp>
        <p:nvSpPr>
          <p:cNvPr id="23" name="Shape 14"/>
          <p:cNvSpPr/>
          <p:nvPr/>
        </p:nvSpPr>
        <p:spPr>
          <a:xfrm>
            <a:off x="9509760" y="1563624"/>
            <a:ext cx="402336" cy="402336"/>
          </a:xfrm>
          <a:prstGeom prst="ellipse">
            <a:avLst/>
          </a:prstGeom>
          <a:solidFill>
            <a:srgbClr val="34D399"/>
          </a:solidFill>
          <a:ln w="25400">
            <a:solidFill>
              <a:srgbClr val="0F172A"/>
            </a:solidFill>
            <a:prstDash val="solid"/>
          </a:ln>
        </p:spPr>
      </p:sp>
      <p:sp>
        <p:nvSpPr>
          <p:cNvPr id="24" name="Text 15"/>
          <p:cNvSpPr txBox="1"/>
          <p:nvPr/>
        </p:nvSpPr>
        <p:spPr>
          <a:xfrm>
            <a:off x="9509760"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pic>
        <p:nvPicPr>
          <p:cNvPr id="25" name="Image 7" descr="preencoded.png"/>
          <p:cNvPicPr>
            <a:picLocks noChangeAspect="1"/>
          </p:cNvPicPr>
          <p:nvPr/>
        </p:nvPicPr>
        <p:blipFill>
          <a:blip r:embed="rId3"/>
          <a:stretch>
            <a:fillRect/>
          </a:stretch>
        </p:blipFill>
        <p:spPr>
          <a:xfrm>
            <a:off x="11231575" y="6291072"/>
            <a:ext cx="384048" cy="384048"/>
          </a:xfrm>
          <a:prstGeom prst="rect">
            <a:avLst/>
          </a:prstGeom>
        </p:spPr>
      </p:pic>
      <p:sp>
        <p:nvSpPr>
          <p:cNvPr id="26" name="Text 16"/>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Airtime advance, for business</a:t>
            </a:r>
            <a:endParaRPr lang="en-US" sz="3400" dirty="0"/>
          </a:p>
        </p:txBody>
      </p:sp>
      <p:sp>
        <p:nvSpPr>
          <p:cNvPr id="4" name="Shape 2"/>
          <p:cNvSpPr/>
          <p:nvPr/>
        </p:nvSpPr>
        <p:spPr>
          <a:xfrm>
            <a:off x="548640" y="1783080"/>
            <a:ext cx="3931920" cy="3566160"/>
          </a:xfrm>
          <a:prstGeom prst="roundRect">
            <a:avLst>
              <a:gd name="adj" fmla="val 3077"/>
            </a:avLst>
          </a:prstGeom>
          <a:solidFill>
            <a:srgbClr val="1E2B45"/>
          </a:solidFill>
          <a:ln w="12700">
            <a:solidFill>
              <a:srgbClr val="1E2B45"/>
            </a:solidFill>
            <a:prstDash val="solid"/>
          </a:ln>
        </p:spPr>
      </p:sp>
      <p:sp>
        <p:nvSpPr>
          <p:cNvPr id="5" name="Shape 3"/>
          <p:cNvSpPr/>
          <p:nvPr/>
        </p:nvSpPr>
        <p:spPr>
          <a:xfrm>
            <a:off x="868680" y="2011680"/>
            <a:ext cx="685800" cy="685800"/>
          </a:xfrm>
          <a:prstGeom prst="ellipse">
            <a:avLst/>
          </a:prstGeom>
          <a:solidFill>
            <a:srgbClr val="1E2B45"/>
          </a:solidFill>
          <a:ln w="19050">
            <a:solidFill>
              <a:srgbClr val="FBBF24"/>
            </a:solidFill>
            <a:prstDash val="solid"/>
          </a:ln>
        </p:spPr>
      </p:sp>
      <p:pic>
        <p:nvPicPr>
          <p:cNvPr id="6" name="Image 0" descr="preencoded.png"/>
          <p:cNvPicPr>
            <a:picLocks noChangeAspect="1"/>
          </p:cNvPicPr>
          <p:nvPr/>
        </p:nvPicPr>
        <p:blipFill>
          <a:blip r:embed="rId3"/>
          <a:stretch>
            <a:fillRect/>
          </a:stretch>
        </p:blipFill>
        <p:spPr>
          <a:xfrm>
            <a:off x="1033272" y="2176272"/>
            <a:ext cx="356616" cy="356616"/>
          </a:xfrm>
          <a:prstGeom prst="rect">
            <a:avLst/>
          </a:prstGeom>
        </p:spPr>
      </p:pic>
      <p:sp>
        <p:nvSpPr>
          <p:cNvPr id="7" name="Text 4"/>
          <p:cNvSpPr txBox="1"/>
          <p:nvPr/>
        </p:nvSpPr>
        <p:spPr>
          <a:xfrm>
            <a:off x="868680" y="2834640"/>
            <a:ext cx="3383280" cy="320040"/>
          </a:xfrm>
          <a:prstGeom prst="rect">
            <a:avLst/>
          </a:prstGeom>
          <a:noFill/>
          <a:ln/>
        </p:spPr>
        <p:txBody>
          <a:bodyPr wrap="square" lIns="0" tIns="0" rIns="0" bIns="0" rtlCol="0" anchor="t"/>
          <a:lstStyle/>
          <a:p>
            <a:pPr marL="0" indent="0">
              <a:buNone/>
            </a:pPr>
            <a:r>
              <a:rPr lang="en-US" sz="1250" b="1" kern="0" spc="200" dirty="0">
                <a:solidFill>
                  <a:srgbClr val="FBBF24"/>
                </a:solidFill>
                <a:latin typeface="Calibri" pitchFamily="34" charset="0"/>
                <a:ea typeface="Calibri" pitchFamily="34" charset="-122"/>
                <a:cs typeface="Calibri" pitchFamily="34" charset="-120"/>
              </a:rPr>
              <a:t>YOU ALREADY KNOW IT</a:t>
            </a:r>
            <a:endParaRPr lang="en-US" sz="1250" dirty="0"/>
          </a:p>
        </p:txBody>
      </p:sp>
      <p:sp>
        <p:nvSpPr>
          <p:cNvPr id="8" name="Text 5"/>
          <p:cNvSpPr txBox="1"/>
          <p:nvPr/>
        </p:nvSpPr>
        <p:spPr>
          <a:xfrm>
            <a:off x="868680" y="3200400"/>
            <a:ext cx="3383280" cy="1188720"/>
          </a:xfrm>
          <a:prstGeom prst="rect">
            <a:avLst/>
          </a:prstGeom>
          <a:noFill/>
          <a:ln/>
        </p:spPr>
        <p:txBody>
          <a:bodyPr wrap="square" lIns="0" tIns="0" rIns="0" bIns="0" rtlCol="0" anchor="t"/>
          <a:lstStyle/>
          <a:p>
            <a:pPr marL="0" indent="0">
              <a:buNone/>
            </a:pPr>
            <a:r>
              <a:rPr lang="en-US" sz="2000" i="1" dirty="0">
                <a:solidFill>
                  <a:srgbClr val="F8FAFC"/>
                </a:solidFill>
                <a:latin typeface="Georgia" pitchFamily="34" charset="0"/>
                <a:ea typeface="Georgia" pitchFamily="34" charset="-122"/>
                <a:cs typeface="Georgia" pitchFamily="34" charset="-120"/>
              </a:rPr>
              <a:t>Your network lends you airtime because it's seen that you always pay.</a:t>
            </a:r>
            <a:endParaRPr lang="en-US" sz="2000" dirty="0"/>
          </a:p>
        </p:txBody>
      </p:sp>
      <p:sp>
        <p:nvSpPr>
          <p:cNvPr id="9" name="Text 6"/>
          <p:cNvSpPr txBox="1"/>
          <p:nvPr/>
        </p:nvSpPr>
        <p:spPr>
          <a:xfrm>
            <a:off x="868680" y="4480560"/>
            <a:ext cx="3383280" cy="731520"/>
          </a:xfrm>
          <a:prstGeom prst="rect">
            <a:avLst/>
          </a:prstGeom>
          <a:noFill/>
          <a:ln/>
        </p:spPr>
        <p:txBody>
          <a:bodyPr wrap="square" lIns="0" tIns="0" rIns="0" bIns="0" rtlCol="0" anchor="t"/>
          <a:lstStyle/>
          <a:p>
            <a:pPr marL="0" indent="0">
              <a:buNone/>
            </a:pPr>
            <a:r>
              <a:rPr lang="en-US" sz="1600" b="1" dirty="0">
                <a:solidFill>
                  <a:srgbClr val="34D399"/>
                </a:solidFill>
                <a:latin typeface="Calibri" pitchFamily="34" charset="0"/>
                <a:ea typeface="Calibri" pitchFamily="34" charset="-122"/>
                <a:cs typeface="Calibri" pitchFamily="34" charset="-120"/>
              </a:rPr>
              <a:t>Akayza builds that kind of history for a business.</a:t>
            </a:r>
            <a:endParaRPr lang="en-US" sz="1600" dirty="0"/>
          </a:p>
        </p:txBody>
      </p:sp>
      <p:sp>
        <p:nvSpPr>
          <p:cNvPr id="10" name="Shape 7"/>
          <p:cNvSpPr/>
          <p:nvPr/>
        </p:nvSpPr>
        <p:spPr>
          <a:xfrm>
            <a:off x="4800600" y="1783080"/>
            <a:ext cx="3291840" cy="1097280"/>
          </a:xfrm>
          <a:prstGeom prst="roundRect">
            <a:avLst>
              <a:gd name="adj" fmla="val 10000"/>
            </a:avLst>
          </a:prstGeom>
          <a:solidFill>
            <a:srgbClr val="17223A"/>
          </a:solidFill>
          <a:ln w="12700">
            <a:solidFill>
              <a:srgbClr val="17223A"/>
            </a:solidFill>
            <a:prstDash val="solid"/>
          </a:ln>
        </p:spPr>
      </p:sp>
      <p:sp>
        <p:nvSpPr>
          <p:cNvPr id="11" name="Shape 8"/>
          <p:cNvSpPr/>
          <p:nvPr/>
        </p:nvSpPr>
        <p:spPr>
          <a:xfrm>
            <a:off x="4983480" y="2048256"/>
            <a:ext cx="566928" cy="566928"/>
          </a:xfrm>
          <a:prstGeom prst="ellipse">
            <a:avLst/>
          </a:prstGeom>
          <a:solidFill>
            <a:srgbClr val="1E2B45"/>
          </a:solidFill>
          <a:ln w="19050">
            <a:solidFill>
              <a:srgbClr val="10B981"/>
            </a:solidFill>
            <a:prstDash val="solid"/>
          </a:ln>
        </p:spPr>
      </p:sp>
      <p:pic>
        <p:nvPicPr>
          <p:cNvPr id="12" name="Image 1" descr="preencoded.png"/>
          <p:cNvPicPr>
            <a:picLocks noChangeAspect="1"/>
          </p:cNvPicPr>
          <p:nvPr/>
        </p:nvPicPr>
        <p:blipFill>
          <a:blip r:embed="rId4"/>
          <a:stretch>
            <a:fillRect/>
          </a:stretch>
        </p:blipFill>
        <p:spPr>
          <a:xfrm>
            <a:off x="5119543" y="2184319"/>
            <a:ext cx="294803" cy="294803"/>
          </a:xfrm>
          <a:prstGeom prst="rect">
            <a:avLst/>
          </a:prstGeom>
        </p:spPr>
      </p:pic>
      <p:sp>
        <p:nvSpPr>
          <p:cNvPr id="13" name="Text 9"/>
          <p:cNvSpPr txBox="1"/>
          <p:nvPr/>
        </p:nvSpPr>
        <p:spPr>
          <a:xfrm>
            <a:off x="5696712" y="1938528"/>
            <a:ext cx="2286000" cy="36576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Paid orders</a:t>
            </a:r>
            <a:endParaRPr lang="en-US" sz="1600" dirty="0"/>
          </a:p>
        </p:txBody>
      </p:sp>
      <p:sp>
        <p:nvSpPr>
          <p:cNvPr id="14" name="Text 10"/>
          <p:cNvSpPr txBox="1"/>
          <p:nvPr/>
        </p:nvSpPr>
        <p:spPr>
          <a:xfrm>
            <a:off x="5696712" y="2286000"/>
            <a:ext cx="2286000" cy="502920"/>
          </a:xfrm>
          <a:prstGeom prst="rect">
            <a:avLst/>
          </a:prstGeom>
          <a:noFill/>
          <a:ln/>
        </p:spPr>
        <p:txBody>
          <a:bodyPr wrap="square" lIns="0" tIns="0" rIns="0" bIns="0" rtlCol="0" anchor="t"/>
          <a:lstStyle/>
          <a:p>
            <a:pPr marL="0" indent="0">
              <a:buNone/>
            </a:pPr>
            <a:r>
              <a:rPr lang="en-US" sz="1250" dirty="0">
                <a:solidFill>
                  <a:srgbClr val="A3B3C9"/>
                </a:solidFill>
                <a:latin typeface="Calibri" pitchFamily="34" charset="0"/>
                <a:ea typeface="Calibri" pitchFamily="34" charset="-122"/>
                <a:cs typeface="Calibri" pitchFamily="34" charset="-120"/>
              </a:rPr>
              <a:t>Confirmed by the payment provider</a:t>
            </a:r>
            <a:endParaRPr lang="en-US" sz="1250" dirty="0"/>
          </a:p>
        </p:txBody>
      </p:sp>
      <p:sp>
        <p:nvSpPr>
          <p:cNvPr id="15" name="Shape 11"/>
          <p:cNvSpPr/>
          <p:nvPr/>
        </p:nvSpPr>
        <p:spPr>
          <a:xfrm>
            <a:off x="6446520" y="2907792"/>
            <a:ext cx="0" cy="310896"/>
          </a:xfrm>
          <a:prstGeom prst="line">
            <a:avLst/>
          </a:prstGeom>
          <a:noFill/>
          <a:ln w="19050">
            <a:solidFill>
              <a:srgbClr val="64748B"/>
            </a:solidFill>
            <a:prstDash val="solid"/>
            <a:tailEnd type="triangle"/>
          </a:ln>
        </p:spPr>
      </p:sp>
      <p:sp>
        <p:nvSpPr>
          <p:cNvPr id="16" name="Shape 12"/>
          <p:cNvSpPr/>
          <p:nvPr/>
        </p:nvSpPr>
        <p:spPr>
          <a:xfrm>
            <a:off x="8348472" y="1783080"/>
            <a:ext cx="3291840" cy="1097280"/>
          </a:xfrm>
          <a:prstGeom prst="roundRect">
            <a:avLst>
              <a:gd name="adj" fmla="val 10000"/>
            </a:avLst>
          </a:prstGeom>
          <a:solidFill>
            <a:srgbClr val="17223A"/>
          </a:solidFill>
          <a:ln w="12700">
            <a:solidFill>
              <a:srgbClr val="17223A"/>
            </a:solidFill>
            <a:prstDash val="solid"/>
          </a:ln>
        </p:spPr>
      </p:sp>
      <p:sp>
        <p:nvSpPr>
          <p:cNvPr id="17" name="Shape 13"/>
          <p:cNvSpPr/>
          <p:nvPr/>
        </p:nvSpPr>
        <p:spPr>
          <a:xfrm>
            <a:off x="8531352" y="2048256"/>
            <a:ext cx="566928" cy="566928"/>
          </a:xfrm>
          <a:prstGeom prst="ellipse">
            <a:avLst/>
          </a:prstGeom>
          <a:solidFill>
            <a:srgbClr val="1E2B45"/>
          </a:solidFill>
          <a:ln w="19050">
            <a:solidFill>
              <a:srgbClr val="10B981"/>
            </a:solidFill>
            <a:prstDash val="solid"/>
          </a:ln>
        </p:spPr>
      </p:sp>
      <p:pic>
        <p:nvPicPr>
          <p:cNvPr id="18" name="Image 2" descr="preencoded.png"/>
          <p:cNvPicPr>
            <a:picLocks noChangeAspect="1"/>
          </p:cNvPicPr>
          <p:nvPr/>
        </p:nvPicPr>
        <p:blipFill>
          <a:blip r:embed="rId5"/>
          <a:stretch>
            <a:fillRect/>
          </a:stretch>
        </p:blipFill>
        <p:spPr>
          <a:xfrm>
            <a:off x="8667415" y="2184319"/>
            <a:ext cx="294803" cy="294803"/>
          </a:xfrm>
          <a:prstGeom prst="rect">
            <a:avLst/>
          </a:prstGeom>
        </p:spPr>
      </p:pic>
      <p:sp>
        <p:nvSpPr>
          <p:cNvPr id="19" name="Text 14"/>
          <p:cNvSpPr txBox="1"/>
          <p:nvPr/>
        </p:nvSpPr>
        <p:spPr>
          <a:xfrm>
            <a:off x="9244584" y="1938528"/>
            <a:ext cx="2286000" cy="36576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Signed-off jobs</a:t>
            </a:r>
            <a:endParaRPr lang="en-US" sz="1600" dirty="0"/>
          </a:p>
        </p:txBody>
      </p:sp>
      <p:sp>
        <p:nvSpPr>
          <p:cNvPr id="20" name="Text 15"/>
          <p:cNvSpPr txBox="1"/>
          <p:nvPr/>
        </p:nvSpPr>
        <p:spPr>
          <a:xfrm>
            <a:off x="9244584" y="2286000"/>
            <a:ext cx="2286000" cy="502920"/>
          </a:xfrm>
          <a:prstGeom prst="rect">
            <a:avLst/>
          </a:prstGeom>
          <a:noFill/>
          <a:ln/>
        </p:spPr>
        <p:txBody>
          <a:bodyPr wrap="square" lIns="0" tIns="0" rIns="0" bIns="0" rtlCol="0" anchor="t"/>
          <a:lstStyle/>
          <a:p>
            <a:pPr marL="0" indent="0">
              <a:buNone/>
            </a:pPr>
            <a:r>
              <a:rPr lang="en-US" sz="1250" dirty="0">
                <a:solidFill>
                  <a:srgbClr val="A3B3C9"/>
                </a:solidFill>
                <a:latin typeface="Calibri" pitchFamily="34" charset="0"/>
                <a:ea typeface="Calibri" pitchFamily="34" charset="-122"/>
                <a:cs typeface="Calibri" pitchFamily="34" charset="-120"/>
              </a:rPr>
              <a:t>Confirmed by the builder and the client</a:t>
            </a:r>
            <a:endParaRPr lang="en-US" sz="1250" dirty="0"/>
          </a:p>
        </p:txBody>
      </p:sp>
      <p:sp>
        <p:nvSpPr>
          <p:cNvPr id="21" name="Shape 16"/>
          <p:cNvSpPr/>
          <p:nvPr/>
        </p:nvSpPr>
        <p:spPr>
          <a:xfrm>
            <a:off x="9994392" y="2907792"/>
            <a:ext cx="0" cy="310896"/>
          </a:xfrm>
          <a:prstGeom prst="line">
            <a:avLst/>
          </a:prstGeom>
          <a:noFill/>
          <a:ln w="19050">
            <a:solidFill>
              <a:srgbClr val="64748B"/>
            </a:solidFill>
            <a:prstDash val="solid"/>
            <a:tailEnd type="triangle"/>
          </a:ln>
        </p:spPr>
      </p:sp>
      <p:sp>
        <p:nvSpPr>
          <p:cNvPr id="22" name="Shape 17"/>
          <p:cNvSpPr/>
          <p:nvPr/>
        </p:nvSpPr>
        <p:spPr>
          <a:xfrm>
            <a:off x="4800600" y="3246120"/>
            <a:ext cx="6839712" cy="1005840"/>
          </a:xfrm>
          <a:prstGeom prst="roundRect">
            <a:avLst>
              <a:gd name="adj" fmla="val 10909"/>
            </a:avLst>
          </a:prstGeom>
          <a:solidFill>
            <a:srgbClr val="10B981"/>
          </a:solidFill>
          <a:ln w="12700">
            <a:solidFill>
              <a:srgbClr val="10B981"/>
            </a:solidFill>
            <a:prstDash val="solid"/>
          </a:ln>
        </p:spPr>
      </p:sp>
      <p:sp>
        <p:nvSpPr>
          <p:cNvPr id="23" name="Text 18"/>
          <p:cNvSpPr txBox="1"/>
          <p:nvPr/>
        </p:nvSpPr>
        <p:spPr>
          <a:xfrm>
            <a:off x="5074920" y="3346704"/>
            <a:ext cx="6309360" cy="411480"/>
          </a:xfrm>
          <a:prstGeom prst="rect">
            <a:avLst/>
          </a:prstGeom>
          <a:noFill/>
          <a:ln/>
        </p:spPr>
        <p:txBody>
          <a:bodyPr wrap="square" lIns="0" tIns="0" rIns="0" bIns="0" rtlCol="0" anchor="t"/>
          <a:lstStyle/>
          <a:p>
            <a:pPr marL="0" indent="0">
              <a:buNone/>
            </a:pPr>
            <a:r>
              <a:rPr lang="en-US" sz="2000" b="1" dirty="0">
                <a:solidFill>
                  <a:srgbClr val="0F172A"/>
                </a:solidFill>
                <a:latin typeface="Calibri" pitchFamily="34" charset="0"/>
                <a:ea typeface="Calibri" pitchFamily="34" charset="-122"/>
                <a:cs typeface="Calibri" pitchFamily="34" charset="-120"/>
              </a:rPr>
              <a:t>A record the owner holds</a:t>
            </a:r>
            <a:endParaRPr lang="en-US" sz="2000" dirty="0"/>
          </a:p>
        </p:txBody>
      </p:sp>
      <p:sp>
        <p:nvSpPr>
          <p:cNvPr id="24" name="Text 19"/>
          <p:cNvSpPr txBox="1"/>
          <p:nvPr/>
        </p:nvSpPr>
        <p:spPr>
          <a:xfrm>
            <a:off x="5074920" y="3767328"/>
            <a:ext cx="6309360" cy="36576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Every paid order and signed-off job adds to it. It's shared only with the owner's consent.</a:t>
            </a:r>
            <a:endParaRPr lang="en-US" sz="1300" dirty="0"/>
          </a:p>
        </p:txBody>
      </p:sp>
      <p:sp>
        <p:nvSpPr>
          <p:cNvPr id="25" name="Shape 20"/>
          <p:cNvSpPr/>
          <p:nvPr/>
        </p:nvSpPr>
        <p:spPr>
          <a:xfrm>
            <a:off x="8220456" y="4279392"/>
            <a:ext cx="0" cy="310896"/>
          </a:xfrm>
          <a:prstGeom prst="line">
            <a:avLst/>
          </a:prstGeom>
          <a:noFill/>
          <a:ln w="19050">
            <a:solidFill>
              <a:srgbClr val="64748B"/>
            </a:solidFill>
            <a:prstDash val="solid"/>
            <a:tailEnd type="triangle"/>
          </a:ln>
        </p:spPr>
      </p:sp>
      <p:sp>
        <p:nvSpPr>
          <p:cNvPr id="26" name="Text 21"/>
          <p:cNvSpPr txBox="1"/>
          <p:nvPr/>
        </p:nvSpPr>
        <p:spPr>
          <a:xfrm>
            <a:off x="4800600" y="4617720"/>
            <a:ext cx="1554480" cy="731520"/>
          </a:xfrm>
          <a:prstGeom prst="rect">
            <a:avLst/>
          </a:prstGeom>
          <a:noFill/>
          <a:ln/>
        </p:spPr>
        <p:txBody>
          <a:bodyPr wrap="square" lIns="0" tIns="0" rIns="0" bIns="0" rtlCol="0" anchor="ctr"/>
          <a:lstStyle/>
          <a:p>
            <a:pPr marL="0" indent="0">
              <a:buNone/>
            </a:pPr>
            <a:r>
              <a:rPr lang="en-US" sz="1400" dirty="0">
                <a:solidFill>
                  <a:srgbClr val="A3B3C9"/>
                </a:solidFill>
                <a:latin typeface="Calibri" pitchFamily="34" charset="0"/>
                <a:ea typeface="Calibri" pitchFamily="34" charset="-122"/>
                <a:cs typeface="Calibri" pitchFamily="34" charset="-120"/>
              </a:rPr>
              <a:t>The first step to</a:t>
            </a:r>
            <a:endParaRPr lang="en-US" sz="1400" dirty="0"/>
          </a:p>
        </p:txBody>
      </p:sp>
      <p:sp>
        <p:nvSpPr>
          <p:cNvPr id="27" name="Shape 22"/>
          <p:cNvSpPr/>
          <p:nvPr/>
        </p:nvSpPr>
        <p:spPr>
          <a:xfrm>
            <a:off x="6400800" y="4617720"/>
            <a:ext cx="1645920" cy="731520"/>
          </a:xfrm>
          <a:prstGeom prst="roundRect">
            <a:avLst>
              <a:gd name="adj" fmla="val 15000"/>
            </a:avLst>
          </a:prstGeom>
          <a:solidFill>
            <a:srgbClr val="17223A"/>
          </a:solidFill>
          <a:ln w="12700">
            <a:solidFill>
              <a:srgbClr val="17223A"/>
            </a:solidFill>
            <a:prstDash val="solid"/>
          </a:ln>
        </p:spPr>
      </p:sp>
      <p:sp>
        <p:nvSpPr>
          <p:cNvPr id="28" name="Text 23"/>
          <p:cNvSpPr txBox="1"/>
          <p:nvPr/>
        </p:nvSpPr>
        <p:spPr>
          <a:xfrm>
            <a:off x="6400800" y="4617720"/>
            <a:ext cx="1645920" cy="731520"/>
          </a:xfrm>
          <a:prstGeom prst="rect">
            <a:avLst/>
          </a:prstGeom>
          <a:noFill/>
          <a:ln/>
        </p:spPr>
        <p:txBody>
          <a:bodyPr wrap="square" lIns="0" tIns="0" rIns="0" bIns="0" rtlCol="0" anchor="ctr"/>
          <a:lstStyle/>
          <a:p>
            <a:pPr marL="0" indent="0" algn="ctr">
              <a:buNone/>
            </a:pPr>
            <a:r>
              <a:rPr lang="en-US" sz="1500" b="1" dirty="0">
                <a:solidFill>
                  <a:srgbClr val="FBBF24"/>
                </a:solidFill>
                <a:latin typeface="Calibri" pitchFamily="34" charset="0"/>
                <a:ea typeface="Calibri" pitchFamily="34" charset="-122"/>
                <a:cs typeface="Calibri" pitchFamily="34" charset="-120"/>
              </a:rPr>
              <a:t>Credit</a:t>
            </a:r>
            <a:endParaRPr lang="en-US" sz="1500" dirty="0"/>
          </a:p>
        </p:txBody>
      </p:sp>
      <p:sp>
        <p:nvSpPr>
          <p:cNvPr id="29" name="Shape 24"/>
          <p:cNvSpPr/>
          <p:nvPr/>
        </p:nvSpPr>
        <p:spPr>
          <a:xfrm>
            <a:off x="8165592" y="4617720"/>
            <a:ext cx="1645920" cy="731520"/>
          </a:xfrm>
          <a:prstGeom prst="roundRect">
            <a:avLst>
              <a:gd name="adj" fmla="val 15000"/>
            </a:avLst>
          </a:prstGeom>
          <a:solidFill>
            <a:srgbClr val="17223A"/>
          </a:solidFill>
          <a:ln w="12700">
            <a:solidFill>
              <a:srgbClr val="17223A"/>
            </a:solidFill>
            <a:prstDash val="solid"/>
          </a:ln>
        </p:spPr>
      </p:sp>
      <p:sp>
        <p:nvSpPr>
          <p:cNvPr id="30" name="Text 25"/>
          <p:cNvSpPr txBox="1"/>
          <p:nvPr/>
        </p:nvSpPr>
        <p:spPr>
          <a:xfrm>
            <a:off x="8165592" y="4617720"/>
            <a:ext cx="1645920" cy="731520"/>
          </a:xfrm>
          <a:prstGeom prst="rect">
            <a:avLst/>
          </a:prstGeom>
          <a:noFill/>
          <a:ln/>
        </p:spPr>
        <p:txBody>
          <a:bodyPr wrap="square" lIns="0" tIns="0" rIns="0" bIns="0" rtlCol="0" anchor="ctr"/>
          <a:lstStyle/>
          <a:p>
            <a:pPr marL="0" indent="0" algn="ctr">
              <a:buNone/>
            </a:pPr>
            <a:r>
              <a:rPr lang="en-US" sz="1500" b="1" dirty="0">
                <a:solidFill>
                  <a:srgbClr val="10B981"/>
                </a:solidFill>
                <a:latin typeface="Calibri" pitchFamily="34" charset="0"/>
                <a:ea typeface="Calibri" pitchFamily="34" charset="-122"/>
                <a:cs typeface="Calibri" pitchFamily="34" charset="-120"/>
              </a:rPr>
              <a:t>Better suppliers</a:t>
            </a:r>
            <a:endParaRPr lang="en-US" sz="1500" dirty="0"/>
          </a:p>
        </p:txBody>
      </p:sp>
      <p:sp>
        <p:nvSpPr>
          <p:cNvPr id="31" name="Shape 26"/>
          <p:cNvSpPr/>
          <p:nvPr/>
        </p:nvSpPr>
        <p:spPr>
          <a:xfrm>
            <a:off x="9930384" y="4617720"/>
            <a:ext cx="1645920" cy="731520"/>
          </a:xfrm>
          <a:prstGeom prst="roundRect">
            <a:avLst>
              <a:gd name="adj" fmla="val 15000"/>
            </a:avLst>
          </a:prstGeom>
          <a:solidFill>
            <a:srgbClr val="17223A"/>
          </a:solidFill>
          <a:ln w="12700">
            <a:solidFill>
              <a:srgbClr val="17223A"/>
            </a:solidFill>
            <a:prstDash val="solid"/>
          </a:ln>
        </p:spPr>
      </p:sp>
      <p:sp>
        <p:nvSpPr>
          <p:cNvPr id="32" name="Text 27"/>
          <p:cNvSpPr txBox="1"/>
          <p:nvPr/>
        </p:nvSpPr>
        <p:spPr>
          <a:xfrm>
            <a:off x="9930384" y="4617720"/>
            <a:ext cx="1645920" cy="731520"/>
          </a:xfrm>
          <a:prstGeom prst="rect">
            <a:avLst/>
          </a:prstGeom>
          <a:noFill/>
          <a:ln/>
        </p:spPr>
        <p:txBody>
          <a:bodyPr wrap="square" lIns="0" tIns="0" rIns="0" bIns="0" rtlCol="0" anchor="ctr"/>
          <a:lstStyle/>
          <a:p>
            <a:pPr marL="0" indent="0" algn="ctr">
              <a:buNone/>
            </a:pPr>
            <a:r>
              <a:rPr lang="en-US" sz="1500" b="1" dirty="0">
                <a:solidFill>
                  <a:srgbClr val="34D399"/>
                </a:solidFill>
                <a:latin typeface="Calibri" pitchFamily="34" charset="0"/>
                <a:ea typeface="Calibri" pitchFamily="34" charset="-122"/>
                <a:cs typeface="Calibri" pitchFamily="34" charset="-120"/>
              </a:rPr>
              <a:t>New clients</a:t>
            </a:r>
            <a:endParaRPr lang="en-US" sz="1500" dirty="0"/>
          </a:p>
        </p:txBody>
      </p:sp>
      <p:pic>
        <p:nvPicPr>
          <p:cNvPr id="33" name="Image 3" descr="preencoded.png"/>
          <p:cNvPicPr>
            <a:picLocks noChangeAspect="1"/>
          </p:cNvPicPr>
          <p:nvPr/>
        </p:nvPicPr>
        <p:blipFill>
          <a:blip r:embed="rId6"/>
          <a:stretch>
            <a:fillRect/>
          </a:stretch>
        </p:blipFill>
        <p:spPr>
          <a:xfrm>
            <a:off x="11231575" y="6291072"/>
            <a:ext cx="384048" cy="384048"/>
          </a:xfrm>
          <a:prstGeom prst="rect">
            <a:avLst/>
          </a:prstGeom>
        </p:spPr>
      </p:pic>
      <p:sp>
        <p:nvSpPr>
          <p:cNvPr id="34" name="Text 28"/>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DEMO</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Meet Sipho and Thabo</a:t>
            </a:r>
            <a:endParaRPr lang="en-US" sz="3400" dirty="0"/>
          </a:p>
        </p:txBody>
      </p:sp>
      <p:sp>
        <p:nvSpPr>
          <p:cNvPr id="4" name="Shape 2"/>
          <p:cNvSpPr/>
          <p:nvPr/>
        </p:nvSpPr>
        <p:spPr>
          <a:xfrm>
            <a:off x="475488" y="1527048"/>
            <a:ext cx="8375904" cy="4775454"/>
          </a:xfrm>
          <a:prstGeom prst="roundRect">
            <a:avLst>
              <a:gd name="adj" fmla="val 2298"/>
            </a:avLst>
          </a:prstGeom>
          <a:solidFill>
            <a:srgbClr val="1E2B45"/>
          </a:solidFill>
          <a:ln w="12700">
            <a:solidFill>
              <a:srgbClr val="1E2B45"/>
            </a:solidFill>
            <a:prstDash val="solid"/>
          </a:ln>
        </p:spPr>
      </p:sp>
      <p:pic>
        <p:nvPicPr>
          <p:cNvPr id="5" name="Demo video">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8640" y="1600200"/>
            <a:ext cx="8229600" cy="4629150"/>
          </a:xfrm>
          <a:prstGeom prst="rect">
            <a:avLst/>
          </a:prstGeom>
        </p:spPr>
      </p:pic>
      <p:sp>
        <p:nvSpPr>
          <p:cNvPr id="6" name="Text 3"/>
          <p:cNvSpPr txBox="1"/>
          <p:nvPr/>
        </p:nvSpPr>
        <p:spPr>
          <a:xfrm>
            <a:off x="9098280" y="1645920"/>
            <a:ext cx="2542032" cy="365760"/>
          </a:xfrm>
          <a:prstGeom prst="rect">
            <a:avLst/>
          </a:prstGeom>
          <a:noFill/>
          <a:ln/>
        </p:spPr>
        <p:txBody>
          <a:bodyPr wrap="square" lIns="0" tIns="0" rIns="0" bIns="0" rtlCol="0" anchor="t"/>
          <a:lstStyle/>
          <a:p>
            <a:pPr marL="0" indent="0">
              <a:buNone/>
            </a:pPr>
            <a:r>
              <a:rPr lang="en-US" sz="1600" b="1" dirty="0">
                <a:solidFill>
                  <a:srgbClr val="10B981"/>
                </a:solidFill>
                <a:latin typeface="Calibri" pitchFamily="34" charset="0"/>
                <a:ea typeface="Calibri" pitchFamily="34" charset="-122"/>
                <a:cs typeface="Calibri" pitchFamily="34" charset="-120"/>
              </a:rPr>
              <a:t>Watch for</a:t>
            </a:r>
            <a:endParaRPr lang="en-US" sz="1600" dirty="0"/>
          </a:p>
        </p:txBody>
      </p:sp>
      <p:sp>
        <p:nvSpPr>
          <p:cNvPr id="7" name="Text 4"/>
          <p:cNvSpPr txBox="1"/>
          <p:nvPr/>
        </p:nvSpPr>
        <p:spPr>
          <a:xfrm>
            <a:off x="9098280" y="2103120"/>
            <a:ext cx="2542032" cy="28803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8FAFC"/>
                </a:solidFill>
                <a:latin typeface="Calibri" pitchFamily="34" charset="0"/>
                <a:ea typeface="Calibri" pitchFamily="34" charset="-122"/>
                <a:cs typeface="Calibri" pitchFamily="34" charset="-120"/>
              </a:rPr>
              <a:t>Sipho picks Food and drops a pin where he trades</a:t>
            </a:r>
            <a:endParaRPr lang="en-US" sz="1250" dirty="0"/>
          </a:p>
          <a:p>
            <a:pPr marL="342900" indent="-342900">
              <a:spcAft>
                <a:spcPts val="600"/>
              </a:spcAft>
              <a:buSzPct val="100000"/>
              <a:buChar char="•"/>
            </a:pPr>
            <a:r>
              <a:rPr lang="en-US" sz="1250" dirty="0">
                <a:solidFill>
                  <a:srgbClr val="F8FAFC"/>
                </a:solidFill>
                <a:latin typeface="Calibri" pitchFamily="34" charset="0"/>
                <a:ea typeface="Calibri" pitchFamily="34" charset="-122"/>
                <a:cs typeface="Calibri" pitchFamily="34" charset="-120"/>
              </a:rPr>
              <a:t>Suppliers who deliver to him</a:t>
            </a:r>
            <a:endParaRPr lang="en-US" sz="1250" dirty="0"/>
          </a:p>
          <a:p>
            <a:pPr marL="342900" indent="-342900">
              <a:spcAft>
                <a:spcPts val="600"/>
              </a:spcAft>
              <a:buSzPct val="100000"/>
              <a:buChar char="•"/>
            </a:pPr>
            <a:r>
              <a:rPr lang="en-US" sz="1250" dirty="0">
                <a:solidFill>
                  <a:srgbClr val="F8FAFC"/>
                </a:solidFill>
                <a:latin typeface="Calibri" pitchFamily="34" charset="0"/>
                <a:ea typeface="Calibri" pitchFamily="34" charset="-122"/>
                <a:cs typeface="Calibri" pitchFamily="34" charset="-120"/>
              </a:rPr>
              <a:t>Bread from a bakery that delivers, paid, confirmed by the provider</a:t>
            </a:r>
            <a:endParaRPr lang="en-US" sz="1250" dirty="0"/>
          </a:p>
          <a:p>
            <a:pPr marL="342900" indent="-342900">
              <a:spcAft>
                <a:spcPts val="600"/>
              </a:spcAft>
              <a:buSzPct val="100000"/>
              <a:buChar char="•"/>
            </a:pPr>
            <a:r>
              <a:rPr lang="en-US" sz="1250" dirty="0">
                <a:solidFill>
                  <a:srgbClr val="F8FAFC"/>
                </a:solidFill>
                <a:latin typeface="Calibri" pitchFamily="34" charset="0"/>
                <a:ea typeface="Calibri" pitchFamily="34" charset="-122"/>
                <a:cs typeface="Calibri" pitchFamily="34" charset="-120"/>
              </a:rPr>
              <a:t>Every kota he sells, in his order book</a:t>
            </a:r>
            <a:endParaRPr lang="en-US" sz="1250" dirty="0"/>
          </a:p>
          <a:p>
            <a:pPr marL="342900" indent="-342900">
              <a:spcAft>
                <a:spcPts val="600"/>
              </a:spcAft>
              <a:buSzPct val="100000"/>
              <a:buChar char="•"/>
            </a:pPr>
            <a:r>
              <a:rPr lang="en-US" sz="1250" dirty="0">
                <a:solidFill>
                  <a:srgbClr val="F8FAFC"/>
                </a:solidFill>
                <a:latin typeface="Calibri" pitchFamily="34" charset="0"/>
                <a:ea typeface="Calibri" pitchFamily="34" charset="-122"/>
                <a:cs typeface="Calibri" pitchFamily="34" charset="-120"/>
              </a:rPr>
              <a:t>Thabo's job: stage photos, signed off by the client</a:t>
            </a:r>
            <a:endParaRPr lang="en-US" sz="1250" dirty="0"/>
          </a:p>
        </p:txBody>
      </p:sp>
      <p:sp>
        <p:nvSpPr>
          <p:cNvPr id="8" name="Text 5"/>
          <p:cNvSpPr txBox="1"/>
          <p:nvPr/>
        </p:nvSpPr>
        <p:spPr>
          <a:xfrm>
            <a:off x="9098280" y="5074920"/>
            <a:ext cx="2542032" cy="274320"/>
          </a:xfrm>
          <a:prstGeom prst="rect">
            <a:avLst/>
          </a:prstGeom>
          <a:noFill/>
          <a:ln/>
        </p:spPr>
        <p:txBody>
          <a:bodyPr wrap="square" lIns="0" tIns="0" rIns="0" bIns="0" rtlCol="0" anchor="t"/>
          <a:lstStyle/>
          <a:p>
            <a:pPr marL="0" indent="0">
              <a:buNone/>
            </a:pPr>
            <a:r>
              <a:rPr lang="en-US" sz="1150" b="1" dirty="0">
                <a:solidFill>
                  <a:srgbClr val="A3B3C9"/>
                </a:solidFill>
                <a:latin typeface="Calibri" pitchFamily="34" charset="0"/>
                <a:ea typeface="Calibri" pitchFamily="34" charset="-122"/>
                <a:cs typeface="Calibri" pitchFamily="34" charset="-120"/>
              </a:rPr>
              <a:t>Full video, 81 seconds:</a:t>
            </a:r>
            <a:endParaRPr lang="en-US" sz="1150" dirty="0"/>
          </a:p>
        </p:txBody>
      </p:sp>
      <p:sp>
        <p:nvSpPr>
          <p:cNvPr id="9" name="Text 6"/>
          <p:cNvSpPr txBox="1"/>
          <p:nvPr/>
        </p:nvSpPr>
        <p:spPr>
          <a:xfrm>
            <a:off x="9098280" y="5349240"/>
            <a:ext cx="2542032" cy="777240"/>
          </a:xfrm>
          <a:prstGeom prst="rect">
            <a:avLst/>
          </a:prstGeom>
          <a:noFill/>
          <a:ln/>
        </p:spPr>
        <p:txBody>
          <a:bodyPr wrap="square" lIns="0" tIns="0" rIns="0" bIns="0" rtlCol="0" anchor="t"/>
          <a:lstStyle/>
          <a:p>
            <a:pPr marL="0" indent="0">
              <a:buNone/>
            </a:pPr>
            <a:r>
              <a:rPr lang="en-US" sz="950" u="sng" dirty="0">
                <a:solidFill>
                  <a:srgbClr val="34D399"/>
                </a:solidFill>
                <a:latin typeface="Calibri" pitchFamily="34" charset="0"/>
                <a:ea typeface="Calibri" pitchFamily="34" charset="-122"/>
                <a:cs typeface="Calibri" pitchFamily="34" charset="-120"/>
                <a:hlinkClick r:id="rId6" tooltip="Watch the full demo">
                  <a:extLst>
                    <a:ext uri="{A12FA001-AC4F-418D-AE19-62706E023703}">
                      <ahyp:hlinkClr xmlns:ahyp="http://schemas.microsoft.com/office/drawing/2018/hyperlinkcolor" val="tx"/>
                    </a:ext>
                  </a:extLst>
                </a:hlinkClick>
              </a:rPr>
              <a:t>https://drive.google.com/file/d/1yYQfVBEG-dnn-hxgRRtD5xDVw8vZV8Es/view?usp=drive_link</a:t>
            </a:r>
            <a:endParaRPr lang="en-US" sz="950" dirty="0"/>
          </a:p>
        </p:txBody>
      </p:sp>
      <p:pic>
        <p:nvPicPr>
          <p:cNvPr id="10" name="Image 0" descr="preencoded.png"/>
          <p:cNvPicPr>
            <a:picLocks noChangeAspect="1"/>
          </p:cNvPicPr>
          <p:nvPr/>
        </p:nvPicPr>
        <p:blipFill>
          <a:blip r:embed="rId7"/>
          <a:stretch>
            <a:fillRect/>
          </a:stretch>
        </p:blipFill>
        <p:spPr>
          <a:xfrm>
            <a:off x="11231575" y="6291072"/>
            <a:ext cx="384048" cy="384048"/>
          </a:xfrm>
          <a:prstGeom prst="rect">
            <a:avLst/>
          </a:prstGeom>
        </p:spPr>
      </p:pic>
      <p:sp>
        <p:nvSpPr>
          <p:cNvPr id="11" name="Text 7"/>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Free for businesses. Suppliers pay.</a:t>
            </a:r>
            <a:endParaRPr lang="en-US" sz="3400" dirty="0"/>
          </a:p>
        </p:txBody>
      </p:sp>
      <p:sp>
        <p:nvSpPr>
          <p:cNvPr id="4" name="Shape 2"/>
          <p:cNvSpPr/>
          <p:nvPr/>
        </p:nvSpPr>
        <p:spPr>
          <a:xfrm>
            <a:off x="548640" y="1783080"/>
            <a:ext cx="4663440" cy="786384"/>
          </a:xfrm>
          <a:prstGeom prst="roundRect">
            <a:avLst>
              <a:gd name="adj" fmla="val 13953"/>
            </a:avLst>
          </a:prstGeom>
          <a:solidFill>
            <a:srgbClr val="17223A"/>
          </a:solidFill>
          <a:ln w="12700">
            <a:solidFill>
              <a:srgbClr val="17223A"/>
            </a:solidFill>
            <a:prstDash val="solid"/>
          </a:ln>
        </p:spPr>
      </p:sp>
      <p:sp>
        <p:nvSpPr>
          <p:cNvPr id="5" name="Text 3"/>
          <p:cNvSpPr txBox="1"/>
          <p:nvPr/>
        </p:nvSpPr>
        <p:spPr>
          <a:xfrm>
            <a:off x="822960" y="1975104"/>
            <a:ext cx="2103120" cy="411480"/>
          </a:xfrm>
          <a:prstGeom prst="rect">
            <a:avLst/>
          </a:prstGeom>
          <a:noFill/>
          <a:ln/>
        </p:spPr>
        <p:txBody>
          <a:bodyPr wrap="square" lIns="0" tIns="0" rIns="0" bIns="0" rtlCol="0" anchor="t"/>
          <a:lstStyle/>
          <a:p>
            <a:pPr marL="0" indent="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28800"/>
            <a:ext cx="1737360" cy="685800"/>
          </a:xfrm>
          <a:prstGeom prst="rect">
            <a:avLst/>
          </a:prstGeom>
          <a:noFill/>
          <a:ln/>
        </p:spPr>
        <p:txBody>
          <a:bodyPr wrap="square" lIns="0" tIns="0" rIns="0" bIns="0" rtlCol="0" anchor="t"/>
          <a:lstStyle/>
          <a:p>
            <a:pPr marL="0" indent="0" algn="r">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039112"/>
            <a:ext cx="914400" cy="365760"/>
          </a:xfrm>
          <a:prstGeom prst="rect">
            <a:avLst/>
          </a:prstGeom>
          <a:noFill/>
          <a:ln/>
        </p:spPr>
        <p:txBody>
          <a:bodyPr wrap="square" lIns="0" tIns="0" rIns="0" bIns="0" rtlCol="0" anchor="t"/>
          <a:lstStyle/>
          <a:p>
            <a:pPr marL="0" indent="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697480"/>
            <a:ext cx="4663440" cy="786384"/>
          </a:xfrm>
          <a:prstGeom prst="roundRect">
            <a:avLst>
              <a:gd name="adj" fmla="val 13953"/>
            </a:avLst>
          </a:prstGeom>
          <a:solidFill>
            <a:srgbClr val="17223A"/>
          </a:solidFill>
          <a:ln w="12700">
            <a:solidFill>
              <a:srgbClr val="17223A"/>
            </a:solidFill>
            <a:prstDash val="solid"/>
          </a:ln>
        </p:spPr>
      </p:sp>
      <p:sp>
        <p:nvSpPr>
          <p:cNvPr id="9" name="Text 7"/>
          <p:cNvSpPr txBox="1"/>
          <p:nvPr/>
        </p:nvSpPr>
        <p:spPr>
          <a:xfrm>
            <a:off x="822960" y="2889504"/>
            <a:ext cx="2103120" cy="411480"/>
          </a:xfrm>
          <a:prstGeom prst="rect">
            <a:avLst/>
          </a:prstGeom>
          <a:noFill/>
          <a:ln/>
        </p:spPr>
        <p:txBody>
          <a:bodyPr wrap="square" lIns="0" tIns="0" rIns="0" bIns="0" rtlCol="0" anchor="t"/>
          <a:lstStyle/>
          <a:p>
            <a:pPr marL="0" indent="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743200"/>
            <a:ext cx="1737360" cy="685800"/>
          </a:xfrm>
          <a:prstGeom prst="rect">
            <a:avLst/>
          </a:prstGeom>
          <a:noFill/>
          <a:ln/>
        </p:spPr>
        <p:txBody>
          <a:bodyPr wrap="square" lIns="0" tIns="0" rIns="0" bIns="0" rtlCol="0" anchor="t"/>
          <a:lstStyle/>
          <a:p>
            <a:pPr marL="0" indent="0" algn="r">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2953512"/>
            <a:ext cx="914400" cy="365760"/>
          </a:xfrm>
          <a:prstGeom prst="rect">
            <a:avLst/>
          </a:prstGeom>
          <a:noFill/>
          <a:ln/>
        </p:spPr>
        <p:txBody>
          <a:bodyPr wrap="square" lIns="0" tIns="0" rIns="0" bIns="0" rtlCol="0" anchor="t"/>
          <a:lstStyle/>
          <a:p>
            <a:pPr marL="0" indent="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611880"/>
            <a:ext cx="4663440" cy="786384"/>
          </a:xfrm>
          <a:prstGeom prst="roundRect">
            <a:avLst>
              <a:gd name="adj" fmla="val 13953"/>
            </a:avLst>
          </a:prstGeom>
          <a:solidFill>
            <a:srgbClr val="17223A"/>
          </a:solidFill>
          <a:ln w="12700">
            <a:solidFill>
              <a:srgbClr val="17223A"/>
            </a:solidFill>
            <a:prstDash val="solid"/>
          </a:ln>
        </p:spPr>
      </p:sp>
      <p:sp>
        <p:nvSpPr>
          <p:cNvPr id="13" name="Text 11"/>
          <p:cNvSpPr txBox="1"/>
          <p:nvPr/>
        </p:nvSpPr>
        <p:spPr>
          <a:xfrm>
            <a:off x="822960" y="3803904"/>
            <a:ext cx="2103120" cy="411480"/>
          </a:xfrm>
          <a:prstGeom prst="rect">
            <a:avLst/>
          </a:prstGeom>
          <a:noFill/>
          <a:ln/>
        </p:spPr>
        <p:txBody>
          <a:bodyPr wrap="square" lIns="0" tIns="0" rIns="0" bIns="0" rtlCol="0" anchor="t"/>
          <a:lstStyle/>
          <a:p>
            <a:pPr marL="0" indent="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657600"/>
            <a:ext cx="1737360" cy="685800"/>
          </a:xfrm>
          <a:prstGeom prst="rect">
            <a:avLst/>
          </a:prstGeom>
          <a:noFill/>
          <a:ln/>
        </p:spPr>
        <p:txBody>
          <a:bodyPr wrap="square" lIns="0" tIns="0" rIns="0" bIns="0" rtlCol="0" anchor="t"/>
          <a:lstStyle/>
          <a:p>
            <a:pPr marL="0" indent="0" algn="r">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3867912"/>
            <a:ext cx="914400" cy="365760"/>
          </a:xfrm>
          <a:prstGeom prst="rect">
            <a:avLst/>
          </a:prstGeom>
          <a:noFill/>
          <a:ln/>
        </p:spPr>
        <p:txBody>
          <a:bodyPr wrap="square" lIns="0" tIns="0" rIns="0" bIns="0" rtlCol="0" anchor="t"/>
          <a:lstStyle/>
          <a:p>
            <a:pPr marL="0" indent="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526280"/>
            <a:ext cx="4663440" cy="786384"/>
          </a:xfrm>
          <a:prstGeom prst="roundRect">
            <a:avLst>
              <a:gd name="adj" fmla="val 13953"/>
            </a:avLst>
          </a:prstGeom>
          <a:solidFill>
            <a:srgbClr val="17223A"/>
          </a:solidFill>
          <a:ln w="12700">
            <a:solidFill>
              <a:srgbClr val="17223A"/>
            </a:solidFill>
            <a:prstDash val="solid"/>
          </a:ln>
        </p:spPr>
      </p:sp>
      <p:sp>
        <p:nvSpPr>
          <p:cNvPr id="17" name="Text 15"/>
          <p:cNvSpPr txBox="1"/>
          <p:nvPr/>
        </p:nvSpPr>
        <p:spPr>
          <a:xfrm>
            <a:off x="822960" y="4718304"/>
            <a:ext cx="2103120" cy="411480"/>
          </a:xfrm>
          <a:prstGeom prst="rect">
            <a:avLst/>
          </a:prstGeom>
          <a:noFill/>
          <a:ln/>
        </p:spPr>
        <p:txBody>
          <a:bodyPr wrap="square" lIns="0" tIns="0" rIns="0" bIns="0" rtlCol="0" anchor="t"/>
          <a:lstStyle/>
          <a:p>
            <a:pPr marL="0" indent="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4572000"/>
            <a:ext cx="1737360" cy="685800"/>
          </a:xfrm>
          <a:prstGeom prst="rect">
            <a:avLst/>
          </a:prstGeom>
          <a:noFill/>
          <a:ln/>
        </p:spPr>
        <p:txBody>
          <a:bodyPr wrap="square" lIns="0" tIns="0" rIns="0" bIns="0" rtlCol="0" anchor="t"/>
          <a:lstStyle/>
          <a:p>
            <a:pPr marL="0" indent="0" algn="r">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4782312"/>
            <a:ext cx="914400" cy="365760"/>
          </a:xfrm>
          <a:prstGeom prst="rect">
            <a:avLst/>
          </a:prstGeom>
          <a:noFill/>
          <a:ln/>
        </p:spPr>
        <p:txBody>
          <a:bodyPr wrap="square" lIns="0" tIns="0" rIns="0" bIns="0" rtlCol="0" anchor="t"/>
          <a:lstStyle/>
          <a:p>
            <a:pPr marL="0" indent="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3529584"/>
          </a:xfrm>
          <a:prstGeom prst="roundRect">
            <a:avLst>
              <a:gd name="adj" fmla="val 3109"/>
            </a:avLst>
          </a:prstGeom>
          <a:solidFill>
            <a:srgbClr val="17223A"/>
          </a:solidFill>
          <a:ln w="12700">
            <a:solidFill>
              <a:srgbClr val="17223A"/>
            </a:solidFill>
            <a:prstDash val="solid"/>
          </a:ln>
        </p:spPr>
      </p:sp>
      <p:graphicFrame>
        <p:nvGraphicFramePr>
          <p:cNvPr id="21" name="Chart 0"/>
          <p:cNvGraphicFramePr/>
          <p:nvPr/>
        </p:nvGraphicFramePr>
        <p:xfrm>
          <a:off x="5623560" y="1874520"/>
          <a:ext cx="58521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txBox="1"/>
          <p:nvPr/>
        </p:nvSpPr>
        <p:spPr>
          <a:xfrm>
            <a:off x="5669280" y="4645152"/>
            <a:ext cx="5760720" cy="320040"/>
          </a:xfrm>
          <a:prstGeom prst="rect">
            <a:avLst/>
          </a:prstGeom>
          <a:noFill/>
          <a:ln/>
        </p:spPr>
        <p:txBody>
          <a:bodyPr wrap="square" lIns="0" tIns="0" rIns="0" bIns="0" rtlCol="0" anchor="t"/>
          <a:lstStyle/>
          <a:p>
            <a:pPr marL="0" indent="0" algn="ctr">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4937760"/>
            <a:ext cx="5760720" cy="274320"/>
          </a:xfrm>
          <a:prstGeom prst="rect">
            <a:avLst/>
          </a:prstGeom>
          <a:noFill/>
          <a:ln/>
        </p:spPr>
        <p:txBody>
          <a:bodyPr wrap="square" lIns="0" tIns="0" rIns="0" bIns="0" rtlCol="0" anchor="t"/>
          <a:lstStyle/>
          <a:p>
            <a:pPr marL="0" indent="0" algn="ctr">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sp>
        <p:nvSpPr>
          <p:cNvPr id="24" name="Shape 21"/>
          <p:cNvSpPr/>
          <p:nvPr/>
        </p:nvSpPr>
        <p:spPr>
          <a:xfrm>
            <a:off x="548640" y="5532120"/>
            <a:ext cx="11064240" cy="621792"/>
          </a:xfrm>
          <a:prstGeom prst="roundRect">
            <a:avLst>
              <a:gd name="adj" fmla="val 17647"/>
            </a:avLst>
          </a:prstGeom>
          <a:solidFill>
            <a:srgbClr val="1E2B45"/>
          </a:solidFill>
          <a:ln w="12700">
            <a:solidFill>
              <a:srgbClr val="1E2B45"/>
            </a:solidFill>
            <a:prstDash val="solid"/>
          </a:ln>
        </p:spPr>
      </p:sp>
      <p:sp>
        <p:nvSpPr>
          <p:cNvPr id="25" name="Shape 22"/>
          <p:cNvSpPr/>
          <p:nvPr/>
        </p:nvSpPr>
        <p:spPr>
          <a:xfrm>
            <a:off x="713232" y="5614416"/>
            <a:ext cx="457200" cy="457200"/>
          </a:xfrm>
          <a:prstGeom prst="ellipse">
            <a:avLst/>
          </a:prstGeom>
          <a:solidFill>
            <a:srgbClr val="1E2B45"/>
          </a:solidFill>
          <a:ln w="19050">
            <a:solidFill>
              <a:srgbClr val="FBBF24"/>
            </a:solidFill>
            <a:prstDash val="solid"/>
          </a:ln>
        </p:spPr>
      </p:sp>
      <p:pic>
        <p:nvPicPr>
          <p:cNvPr id="26" name="Image 0" descr="preencoded.png"/>
          <p:cNvPicPr>
            <a:picLocks noChangeAspect="1"/>
          </p:cNvPicPr>
          <p:nvPr/>
        </p:nvPicPr>
        <p:blipFill>
          <a:blip r:embed="rId4"/>
          <a:stretch>
            <a:fillRect/>
          </a:stretch>
        </p:blipFill>
        <p:spPr>
          <a:xfrm>
            <a:off x="822960" y="5724144"/>
            <a:ext cx="237744" cy="237744"/>
          </a:xfrm>
          <a:prstGeom prst="rect">
            <a:avLst/>
          </a:prstGeom>
        </p:spPr>
      </p:pic>
      <p:sp>
        <p:nvSpPr>
          <p:cNvPr id="27" name="Text 23"/>
          <p:cNvSpPr txBox="1"/>
          <p:nvPr/>
        </p:nvSpPr>
        <p:spPr>
          <a:xfrm>
            <a:off x="1325880" y="5532120"/>
            <a:ext cx="10149840" cy="621792"/>
          </a:xfrm>
          <a:prstGeom prst="rect">
            <a:avLst/>
          </a:prstGeom>
          <a:noFill/>
          <a:ln/>
        </p:spPr>
        <p:txBody>
          <a:bodyPr wrap="square" lIns="0" tIns="0" rIns="0" bIns="0" rtlCol="0" anchor="ctr"/>
          <a:lstStyle/>
          <a:p>
            <a:pPr marL="0" indent="0">
              <a:buNone/>
            </a:pPr>
            <a:r>
              <a:rPr lang="en-US" sz="1500" i="1" dirty="0">
                <a:solidFill>
                  <a:srgbClr val="FBBF24"/>
                </a:solidFill>
                <a:latin typeface="Calibri" pitchFamily="34" charset="0"/>
                <a:ea typeface="Calibri" pitchFamily="34" charset="-122"/>
                <a:cs typeface="Calibri" pitchFamily="34" charset="-120"/>
              </a:rPr>
              <a:t>Next: lenders pay to see a business's record, only with the owner's consent.</a:t>
            </a:r>
            <a:endParaRPr lang="en-US" sz="1500" dirty="0"/>
          </a:p>
        </p:txBody>
      </p:sp>
      <p:pic>
        <p:nvPicPr>
          <p:cNvPr id="28" name="Image 1" descr="preencoded.png"/>
          <p:cNvPicPr>
            <a:picLocks noChangeAspect="1"/>
          </p:cNvPicPr>
          <p:nvPr/>
        </p:nvPicPr>
        <p:blipFill>
          <a:blip r:embed="rId5"/>
          <a:stretch>
            <a:fillRect/>
          </a:stretch>
        </p:blipFill>
        <p:spPr>
          <a:xfrm>
            <a:off x="11231575" y="6291072"/>
            <a:ext cx="384048" cy="384048"/>
          </a:xfrm>
          <a:prstGeom prst="rect">
            <a:avLst/>
          </a:prstGeom>
        </p:spPr>
      </p:pic>
      <p:sp>
        <p:nvSpPr>
          <p:cNvPr id="29" name="Text 24"/>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
        <p:nvSpPr>
          <p:cNvPr id="30" name="Text 25"/>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marL="0" indent="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577840" cy="45720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for a 6-month pilot: the sum of its costs</a:t>
            </a:r>
            <a:endParaRPr lang="en-US" sz="20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marL="0" indent="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icPr>
            <a:picLocks noChangeAspect="1"/>
          </p:cNvPicPr>
          <p:nvPr/>
        </p:nvPicPr>
        <p:blipFill>
          <a:blip r:embed="rId3"/>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marL="0" indent="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marL="0" indent="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icPr>
            <a:picLocks noChangeAspect="1"/>
          </p:cNvPicPr>
          <p:nvPr/>
        </p:nvPicPr>
        <p:blipFill>
          <a:blip r:embed="rId3"/>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marL="0" indent="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p:cNvGraphicFramePr/>
          <p:nvPr/>
        </p:nvGraphicFramePr>
        <p:xfrm>
          <a:off x="6400800" y="1188720"/>
          <a:ext cx="5120640" cy="4709160"/>
        </p:xfrm>
        <a:graphic>
          <a:graphicData uri="http://schemas.openxmlformats.org/drawingml/2006/chart">
            <c:chart xmlns:c="http://schemas.openxmlformats.org/drawingml/2006/chart" xmlns:r="http://schemas.openxmlformats.org/officeDocument/2006/relationships" r:id="rId4"/>
          </a:graphicData>
        </a:graphic>
      </p:graphicFrame>
      <p:pic>
        <p:nvPicPr>
          <p:cNvPr id="23" name="Image 4" descr="preencoded.png"/>
          <p:cNvPicPr>
            <a:picLocks noChangeAspect="1"/>
          </p:cNvPicPr>
          <p:nvPr/>
        </p:nvPicPr>
        <p:blipFill>
          <a:blip r:embed="rId5"/>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WHY WE STAND OUT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They sell to you. We build your record.</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621792">
                <a:tc>
                  <a:txBody>
                    <a:bodyPr/>
                    <a:lstStyle/>
                    <a:p>
                      <a:pPr marL="0" indent="0" algn="l">
                        <a:buNone/>
                      </a:pP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b="1" dirty="0">
                          <a:solidFill>
                            <a:srgbClr val="34D399"/>
                          </a:solidFill>
                          <a:latin typeface="Calibri" pitchFamily="34" charset="0"/>
                          <a:ea typeface="Calibri" pitchFamily="34" charset="-122"/>
                          <a:cs typeface="Calibri" pitchFamily="34" charset="-120"/>
                        </a:rPr>
                        <a:t>Spaza shops and builders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b="1" dirty="0">
                          <a:solidFill>
                            <a:srgbClr val="34D399"/>
                          </a:solidFill>
                          <a:latin typeface="Calibri" pitchFamily="34" charset="0"/>
                          <a:ea typeface="Calibri" pitchFamily="34" charset="-122"/>
                          <a:cs typeface="Calibri" pitchFamily="34" charset="-120"/>
                        </a:rPr>
                        <a:t>A record the owner holds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extLst>
                  <a:ext uri="{0D108BD9-81ED-4DB2-BD59-A6C34878D82A}">
                    <a16:rowId xmlns:a16="http://schemas.microsoft.com/office/drawing/2014/main" val="10000"/>
                  </a:ext>
                </a:extLst>
              </a:tr>
              <a:tr h="621792">
                <a:tc>
                  <a:txBody>
                    <a:bodyPr/>
                    <a:lstStyle/>
                    <a:p>
                      <a:pPr marL="0" indent="0" algn="l">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a notebook</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extLst>
                  <a:ext uri="{0D108BD9-81ED-4DB2-BD59-A6C34878D82A}">
                    <a16:rowId xmlns:a16="http://schemas.microsoft.com/office/drawing/2014/main" val="10001"/>
                  </a:ext>
                </a:extLst>
              </a:tr>
              <a:tr h="621792">
                <a:tc>
                  <a:txBody>
                    <a:bodyPr/>
                    <a:lstStyle/>
                    <a:p>
                      <a:pPr marL="0" indent="0" algn="l">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one supplier's orders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extLst>
                  <a:ext uri="{0D108BD9-81ED-4DB2-BD59-A6C34878D82A}">
                    <a16:rowId xmlns:a16="http://schemas.microsoft.com/office/drawing/2014/main" val="10002"/>
                  </a:ext>
                </a:extLst>
              </a:tr>
              <a:tr h="621792">
                <a:tc>
                  <a:txBody>
                    <a:bodyPr/>
                    <a:lstStyle/>
                    <a:p>
                      <a:pPr marL="0" indent="0" algn="l">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card sales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extLst>
                  <a:ext uri="{0D108BD9-81ED-4DB2-BD59-A6C34878D82A}">
                    <a16:rowId xmlns:a16="http://schemas.microsoft.com/office/drawing/2014/main" val="10003"/>
                  </a:ext>
                </a:extLst>
              </a:tr>
              <a:tr h="621792">
                <a:tc>
                  <a:txBody>
                    <a:bodyPr/>
                    <a:lstStyle/>
                    <a:p>
                      <a:pPr marL="0" indent="0" algn="l">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marL="0" indent="0" algn="ctr">
                        <a:buNone/>
                      </a:pPr>
                      <a:r>
                        <a:rPr lang="en-US" sz="1350" dirty="0">
                          <a:solidFill>
                            <a:srgbClr val="F8FAFC"/>
                          </a:solidFill>
                          <a:latin typeface="Calibri" pitchFamily="34" charset="0"/>
                          <a:ea typeface="Calibri" pitchFamily="34" charset="-122"/>
                          <a:cs typeface="Calibri" pitchFamily="34" charset="-120"/>
                        </a:rPr>
                        <a:t>their orders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extLst>
                  <a:ext uri="{0D108BD9-81ED-4DB2-BD59-A6C34878D82A}">
                    <a16:rowId xmlns:a16="http://schemas.microsoft.com/office/drawing/2014/main" val="10004"/>
                  </a:ext>
                </a:extLst>
              </a:tr>
              <a:tr h="621792">
                <a:tc>
                  <a:txBody>
                    <a:bodyPr/>
                    <a:lstStyle/>
                    <a:p>
                      <a:pPr marL="0" indent="0" algn="l">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marL="0" indent="0" algn="ctr">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marL="0" indent="0" algn="ctr">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marL="0" indent="0" algn="ctr">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marL="0" indent="0" algn="ctr">
                        <a:buNone/>
                      </a:pPr>
                      <a:r>
                        <a:rPr lang="en-US" sz="1350" b="1" dirty="0">
                          <a:solidFill>
                            <a:srgbClr val="0F172A"/>
                          </a:solidFill>
                          <a:latin typeface="Calibri" pitchFamily="34" charset="0"/>
                          <a:ea typeface="Calibri" pitchFamily="34" charset="-122"/>
                          <a:cs typeface="Calibri" pitchFamily="34" charset="-120"/>
                        </a:rPr>
                        <a:t>orders, jobs, payments</a:t>
                      </a:r>
                      <a:endParaRPr lang="en-US" sz="1350" dirty="0">
                        <a:latin typeface="Calibri" charset="0"/>
                        <a:ea typeface="Calibri" charset="0"/>
                        <a:cs typeface="Calibri" charset="0"/>
                      </a:endParaRPr>
                    </a:p>
                  </a:txBody>
                  <a:tcPr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48640" y="5559552"/>
            <a:ext cx="11064240" cy="640080"/>
          </a:xfrm>
          <a:prstGeom prst="rect">
            <a:avLst/>
          </a:prstGeom>
          <a:noFill/>
          <a:ln/>
        </p:spPr>
        <p:txBody>
          <a:bodyPr wrap="square" lIns="0" tIns="0" rIns="0" bIns="0" rtlCol="0" anchor="t"/>
          <a:lstStyle/>
          <a:p>
            <a:pPr marL="0" indent="0">
              <a:buNone/>
            </a:pPr>
            <a:r>
              <a:rPr lang="en-US" sz="1500" i="1" dirty="0">
                <a:solidFill>
                  <a:srgbClr val="FBBF24"/>
                </a:solidFill>
                <a:latin typeface="Calibri" pitchFamily="34" charset="0"/>
                <a:ea typeface="Calibri" pitchFamily="34" charset="-122"/>
                <a:cs typeface="Calibri" pitchFamily="34" charset="-120"/>
              </a:rPr>
              <a:t>Payments are confirmed by the provider, job stages by both sides. And the record belongs to the owner: nothing goes to a lender without their consent.</a:t>
            </a:r>
            <a:endParaRPr lang="en-US" sz="1500" dirty="0"/>
          </a:p>
        </p:txBody>
      </p:sp>
      <p:pic>
        <p:nvPicPr>
          <p:cNvPr id="6" name="Image 0" descr="preencoded.png"/>
          <p:cNvPicPr>
            <a:picLocks noChangeAspect="1"/>
          </p:cNvPicPr>
          <p:nvPr/>
        </p:nvPicPr>
        <p:blipFill>
          <a:blip r:embed="rId3"/>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85800" y="640080"/>
            <a:ext cx="914400" cy="914400"/>
          </a:xfrm>
          <a:prstGeom prst="rect">
            <a:avLst/>
          </a:prstGeom>
        </p:spPr>
      </p:pic>
      <p:sp>
        <p:nvSpPr>
          <p:cNvPr id="3" name="Text 0"/>
          <p:cNvSpPr txBox="1"/>
          <p:nvPr/>
        </p:nvSpPr>
        <p:spPr>
          <a:xfrm>
            <a:off x="731520" y="1828800"/>
            <a:ext cx="10515600" cy="777240"/>
          </a:xfrm>
          <a:prstGeom prst="rect">
            <a:avLst/>
          </a:prstGeom>
          <a:noFill/>
          <a:ln/>
        </p:spPr>
        <p:txBody>
          <a:bodyPr wrap="square" lIns="0" tIns="0" rIns="0" bIns="0" rtlCol="0" anchor="t"/>
          <a:lstStyle/>
          <a:p>
            <a:pPr marL="0" indent="0">
              <a:buNone/>
            </a:pPr>
            <a:r>
              <a:rPr lang="en-US" sz="1700" dirty="0">
                <a:solidFill>
                  <a:srgbClr val="A3B3C9"/>
                </a:solidFill>
                <a:latin typeface="Calibri" pitchFamily="34" charset="0"/>
                <a:ea typeface="Calibri" pitchFamily="34" charset="-122"/>
                <a:cs typeface="Calibri" pitchFamily="34" charset="-120"/>
              </a:rPr>
              <a:t>In the 1950s, Richard Maponya started a milk round in Soweto, delivered by bicycle. His customers trusted him, and decades later he opened Maponya Mall.</a:t>
            </a:r>
            <a:endParaRPr lang="en-US" sz="1700" dirty="0"/>
          </a:p>
        </p:txBody>
      </p:sp>
      <p:sp>
        <p:nvSpPr>
          <p:cNvPr id="4" name="Text 1"/>
          <p:cNvSpPr txBox="1"/>
          <p:nvPr/>
        </p:nvSpPr>
        <p:spPr>
          <a:xfrm>
            <a:off x="731520" y="2697480"/>
            <a:ext cx="10972800" cy="731520"/>
          </a:xfrm>
          <a:prstGeom prst="rect">
            <a:avLst/>
          </a:prstGeom>
          <a:noFill/>
          <a:ln/>
        </p:spPr>
        <p:txBody>
          <a:bodyPr wrap="square" lIns="0" tIns="0" rIns="0" bIns="0" rtlCol="0" anchor="t"/>
          <a:lstStyle/>
          <a:p>
            <a:pPr marL="0" indent="0">
              <a:buNone/>
            </a:pPr>
            <a:r>
              <a:rPr lang="en-US" sz="3600" b="1" dirty="0">
                <a:solidFill>
                  <a:srgbClr val="F8FAFC"/>
                </a:solidFill>
                <a:latin typeface="Georgia" pitchFamily="34" charset="0"/>
                <a:ea typeface="Georgia" pitchFamily="34" charset="-122"/>
                <a:cs typeface="Georgia" pitchFamily="34" charset="-120"/>
              </a:rPr>
              <a:t>The next Maponya is out there right now.</a:t>
            </a:r>
            <a:endParaRPr lang="en-US" sz="3600" dirty="0"/>
          </a:p>
        </p:txBody>
      </p:sp>
      <p:sp>
        <p:nvSpPr>
          <p:cNvPr id="5" name="Text 2"/>
          <p:cNvSpPr txBox="1"/>
          <p:nvPr/>
        </p:nvSpPr>
        <p:spPr>
          <a:xfrm>
            <a:off x="731520" y="3474720"/>
            <a:ext cx="10515600" cy="502920"/>
          </a:xfrm>
          <a:prstGeom prst="rect">
            <a:avLst/>
          </a:prstGeom>
          <a:noFill/>
          <a:ln/>
        </p:spPr>
        <p:txBody>
          <a:bodyPr wrap="square" lIns="0" tIns="0" rIns="0" bIns="0" rtlCol="0" anchor="t"/>
          <a:lstStyle/>
          <a:p>
            <a:pPr marL="0" indent="0">
              <a:buNone/>
            </a:pPr>
            <a:r>
              <a:rPr lang="en-US" sz="2400" i="1" dirty="0">
                <a:solidFill>
                  <a:srgbClr val="FBBF24"/>
                </a:solidFill>
                <a:latin typeface="Georgia" pitchFamily="34" charset="0"/>
                <a:ea typeface="Georgia" pitchFamily="34" charset="-122"/>
                <a:cs typeface="Georgia" pitchFamily="34" charset="-120"/>
              </a:rPr>
              <a:t>Selling kotas. Running a spaza. Laying bricks.</a:t>
            </a:r>
            <a:endParaRPr lang="en-US" sz="2400" dirty="0"/>
          </a:p>
        </p:txBody>
      </p:sp>
      <p:sp>
        <p:nvSpPr>
          <p:cNvPr id="6" name="Text 3"/>
          <p:cNvSpPr txBox="1"/>
          <p:nvPr/>
        </p:nvSpPr>
        <p:spPr>
          <a:xfrm>
            <a:off x="731520" y="4343400"/>
            <a:ext cx="10515600" cy="457200"/>
          </a:xfrm>
          <a:prstGeom prst="rect">
            <a:avLst/>
          </a:prstGeom>
          <a:noFill/>
          <a:ln/>
        </p:spPr>
        <p:txBody>
          <a:bodyPr wrap="square" lIns="0" tIns="0" rIns="0" bIns="0" rtlCol="0" anchor="t"/>
          <a:lstStyle/>
          <a:p>
            <a:pPr marL="0" indent="0">
              <a:buNone/>
            </a:pPr>
            <a:r>
              <a:rPr lang="en-US" sz="2000" b="1" dirty="0">
                <a:solidFill>
                  <a:srgbClr val="34D399"/>
                </a:solidFill>
                <a:latin typeface="Calibri" pitchFamily="34" charset="0"/>
                <a:ea typeface="Calibri" pitchFamily="34" charset="-122"/>
                <a:cs typeface="Calibri" pitchFamily="34" charset="-120"/>
              </a:rPr>
              <a:t>We don't hold the stock. We build the record.</a:t>
            </a:r>
            <a:endParaRPr lang="en-US" sz="2000" dirty="0"/>
          </a:p>
        </p:txBody>
      </p:sp>
      <p:sp>
        <p:nvSpPr>
          <p:cNvPr id="7" name="Text 4"/>
          <p:cNvSpPr txBox="1"/>
          <p:nvPr/>
        </p:nvSpPr>
        <p:spPr>
          <a:xfrm>
            <a:off x="731520" y="4892040"/>
            <a:ext cx="10515600" cy="685800"/>
          </a:xfrm>
          <a:prstGeom prst="rect">
            <a:avLst/>
          </a:prstGeom>
          <a:noFill/>
          <a:ln/>
        </p:spPr>
        <p:txBody>
          <a:bodyPr wrap="square" lIns="0" tIns="0" rIns="0" bIns="0" rtlCol="0" anchor="t"/>
          <a:lstStyle/>
          <a:p>
            <a:pPr marL="0" indent="0">
              <a:buNone/>
            </a:pPr>
            <a:r>
              <a:rPr lang="en-US" sz="3200" i="1" dirty="0">
                <a:solidFill>
                  <a:srgbClr val="F8FAFC"/>
                </a:solidFill>
                <a:latin typeface="Georgia" pitchFamily="34" charset="0"/>
                <a:ea typeface="Georgia" pitchFamily="34" charset="-122"/>
                <a:cs typeface="Georgia" pitchFamily="34" charset="-120"/>
              </a:rPr>
              <a:t>Keep it in the kasi.</a:t>
            </a:r>
            <a:endParaRPr lang="en-US" sz="3200" dirty="0"/>
          </a:p>
        </p:txBody>
      </p:sp>
      <p:sp>
        <p:nvSpPr>
          <p:cNvPr id="8" name="Text 5"/>
          <p:cNvSpPr txBox="1"/>
          <p:nvPr/>
        </p:nvSpPr>
        <p:spPr>
          <a:xfrm>
            <a:off x="731520" y="5943600"/>
            <a:ext cx="10515600" cy="365760"/>
          </a:xfrm>
          <a:prstGeom prst="rect">
            <a:avLst/>
          </a:prstGeom>
          <a:noFill/>
          <a:ln/>
        </p:spPr>
        <p:txBody>
          <a:bodyPr wrap="square" lIns="0" tIns="0" rIns="0" bIns="0" rtlCol="0" anchor="t"/>
          <a:lstStyle/>
          <a:p>
            <a:pPr marL="0" indent="0">
              <a:buNone/>
            </a:pPr>
            <a:r>
              <a:rPr lang="en-US" sz="1300" dirty="0">
                <a:solidFill>
                  <a:srgbClr val="64748B"/>
                </a:solidFill>
                <a:latin typeface="Calibri" pitchFamily="34" charset="0"/>
                <a:ea typeface="Calibri" pitchFamily="34" charset="-122"/>
                <a:cs typeface="Calibri" pitchFamily="34" charset="-120"/>
              </a:rPr>
              <a:t>Thank you  ·  R300,000 for a 6-month pilot  ·  Team PR, GKHack26</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THE DETAIL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Everything behind the pitch</a:t>
            </a:r>
            <a:endParaRPr lang="en-US" sz="3400" dirty="0"/>
          </a:p>
        </p:txBody>
      </p:sp>
      <p:sp>
        <p:nvSpPr>
          <p:cNvPr id="4" name="Text 2"/>
          <p:cNvSpPr txBox="1"/>
          <p:nvPr/>
        </p:nvSpPr>
        <p:spPr>
          <a:xfrm>
            <a:off x="548640" y="1481328"/>
            <a:ext cx="11064240" cy="365760"/>
          </a:xfrm>
          <a:prstGeom prst="rect">
            <a:avLst/>
          </a:prstGeom>
          <a:noFill/>
          <a:ln/>
        </p:spPr>
        <p:txBody>
          <a:bodyPr wrap="square" lIns="0" tIns="0" rIns="0" bIns="0" rtlCol="0" anchor="t"/>
          <a:lstStyle/>
          <a:p>
            <a:pPr marL="0" indent="0">
              <a:buNone/>
            </a:pPr>
            <a:r>
              <a:rPr lang="en-US" sz="1600" dirty="0">
                <a:solidFill>
                  <a:srgbClr val="A3B3C9"/>
                </a:solidFill>
                <a:latin typeface="Calibri" pitchFamily="34" charset="0"/>
                <a:ea typeface="Calibri" pitchFamily="34" charset="-122"/>
                <a:cs typeface="Calibri" pitchFamily="34" charset="-120"/>
              </a:rPr>
              <a:t>The pitch is slides 1 to 10. What follows is the detail, mapped to what the organisers asked for.</a:t>
            </a:r>
            <a:endParaRPr lang="en-US" sz="1600" dirty="0"/>
          </a:p>
        </p:txBody>
      </p:sp>
      <p:sp>
        <p:nvSpPr>
          <p:cNvPr id="5" name="Shape 3"/>
          <p:cNvSpPr/>
          <p:nvPr/>
        </p:nvSpPr>
        <p:spPr>
          <a:xfrm>
            <a:off x="548640" y="2011680"/>
            <a:ext cx="5349240" cy="868680"/>
          </a:xfrm>
          <a:prstGeom prst="roundRect">
            <a:avLst>
              <a:gd name="adj" fmla="val 12632"/>
            </a:avLst>
          </a:prstGeom>
          <a:solidFill>
            <a:srgbClr val="17223A"/>
          </a:solidFill>
          <a:ln w="12700">
            <a:solidFill>
              <a:srgbClr val="17223A"/>
            </a:solidFill>
            <a:prstDash val="solid"/>
          </a:ln>
        </p:spPr>
      </p:sp>
      <p:sp>
        <p:nvSpPr>
          <p:cNvPr id="6" name="Shape 4"/>
          <p:cNvSpPr/>
          <p:nvPr/>
        </p:nvSpPr>
        <p:spPr>
          <a:xfrm>
            <a:off x="731520" y="2167128"/>
            <a:ext cx="548640" cy="548640"/>
          </a:xfrm>
          <a:prstGeom prst="ellipse">
            <a:avLst/>
          </a:prstGeom>
          <a:solidFill>
            <a:srgbClr val="1E2B45"/>
          </a:solidFill>
          <a:ln w="19050">
            <a:solidFill>
              <a:srgbClr val="F59E0B"/>
            </a:solidFill>
            <a:prstDash val="solid"/>
          </a:ln>
        </p:spPr>
      </p:sp>
      <p:pic>
        <p:nvPicPr>
          <p:cNvPr id="7" name="Image 0" descr="preencoded.png"/>
          <p:cNvPicPr>
            <a:picLocks noChangeAspect="1"/>
          </p:cNvPicPr>
          <p:nvPr/>
        </p:nvPicPr>
        <p:blipFill>
          <a:blip r:embed="rId3"/>
          <a:stretch>
            <a:fillRect/>
          </a:stretch>
        </p:blipFill>
        <p:spPr>
          <a:xfrm>
            <a:off x="863194" y="2298802"/>
            <a:ext cx="285293" cy="285293"/>
          </a:xfrm>
          <a:prstGeom prst="rect">
            <a:avLst/>
          </a:prstGeom>
        </p:spPr>
      </p:pic>
      <p:sp>
        <p:nvSpPr>
          <p:cNvPr id="8" name="Text 5"/>
          <p:cNvSpPr txBox="1"/>
          <p:nvPr/>
        </p:nvSpPr>
        <p:spPr>
          <a:xfrm>
            <a:off x="1444752" y="213969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Problem statement</a:t>
            </a:r>
            <a:endParaRPr lang="en-US" sz="1500" dirty="0"/>
          </a:p>
        </p:txBody>
      </p:sp>
      <p:sp>
        <p:nvSpPr>
          <p:cNvPr id="9" name="Text 6"/>
          <p:cNvSpPr txBox="1"/>
          <p:nvPr/>
        </p:nvSpPr>
        <p:spPr>
          <a:xfrm>
            <a:off x="1444752" y="248716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Evidence, charts and photos</a:t>
            </a:r>
            <a:endParaRPr lang="en-US" sz="1200" dirty="0"/>
          </a:p>
        </p:txBody>
      </p:sp>
      <p:sp>
        <p:nvSpPr>
          <p:cNvPr id="10" name="Text 7"/>
          <p:cNvSpPr txBox="1"/>
          <p:nvPr/>
        </p:nvSpPr>
        <p:spPr>
          <a:xfrm>
            <a:off x="4160520" y="2231136"/>
            <a:ext cx="1554480" cy="411480"/>
          </a:xfrm>
          <a:prstGeom prst="rect">
            <a:avLst/>
          </a:prstGeom>
          <a:noFill/>
          <a:ln/>
        </p:spPr>
        <p:txBody>
          <a:bodyPr wrap="square" lIns="0" tIns="0" rIns="0" bIns="0" rtlCol="0" anchor="t"/>
          <a:lstStyle/>
          <a:p>
            <a:pPr marL="0" indent="0" algn="r">
              <a:buNone/>
            </a:pPr>
            <a:r>
              <a:rPr lang="en-US" sz="1600" b="1" dirty="0">
                <a:solidFill>
                  <a:srgbClr val="F59E0B"/>
                </a:solidFill>
                <a:latin typeface="Georgia" pitchFamily="34" charset="0"/>
                <a:ea typeface="Georgia" pitchFamily="34" charset="-122"/>
                <a:cs typeface="Georgia" pitchFamily="34" charset="-120"/>
              </a:rPr>
              <a:t>2, 3, 13</a:t>
            </a:r>
            <a:endParaRPr lang="en-US" sz="1600" dirty="0"/>
          </a:p>
        </p:txBody>
      </p:sp>
      <p:sp>
        <p:nvSpPr>
          <p:cNvPr id="11" name="Shape 8"/>
          <p:cNvSpPr/>
          <p:nvPr/>
        </p:nvSpPr>
        <p:spPr>
          <a:xfrm>
            <a:off x="6172200" y="2011680"/>
            <a:ext cx="5349240" cy="868680"/>
          </a:xfrm>
          <a:prstGeom prst="roundRect">
            <a:avLst>
              <a:gd name="adj" fmla="val 12632"/>
            </a:avLst>
          </a:prstGeom>
          <a:solidFill>
            <a:srgbClr val="17223A"/>
          </a:solidFill>
          <a:ln w="12700">
            <a:solidFill>
              <a:srgbClr val="17223A"/>
            </a:solidFill>
            <a:prstDash val="solid"/>
          </a:ln>
        </p:spPr>
      </p:sp>
      <p:sp>
        <p:nvSpPr>
          <p:cNvPr id="12" name="Shape 9"/>
          <p:cNvSpPr/>
          <p:nvPr/>
        </p:nvSpPr>
        <p:spPr>
          <a:xfrm>
            <a:off x="6355080" y="2167128"/>
            <a:ext cx="548640" cy="548640"/>
          </a:xfrm>
          <a:prstGeom prst="ellipse">
            <a:avLst/>
          </a:prstGeom>
          <a:solidFill>
            <a:srgbClr val="1E2B45"/>
          </a:solidFill>
          <a:ln w="19050">
            <a:solidFill>
              <a:srgbClr val="10B981"/>
            </a:solidFill>
            <a:prstDash val="solid"/>
          </a:ln>
        </p:spPr>
      </p:sp>
      <p:pic>
        <p:nvPicPr>
          <p:cNvPr id="13" name="Image 1" descr="preencoded.png"/>
          <p:cNvPicPr>
            <a:picLocks noChangeAspect="1"/>
          </p:cNvPicPr>
          <p:nvPr/>
        </p:nvPicPr>
        <p:blipFill>
          <a:blip r:embed="rId4"/>
          <a:stretch>
            <a:fillRect/>
          </a:stretch>
        </p:blipFill>
        <p:spPr>
          <a:xfrm>
            <a:off x="6486754" y="2298802"/>
            <a:ext cx="285293" cy="285293"/>
          </a:xfrm>
          <a:prstGeom prst="rect">
            <a:avLst/>
          </a:prstGeom>
        </p:spPr>
      </p:pic>
      <p:sp>
        <p:nvSpPr>
          <p:cNvPr id="14" name="Text 10"/>
          <p:cNvSpPr txBox="1"/>
          <p:nvPr/>
        </p:nvSpPr>
        <p:spPr>
          <a:xfrm>
            <a:off x="7068312" y="213969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Solution offering</a:t>
            </a:r>
            <a:endParaRPr lang="en-US" sz="1500" dirty="0"/>
          </a:p>
        </p:txBody>
      </p:sp>
      <p:sp>
        <p:nvSpPr>
          <p:cNvPr id="15" name="Text 11"/>
          <p:cNvSpPr txBox="1"/>
          <p:nvPr/>
        </p:nvSpPr>
        <p:spPr>
          <a:xfrm>
            <a:off x="7068312" y="248716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What it is, and how it works</a:t>
            </a:r>
            <a:endParaRPr lang="en-US" sz="1200" dirty="0"/>
          </a:p>
        </p:txBody>
      </p:sp>
      <p:sp>
        <p:nvSpPr>
          <p:cNvPr id="16" name="Text 12"/>
          <p:cNvSpPr txBox="1"/>
          <p:nvPr/>
        </p:nvSpPr>
        <p:spPr>
          <a:xfrm>
            <a:off x="9784080" y="2231136"/>
            <a:ext cx="1554480" cy="411480"/>
          </a:xfrm>
          <a:prstGeom prst="rect">
            <a:avLst/>
          </a:prstGeom>
          <a:noFill/>
          <a:ln/>
        </p:spPr>
        <p:txBody>
          <a:bodyPr wrap="square" lIns="0" tIns="0" rIns="0" bIns="0" rtlCol="0" anchor="t"/>
          <a:lstStyle/>
          <a:p>
            <a:pPr marL="0" indent="0" algn="r">
              <a:buNone/>
            </a:pPr>
            <a:r>
              <a:rPr lang="en-US" sz="1600" b="1" dirty="0">
                <a:solidFill>
                  <a:srgbClr val="10B981"/>
                </a:solidFill>
                <a:latin typeface="Georgia" pitchFamily="34" charset="0"/>
                <a:ea typeface="Georgia" pitchFamily="34" charset="-122"/>
                <a:cs typeface="Georgia" pitchFamily="34" charset="-120"/>
              </a:rPr>
              <a:t>4-6, 12, 15</a:t>
            </a:r>
            <a:endParaRPr lang="en-US" sz="1600" dirty="0"/>
          </a:p>
        </p:txBody>
      </p:sp>
      <p:sp>
        <p:nvSpPr>
          <p:cNvPr id="17" name="Shape 13"/>
          <p:cNvSpPr/>
          <p:nvPr/>
        </p:nvSpPr>
        <p:spPr>
          <a:xfrm>
            <a:off x="548640" y="3017520"/>
            <a:ext cx="5349240" cy="868680"/>
          </a:xfrm>
          <a:prstGeom prst="roundRect">
            <a:avLst>
              <a:gd name="adj" fmla="val 12632"/>
            </a:avLst>
          </a:prstGeom>
          <a:solidFill>
            <a:srgbClr val="17223A"/>
          </a:solidFill>
          <a:ln w="12700">
            <a:solidFill>
              <a:srgbClr val="17223A"/>
            </a:solidFill>
            <a:prstDash val="solid"/>
          </a:ln>
        </p:spPr>
      </p:sp>
      <p:sp>
        <p:nvSpPr>
          <p:cNvPr id="18" name="Shape 14"/>
          <p:cNvSpPr/>
          <p:nvPr/>
        </p:nvSpPr>
        <p:spPr>
          <a:xfrm>
            <a:off x="731520" y="3172968"/>
            <a:ext cx="548640" cy="548640"/>
          </a:xfrm>
          <a:prstGeom prst="ellipse">
            <a:avLst/>
          </a:prstGeom>
          <a:solidFill>
            <a:srgbClr val="1E2B45"/>
          </a:solidFill>
          <a:ln w="19050">
            <a:solidFill>
              <a:srgbClr val="34D399"/>
            </a:solidFill>
            <a:prstDash val="solid"/>
          </a:ln>
        </p:spPr>
      </p:sp>
      <p:pic>
        <p:nvPicPr>
          <p:cNvPr id="19" name="Image 2" descr="preencoded.png"/>
          <p:cNvPicPr>
            <a:picLocks noChangeAspect="1"/>
          </p:cNvPicPr>
          <p:nvPr/>
        </p:nvPicPr>
        <p:blipFill>
          <a:blip r:embed="rId5"/>
          <a:stretch>
            <a:fillRect/>
          </a:stretch>
        </p:blipFill>
        <p:spPr>
          <a:xfrm>
            <a:off x="863194" y="3304642"/>
            <a:ext cx="285293" cy="285293"/>
          </a:xfrm>
          <a:prstGeom prst="rect">
            <a:avLst/>
          </a:prstGeom>
        </p:spPr>
      </p:pic>
      <p:sp>
        <p:nvSpPr>
          <p:cNvPr id="20" name="Text 15"/>
          <p:cNvSpPr txBox="1"/>
          <p:nvPr/>
        </p:nvSpPr>
        <p:spPr>
          <a:xfrm>
            <a:off x="1444752" y="314553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User journey story</a:t>
            </a:r>
            <a:endParaRPr lang="en-US" sz="1500" dirty="0"/>
          </a:p>
        </p:txBody>
      </p:sp>
      <p:sp>
        <p:nvSpPr>
          <p:cNvPr id="21" name="Text 16"/>
          <p:cNvSpPr txBox="1"/>
          <p:nvPr/>
        </p:nvSpPr>
        <p:spPr>
          <a:xfrm>
            <a:off x="1444752" y="349300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Sipho's week, and Thabo's job</a:t>
            </a:r>
            <a:endParaRPr lang="en-US" sz="1200" dirty="0"/>
          </a:p>
        </p:txBody>
      </p:sp>
      <p:sp>
        <p:nvSpPr>
          <p:cNvPr id="22" name="Text 17"/>
          <p:cNvSpPr txBox="1"/>
          <p:nvPr/>
        </p:nvSpPr>
        <p:spPr>
          <a:xfrm>
            <a:off x="4160520" y="3236976"/>
            <a:ext cx="1554480" cy="411480"/>
          </a:xfrm>
          <a:prstGeom prst="rect">
            <a:avLst/>
          </a:prstGeom>
          <a:noFill/>
          <a:ln/>
        </p:spPr>
        <p:txBody>
          <a:bodyPr wrap="square" lIns="0" tIns="0" rIns="0" bIns="0" rtlCol="0" anchor="t"/>
          <a:lstStyle/>
          <a:p>
            <a:pPr marL="0" indent="0" algn="r">
              <a:buNone/>
            </a:pPr>
            <a:r>
              <a:rPr lang="en-US" sz="1600" b="1" dirty="0">
                <a:solidFill>
                  <a:srgbClr val="34D399"/>
                </a:solidFill>
                <a:latin typeface="Georgia" pitchFamily="34" charset="0"/>
                <a:ea typeface="Georgia" pitchFamily="34" charset="-122"/>
                <a:cs typeface="Georgia" pitchFamily="34" charset="-120"/>
              </a:rPr>
              <a:t>14</a:t>
            </a:r>
            <a:endParaRPr lang="en-US" sz="1600" dirty="0"/>
          </a:p>
        </p:txBody>
      </p:sp>
      <p:sp>
        <p:nvSpPr>
          <p:cNvPr id="23" name="Shape 18"/>
          <p:cNvSpPr/>
          <p:nvPr/>
        </p:nvSpPr>
        <p:spPr>
          <a:xfrm>
            <a:off x="6172200" y="3017520"/>
            <a:ext cx="5349240" cy="868680"/>
          </a:xfrm>
          <a:prstGeom prst="roundRect">
            <a:avLst>
              <a:gd name="adj" fmla="val 12632"/>
            </a:avLst>
          </a:prstGeom>
          <a:solidFill>
            <a:srgbClr val="17223A"/>
          </a:solidFill>
          <a:ln w="12700">
            <a:solidFill>
              <a:srgbClr val="17223A"/>
            </a:solidFill>
            <a:prstDash val="solid"/>
          </a:ln>
        </p:spPr>
      </p:sp>
      <p:sp>
        <p:nvSpPr>
          <p:cNvPr id="24" name="Shape 19"/>
          <p:cNvSpPr/>
          <p:nvPr/>
        </p:nvSpPr>
        <p:spPr>
          <a:xfrm>
            <a:off x="6355080" y="3172968"/>
            <a:ext cx="548640" cy="548640"/>
          </a:xfrm>
          <a:prstGeom prst="ellipse">
            <a:avLst/>
          </a:prstGeom>
          <a:solidFill>
            <a:srgbClr val="1E2B45"/>
          </a:solidFill>
          <a:ln w="19050">
            <a:solidFill>
              <a:srgbClr val="10B981"/>
            </a:solidFill>
            <a:prstDash val="solid"/>
          </a:ln>
        </p:spPr>
      </p:sp>
      <p:pic>
        <p:nvPicPr>
          <p:cNvPr id="25" name="Image 3" descr="preencoded.png"/>
          <p:cNvPicPr>
            <a:picLocks noChangeAspect="1"/>
          </p:cNvPicPr>
          <p:nvPr/>
        </p:nvPicPr>
        <p:blipFill>
          <a:blip r:embed="rId6"/>
          <a:stretch>
            <a:fillRect/>
          </a:stretch>
        </p:blipFill>
        <p:spPr>
          <a:xfrm>
            <a:off x="6486754" y="3304642"/>
            <a:ext cx="285293" cy="285293"/>
          </a:xfrm>
          <a:prstGeom prst="rect">
            <a:avLst/>
          </a:prstGeom>
        </p:spPr>
      </p:pic>
      <p:sp>
        <p:nvSpPr>
          <p:cNvPr id="26" name="Text 20"/>
          <p:cNvSpPr txBox="1"/>
          <p:nvPr/>
        </p:nvSpPr>
        <p:spPr>
          <a:xfrm>
            <a:off x="7068312" y="314553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Technological architecture</a:t>
            </a:r>
            <a:endParaRPr lang="en-US" sz="1500" dirty="0"/>
          </a:p>
        </p:txBody>
      </p:sp>
      <p:sp>
        <p:nvSpPr>
          <p:cNvPr id="27" name="Text 21"/>
          <p:cNvSpPr txBox="1"/>
          <p:nvPr/>
        </p:nvSpPr>
        <p:spPr>
          <a:xfrm>
            <a:off x="7068312" y="349300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How it's built, and kept safe</a:t>
            </a:r>
            <a:endParaRPr lang="en-US" sz="1200" dirty="0"/>
          </a:p>
        </p:txBody>
      </p:sp>
      <p:sp>
        <p:nvSpPr>
          <p:cNvPr id="28" name="Text 22"/>
          <p:cNvSpPr txBox="1"/>
          <p:nvPr/>
        </p:nvSpPr>
        <p:spPr>
          <a:xfrm>
            <a:off x="9784080" y="3236976"/>
            <a:ext cx="1554480" cy="411480"/>
          </a:xfrm>
          <a:prstGeom prst="rect">
            <a:avLst/>
          </a:prstGeom>
          <a:noFill/>
          <a:ln/>
        </p:spPr>
        <p:txBody>
          <a:bodyPr wrap="square" lIns="0" tIns="0" rIns="0" bIns="0" rtlCol="0" anchor="t"/>
          <a:lstStyle/>
          <a:p>
            <a:pPr marL="0" indent="0" algn="r">
              <a:buNone/>
            </a:pPr>
            <a:r>
              <a:rPr lang="en-US" sz="1600" b="1" dirty="0">
                <a:solidFill>
                  <a:srgbClr val="10B981"/>
                </a:solidFill>
                <a:latin typeface="Georgia" pitchFamily="34" charset="0"/>
                <a:ea typeface="Georgia" pitchFamily="34" charset="-122"/>
                <a:cs typeface="Georgia" pitchFamily="34" charset="-120"/>
              </a:rPr>
              <a:t>18, 20</a:t>
            </a:r>
            <a:endParaRPr lang="en-US" sz="1600" dirty="0"/>
          </a:p>
        </p:txBody>
      </p:sp>
      <p:sp>
        <p:nvSpPr>
          <p:cNvPr id="29" name="Shape 23"/>
          <p:cNvSpPr/>
          <p:nvPr/>
        </p:nvSpPr>
        <p:spPr>
          <a:xfrm>
            <a:off x="548640" y="4023360"/>
            <a:ext cx="5349240" cy="868680"/>
          </a:xfrm>
          <a:prstGeom prst="roundRect">
            <a:avLst>
              <a:gd name="adj" fmla="val 12632"/>
            </a:avLst>
          </a:prstGeom>
          <a:solidFill>
            <a:srgbClr val="17223A"/>
          </a:solidFill>
          <a:ln w="12700">
            <a:solidFill>
              <a:srgbClr val="17223A"/>
            </a:solidFill>
            <a:prstDash val="solid"/>
          </a:ln>
        </p:spPr>
      </p:sp>
      <p:sp>
        <p:nvSpPr>
          <p:cNvPr id="30" name="Shape 24"/>
          <p:cNvSpPr/>
          <p:nvPr/>
        </p:nvSpPr>
        <p:spPr>
          <a:xfrm>
            <a:off x="731520" y="4178808"/>
            <a:ext cx="548640" cy="548640"/>
          </a:xfrm>
          <a:prstGeom prst="ellipse">
            <a:avLst/>
          </a:prstGeom>
          <a:solidFill>
            <a:srgbClr val="1E2B45"/>
          </a:solidFill>
          <a:ln w="19050">
            <a:solidFill>
              <a:srgbClr val="FBBF24"/>
            </a:solidFill>
            <a:prstDash val="solid"/>
          </a:ln>
        </p:spPr>
      </p:sp>
      <p:pic>
        <p:nvPicPr>
          <p:cNvPr id="31" name="Image 4" descr="preencoded.png"/>
          <p:cNvPicPr>
            <a:picLocks noChangeAspect="1"/>
          </p:cNvPicPr>
          <p:nvPr/>
        </p:nvPicPr>
        <p:blipFill>
          <a:blip r:embed="rId7"/>
          <a:stretch>
            <a:fillRect/>
          </a:stretch>
        </p:blipFill>
        <p:spPr>
          <a:xfrm>
            <a:off x="863194" y="4310482"/>
            <a:ext cx="285293" cy="285293"/>
          </a:xfrm>
          <a:prstGeom prst="rect">
            <a:avLst/>
          </a:prstGeom>
        </p:spPr>
      </p:pic>
      <p:sp>
        <p:nvSpPr>
          <p:cNvPr id="32" name="Text 25"/>
          <p:cNvSpPr txBox="1"/>
          <p:nvPr/>
        </p:nvSpPr>
        <p:spPr>
          <a:xfrm>
            <a:off x="1444752" y="415137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Competitive analysis</a:t>
            </a:r>
            <a:endParaRPr lang="en-US" sz="1500" dirty="0"/>
          </a:p>
        </p:txBody>
      </p:sp>
      <p:sp>
        <p:nvSpPr>
          <p:cNvPr id="33" name="Text 26"/>
          <p:cNvSpPr txBox="1"/>
          <p:nvPr/>
        </p:nvSpPr>
        <p:spPr>
          <a:xfrm>
            <a:off x="1444752" y="449884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Why we stand out</a:t>
            </a:r>
            <a:endParaRPr lang="en-US" sz="1200" dirty="0"/>
          </a:p>
        </p:txBody>
      </p:sp>
      <p:sp>
        <p:nvSpPr>
          <p:cNvPr id="34" name="Text 27"/>
          <p:cNvSpPr txBox="1"/>
          <p:nvPr/>
        </p:nvSpPr>
        <p:spPr>
          <a:xfrm>
            <a:off x="4160520" y="4242816"/>
            <a:ext cx="1554480" cy="411480"/>
          </a:xfrm>
          <a:prstGeom prst="rect">
            <a:avLst/>
          </a:prstGeom>
          <a:noFill/>
          <a:ln/>
        </p:spPr>
        <p:txBody>
          <a:bodyPr wrap="square" lIns="0" tIns="0" rIns="0" bIns="0" rtlCol="0" anchor="t"/>
          <a:lstStyle/>
          <a:p>
            <a:pPr marL="0" indent="0" algn="r">
              <a:buNone/>
            </a:pPr>
            <a:r>
              <a:rPr lang="en-US" sz="1600" b="1" dirty="0">
                <a:solidFill>
                  <a:srgbClr val="FBBF24"/>
                </a:solidFill>
                <a:latin typeface="Georgia" pitchFamily="34" charset="0"/>
                <a:ea typeface="Georgia" pitchFamily="34" charset="-122"/>
                <a:cs typeface="Georgia" pitchFamily="34" charset="-120"/>
              </a:rPr>
              <a:t>9</a:t>
            </a:r>
            <a:endParaRPr lang="en-US" sz="1600" dirty="0"/>
          </a:p>
        </p:txBody>
      </p:sp>
      <p:sp>
        <p:nvSpPr>
          <p:cNvPr id="35" name="Shape 28"/>
          <p:cNvSpPr/>
          <p:nvPr/>
        </p:nvSpPr>
        <p:spPr>
          <a:xfrm>
            <a:off x="6172200" y="4023360"/>
            <a:ext cx="5349240" cy="868680"/>
          </a:xfrm>
          <a:prstGeom prst="roundRect">
            <a:avLst>
              <a:gd name="adj" fmla="val 12632"/>
            </a:avLst>
          </a:prstGeom>
          <a:solidFill>
            <a:srgbClr val="17223A"/>
          </a:solidFill>
          <a:ln w="12700">
            <a:solidFill>
              <a:srgbClr val="17223A"/>
            </a:solidFill>
            <a:prstDash val="solid"/>
          </a:ln>
        </p:spPr>
      </p:sp>
      <p:sp>
        <p:nvSpPr>
          <p:cNvPr id="36" name="Shape 29"/>
          <p:cNvSpPr/>
          <p:nvPr/>
        </p:nvSpPr>
        <p:spPr>
          <a:xfrm>
            <a:off x="6355080" y="4178808"/>
            <a:ext cx="548640" cy="548640"/>
          </a:xfrm>
          <a:prstGeom prst="ellipse">
            <a:avLst/>
          </a:prstGeom>
          <a:solidFill>
            <a:srgbClr val="1E2B45"/>
          </a:solidFill>
          <a:ln w="19050">
            <a:solidFill>
              <a:srgbClr val="34D399"/>
            </a:solidFill>
            <a:prstDash val="solid"/>
          </a:ln>
        </p:spPr>
      </p:sp>
      <p:pic>
        <p:nvPicPr>
          <p:cNvPr id="37" name="Image 5" descr="preencoded.png"/>
          <p:cNvPicPr>
            <a:picLocks noChangeAspect="1"/>
          </p:cNvPicPr>
          <p:nvPr/>
        </p:nvPicPr>
        <p:blipFill>
          <a:blip r:embed="rId8"/>
          <a:stretch>
            <a:fillRect/>
          </a:stretch>
        </p:blipFill>
        <p:spPr>
          <a:xfrm>
            <a:off x="6486754" y="4310482"/>
            <a:ext cx="285293" cy="285293"/>
          </a:xfrm>
          <a:prstGeom prst="rect">
            <a:avLst/>
          </a:prstGeom>
        </p:spPr>
      </p:pic>
      <p:sp>
        <p:nvSpPr>
          <p:cNvPr id="38" name="Text 30"/>
          <p:cNvSpPr txBox="1"/>
          <p:nvPr/>
        </p:nvSpPr>
        <p:spPr>
          <a:xfrm>
            <a:off x="7068312" y="415137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Data privacy policy</a:t>
            </a:r>
            <a:endParaRPr lang="en-US" sz="1500" dirty="0"/>
          </a:p>
        </p:txBody>
      </p:sp>
      <p:sp>
        <p:nvSpPr>
          <p:cNvPr id="39" name="Text 31"/>
          <p:cNvSpPr txBox="1"/>
          <p:nvPr/>
        </p:nvSpPr>
        <p:spPr>
          <a:xfrm>
            <a:off x="7068312" y="449884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What we collect, why, your rights</a:t>
            </a:r>
            <a:endParaRPr lang="en-US" sz="1200" dirty="0"/>
          </a:p>
        </p:txBody>
      </p:sp>
      <p:sp>
        <p:nvSpPr>
          <p:cNvPr id="40" name="Text 32"/>
          <p:cNvSpPr txBox="1"/>
          <p:nvPr/>
        </p:nvSpPr>
        <p:spPr>
          <a:xfrm>
            <a:off x="9784080" y="4242816"/>
            <a:ext cx="1554480" cy="411480"/>
          </a:xfrm>
          <a:prstGeom prst="rect">
            <a:avLst/>
          </a:prstGeom>
          <a:noFill/>
          <a:ln/>
        </p:spPr>
        <p:txBody>
          <a:bodyPr wrap="square" lIns="0" tIns="0" rIns="0" bIns="0" rtlCol="0" anchor="t"/>
          <a:lstStyle/>
          <a:p>
            <a:pPr marL="0" indent="0" algn="r">
              <a:buNone/>
            </a:pPr>
            <a:r>
              <a:rPr lang="en-US" sz="1600" b="1" dirty="0">
                <a:solidFill>
                  <a:srgbClr val="34D399"/>
                </a:solidFill>
                <a:latin typeface="Georgia" pitchFamily="34" charset="0"/>
                <a:ea typeface="Georgia" pitchFamily="34" charset="-122"/>
                <a:cs typeface="Georgia" pitchFamily="34" charset="-120"/>
              </a:rPr>
              <a:t>19</a:t>
            </a:r>
            <a:endParaRPr lang="en-US" sz="1600" dirty="0"/>
          </a:p>
        </p:txBody>
      </p:sp>
      <p:sp>
        <p:nvSpPr>
          <p:cNvPr id="41" name="Shape 33"/>
          <p:cNvSpPr/>
          <p:nvPr/>
        </p:nvSpPr>
        <p:spPr>
          <a:xfrm>
            <a:off x="548640" y="5029200"/>
            <a:ext cx="5349240" cy="868680"/>
          </a:xfrm>
          <a:prstGeom prst="roundRect">
            <a:avLst>
              <a:gd name="adj" fmla="val 12632"/>
            </a:avLst>
          </a:prstGeom>
          <a:solidFill>
            <a:srgbClr val="17223A"/>
          </a:solidFill>
          <a:ln w="12700">
            <a:solidFill>
              <a:srgbClr val="17223A"/>
            </a:solidFill>
            <a:prstDash val="solid"/>
          </a:ln>
        </p:spPr>
      </p:sp>
      <p:sp>
        <p:nvSpPr>
          <p:cNvPr id="42" name="Shape 34"/>
          <p:cNvSpPr/>
          <p:nvPr/>
        </p:nvSpPr>
        <p:spPr>
          <a:xfrm>
            <a:off x="731520" y="5184648"/>
            <a:ext cx="548640" cy="548640"/>
          </a:xfrm>
          <a:prstGeom prst="ellipse">
            <a:avLst/>
          </a:prstGeom>
          <a:solidFill>
            <a:srgbClr val="1E2B45"/>
          </a:solidFill>
          <a:ln w="19050">
            <a:solidFill>
              <a:srgbClr val="F59E0B"/>
            </a:solidFill>
            <a:prstDash val="solid"/>
          </a:ln>
        </p:spPr>
      </p:sp>
      <p:pic>
        <p:nvPicPr>
          <p:cNvPr id="43" name="Image 6" descr="preencoded.png"/>
          <p:cNvPicPr>
            <a:picLocks noChangeAspect="1"/>
          </p:cNvPicPr>
          <p:nvPr/>
        </p:nvPicPr>
        <p:blipFill>
          <a:blip r:embed="rId9"/>
          <a:stretch>
            <a:fillRect/>
          </a:stretch>
        </p:blipFill>
        <p:spPr>
          <a:xfrm>
            <a:off x="863194" y="5316322"/>
            <a:ext cx="285293" cy="285293"/>
          </a:xfrm>
          <a:prstGeom prst="rect">
            <a:avLst/>
          </a:prstGeom>
        </p:spPr>
      </p:pic>
      <p:sp>
        <p:nvSpPr>
          <p:cNvPr id="44" name="Text 35"/>
          <p:cNvSpPr txBox="1"/>
          <p:nvPr/>
        </p:nvSpPr>
        <p:spPr>
          <a:xfrm>
            <a:off x="1444752" y="515721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Costs and the ask</a:t>
            </a:r>
            <a:endParaRPr lang="en-US" sz="1500" dirty="0"/>
          </a:p>
        </p:txBody>
      </p:sp>
      <p:sp>
        <p:nvSpPr>
          <p:cNvPr id="45" name="Text 36"/>
          <p:cNvSpPr txBox="1"/>
          <p:nvPr/>
        </p:nvSpPr>
        <p:spPr>
          <a:xfrm>
            <a:off x="1444752" y="550468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Business model, pilot, break-even</a:t>
            </a:r>
            <a:endParaRPr lang="en-US" sz="1200" dirty="0"/>
          </a:p>
        </p:txBody>
      </p:sp>
      <p:sp>
        <p:nvSpPr>
          <p:cNvPr id="46" name="Text 37"/>
          <p:cNvSpPr txBox="1"/>
          <p:nvPr/>
        </p:nvSpPr>
        <p:spPr>
          <a:xfrm>
            <a:off x="4160520" y="5248656"/>
            <a:ext cx="1554480" cy="411480"/>
          </a:xfrm>
          <a:prstGeom prst="rect">
            <a:avLst/>
          </a:prstGeom>
          <a:noFill/>
          <a:ln/>
        </p:spPr>
        <p:txBody>
          <a:bodyPr wrap="square" lIns="0" tIns="0" rIns="0" bIns="0" rtlCol="0" anchor="t"/>
          <a:lstStyle/>
          <a:p>
            <a:pPr marL="0" indent="0" algn="r">
              <a:buNone/>
            </a:pPr>
            <a:r>
              <a:rPr lang="en-US" sz="1600" b="1" dirty="0">
                <a:solidFill>
                  <a:srgbClr val="F59E0B"/>
                </a:solidFill>
                <a:latin typeface="Georgia" pitchFamily="34" charset="0"/>
                <a:ea typeface="Georgia" pitchFamily="34" charset="-122"/>
                <a:cs typeface="Georgia" pitchFamily="34" charset="-120"/>
              </a:rPr>
              <a:t>7, 8, 23</a:t>
            </a:r>
            <a:endParaRPr lang="en-US" sz="1600" dirty="0"/>
          </a:p>
        </p:txBody>
      </p:sp>
      <p:sp>
        <p:nvSpPr>
          <p:cNvPr id="47" name="Shape 38"/>
          <p:cNvSpPr/>
          <p:nvPr/>
        </p:nvSpPr>
        <p:spPr>
          <a:xfrm>
            <a:off x="6172200" y="5029200"/>
            <a:ext cx="5349240" cy="868680"/>
          </a:xfrm>
          <a:prstGeom prst="roundRect">
            <a:avLst>
              <a:gd name="adj" fmla="val 12632"/>
            </a:avLst>
          </a:prstGeom>
          <a:solidFill>
            <a:srgbClr val="17223A"/>
          </a:solidFill>
          <a:ln w="12700">
            <a:solidFill>
              <a:srgbClr val="17223A"/>
            </a:solidFill>
            <a:prstDash val="solid"/>
          </a:ln>
        </p:spPr>
      </p:sp>
      <p:sp>
        <p:nvSpPr>
          <p:cNvPr id="48" name="Shape 39"/>
          <p:cNvSpPr/>
          <p:nvPr/>
        </p:nvSpPr>
        <p:spPr>
          <a:xfrm>
            <a:off x="6355080" y="5184648"/>
            <a:ext cx="548640" cy="548640"/>
          </a:xfrm>
          <a:prstGeom prst="ellipse">
            <a:avLst/>
          </a:prstGeom>
          <a:solidFill>
            <a:srgbClr val="1E2B45"/>
          </a:solidFill>
          <a:ln w="19050">
            <a:solidFill>
              <a:srgbClr val="10B981"/>
            </a:solidFill>
            <a:prstDash val="solid"/>
          </a:ln>
        </p:spPr>
      </p:sp>
      <p:pic>
        <p:nvPicPr>
          <p:cNvPr id="49" name="Image 7" descr="preencoded.png"/>
          <p:cNvPicPr>
            <a:picLocks noChangeAspect="1"/>
          </p:cNvPicPr>
          <p:nvPr/>
        </p:nvPicPr>
        <p:blipFill>
          <a:blip r:embed="rId10"/>
          <a:stretch>
            <a:fillRect/>
          </a:stretch>
        </p:blipFill>
        <p:spPr>
          <a:xfrm>
            <a:off x="6486754" y="5316322"/>
            <a:ext cx="285293" cy="285293"/>
          </a:xfrm>
          <a:prstGeom prst="rect">
            <a:avLst/>
          </a:prstGeom>
        </p:spPr>
      </p:pic>
      <p:sp>
        <p:nvSpPr>
          <p:cNvPr id="50" name="Text 40"/>
          <p:cNvSpPr txBox="1"/>
          <p:nvPr/>
        </p:nvSpPr>
        <p:spPr>
          <a:xfrm>
            <a:off x="7068312" y="5157216"/>
            <a:ext cx="2743200" cy="329184"/>
          </a:xfrm>
          <a:prstGeom prst="rect">
            <a:avLst/>
          </a:prstGeom>
          <a:noFill/>
          <a:ln/>
        </p:spPr>
        <p:txBody>
          <a:bodyPr wrap="square" lIns="0" tIns="0" rIns="0" bIns="0" rtlCol="0" anchor="t"/>
          <a:lstStyle/>
          <a:p>
            <a:pPr marL="0" indent="0">
              <a:buNone/>
            </a:pPr>
            <a:r>
              <a:rPr lang="en-US" sz="1500" b="1" dirty="0">
                <a:solidFill>
                  <a:srgbClr val="F8FAFC"/>
                </a:solidFill>
                <a:latin typeface="Calibri" pitchFamily="34" charset="0"/>
                <a:ea typeface="Calibri" pitchFamily="34" charset="-122"/>
                <a:cs typeface="Calibri" pitchFamily="34" charset="-120"/>
              </a:rPr>
              <a:t>Market and growth</a:t>
            </a:r>
            <a:endParaRPr lang="en-US" sz="1500" dirty="0"/>
          </a:p>
        </p:txBody>
      </p:sp>
      <p:sp>
        <p:nvSpPr>
          <p:cNvPr id="51" name="Text 41"/>
          <p:cNvSpPr txBox="1"/>
          <p:nvPr/>
        </p:nvSpPr>
        <p:spPr>
          <a:xfrm>
            <a:off x="7068312" y="5504688"/>
            <a:ext cx="2743200" cy="2743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Opportunity, traction, team</a:t>
            </a:r>
            <a:endParaRPr lang="en-US" sz="1200" dirty="0"/>
          </a:p>
        </p:txBody>
      </p:sp>
      <p:sp>
        <p:nvSpPr>
          <p:cNvPr id="52" name="Text 42"/>
          <p:cNvSpPr txBox="1"/>
          <p:nvPr/>
        </p:nvSpPr>
        <p:spPr>
          <a:xfrm>
            <a:off x="9784080" y="5248656"/>
            <a:ext cx="1554480" cy="411480"/>
          </a:xfrm>
          <a:prstGeom prst="rect">
            <a:avLst/>
          </a:prstGeom>
          <a:noFill/>
          <a:ln/>
        </p:spPr>
        <p:txBody>
          <a:bodyPr wrap="square" lIns="0" tIns="0" rIns="0" bIns="0" rtlCol="0" anchor="t"/>
          <a:lstStyle/>
          <a:p>
            <a:pPr marL="0" indent="0" algn="r">
              <a:buNone/>
            </a:pPr>
            <a:r>
              <a:rPr lang="en-US" sz="1600" b="1" dirty="0">
                <a:solidFill>
                  <a:srgbClr val="10B981"/>
                </a:solidFill>
                <a:latin typeface="Georgia" pitchFamily="34" charset="0"/>
                <a:ea typeface="Georgia" pitchFamily="34" charset="-122"/>
                <a:cs typeface="Georgia" pitchFamily="34" charset="-120"/>
              </a:rPr>
              <a:t>16-17, 21-24</a:t>
            </a:r>
            <a:endParaRPr lang="en-US" sz="1600" dirty="0"/>
          </a:p>
        </p:txBody>
      </p:sp>
      <p:pic>
        <p:nvPicPr>
          <p:cNvPr id="53" name="Image 8" descr="preencoded.png"/>
          <p:cNvPicPr>
            <a:picLocks noChangeAspect="1"/>
          </p:cNvPicPr>
          <p:nvPr/>
        </p:nvPicPr>
        <p:blipFill>
          <a:blip r:embed="rId11"/>
          <a:stretch>
            <a:fillRect/>
          </a:stretch>
        </p:blipFill>
        <p:spPr>
          <a:xfrm>
            <a:off x="11231575" y="6291072"/>
            <a:ext cx="384048" cy="384048"/>
          </a:xfrm>
          <a:prstGeom prst="rect">
            <a:avLst/>
          </a:prstGeom>
        </p:spPr>
      </p:pic>
      <p:sp>
        <p:nvSpPr>
          <p:cNvPr id="54" name="Text 43"/>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HOW IT WORKS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One app, at the counter and on site</a:t>
            </a:r>
            <a:endParaRPr lang="en-US" sz="3400" dirty="0"/>
          </a:p>
        </p:txBody>
      </p:sp>
      <p:sp>
        <p:nvSpPr>
          <p:cNvPr id="4" name="Shape 2"/>
          <p:cNvSpPr/>
          <p:nvPr/>
        </p:nvSpPr>
        <p:spPr>
          <a:xfrm>
            <a:off x="681228" y="1691640"/>
            <a:ext cx="1944032" cy="3849624"/>
          </a:xfrm>
          <a:prstGeom prst="roundRect">
            <a:avLst>
              <a:gd name="adj" fmla="val 5644"/>
            </a:avLst>
          </a:prstGeom>
          <a:solidFill>
            <a:srgbClr val="1E2B45"/>
          </a:solidFill>
          <a:ln w="12700">
            <a:solidFill>
              <a:srgbClr val="1E2B45"/>
            </a:solidFill>
            <a:prstDash val="solid"/>
          </a:ln>
        </p:spPr>
      </p:sp>
      <p:pic>
        <p:nvPicPr>
          <p:cNvPr id="5" name="Image 0" descr="preencoded.png"/>
          <p:cNvPicPr>
            <a:picLocks noChangeAspect="1"/>
          </p:cNvPicPr>
          <p:nvPr/>
        </p:nvPicPr>
        <p:blipFill>
          <a:blip r:embed="rId3"/>
          <a:stretch>
            <a:fillRect/>
          </a:stretch>
        </p:blipFill>
        <p:spPr>
          <a:xfrm>
            <a:off x="754380" y="1764792"/>
            <a:ext cx="1797728" cy="3703320"/>
          </a:xfrm>
          <a:prstGeom prst="rect">
            <a:avLst/>
          </a:prstGeom>
        </p:spPr>
      </p:pic>
      <p:sp>
        <p:nvSpPr>
          <p:cNvPr id="6" name="Shape 3"/>
          <p:cNvSpPr/>
          <p:nvPr/>
        </p:nvSpPr>
        <p:spPr>
          <a:xfrm>
            <a:off x="553212" y="1563624"/>
            <a:ext cx="402336" cy="402336"/>
          </a:xfrm>
          <a:prstGeom prst="ellipse">
            <a:avLst/>
          </a:prstGeom>
          <a:solidFill>
            <a:srgbClr val="10B981"/>
          </a:solidFill>
          <a:ln w="25400">
            <a:solidFill>
              <a:srgbClr val="0F172A"/>
            </a:solidFill>
            <a:prstDash val="solid"/>
          </a:ln>
        </p:spPr>
      </p:sp>
      <p:sp>
        <p:nvSpPr>
          <p:cNvPr id="7" name="Text 4"/>
          <p:cNvSpPr txBox="1"/>
          <p:nvPr/>
        </p:nvSpPr>
        <p:spPr>
          <a:xfrm>
            <a:off x="553212"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681228" y="5650992"/>
            <a:ext cx="1944032" cy="548640"/>
          </a:xfrm>
          <a:prstGeom prst="rect">
            <a:avLst/>
          </a:prstGeom>
          <a:noFill/>
          <a:ln/>
        </p:spPr>
        <p:txBody>
          <a:bodyPr wrap="square" lIns="0" tIns="0" rIns="0" bIns="0" rtlCol="0" anchor="t"/>
          <a:lstStyle/>
          <a:p>
            <a:pPr marL="0" indent="0" algn="ctr">
              <a:buNone/>
            </a:pPr>
            <a:r>
              <a:rPr lang="en-US" sz="1200" b="1" dirty="0">
                <a:solidFill>
                  <a:srgbClr val="F8FAFC"/>
                </a:solidFill>
                <a:latin typeface="Calibri" pitchFamily="34" charset="0"/>
                <a:ea typeface="Calibri" pitchFamily="34" charset="-122"/>
                <a:cs typeface="Calibri" pitchFamily="34" charset="-120"/>
              </a:rPr>
              <a:t>Switch on the tools your business needs</a:t>
            </a:r>
            <a:endParaRPr lang="en-US" sz="1200" dirty="0"/>
          </a:p>
        </p:txBody>
      </p:sp>
      <p:sp>
        <p:nvSpPr>
          <p:cNvPr id="9" name="Shape 6"/>
          <p:cNvSpPr/>
          <p:nvPr/>
        </p:nvSpPr>
        <p:spPr>
          <a:xfrm>
            <a:off x="2903220" y="1691640"/>
            <a:ext cx="1944032" cy="3849624"/>
          </a:xfrm>
          <a:prstGeom prst="roundRect">
            <a:avLst>
              <a:gd name="adj" fmla="val 5644"/>
            </a:avLst>
          </a:prstGeom>
          <a:solidFill>
            <a:srgbClr val="1E2B45"/>
          </a:solidFill>
          <a:ln w="12700">
            <a:solidFill>
              <a:srgbClr val="1E2B45"/>
            </a:solidFill>
            <a:prstDash val="solid"/>
          </a:ln>
        </p:spPr>
      </p:sp>
      <p:pic>
        <p:nvPicPr>
          <p:cNvPr id="10" name="Image 1" descr="preencoded.png"/>
          <p:cNvPicPr>
            <a:picLocks noChangeAspect="1"/>
          </p:cNvPicPr>
          <p:nvPr/>
        </p:nvPicPr>
        <p:blipFill>
          <a:blip r:embed="rId4"/>
          <a:stretch>
            <a:fillRect/>
          </a:stretch>
        </p:blipFill>
        <p:spPr>
          <a:xfrm>
            <a:off x="2976372" y="1764792"/>
            <a:ext cx="1797728" cy="3703320"/>
          </a:xfrm>
          <a:prstGeom prst="rect">
            <a:avLst/>
          </a:prstGeom>
        </p:spPr>
      </p:pic>
      <p:sp>
        <p:nvSpPr>
          <p:cNvPr id="11" name="Shape 7"/>
          <p:cNvSpPr/>
          <p:nvPr/>
        </p:nvSpPr>
        <p:spPr>
          <a:xfrm>
            <a:off x="2775204" y="1563624"/>
            <a:ext cx="402336" cy="402336"/>
          </a:xfrm>
          <a:prstGeom prst="ellipse">
            <a:avLst/>
          </a:prstGeom>
          <a:solidFill>
            <a:srgbClr val="FBBF24"/>
          </a:solidFill>
          <a:ln w="25400">
            <a:solidFill>
              <a:srgbClr val="0F172A"/>
            </a:solidFill>
            <a:prstDash val="solid"/>
          </a:ln>
        </p:spPr>
      </p:sp>
      <p:sp>
        <p:nvSpPr>
          <p:cNvPr id="12" name="Text 8"/>
          <p:cNvSpPr txBox="1"/>
          <p:nvPr/>
        </p:nvSpPr>
        <p:spPr>
          <a:xfrm>
            <a:off x="2775204"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13" name="Text 9"/>
          <p:cNvSpPr txBox="1"/>
          <p:nvPr/>
        </p:nvSpPr>
        <p:spPr>
          <a:xfrm>
            <a:off x="2903220" y="5650992"/>
            <a:ext cx="1944032" cy="548640"/>
          </a:xfrm>
          <a:prstGeom prst="rect">
            <a:avLst/>
          </a:prstGeom>
          <a:noFill/>
          <a:ln/>
        </p:spPr>
        <p:txBody>
          <a:bodyPr wrap="square" lIns="0" tIns="0" rIns="0" bIns="0" rtlCol="0" anchor="t"/>
          <a:lstStyle/>
          <a:p>
            <a:pPr marL="0" indent="0" algn="ctr">
              <a:buNone/>
            </a:pPr>
            <a:r>
              <a:rPr lang="en-US" sz="1200" b="1" dirty="0">
                <a:solidFill>
                  <a:srgbClr val="F8FAFC"/>
                </a:solidFill>
                <a:latin typeface="Calibri" pitchFamily="34" charset="0"/>
                <a:ea typeface="Calibri" pitchFamily="34" charset="-122"/>
                <a:cs typeface="Calibri" pitchFamily="34" charset="-120"/>
              </a:rPr>
              <a:t>Your own suppliers, and ones that fit you</a:t>
            </a:r>
            <a:endParaRPr lang="en-US" sz="1200" dirty="0"/>
          </a:p>
        </p:txBody>
      </p:sp>
      <p:sp>
        <p:nvSpPr>
          <p:cNvPr id="14" name="Shape 10"/>
          <p:cNvSpPr/>
          <p:nvPr/>
        </p:nvSpPr>
        <p:spPr>
          <a:xfrm>
            <a:off x="5125212" y="1691640"/>
            <a:ext cx="1944032" cy="3849624"/>
          </a:xfrm>
          <a:prstGeom prst="roundRect">
            <a:avLst>
              <a:gd name="adj" fmla="val 5644"/>
            </a:avLst>
          </a:prstGeom>
          <a:solidFill>
            <a:srgbClr val="1E2B45"/>
          </a:solidFill>
          <a:ln w="12700">
            <a:solidFill>
              <a:srgbClr val="1E2B45"/>
            </a:solidFill>
            <a:prstDash val="solid"/>
          </a:ln>
        </p:spPr>
      </p:sp>
      <p:pic>
        <p:nvPicPr>
          <p:cNvPr id="15" name="Image 2" descr="preencoded.png"/>
          <p:cNvPicPr>
            <a:picLocks noChangeAspect="1"/>
          </p:cNvPicPr>
          <p:nvPr/>
        </p:nvPicPr>
        <p:blipFill>
          <a:blip r:embed="rId5"/>
          <a:stretch>
            <a:fillRect/>
          </a:stretch>
        </p:blipFill>
        <p:spPr>
          <a:xfrm>
            <a:off x="5198364" y="1764792"/>
            <a:ext cx="1797728" cy="3703320"/>
          </a:xfrm>
          <a:prstGeom prst="rect">
            <a:avLst/>
          </a:prstGeom>
        </p:spPr>
      </p:pic>
      <p:sp>
        <p:nvSpPr>
          <p:cNvPr id="16" name="Shape 11"/>
          <p:cNvSpPr/>
          <p:nvPr/>
        </p:nvSpPr>
        <p:spPr>
          <a:xfrm>
            <a:off x="4997196" y="1563624"/>
            <a:ext cx="402336" cy="402336"/>
          </a:xfrm>
          <a:prstGeom prst="ellipse">
            <a:avLst/>
          </a:prstGeom>
          <a:solidFill>
            <a:srgbClr val="34D399"/>
          </a:solidFill>
          <a:ln w="25400">
            <a:solidFill>
              <a:srgbClr val="0F172A"/>
            </a:solidFill>
            <a:prstDash val="solid"/>
          </a:ln>
        </p:spPr>
      </p:sp>
      <p:sp>
        <p:nvSpPr>
          <p:cNvPr id="17" name="Text 12"/>
          <p:cNvSpPr txBox="1"/>
          <p:nvPr/>
        </p:nvSpPr>
        <p:spPr>
          <a:xfrm>
            <a:off x="4997196"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18" name="Text 13"/>
          <p:cNvSpPr txBox="1"/>
          <p:nvPr/>
        </p:nvSpPr>
        <p:spPr>
          <a:xfrm>
            <a:off x="5125212" y="5650992"/>
            <a:ext cx="1944032" cy="548640"/>
          </a:xfrm>
          <a:prstGeom prst="rect">
            <a:avLst/>
          </a:prstGeom>
          <a:noFill/>
          <a:ln/>
        </p:spPr>
        <p:txBody>
          <a:bodyPr wrap="square" lIns="0" tIns="0" rIns="0" bIns="0" rtlCol="0" anchor="t"/>
          <a:lstStyle/>
          <a:p>
            <a:pPr marL="0" indent="0" algn="ctr">
              <a:buNone/>
            </a:pPr>
            <a:r>
              <a:rPr lang="en-US" sz="1200" b="1" dirty="0">
                <a:solidFill>
                  <a:srgbClr val="F8FAFC"/>
                </a:solidFill>
                <a:latin typeface="Calibri" pitchFamily="34" charset="0"/>
                <a:ea typeface="Calibri" pitchFamily="34" charset="-122"/>
                <a:cs typeface="Calibri" pitchFamily="34" charset="-120"/>
              </a:rPr>
              <a:t>Pay on PayFast's page, confirmed by the provider</a:t>
            </a:r>
            <a:endParaRPr lang="en-US" sz="1200" dirty="0"/>
          </a:p>
        </p:txBody>
      </p:sp>
      <p:sp>
        <p:nvSpPr>
          <p:cNvPr id="19" name="Shape 14"/>
          <p:cNvSpPr/>
          <p:nvPr/>
        </p:nvSpPr>
        <p:spPr>
          <a:xfrm>
            <a:off x="7347204" y="1691640"/>
            <a:ext cx="1944032" cy="3849624"/>
          </a:xfrm>
          <a:prstGeom prst="roundRect">
            <a:avLst>
              <a:gd name="adj" fmla="val 5644"/>
            </a:avLst>
          </a:prstGeom>
          <a:solidFill>
            <a:srgbClr val="1E2B45"/>
          </a:solidFill>
          <a:ln w="12700">
            <a:solidFill>
              <a:srgbClr val="1E2B45"/>
            </a:solidFill>
            <a:prstDash val="solid"/>
          </a:ln>
        </p:spPr>
      </p:sp>
      <p:pic>
        <p:nvPicPr>
          <p:cNvPr id="20" name="Image 3" descr="preencoded.png"/>
          <p:cNvPicPr>
            <a:picLocks noChangeAspect="1"/>
          </p:cNvPicPr>
          <p:nvPr/>
        </p:nvPicPr>
        <p:blipFill>
          <a:blip r:embed="rId6"/>
          <a:stretch>
            <a:fillRect/>
          </a:stretch>
        </p:blipFill>
        <p:spPr>
          <a:xfrm>
            <a:off x="7420356" y="1764792"/>
            <a:ext cx="1797728" cy="3703320"/>
          </a:xfrm>
          <a:prstGeom prst="rect">
            <a:avLst/>
          </a:prstGeom>
        </p:spPr>
      </p:pic>
      <p:sp>
        <p:nvSpPr>
          <p:cNvPr id="21" name="Shape 15"/>
          <p:cNvSpPr/>
          <p:nvPr/>
        </p:nvSpPr>
        <p:spPr>
          <a:xfrm>
            <a:off x="7219188" y="1563624"/>
            <a:ext cx="402336" cy="402336"/>
          </a:xfrm>
          <a:prstGeom prst="ellipse">
            <a:avLst/>
          </a:prstGeom>
          <a:solidFill>
            <a:srgbClr val="10B981"/>
          </a:solidFill>
          <a:ln w="25400">
            <a:solidFill>
              <a:srgbClr val="0F172A"/>
            </a:solidFill>
            <a:prstDash val="solid"/>
          </a:ln>
        </p:spPr>
      </p:sp>
      <p:sp>
        <p:nvSpPr>
          <p:cNvPr id="22" name="Text 16"/>
          <p:cNvSpPr txBox="1"/>
          <p:nvPr/>
        </p:nvSpPr>
        <p:spPr>
          <a:xfrm>
            <a:off x="7219188"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23" name="Text 17"/>
          <p:cNvSpPr txBox="1"/>
          <p:nvPr/>
        </p:nvSpPr>
        <p:spPr>
          <a:xfrm>
            <a:off x="7347204" y="5650992"/>
            <a:ext cx="1944032" cy="548640"/>
          </a:xfrm>
          <a:prstGeom prst="rect">
            <a:avLst/>
          </a:prstGeom>
          <a:noFill/>
          <a:ln/>
        </p:spPr>
        <p:txBody>
          <a:bodyPr wrap="square" lIns="0" tIns="0" rIns="0" bIns="0" rtlCol="0" anchor="t"/>
          <a:lstStyle/>
          <a:p>
            <a:pPr marL="0" indent="0" algn="ctr">
              <a:buNone/>
            </a:pPr>
            <a:r>
              <a:rPr lang="en-US" sz="1200" b="1" dirty="0">
                <a:solidFill>
                  <a:srgbClr val="F8FAFC"/>
                </a:solidFill>
                <a:latin typeface="Calibri" pitchFamily="34" charset="0"/>
                <a:ea typeface="Calibri" pitchFamily="34" charset="-122"/>
                <a:cs typeface="Calibri" pitchFamily="34" charset="-120"/>
              </a:rPr>
              <a:t>Who owes you, with customers' names private</a:t>
            </a:r>
            <a:endParaRPr lang="en-US" sz="1200" dirty="0"/>
          </a:p>
        </p:txBody>
      </p:sp>
      <p:sp>
        <p:nvSpPr>
          <p:cNvPr id="24" name="Shape 18"/>
          <p:cNvSpPr/>
          <p:nvPr/>
        </p:nvSpPr>
        <p:spPr>
          <a:xfrm>
            <a:off x="9569196" y="1691640"/>
            <a:ext cx="1944032" cy="3849624"/>
          </a:xfrm>
          <a:prstGeom prst="roundRect">
            <a:avLst>
              <a:gd name="adj" fmla="val 5644"/>
            </a:avLst>
          </a:prstGeom>
          <a:solidFill>
            <a:srgbClr val="1E2B45"/>
          </a:solidFill>
          <a:ln w="12700">
            <a:solidFill>
              <a:srgbClr val="1E2B45"/>
            </a:solidFill>
            <a:prstDash val="solid"/>
          </a:ln>
        </p:spPr>
      </p:sp>
      <p:pic>
        <p:nvPicPr>
          <p:cNvPr id="25" name="Image 4" descr="preencoded.png"/>
          <p:cNvPicPr>
            <a:picLocks noChangeAspect="1"/>
          </p:cNvPicPr>
          <p:nvPr/>
        </p:nvPicPr>
        <p:blipFill>
          <a:blip r:embed="rId7"/>
          <a:stretch>
            <a:fillRect/>
          </a:stretch>
        </p:blipFill>
        <p:spPr>
          <a:xfrm>
            <a:off x="9642348" y="1764792"/>
            <a:ext cx="1797728" cy="3703320"/>
          </a:xfrm>
          <a:prstGeom prst="rect">
            <a:avLst/>
          </a:prstGeom>
        </p:spPr>
      </p:pic>
      <p:sp>
        <p:nvSpPr>
          <p:cNvPr id="26" name="Shape 19"/>
          <p:cNvSpPr/>
          <p:nvPr/>
        </p:nvSpPr>
        <p:spPr>
          <a:xfrm>
            <a:off x="9441180" y="1563624"/>
            <a:ext cx="402336" cy="402336"/>
          </a:xfrm>
          <a:prstGeom prst="ellipse">
            <a:avLst/>
          </a:prstGeom>
          <a:solidFill>
            <a:srgbClr val="FBBF24"/>
          </a:solidFill>
          <a:ln w="25400">
            <a:solidFill>
              <a:srgbClr val="0F172A"/>
            </a:solidFill>
            <a:prstDash val="solid"/>
          </a:ln>
        </p:spPr>
      </p:sp>
      <p:sp>
        <p:nvSpPr>
          <p:cNvPr id="27" name="Text 20"/>
          <p:cNvSpPr txBox="1"/>
          <p:nvPr/>
        </p:nvSpPr>
        <p:spPr>
          <a:xfrm>
            <a:off x="9441180" y="1563624"/>
            <a:ext cx="402336" cy="402336"/>
          </a:xfrm>
          <a:prstGeom prst="rect">
            <a:avLst/>
          </a:prstGeom>
          <a:noFill/>
          <a:ln/>
        </p:spPr>
        <p:txBody>
          <a:bodyPr wrap="square" lIns="0" tIns="0" rIns="0" bIns="0" rtlCol="0" anchor="ctr"/>
          <a:lstStyle/>
          <a:p>
            <a:pPr marL="0" indent="0" algn="ctr">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28" name="Text 21"/>
          <p:cNvSpPr txBox="1"/>
          <p:nvPr/>
        </p:nvSpPr>
        <p:spPr>
          <a:xfrm>
            <a:off x="9569196" y="5650992"/>
            <a:ext cx="1944032" cy="548640"/>
          </a:xfrm>
          <a:prstGeom prst="rect">
            <a:avLst/>
          </a:prstGeom>
          <a:noFill/>
          <a:ln/>
        </p:spPr>
        <p:txBody>
          <a:bodyPr wrap="square" lIns="0" tIns="0" rIns="0" bIns="0" rtlCol="0" anchor="t"/>
          <a:lstStyle/>
          <a:p>
            <a:pPr marL="0" indent="0" algn="ctr">
              <a:buNone/>
            </a:pPr>
            <a:r>
              <a:rPr lang="en-US" sz="1200" b="1" dirty="0">
                <a:solidFill>
                  <a:srgbClr val="F8FAFC"/>
                </a:solidFill>
                <a:latin typeface="Calibri" pitchFamily="34" charset="0"/>
                <a:ea typeface="Calibri" pitchFamily="34" charset="-122"/>
                <a:cs typeface="Calibri" pitchFamily="34" charset="-120"/>
              </a:rPr>
              <a:t>A builder's job in stages, signed off by the client</a:t>
            </a:r>
            <a:endParaRPr lang="en-US" sz="1200" dirty="0"/>
          </a:p>
        </p:txBody>
      </p:sp>
      <p:pic>
        <p:nvPicPr>
          <p:cNvPr id="29" name="Image 5" descr="preencoded.png"/>
          <p:cNvPicPr>
            <a:picLocks noChangeAspect="1"/>
          </p:cNvPicPr>
          <p:nvPr/>
        </p:nvPicPr>
        <p:blipFill>
          <a:blip r:embed="rId8"/>
          <a:stretch>
            <a:fillRect/>
          </a:stretch>
        </p:blipFill>
        <p:spPr>
          <a:xfrm>
            <a:off x="11231575" y="6291072"/>
            <a:ext cx="384048" cy="384048"/>
          </a:xfrm>
          <a:prstGeom prst="rect">
            <a:avLst/>
          </a:prstGeom>
        </p:spPr>
      </p:pic>
      <p:sp>
        <p:nvSpPr>
          <p:cNvPr id="30" name="Text 22"/>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marL="0" indent="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icPr>
            <a:picLocks noChangeAspect="1"/>
          </p:cNvPicPr>
          <p:nvPr/>
        </p:nvPicPr>
        <p:blipFill>
          <a:blip r:embed="rId3"/>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marL="0" indent="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icPr>
            <a:picLocks noChangeAspect="1"/>
          </p:cNvPicPr>
          <p:nvPr/>
        </p:nvPicPr>
        <p:blipFill>
          <a:blip r:embed="rId3"/>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marL="0" indent="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marL="0" indent="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icPr>
            <a:picLocks noChangeAspect="1"/>
          </p:cNvPicPr>
          <p:nvPr/>
        </p:nvPicPr>
        <p:blipFill>
          <a:blip r:embed="rId3"/>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marL="0" indent="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marL="0" indent="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icPr>
            <a:picLocks noChangeAspect="1"/>
          </p:cNvPicPr>
          <p:nvPr/>
        </p:nvPicPr>
        <p:blipFill>
          <a:blip r:embed="rId4"/>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icPr>
            <a:picLocks noChangeAspect="1"/>
          </p:cNvPicPr>
          <p:nvPr/>
        </p:nvPicPr>
        <p:blipFill>
          <a:blip r:embed="rId4"/>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icPr>
            <a:picLocks noChangeAspect="1"/>
          </p:cNvPicPr>
          <p:nvPr/>
        </p:nvPicPr>
        <p:blipFill>
          <a:blip r:embed="rId4"/>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icPr>
            <a:picLocks noChangeAspect="1"/>
          </p:cNvPicPr>
          <p:nvPr/>
        </p:nvPicPr>
        <p:blipFill>
          <a:blip r:embed="rId4"/>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icPr>
            <a:picLocks noChangeAspect="1"/>
          </p:cNvPicPr>
          <p:nvPr/>
        </p:nvPicPr>
        <p:blipFill>
          <a:blip r:embed="rId5"/>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Sipho's week, and Thabo's job</a:t>
            </a:r>
            <a:endParaRPr lang="en-US" sz="3400" dirty="0"/>
          </a:p>
        </p:txBody>
      </p:sp>
      <p:sp>
        <p:nvSpPr>
          <p:cNvPr id="4" name="Shape 2"/>
          <p:cNvSpPr/>
          <p:nvPr/>
        </p:nvSpPr>
        <p:spPr>
          <a:xfrm>
            <a:off x="548640" y="1737360"/>
            <a:ext cx="1920240" cy="1600200"/>
          </a:xfrm>
          <a:prstGeom prst="roundRect">
            <a:avLst>
              <a:gd name="adj" fmla="val 6857"/>
            </a:avLst>
          </a:prstGeom>
          <a:solidFill>
            <a:srgbClr val="1E2B45"/>
          </a:solidFill>
          <a:ln w="12700">
            <a:solidFill>
              <a:srgbClr val="1E2B45"/>
            </a:solidFill>
            <a:prstDash val="solid"/>
          </a:ln>
        </p:spPr>
      </p:sp>
      <p:sp>
        <p:nvSpPr>
          <p:cNvPr id="5" name="Text 3"/>
          <p:cNvSpPr txBox="1"/>
          <p:nvPr/>
        </p:nvSpPr>
        <p:spPr>
          <a:xfrm>
            <a:off x="731520" y="2011680"/>
            <a:ext cx="1645920" cy="502920"/>
          </a:xfrm>
          <a:prstGeom prst="rect">
            <a:avLst/>
          </a:prstGeom>
          <a:noFill/>
          <a:ln/>
        </p:spPr>
        <p:txBody>
          <a:bodyPr wrap="square" lIns="0" tIns="0" rIns="0" bIns="0" rtlCol="0" anchor="t"/>
          <a:lstStyle/>
          <a:p>
            <a:pPr marL="0" indent="0">
              <a:buNone/>
            </a:pPr>
            <a:r>
              <a:rPr lang="en-US" sz="2400" b="1" dirty="0">
                <a:solidFill>
                  <a:srgbClr val="10B981"/>
                </a:solidFill>
                <a:latin typeface="Georgia" pitchFamily="34" charset="0"/>
                <a:ea typeface="Georgia" pitchFamily="34" charset="-122"/>
                <a:cs typeface="Georgia" pitchFamily="34" charset="-120"/>
              </a:rPr>
              <a:t>Sipho</a:t>
            </a:r>
            <a:endParaRPr lang="en-US" sz="2400" dirty="0"/>
          </a:p>
        </p:txBody>
      </p:sp>
      <p:sp>
        <p:nvSpPr>
          <p:cNvPr id="6" name="Text 4"/>
          <p:cNvSpPr txBox="1"/>
          <p:nvPr/>
        </p:nvSpPr>
        <p:spPr>
          <a:xfrm>
            <a:off x="731520" y="2560320"/>
            <a:ext cx="1600200" cy="914400"/>
          </a:xfrm>
          <a:prstGeom prst="rect">
            <a:avLst/>
          </a:prstGeom>
          <a:noFill/>
          <a:ln/>
        </p:spPr>
        <p:txBody>
          <a:bodyPr wrap="square" lIns="0" tIns="0" rIns="0" bIns="0" rtlCol="0" anchor="t"/>
          <a:lstStyle/>
          <a:p>
            <a:pPr marL="0" indent="0">
              <a:buNone/>
            </a:pPr>
            <a:r>
              <a:rPr lang="en-US" sz="1250" dirty="0">
                <a:solidFill>
                  <a:srgbClr val="A3B3C9"/>
                </a:solidFill>
                <a:latin typeface="Calibri" pitchFamily="34" charset="0"/>
                <a:ea typeface="Calibri" pitchFamily="34" charset="-122"/>
                <a:cs typeface="Calibri" pitchFamily="34" charset="-120"/>
              </a:rPr>
              <a:t>runs a kota shop by the taxi rank</a:t>
            </a:r>
            <a:endParaRPr lang="en-US" sz="1250" dirty="0"/>
          </a:p>
        </p:txBody>
      </p:sp>
      <p:sp>
        <p:nvSpPr>
          <p:cNvPr id="7" name="Shape 5"/>
          <p:cNvSpPr/>
          <p:nvPr/>
        </p:nvSpPr>
        <p:spPr>
          <a:xfrm>
            <a:off x="2651760" y="1737360"/>
            <a:ext cx="2103120" cy="1600200"/>
          </a:xfrm>
          <a:prstGeom prst="roundRect">
            <a:avLst>
              <a:gd name="adj" fmla="val 6857"/>
            </a:avLst>
          </a:prstGeom>
          <a:solidFill>
            <a:srgbClr val="17223A"/>
          </a:solidFill>
          <a:ln w="12700">
            <a:solidFill>
              <a:srgbClr val="17223A"/>
            </a:solidFill>
            <a:prstDash val="solid"/>
          </a:ln>
        </p:spPr>
      </p:sp>
      <p:sp>
        <p:nvSpPr>
          <p:cNvPr id="8" name="Shape 6"/>
          <p:cNvSpPr/>
          <p:nvPr/>
        </p:nvSpPr>
        <p:spPr>
          <a:xfrm>
            <a:off x="2816352" y="1920240"/>
            <a:ext cx="475488" cy="475488"/>
          </a:xfrm>
          <a:prstGeom prst="ellipse">
            <a:avLst/>
          </a:prstGeom>
          <a:solidFill>
            <a:srgbClr val="1E2B45"/>
          </a:solidFill>
          <a:ln w="19050">
            <a:solidFill>
              <a:srgbClr val="10B981"/>
            </a:solidFill>
            <a:prstDash val="solid"/>
          </a:ln>
        </p:spPr>
      </p:sp>
      <p:pic>
        <p:nvPicPr>
          <p:cNvPr id="9" name="Image 0" descr="preencoded.png"/>
          <p:cNvPicPr>
            <a:picLocks noChangeAspect="1"/>
          </p:cNvPicPr>
          <p:nvPr/>
        </p:nvPicPr>
        <p:blipFill>
          <a:blip r:embed="rId3"/>
          <a:stretch>
            <a:fillRect/>
          </a:stretch>
        </p:blipFill>
        <p:spPr>
          <a:xfrm>
            <a:off x="2930469" y="2034357"/>
            <a:ext cx="247254" cy="247254"/>
          </a:xfrm>
          <a:prstGeom prst="rect">
            <a:avLst/>
          </a:prstGeom>
        </p:spPr>
      </p:pic>
      <p:sp>
        <p:nvSpPr>
          <p:cNvPr id="10" name="Text 7"/>
          <p:cNvSpPr txBox="1"/>
          <p:nvPr/>
        </p:nvSpPr>
        <p:spPr>
          <a:xfrm>
            <a:off x="3401568" y="18836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Signs up</a:t>
            </a:r>
            <a:endParaRPr lang="en-US" sz="1400" dirty="0"/>
          </a:p>
        </p:txBody>
      </p:sp>
      <p:sp>
        <p:nvSpPr>
          <p:cNvPr id="11" name="Text 8"/>
          <p:cNvSpPr txBox="1"/>
          <p:nvPr/>
        </p:nvSpPr>
        <p:spPr>
          <a:xfrm>
            <a:off x="2816352" y="25420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Picks Food and drops a pin where he trades</a:t>
            </a:r>
            <a:endParaRPr lang="en-US" sz="1200" dirty="0"/>
          </a:p>
        </p:txBody>
      </p:sp>
      <p:sp>
        <p:nvSpPr>
          <p:cNvPr id="12" name="Shape 9"/>
          <p:cNvSpPr/>
          <p:nvPr/>
        </p:nvSpPr>
        <p:spPr>
          <a:xfrm>
            <a:off x="4764024" y="2542032"/>
            <a:ext cx="137160" cy="0"/>
          </a:xfrm>
          <a:prstGeom prst="line">
            <a:avLst/>
          </a:prstGeom>
          <a:noFill/>
          <a:ln w="15875">
            <a:solidFill>
              <a:srgbClr val="64748B"/>
            </a:solidFill>
            <a:prstDash val="solid"/>
            <a:tailEnd type="triangle"/>
          </a:ln>
        </p:spPr>
      </p:sp>
      <p:sp>
        <p:nvSpPr>
          <p:cNvPr id="13" name="Shape 10"/>
          <p:cNvSpPr/>
          <p:nvPr/>
        </p:nvSpPr>
        <p:spPr>
          <a:xfrm>
            <a:off x="4910328" y="1737360"/>
            <a:ext cx="2103120" cy="1600200"/>
          </a:xfrm>
          <a:prstGeom prst="roundRect">
            <a:avLst>
              <a:gd name="adj" fmla="val 6857"/>
            </a:avLst>
          </a:prstGeom>
          <a:solidFill>
            <a:srgbClr val="17223A"/>
          </a:solidFill>
          <a:ln w="12700">
            <a:solidFill>
              <a:srgbClr val="17223A"/>
            </a:solidFill>
            <a:prstDash val="solid"/>
          </a:ln>
        </p:spPr>
      </p:sp>
      <p:sp>
        <p:nvSpPr>
          <p:cNvPr id="14" name="Shape 11"/>
          <p:cNvSpPr/>
          <p:nvPr/>
        </p:nvSpPr>
        <p:spPr>
          <a:xfrm>
            <a:off x="5074920" y="1920240"/>
            <a:ext cx="475488" cy="475488"/>
          </a:xfrm>
          <a:prstGeom prst="ellipse">
            <a:avLst/>
          </a:prstGeom>
          <a:solidFill>
            <a:srgbClr val="1E2B45"/>
          </a:solidFill>
          <a:ln w="19050">
            <a:solidFill>
              <a:srgbClr val="10B981"/>
            </a:solidFill>
            <a:prstDash val="solid"/>
          </a:ln>
        </p:spPr>
      </p:sp>
      <p:pic>
        <p:nvPicPr>
          <p:cNvPr id="15" name="Image 1" descr="preencoded.png"/>
          <p:cNvPicPr>
            <a:picLocks noChangeAspect="1"/>
          </p:cNvPicPr>
          <p:nvPr/>
        </p:nvPicPr>
        <p:blipFill>
          <a:blip r:embed="rId4"/>
          <a:stretch>
            <a:fillRect/>
          </a:stretch>
        </p:blipFill>
        <p:spPr>
          <a:xfrm>
            <a:off x="5189037" y="2034357"/>
            <a:ext cx="247254" cy="247254"/>
          </a:xfrm>
          <a:prstGeom prst="rect">
            <a:avLst/>
          </a:prstGeom>
        </p:spPr>
      </p:pic>
      <p:sp>
        <p:nvSpPr>
          <p:cNvPr id="16" name="Text 12"/>
          <p:cNvSpPr txBox="1"/>
          <p:nvPr/>
        </p:nvSpPr>
        <p:spPr>
          <a:xfrm>
            <a:off x="5660136" y="18836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Finds suppliers</a:t>
            </a:r>
            <a:endParaRPr lang="en-US" sz="1400" dirty="0"/>
          </a:p>
        </p:txBody>
      </p:sp>
      <p:sp>
        <p:nvSpPr>
          <p:cNvPr id="17" name="Text 13"/>
          <p:cNvSpPr txBox="1"/>
          <p:nvPr/>
        </p:nvSpPr>
        <p:spPr>
          <a:xfrm>
            <a:off x="5074920" y="25420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Ones who deliver to him, near and recommended</a:t>
            </a:r>
            <a:endParaRPr lang="en-US" sz="1200" dirty="0"/>
          </a:p>
        </p:txBody>
      </p:sp>
      <p:sp>
        <p:nvSpPr>
          <p:cNvPr id="18" name="Shape 14"/>
          <p:cNvSpPr/>
          <p:nvPr/>
        </p:nvSpPr>
        <p:spPr>
          <a:xfrm>
            <a:off x="7022592" y="2542032"/>
            <a:ext cx="137160" cy="0"/>
          </a:xfrm>
          <a:prstGeom prst="line">
            <a:avLst/>
          </a:prstGeom>
          <a:noFill/>
          <a:ln w="15875">
            <a:solidFill>
              <a:srgbClr val="64748B"/>
            </a:solidFill>
            <a:prstDash val="solid"/>
            <a:tailEnd type="triangle"/>
          </a:ln>
        </p:spPr>
      </p:sp>
      <p:sp>
        <p:nvSpPr>
          <p:cNvPr id="19" name="Shape 15"/>
          <p:cNvSpPr/>
          <p:nvPr/>
        </p:nvSpPr>
        <p:spPr>
          <a:xfrm>
            <a:off x="7168896" y="1737360"/>
            <a:ext cx="2103120" cy="1600200"/>
          </a:xfrm>
          <a:prstGeom prst="roundRect">
            <a:avLst>
              <a:gd name="adj" fmla="val 6857"/>
            </a:avLst>
          </a:prstGeom>
          <a:solidFill>
            <a:srgbClr val="17223A"/>
          </a:solidFill>
          <a:ln w="12700">
            <a:solidFill>
              <a:srgbClr val="17223A"/>
            </a:solidFill>
            <a:prstDash val="solid"/>
          </a:ln>
        </p:spPr>
      </p:sp>
      <p:sp>
        <p:nvSpPr>
          <p:cNvPr id="20" name="Shape 16"/>
          <p:cNvSpPr/>
          <p:nvPr/>
        </p:nvSpPr>
        <p:spPr>
          <a:xfrm>
            <a:off x="7333488" y="1920240"/>
            <a:ext cx="475488" cy="475488"/>
          </a:xfrm>
          <a:prstGeom prst="ellipse">
            <a:avLst/>
          </a:prstGeom>
          <a:solidFill>
            <a:srgbClr val="1E2B45"/>
          </a:solidFill>
          <a:ln w="19050">
            <a:solidFill>
              <a:srgbClr val="10B981"/>
            </a:solidFill>
            <a:prstDash val="solid"/>
          </a:ln>
        </p:spPr>
      </p:sp>
      <p:pic>
        <p:nvPicPr>
          <p:cNvPr id="21" name="Image 2" descr="preencoded.png"/>
          <p:cNvPicPr>
            <a:picLocks noChangeAspect="1"/>
          </p:cNvPicPr>
          <p:nvPr/>
        </p:nvPicPr>
        <p:blipFill>
          <a:blip r:embed="rId5"/>
          <a:stretch>
            <a:fillRect/>
          </a:stretch>
        </p:blipFill>
        <p:spPr>
          <a:xfrm>
            <a:off x="7447605" y="2034357"/>
            <a:ext cx="247254" cy="247254"/>
          </a:xfrm>
          <a:prstGeom prst="rect">
            <a:avLst/>
          </a:prstGeom>
        </p:spPr>
      </p:pic>
      <p:sp>
        <p:nvSpPr>
          <p:cNvPr id="22" name="Text 17"/>
          <p:cNvSpPr txBox="1"/>
          <p:nvPr/>
        </p:nvSpPr>
        <p:spPr>
          <a:xfrm>
            <a:off x="7918704" y="18836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Orders and pays</a:t>
            </a:r>
            <a:endParaRPr lang="en-US" sz="1400" dirty="0"/>
          </a:p>
        </p:txBody>
      </p:sp>
      <p:sp>
        <p:nvSpPr>
          <p:cNvPr id="23" name="Text 18"/>
          <p:cNvSpPr txBox="1"/>
          <p:nvPr/>
        </p:nvSpPr>
        <p:spPr>
          <a:xfrm>
            <a:off x="7333488" y="25420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Bread from a bakery that delivers, paid in the app, confirmed by the provider</a:t>
            </a:r>
            <a:endParaRPr lang="en-US" sz="1200" dirty="0"/>
          </a:p>
        </p:txBody>
      </p:sp>
      <p:sp>
        <p:nvSpPr>
          <p:cNvPr id="24" name="Shape 19"/>
          <p:cNvSpPr/>
          <p:nvPr/>
        </p:nvSpPr>
        <p:spPr>
          <a:xfrm>
            <a:off x="9281160" y="2542032"/>
            <a:ext cx="137160" cy="0"/>
          </a:xfrm>
          <a:prstGeom prst="line">
            <a:avLst/>
          </a:prstGeom>
          <a:noFill/>
          <a:ln w="15875">
            <a:solidFill>
              <a:srgbClr val="64748B"/>
            </a:solidFill>
            <a:prstDash val="solid"/>
            <a:tailEnd type="triangle"/>
          </a:ln>
        </p:spPr>
      </p:sp>
      <p:sp>
        <p:nvSpPr>
          <p:cNvPr id="25" name="Shape 20"/>
          <p:cNvSpPr/>
          <p:nvPr/>
        </p:nvSpPr>
        <p:spPr>
          <a:xfrm>
            <a:off x="9427464" y="1737360"/>
            <a:ext cx="2103120" cy="1600200"/>
          </a:xfrm>
          <a:prstGeom prst="roundRect">
            <a:avLst>
              <a:gd name="adj" fmla="val 6857"/>
            </a:avLst>
          </a:prstGeom>
          <a:solidFill>
            <a:srgbClr val="17223A"/>
          </a:solidFill>
          <a:ln w="12700">
            <a:solidFill>
              <a:srgbClr val="17223A"/>
            </a:solidFill>
            <a:prstDash val="solid"/>
          </a:ln>
        </p:spPr>
      </p:sp>
      <p:sp>
        <p:nvSpPr>
          <p:cNvPr id="26" name="Shape 21"/>
          <p:cNvSpPr/>
          <p:nvPr/>
        </p:nvSpPr>
        <p:spPr>
          <a:xfrm>
            <a:off x="9592056" y="1920240"/>
            <a:ext cx="475488" cy="475488"/>
          </a:xfrm>
          <a:prstGeom prst="ellipse">
            <a:avLst/>
          </a:prstGeom>
          <a:solidFill>
            <a:srgbClr val="1E2B45"/>
          </a:solidFill>
          <a:ln w="19050">
            <a:solidFill>
              <a:srgbClr val="10B981"/>
            </a:solidFill>
            <a:prstDash val="solid"/>
          </a:ln>
        </p:spPr>
      </p:sp>
      <p:pic>
        <p:nvPicPr>
          <p:cNvPr id="27" name="Image 3" descr="preencoded.png"/>
          <p:cNvPicPr>
            <a:picLocks noChangeAspect="1"/>
          </p:cNvPicPr>
          <p:nvPr/>
        </p:nvPicPr>
        <p:blipFill>
          <a:blip r:embed="rId6"/>
          <a:stretch>
            <a:fillRect/>
          </a:stretch>
        </p:blipFill>
        <p:spPr>
          <a:xfrm>
            <a:off x="9706173" y="2034357"/>
            <a:ext cx="247254" cy="247254"/>
          </a:xfrm>
          <a:prstGeom prst="rect">
            <a:avLst/>
          </a:prstGeom>
        </p:spPr>
      </p:pic>
      <p:sp>
        <p:nvSpPr>
          <p:cNvPr id="28" name="Text 22"/>
          <p:cNvSpPr txBox="1"/>
          <p:nvPr/>
        </p:nvSpPr>
        <p:spPr>
          <a:xfrm>
            <a:off x="10177272" y="18836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Sees his business</a:t>
            </a:r>
            <a:endParaRPr lang="en-US" sz="1400" dirty="0"/>
          </a:p>
        </p:txBody>
      </p:sp>
      <p:sp>
        <p:nvSpPr>
          <p:cNvPr id="29" name="Text 23"/>
          <p:cNvSpPr txBox="1"/>
          <p:nvPr/>
        </p:nvSpPr>
        <p:spPr>
          <a:xfrm>
            <a:off x="9592056" y="25420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Kotas sold, stock bought, and his record growing</a:t>
            </a:r>
            <a:endParaRPr lang="en-US" sz="1200" dirty="0"/>
          </a:p>
        </p:txBody>
      </p:sp>
      <p:sp>
        <p:nvSpPr>
          <p:cNvPr id="30" name="Shape 24"/>
          <p:cNvSpPr/>
          <p:nvPr/>
        </p:nvSpPr>
        <p:spPr>
          <a:xfrm>
            <a:off x="548640" y="3566160"/>
            <a:ext cx="1920240" cy="1600200"/>
          </a:xfrm>
          <a:prstGeom prst="roundRect">
            <a:avLst>
              <a:gd name="adj" fmla="val 6857"/>
            </a:avLst>
          </a:prstGeom>
          <a:solidFill>
            <a:srgbClr val="1E2B45"/>
          </a:solidFill>
          <a:ln w="12700">
            <a:solidFill>
              <a:srgbClr val="1E2B45"/>
            </a:solidFill>
            <a:prstDash val="solid"/>
          </a:ln>
        </p:spPr>
      </p:sp>
      <p:sp>
        <p:nvSpPr>
          <p:cNvPr id="31" name="Text 25"/>
          <p:cNvSpPr txBox="1"/>
          <p:nvPr/>
        </p:nvSpPr>
        <p:spPr>
          <a:xfrm>
            <a:off x="731520" y="3840480"/>
            <a:ext cx="1645920" cy="502920"/>
          </a:xfrm>
          <a:prstGeom prst="rect">
            <a:avLst/>
          </a:prstGeom>
          <a:noFill/>
          <a:ln/>
        </p:spPr>
        <p:txBody>
          <a:bodyPr wrap="square" lIns="0" tIns="0" rIns="0" bIns="0" rtlCol="0" anchor="t"/>
          <a:lstStyle/>
          <a:p>
            <a:pPr marL="0" indent="0">
              <a:buNone/>
            </a:pPr>
            <a:r>
              <a:rPr lang="en-US" sz="2400" b="1" dirty="0">
                <a:solidFill>
                  <a:srgbClr val="FBBF24"/>
                </a:solidFill>
                <a:latin typeface="Georgia" pitchFamily="34" charset="0"/>
                <a:ea typeface="Georgia" pitchFamily="34" charset="-122"/>
                <a:cs typeface="Georgia" pitchFamily="34" charset="-120"/>
              </a:rPr>
              <a:t>Thabo</a:t>
            </a:r>
            <a:endParaRPr lang="en-US" sz="2400" dirty="0"/>
          </a:p>
        </p:txBody>
      </p:sp>
      <p:sp>
        <p:nvSpPr>
          <p:cNvPr id="32" name="Text 26"/>
          <p:cNvSpPr txBox="1"/>
          <p:nvPr/>
        </p:nvSpPr>
        <p:spPr>
          <a:xfrm>
            <a:off x="731520" y="4389120"/>
            <a:ext cx="1600200" cy="914400"/>
          </a:xfrm>
          <a:prstGeom prst="rect">
            <a:avLst/>
          </a:prstGeom>
          <a:noFill/>
          <a:ln/>
        </p:spPr>
        <p:txBody>
          <a:bodyPr wrap="square" lIns="0" tIns="0" rIns="0" bIns="0" rtlCol="0" anchor="t"/>
          <a:lstStyle/>
          <a:p>
            <a:pPr marL="0" indent="0">
              <a:buNone/>
            </a:pPr>
            <a:r>
              <a:rPr lang="en-US" sz="1250" dirty="0">
                <a:solidFill>
                  <a:srgbClr val="A3B3C9"/>
                </a:solidFill>
                <a:latin typeface="Calibri" pitchFamily="34" charset="0"/>
                <a:ea typeface="Calibri" pitchFamily="34" charset="-122"/>
                <a:cs typeface="Calibri" pitchFamily="34" charset="-120"/>
              </a:rPr>
              <a:t>a builder</a:t>
            </a:r>
            <a:endParaRPr lang="en-US" sz="1250" dirty="0"/>
          </a:p>
        </p:txBody>
      </p:sp>
      <p:sp>
        <p:nvSpPr>
          <p:cNvPr id="33" name="Shape 27"/>
          <p:cNvSpPr/>
          <p:nvPr/>
        </p:nvSpPr>
        <p:spPr>
          <a:xfrm>
            <a:off x="2651760" y="3566160"/>
            <a:ext cx="2103120" cy="1600200"/>
          </a:xfrm>
          <a:prstGeom prst="roundRect">
            <a:avLst>
              <a:gd name="adj" fmla="val 6857"/>
            </a:avLst>
          </a:prstGeom>
          <a:solidFill>
            <a:srgbClr val="17223A"/>
          </a:solidFill>
          <a:ln w="12700">
            <a:solidFill>
              <a:srgbClr val="17223A"/>
            </a:solidFill>
            <a:prstDash val="solid"/>
          </a:ln>
        </p:spPr>
      </p:sp>
      <p:sp>
        <p:nvSpPr>
          <p:cNvPr id="34" name="Shape 28"/>
          <p:cNvSpPr/>
          <p:nvPr/>
        </p:nvSpPr>
        <p:spPr>
          <a:xfrm>
            <a:off x="2816352" y="3749040"/>
            <a:ext cx="475488" cy="475488"/>
          </a:xfrm>
          <a:prstGeom prst="ellipse">
            <a:avLst/>
          </a:prstGeom>
          <a:solidFill>
            <a:srgbClr val="1E2B45"/>
          </a:solidFill>
          <a:ln w="19050">
            <a:solidFill>
              <a:srgbClr val="FBBF24"/>
            </a:solidFill>
            <a:prstDash val="solid"/>
          </a:ln>
        </p:spPr>
      </p:sp>
      <p:pic>
        <p:nvPicPr>
          <p:cNvPr id="35" name="Image 4" descr="preencoded.png"/>
          <p:cNvPicPr>
            <a:picLocks noChangeAspect="1"/>
          </p:cNvPicPr>
          <p:nvPr/>
        </p:nvPicPr>
        <p:blipFill>
          <a:blip r:embed="rId7"/>
          <a:stretch>
            <a:fillRect/>
          </a:stretch>
        </p:blipFill>
        <p:spPr>
          <a:xfrm>
            <a:off x="2930469" y="3863157"/>
            <a:ext cx="247254" cy="247254"/>
          </a:xfrm>
          <a:prstGeom prst="rect">
            <a:avLst/>
          </a:prstGeom>
        </p:spPr>
      </p:pic>
      <p:sp>
        <p:nvSpPr>
          <p:cNvPr id="36" name="Text 29"/>
          <p:cNvSpPr txBox="1"/>
          <p:nvPr/>
        </p:nvSpPr>
        <p:spPr>
          <a:xfrm>
            <a:off x="3401568" y="37124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Logs a job</a:t>
            </a:r>
            <a:endParaRPr lang="en-US" sz="1400" dirty="0"/>
          </a:p>
        </p:txBody>
      </p:sp>
      <p:sp>
        <p:nvSpPr>
          <p:cNvPr id="37" name="Text 30"/>
          <p:cNvSpPr txBox="1"/>
          <p:nvPr/>
        </p:nvSpPr>
        <p:spPr>
          <a:xfrm>
            <a:off x="2816352" y="43708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The client, the price and the stages</a:t>
            </a:r>
            <a:endParaRPr lang="en-US" sz="1200" dirty="0"/>
          </a:p>
        </p:txBody>
      </p:sp>
      <p:sp>
        <p:nvSpPr>
          <p:cNvPr id="38" name="Shape 31"/>
          <p:cNvSpPr/>
          <p:nvPr/>
        </p:nvSpPr>
        <p:spPr>
          <a:xfrm>
            <a:off x="4764024" y="4370832"/>
            <a:ext cx="137160" cy="0"/>
          </a:xfrm>
          <a:prstGeom prst="line">
            <a:avLst/>
          </a:prstGeom>
          <a:noFill/>
          <a:ln w="15875">
            <a:solidFill>
              <a:srgbClr val="64748B"/>
            </a:solidFill>
            <a:prstDash val="solid"/>
            <a:tailEnd type="triangle"/>
          </a:ln>
        </p:spPr>
      </p:sp>
      <p:sp>
        <p:nvSpPr>
          <p:cNvPr id="39" name="Shape 32"/>
          <p:cNvSpPr/>
          <p:nvPr/>
        </p:nvSpPr>
        <p:spPr>
          <a:xfrm>
            <a:off x="4910328" y="3566160"/>
            <a:ext cx="2103120" cy="1600200"/>
          </a:xfrm>
          <a:prstGeom prst="roundRect">
            <a:avLst>
              <a:gd name="adj" fmla="val 6857"/>
            </a:avLst>
          </a:prstGeom>
          <a:solidFill>
            <a:srgbClr val="17223A"/>
          </a:solidFill>
          <a:ln w="12700">
            <a:solidFill>
              <a:srgbClr val="17223A"/>
            </a:solidFill>
            <a:prstDash val="solid"/>
          </a:ln>
        </p:spPr>
      </p:sp>
      <p:sp>
        <p:nvSpPr>
          <p:cNvPr id="40" name="Shape 33"/>
          <p:cNvSpPr/>
          <p:nvPr/>
        </p:nvSpPr>
        <p:spPr>
          <a:xfrm>
            <a:off x="5074920" y="3749040"/>
            <a:ext cx="475488" cy="475488"/>
          </a:xfrm>
          <a:prstGeom prst="ellipse">
            <a:avLst/>
          </a:prstGeom>
          <a:solidFill>
            <a:srgbClr val="1E2B45"/>
          </a:solidFill>
          <a:ln w="19050">
            <a:solidFill>
              <a:srgbClr val="FBBF24"/>
            </a:solidFill>
            <a:prstDash val="solid"/>
          </a:ln>
        </p:spPr>
      </p:sp>
      <p:pic>
        <p:nvPicPr>
          <p:cNvPr id="41" name="Image 5" descr="preencoded.png"/>
          <p:cNvPicPr>
            <a:picLocks noChangeAspect="1"/>
          </p:cNvPicPr>
          <p:nvPr/>
        </p:nvPicPr>
        <p:blipFill>
          <a:blip r:embed="rId8"/>
          <a:stretch>
            <a:fillRect/>
          </a:stretch>
        </p:blipFill>
        <p:spPr>
          <a:xfrm>
            <a:off x="5189037" y="3863157"/>
            <a:ext cx="247254" cy="247254"/>
          </a:xfrm>
          <a:prstGeom prst="rect">
            <a:avLst/>
          </a:prstGeom>
        </p:spPr>
      </p:pic>
      <p:sp>
        <p:nvSpPr>
          <p:cNvPr id="42" name="Text 34"/>
          <p:cNvSpPr txBox="1"/>
          <p:nvPr/>
        </p:nvSpPr>
        <p:spPr>
          <a:xfrm>
            <a:off x="5660136" y="37124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Photographs each stage</a:t>
            </a:r>
            <a:endParaRPr lang="en-US" sz="1400" dirty="0"/>
          </a:p>
        </p:txBody>
      </p:sp>
      <p:sp>
        <p:nvSpPr>
          <p:cNvPr id="43" name="Text 35"/>
          <p:cNvSpPr txBox="1"/>
          <p:nvPr/>
        </p:nvSpPr>
        <p:spPr>
          <a:xfrm>
            <a:off x="5074920" y="43708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Our server keeps each photo's time and fingerprint</a:t>
            </a:r>
            <a:endParaRPr lang="en-US" sz="1200" dirty="0"/>
          </a:p>
        </p:txBody>
      </p:sp>
      <p:sp>
        <p:nvSpPr>
          <p:cNvPr id="44" name="Shape 36"/>
          <p:cNvSpPr/>
          <p:nvPr/>
        </p:nvSpPr>
        <p:spPr>
          <a:xfrm>
            <a:off x="7022592" y="4370832"/>
            <a:ext cx="137160" cy="0"/>
          </a:xfrm>
          <a:prstGeom prst="line">
            <a:avLst/>
          </a:prstGeom>
          <a:noFill/>
          <a:ln w="15875">
            <a:solidFill>
              <a:srgbClr val="64748B"/>
            </a:solidFill>
            <a:prstDash val="solid"/>
            <a:tailEnd type="triangle"/>
          </a:ln>
        </p:spPr>
      </p:sp>
      <p:sp>
        <p:nvSpPr>
          <p:cNvPr id="45" name="Shape 37"/>
          <p:cNvSpPr/>
          <p:nvPr/>
        </p:nvSpPr>
        <p:spPr>
          <a:xfrm>
            <a:off x="7168896" y="3566160"/>
            <a:ext cx="2103120" cy="1600200"/>
          </a:xfrm>
          <a:prstGeom prst="roundRect">
            <a:avLst>
              <a:gd name="adj" fmla="val 6857"/>
            </a:avLst>
          </a:prstGeom>
          <a:solidFill>
            <a:srgbClr val="17223A"/>
          </a:solidFill>
          <a:ln w="12700">
            <a:solidFill>
              <a:srgbClr val="17223A"/>
            </a:solidFill>
            <a:prstDash val="solid"/>
          </a:ln>
        </p:spPr>
      </p:sp>
      <p:sp>
        <p:nvSpPr>
          <p:cNvPr id="46" name="Shape 38"/>
          <p:cNvSpPr/>
          <p:nvPr/>
        </p:nvSpPr>
        <p:spPr>
          <a:xfrm>
            <a:off x="7333488" y="3749040"/>
            <a:ext cx="475488" cy="475488"/>
          </a:xfrm>
          <a:prstGeom prst="ellipse">
            <a:avLst/>
          </a:prstGeom>
          <a:solidFill>
            <a:srgbClr val="1E2B45"/>
          </a:solidFill>
          <a:ln w="19050">
            <a:solidFill>
              <a:srgbClr val="FBBF24"/>
            </a:solidFill>
            <a:prstDash val="solid"/>
          </a:ln>
        </p:spPr>
      </p:sp>
      <p:pic>
        <p:nvPicPr>
          <p:cNvPr id="47" name="Image 6" descr="preencoded.png"/>
          <p:cNvPicPr>
            <a:picLocks noChangeAspect="1"/>
          </p:cNvPicPr>
          <p:nvPr/>
        </p:nvPicPr>
        <p:blipFill>
          <a:blip r:embed="rId9"/>
          <a:stretch>
            <a:fillRect/>
          </a:stretch>
        </p:blipFill>
        <p:spPr>
          <a:xfrm>
            <a:off x="7447605" y="3863157"/>
            <a:ext cx="247254" cy="247254"/>
          </a:xfrm>
          <a:prstGeom prst="rect">
            <a:avLst/>
          </a:prstGeom>
        </p:spPr>
      </p:pic>
      <p:sp>
        <p:nvSpPr>
          <p:cNvPr id="48" name="Text 39"/>
          <p:cNvSpPr txBox="1"/>
          <p:nvPr/>
        </p:nvSpPr>
        <p:spPr>
          <a:xfrm>
            <a:off x="7918704" y="37124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Client signs off</a:t>
            </a:r>
            <a:endParaRPr lang="en-US" sz="1400" dirty="0"/>
          </a:p>
        </p:txBody>
      </p:sp>
      <p:sp>
        <p:nvSpPr>
          <p:cNvPr id="49" name="Text 40"/>
          <p:cNvSpPr txBox="1"/>
          <p:nvPr/>
        </p:nvSpPr>
        <p:spPr>
          <a:xfrm>
            <a:off x="7333488" y="43708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From a link: the stage is confirmed by both</a:t>
            </a:r>
            <a:endParaRPr lang="en-US" sz="1200" dirty="0"/>
          </a:p>
        </p:txBody>
      </p:sp>
      <p:sp>
        <p:nvSpPr>
          <p:cNvPr id="50" name="Shape 41"/>
          <p:cNvSpPr/>
          <p:nvPr/>
        </p:nvSpPr>
        <p:spPr>
          <a:xfrm>
            <a:off x="9281160" y="4370832"/>
            <a:ext cx="137160" cy="0"/>
          </a:xfrm>
          <a:prstGeom prst="line">
            <a:avLst/>
          </a:prstGeom>
          <a:noFill/>
          <a:ln w="15875">
            <a:solidFill>
              <a:srgbClr val="64748B"/>
            </a:solidFill>
            <a:prstDash val="solid"/>
            <a:tailEnd type="triangle"/>
          </a:ln>
        </p:spPr>
      </p:sp>
      <p:sp>
        <p:nvSpPr>
          <p:cNvPr id="51" name="Shape 42"/>
          <p:cNvSpPr/>
          <p:nvPr/>
        </p:nvSpPr>
        <p:spPr>
          <a:xfrm>
            <a:off x="9427464" y="3566160"/>
            <a:ext cx="2103120" cy="1600200"/>
          </a:xfrm>
          <a:prstGeom prst="roundRect">
            <a:avLst>
              <a:gd name="adj" fmla="val 6857"/>
            </a:avLst>
          </a:prstGeom>
          <a:solidFill>
            <a:srgbClr val="17223A"/>
          </a:solidFill>
          <a:ln w="12700">
            <a:solidFill>
              <a:srgbClr val="17223A"/>
            </a:solidFill>
            <a:prstDash val="solid"/>
          </a:ln>
        </p:spPr>
      </p:sp>
      <p:sp>
        <p:nvSpPr>
          <p:cNvPr id="52" name="Shape 43"/>
          <p:cNvSpPr/>
          <p:nvPr/>
        </p:nvSpPr>
        <p:spPr>
          <a:xfrm>
            <a:off x="9592056" y="3749040"/>
            <a:ext cx="475488" cy="475488"/>
          </a:xfrm>
          <a:prstGeom prst="ellipse">
            <a:avLst/>
          </a:prstGeom>
          <a:solidFill>
            <a:srgbClr val="1E2B45"/>
          </a:solidFill>
          <a:ln w="19050">
            <a:solidFill>
              <a:srgbClr val="FBBF24"/>
            </a:solidFill>
            <a:prstDash val="solid"/>
          </a:ln>
        </p:spPr>
      </p:sp>
      <p:pic>
        <p:nvPicPr>
          <p:cNvPr id="53" name="Image 7" descr="preencoded.png"/>
          <p:cNvPicPr>
            <a:picLocks noChangeAspect="1"/>
          </p:cNvPicPr>
          <p:nvPr/>
        </p:nvPicPr>
        <p:blipFill>
          <a:blip r:embed="rId10"/>
          <a:stretch>
            <a:fillRect/>
          </a:stretch>
        </p:blipFill>
        <p:spPr>
          <a:xfrm>
            <a:off x="9706173" y="3863157"/>
            <a:ext cx="247254" cy="247254"/>
          </a:xfrm>
          <a:prstGeom prst="rect">
            <a:avLst/>
          </a:prstGeom>
        </p:spPr>
      </p:pic>
      <p:sp>
        <p:nvSpPr>
          <p:cNvPr id="54" name="Text 44"/>
          <p:cNvSpPr txBox="1"/>
          <p:nvPr/>
        </p:nvSpPr>
        <p:spPr>
          <a:xfrm>
            <a:off x="10177272" y="3712464"/>
            <a:ext cx="1280160" cy="548640"/>
          </a:xfrm>
          <a:prstGeom prst="rect">
            <a:avLst/>
          </a:prstGeom>
          <a:noFill/>
          <a:ln/>
        </p:spPr>
        <p:txBody>
          <a:bodyPr wrap="square" lIns="0" tIns="0" rIns="0" bIns="0" rtlCol="0" anchor="ctr"/>
          <a:lstStyle/>
          <a:p>
            <a:pPr marL="0" indent="0">
              <a:buNone/>
            </a:pPr>
            <a:r>
              <a:rPr lang="en-US" sz="1400" b="1" dirty="0">
                <a:solidFill>
                  <a:srgbClr val="F8FAFC"/>
                </a:solidFill>
                <a:latin typeface="Calibri" pitchFamily="34" charset="0"/>
                <a:ea typeface="Calibri" pitchFamily="34" charset="-122"/>
                <a:cs typeface="Calibri" pitchFamily="34" charset="-120"/>
              </a:rPr>
              <a:t>Builds a track record</a:t>
            </a:r>
            <a:endParaRPr lang="en-US" sz="1400" dirty="0"/>
          </a:p>
        </p:txBody>
      </p:sp>
      <p:sp>
        <p:nvSpPr>
          <p:cNvPr id="55" name="Text 45"/>
          <p:cNvSpPr txBox="1"/>
          <p:nvPr/>
        </p:nvSpPr>
        <p:spPr>
          <a:xfrm>
            <a:off x="9592056" y="4370832"/>
            <a:ext cx="1783080" cy="731520"/>
          </a:xfrm>
          <a:prstGeom prst="rect">
            <a:avLst/>
          </a:prstGeom>
          <a:noFill/>
          <a:ln/>
        </p:spPr>
        <p:txBody>
          <a:bodyPr wrap="square" lIns="0" tIns="0" rIns="0" bIns="0" rtlCol="0" anchor="t"/>
          <a:lstStyle/>
          <a:p>
            <a:pPr marL="0" indent="0">
              <a:buNone/>
            </a:pPr>
            <a:r>
              <a:rPr lang="en-US" sz="1200" dirty="0">
                <a:solidFill>
                  <a:srgbClr val="A3B3C9"/>
                </a:solidFill>
                <a:latin typeface="Calibri" pitchFamily="34" charset="0"/>
                <a:ea typeface="Calibri" pitchFamily="34" charset="-122"/>
                <a:cs typeface="Calibri" pitchFamily="34" charset="-120"/>
              </a:rPr>
              <a:t>Finished jobs he can show his next client</a:t>
            </a:r>
            <a:endParaRPr lang="en-US" sz="1200" dirty="0"/>
          </a:p>
        </p:txBody>
      </p:sp>
      <p:sp>
        <p:nvSpPr>
          <p:cNvPr id="56" name="Text 46"/>
          <p:cNvSpPr txBox="1"/>
          <p:nvPr/>
        </p:nvSpPr>
        <p:spPr>
          <a:xfrm>
            <a:off x="548640" y="5440680"/>
            <a:ext cx="10972800" cy="320040"/>
          </a:xfrm>
          <a:prstGeom prst="rect">
            <a:avLst/>
          </a:prstGeom>
          <a:noFill/>
          <a:ln/>
        </p:spPr>
        <p:txBody>
          <a:bodyPr wrap="square" lIns="0" tIns="0" rIns="0" bIns="0" rtlCol="0" anchor="t"/>
          <a:lstStyle/>
          <a:p>
            <a:pPr marL="0" indent="0">
              <a:buNone/>
            </a:pPr>
            <a:r>
              <a:rPr lang="en-US" sz="1400" i="1" dirty="0">
                <a:solidFill>
                  <a:srgbClr val="10B981"/>
                </a:solidFill>
                <a:latin typeface="Calibri" pitchFamily="34" charset="0"/>
                <a:ea typeface="Calibri" pitchFamily="34" charset="-122"/>
                <a:cs typeface="Calibri" pitchFamily="34" charset="-120"/>
              </a:rPr>
              <a:t>The same journey works for a spaza shop, a salon or a mechanic.</a:t>
            </a:r>
            <a:endParaRPr lang="en-US" sz="1400" dirty="0"/>
          </a:p>
        </p:txBody>
      </p:sp>
      <p:pic>
        <p:nvPicPr>
          <p:cNvPr id="57" name="Image 8" descr="preencoded.png"/>
          <p:cNvPicPr>
            <a:picLocks noChangeAspect="1"/>
          </p:cNvPicPr>
          <p:nvPr/>
        </p:nvPicPr>
        <p:blipFill>
          <a:blip r:embed="rId11"/>
          <a:stretch>
            <a:fillRect/>
          </a:stretch>
        </p:blipFill>
        <p:spPr>
          <a:xfrm>
            <a:off x="11231575" y="6291072"/>
            <a:ext cx="384048" cy="384048"/>
          </a:xfrm>
          <a:prstGeom prst="rect">
            <a:avLst/>
          </a:prstGeom>
        </p:spPr>
      </p:pic>
      <p:sp>
        <p:nvSpPr>
          <p:cNvPr id="58" name="Text 47"/>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marL="0" indent="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marL="0" indent="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icPr>
            <a:picLocks noChangeAspect="1"/>
          </p:cNvPicPr>
          <p:nvPr/>
        </p:nvPicPr>
        <p:blipFill>
          <a:blip r:embed="rId4"/>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marL="0" indent="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marL="0" indent="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icPr>
            <a:picLocks noChangeAspect="1"/>
          </p:cNvPicPr>
          <p:nvPr/>
        </p:nvPicPr>
        <p:blipFill>
          <a:blip r:embed="rId5"/>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marL="0" indent="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marL="0" indent="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icPr>
            <a:picLocks noChangeAspect="1"/>
          </p:cNvPicPr>
          <p:nvPr/>
        </p:nvPicPr>
        <p:blipFill>
          <a:blip r:embed="rId6"/>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marL="0" indent="0" algn="ctr">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marL="0" indent="0" algn="ctr">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marL="0" indent="0" algn="ctr">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marL="0" indent="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marL="0" indent="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marL="0" indent="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marL="0" indent="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icPr>
            <a:picLocks noChangeAspect="1"/>
          </p:cNvPicPr>
          <p:nvPr/>
        </p:nvPicPr>
        <p:blipFill>
          <a:blip r:embed="rId3"/>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icPr>
            <a:picLocks noChangeAspect="1"/>
          </p:cNvPicPr>
          <p:nvPr/>
        </p:nvPicPr>
        <p:blipFill>
          <a:blip r:embed="rId4"/>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icPr>
            <a:picLocks noChangeAspect="1"/>
          </p:cNvPicPr>
          <p:nvPr/>
        </p:nvPicPr>
        <p:blipFill>
          <a:blip r:embed="rId5"/>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icPr>
            <a:picLocks noChangeAspect="1"/>
          </p:cNvPicPr>
          <p:nvPr/>
        </p:nvPicPr>
        <p:blipFill>
          <a:blip r:embed="rId6"/>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marL="0" indent="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icPr>
            <a:picLocks noChangeAspect="1"/>
          </p:cNvPicPr>
          <p:nvPr/>
        </p:nvPicPr>
        <p:blipFill>
          <a:blip r:embed="rId7"/>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sp>
        <p:nvSpPr>
          <p:cNvPr id="4" name="Shape 2"/>
          <p:cNvSpPr/>
          <p:nvPr/>
        </p:nvSpPr>
        <p:spPr>
          <a:xfrm>
            <a:off x="548640" y="1645920"/>
            <a:ext cx="2697480" cy="2834640"/>
          </a:xfrm>
          <a:prstGeom prst="roundRect">
            <a:avLst>
              <a:gd name="adj" fmla="val 4068"/>
            </a:avLst>
          </a:prstGeom>
          <a:solidFill>
            <a:srgbClr val="17223A"/>
          </a:solidFill>
          <a:ln w="12700">
            <a:solidFill>
              <a:srgbClr val="17223A"/>
            </a:solidFill>
            <a:prstDash val="solid"/>
          </a:ln>
        </p:spPr>
      </p:sp>
      <p:sp>
        <p:nvSpPr>
          <p:cNvPr id="5" name="Shape 3"/>
          <p:cNvSpPr/>
          <p:nvPr/>
        </p:nvSpPr>
        <p:spPr>
          <a:xfrm>
            <a:off x="777240" y="1847088"/>
            <a:ext cx="566928" cy="566928"/>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913303" y="1983151"/>
            <a:ext cx="294803" cy="294803"/>
          </a:xfrm>
          <a:prstGeom prst="rect">
            <a:avLst/>
          </a:prstGeom>
        </p:spPr>
      </p:pic>
      <p:sp>
        <p:nvSpPr>
          <p:cNvPr id="7" name="Text 4"/>
          <p:cNvSpPr txBox="1"/>
          <p:nvPr/>
        </p:nvSpPr>
        <p:spPr>
          <a:xfrm>
            <a:off x="1463040" y="1956816"/>
            <a:ext cx="1691640" cy="365760"/>
          </a:xfrm>
          <a:prstGeom prst="rect">
            <a:avLst/>
          </a:prstGeom>
          <a:noFill/>
          <a:ln/>
        </p:spPr>
        <p:txBody>
          <a:bodyPr wrap="square" lIns="0" tIns="0" rIns="0" bIns="0" rtlCol="0" anchor="t"/>
          <a:lstStyle/>
          <a:p>
            <a:pPr marL="0" indent="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77724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React Native + Expo, TypeScript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Android first</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Sign-in kept in secure storage</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Offline orders wait, then send once</a:t>
            </a:r>
            <a:endParaRPr lang="en-US" sz="1250" dirty="0"/>
          </a:p>
        </p:txBody>
      </p:sp>
      <p:sp>
        <p:nvSpPr>
          <p:cNvPr id="9" name="Shape 6"/>
          <p:cNvSpPr/>
          <p:nvPr/>
        </p:nvSpPr>
        <p:spPr>
          <a:xfrm>
            <a:off x="3611880" y="1645920"/>
            <a:ext cx="4983480" cy="2834640"/>
          </a:xfrm>
          <a:prstGeom prst="roundRect">
            <a:avLst>
              <a:gd name="adj" fmla="val 3871"/>
            </a:avLst>
          </a:prstGeom>
          <a:solidFill>
            <a:srgbClr val="17223A"/>
          </a:solidFill>
          <a:ln w="12700">
            <a:solidFill>
              <a:srgbClr val="17223A"/>
            </a:solidFill>
            <a:prstDash val="solid"/>
          </a:ln>
        </p:spPr>
      </p:sp>
      <p:sp>
        <p:nvSpPr>
          <p:cNvPr id="10" name="Shape 7"/>
          <p:cNvSpPr/>
          <p:nvPr/>
        </p:nvSpPr>
        <p:spPr>
          <a:xfrm>
            <a:off x="3840480" y="1847088"/>
            <a:ext cx="566928" cy="566928"/>
          </a:xfrm>
          <a:prstGeom prst="ellipse">
            <a:avLst/>
          </a:prstGeom>
          <a:solidFill>
            <a:srgbClr val="1E2B45"/>
          </a:solidFill>
          <a:ln w="19050">
            <a:solidFill>
              <a:srgbClr val="FBBF24"/>
            </a:solidFill>
            <a:prstDash val="solid"/>
          </a:ln>
        </p:spPr>
      </p:sp>
      <p:pic>
        <p:nvPicPr>
          <p:cNvPr id="11" name="Image 1" descr="preencoded.png"/>
          <p:cNvPicPr>
            <a:picLocks noChangeAspect="1"/>
          </p:cNvPicPr>
          <p:nvPr/>
        </p:nvPicPr>
        <p:blipFill>
          <a:blip r:embed="rId4"/>
          <a:stretch>
            <a:fillRect/>
          </a:stretch>
        </p:blipFill>
        <p:spPr>
          <a:xfrm>
            <a:off x="3976543" y="1983151"/>
            <a:ext cx="294803" cy="294803"/>
          </a:xfrm>
          <a:prstGeom prst="rect">
            <a:avLst/>
          </a:prstGeom>
        </p:spPr>
      </p:pic>
      <p:sp>
        <p:nvSpPr>
          <p:cNvPr id="12" name="Text 8"/>
          <p:cNvSpPr txBox="1"/>
          <p:nvPr/>
        </p:nvSpPr>
        <p:spPr>
          <a:xfrm>
            <a:off x="4526280" y="1956816"/>
            <a:ext cx="3840480" cy="365760"/>
          </a:xfrm>
          <a:prstGeom prst="rect">
            <a:avLst/>
          </a:prstGeom>
          <a:noFill/>
          <a:ln/>
        </p:spPr>
        <p:txBody>
          <a:bodyPr wrap="square" lIns="0" tIns="0" rIns="0" bIns="0" rtlCol="0" anchor="t"/>
          <a:lstStyle/>
          <a:p>
            <a:pPr marL="0" indent="0">
              <a:buNone/>
            </a:pPr>
            <a:r>
              <a:rPr lang="en-US" sz="1700" b="1" dirty="0">
                <a:solidFill>
                  <a:srgbClr val="FBBF24"/>
                </a:solidFill>
                <a:latin typeface="Calibri" pitchFamily="34" charset="0"/>
                <a:ea typeface="Calibri" pitchFamily="34" charset="-122"/>
                <a:cs typeface="Calibri" pitchFamily="34" charset="-120"/>
              </a:rPr>
              <a:t>API: Python + Flask</a:t>
            </a:r>
            <a:endParaRPr lang="en-US" sz="1700" dirty="0"/>
          </a:p>
        </p:txBody>
      </p:sp>
      <p:sp>
        <p:nvSpPr>
          <p:cNvPr id="13" name="Shape 9"/>
          <p:cNvSpPr/>
          <p:nvPr/>
        </p:nvSpPr>
        <p:spPr>
          <a:xfrm>
            <a:off x="3794760" y="2542032"/>
            <a:ext cx="2240280" cy="548640"/>
          </a:xfrm>
          <a:prstGeom prst="roundRect">
            <a:avLst>
              <a:gd name="adj" fmla="val 20000"/>
            </a:avLst>
          </a:prstGeom>
          <a:solidFill>
            <a:srgbClr val="1E2B45"/>
          </a:solidFill>
          <a:ln w="12700">
            <a:solidFill>
              <a:srgbClr val="1E2B45"/>
            </a:solidFill>
            <a:prstDash val="solid"/>
          </a:ln>
        </p:spPr>
      </p:sp>
      <p:sp>
        <p:nvSpPr>
          <p:cNvPr id="14" name="Text 10"/>
          <p:cNvSpPr txBox="1"/>
          <p:nvPr/>
        </p:nvSpPr>
        <p:spPr>
          <a:xfrm>
            <a:off x="3922776" y="2587752"/>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Identity</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accounts, sign-in, devices</a:t>
            </a:r>
            <a:endParaRPr lang="en-US" sz="1200" dirty="0"/>
          </a:p>
        </p:txBody>
      </p:sp>
      <p:sp>
        <p:nvSpPr>
          <p:cNvPr id="15" name="Shape 11"/>
          <p:cNvSpPr/>
          <p:nvPr/>
        </p:nvSpPr>
        <p:spPr>
          <a:xfrm>
            <a:off x="6172200" y="2542032"/>
            <a:ext cx="2240280" cy="548640"/>
          </a:xfrm>
          <a:prstGeom prst="roundRect">
            <a:avLst>
              <a:gd name="adj" fmla="val 20000"/>
            </a:avLst>
          </a:prstGeom>
          <a:solidFill>
            <a:srgbClr val="1E2B45"/>
          </a:solidFill>
          <a:ln w="12700">
            <a:solidFill>
              <a:srgbClr val="1E2B45"/>
            </a:solidFill>
            <a:prstDash val="solid"/>
          </a:ln>
        </p:spPr>
      </p:sp>
      <p:sp>
        <p:nvSpPr>
          <p:cNvPr id="16" name="Text 12"/>
          <p:cNvSpPr txBox="1"/>
          <p:nvPr/>
        </p:nvSpPr>
        <p:spPr>
          <a:xfrm>
            <a:off x="6300216" y="2587752"/>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Business tools</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credit, orders, jobs, builders</a:t>
            </a:r>
            <a:endParaRPr lang="en-US" sz="1200" dirty="0"/>
          </a:p>
        </p:txBody>
      </p:sp>
      <p:sp>
        <p:nvSpPr>
          <p:cNvPr id="17" name="Shape 13"/>
          <p:cNvSpPr/>
          <p:nvPr/>
        </p:nvSpPr>
        <p:spPr>
          <a:xfrm>
            <a:off x="3794760" y="3172968"/>
            <a:ext cx="2240280" cy="548640"/>
          </a:xfrm>
          <a:prstGeom prst="roundRect">
            <a:avLst>
              <a:gd name="adj" fmla="val 20000"/>
            </a:avLst>
          </a:prstGeom>
          <a:solidFill>
            <a:srgbClr val="1E2B45"/>
          </a:solidFill>
          <a:ln w="12700">
            <a:solidFill>
              <a:srgbClr val="1E2B45"/>
            </a:solidFill>
            <a:prstDash val="solid"/>
          </a:ln>
        </p:spPr>
      </p:sp>
      <p:sp>
        <p:nvSpPr>
          <p:cNvPr id="18" name="Text 14"/>
          <p:cNvSpPr txBox="1"/>
          <p:nvPr/>
        </p:nvSpPr>
        <p:spPr>
          <a:xfrm>
            <a:off x="3922776" y="3218688"/>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Suppliers</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catalogue, the matching engine</a:t>
            </a:r>
            <a:endParaRPr lang="en-US" sz="1200" dirty="0"/>
          </a:p>
        </p:txBody>
      </p:sp>
      <p:sp>
        <p:nvSpPr>
          <p:cNvPr id="19" name="Shape 15"/>
          <p:cNvSpPr/>
          <p:nvPr/>
        </p:nvSpPr>
        <p:spPr>
          <a:xfrm>
            <a:off x="6172200" y="3172968"/>
            <a:ext cx="2240280" cy="548640"/>
          </a:xfrm>
          <a:prstGeom prst="roundRect">
            <a:avLst>
              <a:gd name="adj" fmla="val 20000"/>
            </a:avLst>
          </a:prstGeom>
          <a:solidFill>
            <a:srgbClr val="1E2B45"/>
          </a:solidFill>
          <a:ln w="12700">
            <a:solidFill>
              <a:srgbClr val="1E2B45"/>
            </a:solidFill>
            <a:prstDash val="solid"/>
          </a:ln>
        </p:spPr>
      </p:sp>
      <p:sp>
        <p:nvSpPr>
          <p:cNvPr id="20" name="Text 16"/>
          <p:cNvSpPr txBox="1"/>
          <p:nvPr/>
        </p:nvSpPr>
        <p:spPr>
          <a:xfrm>
            <a:off x="6300216" y="3218688"/>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Commerce</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orders, payments, invoices</a:t>
            </a:r>
            <a:endParaRPr lang="en-US" sz="1200" dirty="0"/>
          </a:p>
        </p:txBody>
      </p:sp>
      <p:sp>
        <p:nvSpPr>
          <p:cNvPr id="21" name="Shape 17"/>
          <p:cNvSpPr/>
          <p:nvPr/>
        </p:nvSpPr>
        <p:spPr>
          <a:xfrm>
            <a:off x="3794760" y="3803904"/>
            <a:ext cx="2240280" cy="548640"/>
          </a:xfrm>
          <a:prstGeom prst="roundRect">
            <a:avLst>
              <a:gd name="adj" fmla="val 20000"/>
            </a:avLst>
          </a:prstGeom>
          <a:solidFill>
            <a:srgbClr val="1E2B45"/>
          </a:solidFill>
          <a:ln w="12700">
            <a:solidFill>
              <a:srgbClr val="1E2B45"/>
            </a:solidFill>
            <a:prstDash val="solid"/>
          </a:ln>
        </p:spPr>
      </p:sp>
      <p:sp>
        <p:nvSpPr>
          <p:cNvPr id="22" name="Text 18"/>
          <p:cNvSpPr txBox="1"/>
          <p:nvPr/>
        </p:nvSpPr>
        <p:spPr>
          <a:xfrm>
            <a:off x="3922776" y="3849624"/>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Proof</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payment proof, sealed records</a:t>
            </a:r>
            <a:endParaRPr lang="en-US" sz="1200" dirty="0"/>
          </a:p>
        </p:txBody>
      </p:sp>
      <p:sp>
        <p:nvSpPr>
          <p:cNvPr id="23" name="Shape 19"/>
          <p:cNvSpPr/>
          <p:nvPr/>
        </p:nvSpPr>
        <p:spPr>
          <a:xfrm>
            <a:off x="6172200" y="3803904"/>
            <a:ext cx="2240280" cy="548640"/>
          </a:xfrm>
          <a:prstGeom prst="roundRect">
            <a:avLst>
              <a:gd name="adj" fmla="val 20000"/>
            </a:avLst>
          </a:prstGeom>
          <a:solidFill>
            <a:srgbClr val="1E2B45"/>
          </a:solidFill>
          <a:ln w="12700">
            <a:solidFill>
              <a:srgbClr val="1E2B45"/>
            </a:solidFill>
            <a:prstDash val="solid"/>
          </a:ln>
        </p:spPr>
      </p:sp>
      <p:sp>
        <p:nvSpPr>
          <p:cNvPr id="24" name="Text 20"/>
          <p:cNvSpPr txBox="1"/>
          <p:nvPr/>
        </p:nvSpPr>
        <p:spPr>
          <a:xfrm>
            <a:off x="6300216" y="3849624"/>
            <a:ext cx="2057400" cy="457200"/>
          </a:xfrm>
          <a:prstGeom prst="rect">
            <a:avLst/>
          </a:prstGeom>
          <a:noFill/>
          <a:ln/>
        </p:spPr>
        <p:txBody>
          <a:bodyPr wrap="square" lIns="0" tIns="0" rIns="0" bIns="0" rtlCol="0" anchor="ctr"/>
          <a:lstStyle/>
          <a:p>
            <a:pPr marL="0" indent="0">
              <a:buNone/>
            </a:pPr>
            <a:r>
              <a:rPr lang="en-US" sz="1200" b="1" dirty="0">
                <a:solidFill>
                  <a:srgbClr val="F8FAFC"/>
                </a:solidFill>
                <a:latin typeface="Calibri" pitchFamily="34" charset="0"/>
                <a:ea typeface="Calibri" pitchFamily="34" charset="-122"/>
                <a:cs typeface="Calibri" pitchFamily="34" charset="-120"/>
              </a:rPr>
              <a:t>Platform</a:t>
            </a:r>
            <a:endParaRPr lang="en-US" sz="1200" dirty="0"/>
          </a:p>
          <a:p>
            <a:pPr marL="0" indent="0">
              <a:buNone/>
            </a:pPr>
            <a:r>
              <a:rPr lang="en-US" sz="1000" dirty="0">
                <a:solidFill>
                  <a:srgbClr val="A3B3C9"/>
                </a:solidFill>
                <a:latin typeface="Calibri" pitchFamily="34" charset="0"/>
                <a:ea typeface="Calibri" pitchFamily="34" charset="-122"/>
                <a:cs typeface="Calibri" pitchFamily="34" charset="-120"/>
              </a:rPr>
              <a:t>alerts, audit trail</a:t>
            </a:r>
            <a:endParaRPr lang="en-US" sz="1200" dirty="0"/>
          </a:p>
        </p:txBody>
      </p:sp>
      <p:sp>
        <p:nvSpPr>
          <p:cNvPr id="25" name="Shape 21"/>
          <p:cNvSpPr/>
          <p:nvPr/>
        </p:nvSpPr>
        <p:spPr>
          <a:xfrm>
            <a:off x="8961120" y="1645920"/>
            <a:ext cx="2679192" cy="2834640"/>
          </a:xfrm>
          <a:prstGeom prst="roundRect">
            <a:avLst>
              <a:gd name="adj" fmla="val 4096"/>
            </a:avLst>
          </a:prstGeom>
          <a:solidFill>
            <a:srgbClr val="17223A"/>
          </a:solidFill>
          <a:ln w="12700">
            <a:solidFill>
              <a:srgbClr val="17223A"/>
            </a:solidFill>
            <a:prstDash val="solid"/>
          </a:ln>
        </p:spPr>
      </p:sp>
      <p:sp>
        <p:nvSpPr>
          <p:cNvPr id="26" name="Shape 22"/>
          <p:cNvSpPr/>
          <p:nvPr/>
        </p:nvSpPr>
        <p:spPr>
          <a:xfrm>
            <a:off x="9189720" y="1847088"/>
            <a:ext cx="566928" cy="566928"/>
          </a:xfrm>
          <a:prstGeom prst="ellipse">
            <a:avLst/>
          </a:prstGeom>
          <a:solidFill>
            <a:srgbClr val="1E2B45"/>
          </a:solidFill>
          <a:ln w="19050">
            <a:solidFill>
              <a:srgbClr val="34D399"/>
            </a:solidFill>
            <a:prstDash val="solid"/>
          </a:ln>
        </p:spPr>
      </p:sp>
      <p:pic>
        <p:nvPicPr>
          <p:cNvPr id="27" name="Image 2" descr="preencoded.png"/>
          <p:cNvPicPr>
            <a:picLocks noChangeAspect="1"/>
          </p:cNvPicPr>
          <p:nvPr/>
        </p:nvPicPr>
        <p:blipFill>
          <a:blip r:embed="rId5"/>
          <a:stretch>
            <a:fillRect/>
          </a:stretch>
        </p:blipFill>
        <p:spPr>
          <a:xfrm>
            <a:off x="9325783" y="1983151"/>
            <a:ext cx="294803" cy="294803"/>
          </a:xfrm>
          <a:prstGeom prst="rect">
            <a:avLst/>
          </a:prstGeom>
        </p:spPr>
      </p:pic>
      <p:sp>
        <p:nvSpPr>
          <p:cNvPr id="28" name="Text 23"/>
          <p:cNvSpPr txBox="1"/>
          <p:nvPr/>
        </p:nvSpPr>
        <p:spPr>
          <a:xfrm>
            <a:off x="9875520" y="1956816"/>
            <a:ext cx="1691640" cy="365760"/>
          </a:xfrm>
          <a:prstGeom prst="rect">
            <a:avLst/>
          </a:prstGeom>
          <a:noFill/>
          <a:ln/>
        </p:spPr>
        <p:txBody>
          <a:bodyPr wrap="square" lIns="0" tIns="0" rIns="0" bIns="0" rtlCol="0" anchor="t"/>
          <a:lstStyle/>
          <a:p>
            <a:pPr marL="0" indent="0">
              <a:buNone/>
            </a:pPr>
            <a:r>
              <a:rPr lang="en-US" sz="1700" b="1" dirty="0">
                <a:solidFill>
                  <a:srgbClr val="34D399"/>
                </a:solidFill>
                <a:latin typeface="Calibri" pitchFamily="34" charset="0"/>
                <a:ea typeface="Calibri" pitchFamily="34" charset="-122"/>
                <a:cs typeface="Calibri" pitchFamily="34" charset="-120"/>
              </a:rPr>
              <a:t>PostgreSQL</a:t>
            </a:r>
            <a:endParaRPr lang="en-US" sz="1700" dirty="0"/>
          </a:p>
        </p:txBody>
      </p:sp>
      <p:sp>
        <p:nvSpPr>
          <p:cNvPr id="29" name="Text 24"/>
          <p:cNvSpPr txBox="1"/>
          <p:nvPr/>
        </p:nvSpPr>
        <p:spPr>
          <a:xfrm>
            <a:off x="9189720" y="2606040"/>
            <a:ext cx="2286000" cy="178308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One schema per area</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Versioned migrations</a:t>
            </a:r>
            <a:endParaRPr lang="en-US" sz="1250" dirty="0"/>
          </a:p>
          <a:p>
            <a:pPr marL="342900" indent="-342900">
              <a:spcAft>
                <a:spcPts val="500"/>
              </a:spcAft>
              <a:buSzPct val="100000"/>
              <a:buChar char="•"/>
            </a:pPr>
            <a:r>
              <a:rPr lang="en-US" sz="1250" dirty="0">
                <a:solidFill>
                  <a:srgbClr val="A3B3C9"/>
                </a:solidFill>
                <a:latin typeface="Calibri" pitchFamily="34" charset="0"/>
                <a:ea typeface="Calibri" pitchFamily="34" charset="-122"/>
                <a:cs typeface="Calibri" pitchFamily="34" charset="-120"/>
              </a:rPr>
              <a:t>Audit trail with no personal data</a:t>
            </a:r>
            <a:endParaRPr lang="en-US" sz="1250" dirty="0"/>
          </a:p>
        </p:txBody>
      </p:sp>
      <p:sp>
        <p:nvSpPr>
          <p:cNvPr id="30" name="Shape 25"/>
          <p:cNvSpPr/>
          <p:nvPr/>
        </p:nvSpPr>
        <p:spPr>
          <a:xfrm>
            <a:off x="3264408" y="3063240"/>
            <a:ext cx="329184" cy="0"/>
          </a:xfrm>
          <a:prstGeom prst="line">
            <a:avLst/>
          </a:prstGeom>
          <a:noFill/>
          <a:ln w="25400">
            <a:solidFill>
              <a:srgbClr val="10B981"/>
            </a:solidFill>
            <a:prstDash val="solid"/>
            <a:headEnd type="triangle"/>
            <a:tailEnd type="triangle"/>
          </a:ln>
        </p:spPr>
      </p:sp>
      <p:sp>
        <p:nvSpPr>
          <p:cNvPr id="31" name="Shape 26"/>
          <p:cNvSpPr/>
          <p:nvPr/>
        </p:nvSpPr>
        <p:spPr>
          <a:xfrm>
            <a:off x="8613648" y="3063240"/>
            <a:ext cx="329184" cy="0"/>
          </a:xfrm>
          <a:prstGeom prst="line">
            <a:avLst/>
          </a:prstGeom>
          <a:noFill/>
          <a:ln w="25400">
            <a:solidFill>
              <a:srgbClr val="10B981"/>
            </a:solidFill>
            <a:prstDash val="solid"/>
            <a:headEnd type="triangle"/>
            <a:tailEnd type="triangle"/>
          </a:ln>
        </p:spPr>
      </p:sp>
      <p:sp>
        <p:nvSpPr>
          <p:cNvPr id="32" name="Text 27"/>
          <p:cNvSpPr txBox="1"/>
          <p:nvPr/>
        </p:nvSpPr>
        <p:spPr>
          <a:xfrm>
            <a:off x="548640" y="4590288"/>
            <a:ext cx="4572000" cy="228600"/>
          </a:xfrm>
          <a:prstGeom prst="rect">
            <a:avLst/>
          </a:prstGeom>
          <a:noFill/>
          <a:ln/>
        </p:spPr>
        <p:txBody>
          <a:bodyPr wrap="square" lIns="0" tIns="0" rIns="0" bIns="0" rtlCol="0" anchor="t"/>
          <a:lstStyle/>
          <a:p>
            <a:pPr marL="0" indent="0">
              <a:buNone/>
            </a:pPr>
            <a:r>
              <a:rPr lang="en-US" sz="1100" b="1" kern="0" spc="200" dirty="0">
                <a:solidFill>
                  <a:srgbClr val="64748B"/>
                </a:solidFill>
                <a:latin typeface="Calibri" pitchFamily="34" charset="0"/>
                <a:ea typeface="Calibri" pitchFamily="34" charset="-122"/>
                <a:cs typeface="Calibri" pitchFamily="34" charset="-120"/>
              </a:rPr>
              <a:t>SERVICES WE USE</a:t>
            </a:r>
            <a:endParaRPr lang="en-US" sz="1100" dirty="0"/>
          </a:p>
        </p:txBody>
      </p:sp>
      <p:sp>
        <p:nvSpPr>
          <p:cNvPr id="33" name="Shape 28"/>
          <p:cNvSpPr/>
          <p:nvPr/>
        </p:nvSpPr>
        <p:spPr>
          <a:xfrm>
            <a:off x="548640" y="4864608"/>
            <a:ext cx="2651760" cy="621792"/>
          </a:xfrm>
          <a:prstGeom prst="roundRect">
            <a:avLst>
              <a:gd name="adj" fmla="val 17647"/>
            </a:avLst>
          </a:prstGeom>
          <a:solidFill>
            <a:srgbClr val="17223A"/>
          </a:solidFill>
          <a:ln w="12700">
            <a:solidFill>
              <a:srgbClr val="17223A"/>
            </a:solidFill>
            <a:prstDash val="solid"/>
          </a:ln>
        </p:spPr>
      </p:sp>
      <p:sp>
        <p:nvSpPr>
          <p:cNvPr id="34" name="Shape 29"/>
          <p:cNvSpPr/>
          <p:nvPr/>
        </p:nvSpPr>
        <p:spPr>
          <a:xfrm>
            <a:off x="676656" y="4937760"/>
            <a:ext cx="475488" cy="475488"/>
          </a:xfrm>
          <a:prstGeom prst="ellipse">
            <a:avLst/>
          </a:prstGeom>
          <a:solidFill>
            <a:srgbClr val="1E2B45"/>
          </a:solidFill>
          <a:ln w="19050">
            <a:solidFill>
              <a:srgbClr val="10B981"/>
            </a:solidFill>
            <a:prstDash val="solid"/>
          </a:ln>
        </p:spPr>
      </p:sp>
      <p:pic>
        <p:nvPicPr>
          <p:cNvPr id="35" name="Image 3" descr="preencoded.png"/>
          <p:cNvPicPr>
            <a:picLocks noChangeAspect="1"/>
          </p:cNvPicPr>
          <p:nvPr/>
        </p:nvPicPr>
        <p:blipFill>
          <a:blip r:embed="rId6"/>
          <a:stretch>
            <a:fillRect/>
          </a:stretch>
        </p:blipFill>
        <p:spPr>
          <a:xfrm>
            <a:off x="790773" y="5051877"/>
            <a:ext cx="247254" cy="247254"/>
          </a:xfrm>
          <a:prstGeom prst="rect">
            <a:avLst/>
          </a:prstGeom>
        </p:spPr>
      </p:pic>
      <p:sp>
        <p:nvSpPr>
          <p:cNvPr id="36" name="Text 30"/>
          <p:cNvSpPr txBox="1"/>
          <p:nvPr/>
        </p:nvSpPr>
        <p:spPr>
          <a:xfrm>
            <a:off x="1280160" y="4919472"/>
            <a:ext cx="1847088" cy="512064"/>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PayFast</a:t>
            </a:r>
            <a:endParaRPr lang="en-US" sz="1250" dirty="0"/>
          </a:p>
          <a:p>
            <a:pPr marL="0" indent="0">
              <a:buNone/>
            </a:pPr>
            <a:r>
              <a:rPr lang="en-US" sz="1050" dirty="0">
                <a:solidFill>
                  <a:srgbClr val="A3B3C9"/>
                </a:solidFill>
                <a:latin typeface="Calibri" pitchFamily="34" charset="0"/>
                <a:ea typeface="Calibri" pitchFamily="34" charset="-122"/>
                <a:cs typeface="Calibri" pitchFamily="34" charset="-120"/>
              </a:rPr>
              <a:t>payments, checked 4 ways</a:t>
            </a:r>
            <a:endParaRPr lang="en-US" sz="1250" dirty="0"/>
          </a:p>
        </p:txBody>
      </p:sp>
      <p:sp>
        <p:nvSpPr>
          <p:cNvPr id="37" name="Shape 31"/>
          <p:cNvSpPr/>
          <p:nvPr/>
        </p:nvSpPr>
        <p:spPr>
          <a:xfrm>
            <a:off x="3364992" y="4864608"/>
            <a:ext cx="2651760" cy="621792"/>
          </a:xfrm>
          <a:prstGeom prst="roundRect">
            <a:avLst>
              <a:gd name="adj" fmla="val 17647"/>
            </a:avLst>
          </a:prstGeom>
          <a:solidFill>
            <a:srgbClr val="17223A"/>
          </a:solidFill>
          <a:ln w="12700">
            <a:solidFill>
              <a:srgbClr val="17223A"/>
            </a:solidFill>
            <a:prstDash val="solid"/>
          </a:ln>
        </p:spPr>
      </p:sp>
      <p:sp>
        <p:nvSpPr>
          <p:cNvPr id="38" name="Shape 32"/>
          <p:cNvSpPr/>
          <p:nvPr/>
        </p:nvSpPr>
        <p:spPr>
          <a:xfrm>
            <a:off x="3493008" y="4937760"/>
            <a:ext cx="475488" cy="475488"/>
          </a:xfrm>
          <a:prstGeom prst="ellipse">
            <a:avLst/>
          </a:prstGeom>
          <a:solidFill>
            <a:srgbClr val="1E2B45"/>
          </a:solidFill>
          <a:ln w="19050">
            <a:solidFill>
              <a:srgbClr val="10B981"/>
            </a:solidFill>
            <a:prstDash val="solid"/>
          </a:ln>
        </p:spPr>
      </p:sp>
      <p:pic>
        <p:nvPicPr>
          <p:cNvPr id="39" name="Image 4" descr="preencoded.png"/>
          <p:cNvPicPr>
            <a:picLocks noChangeAspect="1"/>
          </p:cNvPicPr>
          <p:nvPr/>
        </p:nvPicPr>
        <p:blipFill>
          <a:blip r:embed="rId7"/>
          <a:stretch>
            <a:fillRect/>
          </a:stretch>
        </p:blipFill>
        <p:spPr>
          <a:xfrm>
            <a:off x="3607125" y="5051877"/>
            <a:ext cx="247254" cy="247254"/>
          </a:xfrm>
          <a:prstGeom prst="rect">
            <a:avLst/>
          </a:prstGeom>
        </p:spPr>
      </p:pic>
      <p:sp>
        <p:nvSpPr>
          <p:cNvPr id="40" name="Text 33"/>
          <p:cNvSpPr txBox="1"/>
          <p:nvPr/>
        </p:nvSpPr>
        <p:spPr>
          <a:xfrm>
            <a:off x="4096512" y="4919472"/>
            <a:ext cx="1847088" cy="512064"/>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Cloudinary</a:t>
            </a:r>
            <a:endParaRPr lang="en-US" sz="1250" dirty="0"/>
          </a:p>
          <a:p>
            <a:pPr marL="0" indent="0">
              <a:buNone/>
            </a:pPr>
            <a:r>
              <a:rPr lang="en-US" sz="1050" dirty="0">
                <a:solidFill>
                  <a:srgbClr val="A3B3C9"/>
                </a:solidFill>
                <a:latin typeface="Calibri" pitchFamily="34" charset="0"/>
                <a:ea typeface="Calibri" pitchFamily="34" charset="-122"/>
                <a:cs typeface="Calibri" pitchFamily="34" charset="-120"/>
              </a:rPr>
              <a:t>signed photo uploads</a:t>
            </a:r>
            <a:endParaRPr lang="en-US" sz="1250" dirty="0"/>
          </a:p>
        </p:txBody>
      </p:sp>
      <p:sp>
        <p:nvSpPr>
          <p:cNvPr id="41" name="Shape 34"/>
          <p:cNvSpPr/>
          <p:nvPr/>
        </p:nvSpPr>
        <p:spPr>
          <a:xfrm>
            <a:off x="6181344" y="4864608"/>
            <a:ext cx="2651760" cy="621792"/>
          </a:xfrm>
          <a:prstGeom prst="roundRect">
            <a:avLst>
              <a:gd name="adj" fmla="val 17647"/>
            </a:avLst>
          </a:prstGeom>
          <a:solidFill>
            <a:srgbClr val="17223A"/>
          </a:solidFill>
          <a:ln w="12700">
            <a:solidFill>
              <a:srgbClr val="17223A"/>
            </a:solidFill>
            <a:prstDash val="solid"/>
          </a:ln>
        </p:spPr>
      </p:sp>
      <p:sp>
        <p:nvSpPr>
          <p:cNvPr id="42" name="Shape 35"/>
          <p:cNvSpPr/>
          <p:nvPr/>
        </p:nvSpPr>
        <p:spPr>
          <a:xfrm>
            <a:off x="6309360" y="4937760"/>
            <a:ext cx="475488" cy="475488"/>
          </a:xfrm>
          <a:prstGeom prst="ellipse">
            <a:avLst/>
          </a:prstGeom>
          <a:solidFill>
            <a:srgbClr val="1E2B45"/>
          </a:solidFill>
          <a:ln w="19050">
            <a:solidFill>
              <a:srgbClr val="10B981"/>
            </a:solidFill>
            <a:prstDash val="solid"/>
          </a:ln>
        </p:spPr>
      </p:sp>
      <p:pic>
        <p:nvPicPr>
          <p:cNvPr id="43" name="Image 5" descr="preencoded.png"/>
          <p:cNvPicPr>
            <a:picLocks noChangeAspect="1"/>
          </p:cNvPicPr>
          <p:nvPr/>
        </p:nvPicPr>
        <p:blipFill>
          <a:blip r:embed="rId8"/>
          <a:stretch>
            <a:fillRect/>
          </a:stretch>
        </p:blipFill>
        <p:spPr>
          <a:xfrm>
            <a:off x="6423477" y="5051877"/>
            <a:ext cx="247254" cy="247254"/>
          </a:xfrm>
          <a:prstGeom prst="rect">
            <a:avLst/>
          </a:prstGeom>
        </p:spPr>
      </p:pic>
      <p:sp>
        <p:nvSpPr>
          <p:cNvPr id="44" name="Text 36"/>
          <p:cNvSpPr txBox="1"/>
          <p:nvPr/>
        </p:nvSpPr>
        <p:spPr>
          <a:xfrm>
            <a:off x="6912864" y="4919472"/>
            <a:ext cx="1847088" cy="512064"/>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Mapbox</a:t>
            </a:r>
            <a:endParaRPr lang="en-US" sz="1250" dirty="0"/>
          </a:p>
          <a:p>
            <a:pPr marL="0" indent="0">
              <a:buNone/>
            </a:pPr>
            <a:r>
              <a:rPr lang="en-US" sz="1050" dirty="0">
                <a:solidFill>
                  <a:srgbClr val="A3B3C9"/>
                </a:solidFill>
                <a:latin typeface="Calibri" pitchFamily="34" charset="0"/>
                <a:ea typeface="Calibri" pitchFamily="34" charset="-122"/>
                <a:cs typeface="Calibri" pitchFamily="34" charset="-120"/>
              </a:rPr>
              <a:t>address search</a:t>
            </a:r>
            <a:endParaRPr lang="en-US" sz="1250" dirty="0"/>
          </a:p>
        </p:txBody>
      </p:sp>
      <p:sp>
        <p:nvSpPr>
          <p:cNvPr id="45" name="Shape 37"/>
          <p:cNvSpPr/>
          <p:nvPr/>
        </p:nvSpPr>
        <p:spPr>
          <a:xfrm>
            <a:off x="8997696" y="4864608"/>
            <a:ext cx="2651760" cy="621792"/>
          </a:xfrm>
          <a:prstGeom prst="roundRect">
            <a:avLst>
              <a:gd name="adj" fmla="val 17647"/>
            </a:avLst>
          </a:prstGeom>
          <a:solidFill>
            <a:srgbClr val="17223A"/>
          </a:solidFill>
          <a:ln w="12700">
            <a:solidFill>
              <a:srgbClr val="17223A"/>
            </a:solidFill>
            <a:prstDash val="solid"/>
          </a:ln>
        </p:spPr>
      </p:sp>
      <p:sp>
        <p:nvSpPr>
          <p:cNvPr id="46" name="Shape 38"/>
          <p:cNvSpPr/>
          <p:nvPr/>
        </p:nvSpPr>
        <p:spPr>
          <a:xfrm>
            <a:off x="9125712" y="4937760"/>
            <a:ext cx="475488" cy="475488"/>
          </a:xfrm>
          <a:prstGeom prst="ellipse">
            <a:avLst/>
          </a:prstGeom>
          <a:solidFill>
            <a:srgbClr val="1E2B45"/>
          </a:solidFill>
          <a:ln w="19050">
            <a:solidFill>
              <a:srgbClr val="10B981"/>
            </a:solidFill>
            <a:prstDash val="solid"/>
          </a:ln>
        </p:spPr>
      </p:sp>
      <p:pic>
        <p:nvPicPr>
          <p:cNvPr id="47" name="Image 6" descr="preencoded.png"/>
          <p:cNvPicPr>
            <a:picLocks noChangeAspect="1"/>
          </p:cNvPicPr>
          <p:nvPr/>
        </p:nvPicPr>
        <p:blipFill>
          <a:blip r:embed="rId9"/>
          <a:stretch>
            <a:fillRect/>
          </a:stretch>
        </p:blipFill>
        <p:spPr>
          <a:xfrm>
            <a:off x="9239829" y="5051877"/>
            <a:ext cx="247254" cy="247254"/>
          </a:xfrm>
          <a:prstGeom prst="rect">
            <a:avLst/>
          </a:prstGeom>
        </p:spPr>
      </p:pic>
      <p:sp>
        <p:nvSpPr>
          <p:cNvPr id="48" name="Text 39"/>
          <p:cNvSpPr txBox="1"/>
          <p:nvPr/>
        </p:nvSpPr>
        <p:spPr>
          <a:xfrm>
            <a:off x="9729216" y="4919472"/>
            <a:ext cx="1847088" cy="512064"/>
          </a:xfrm>
          <a:prstGeom prst="rect">
            <a:avLst/>
          </a:prstGeom>
          <a:noFill/>
          <a:ln/>
        </p:spPr>
        <p:txBody>
          <a:bodyPr wrap="square" lIns="0" tIns="0" rIns="0" bIns="0" rtlCol="0" anchor="ctr"/>
          <a:lstStyle/>
          <a:p>
            <a:pPr marL="0" indent="0">
              <a:buNone/>
            </a:pPr>
            <a:r>
              <a:rPr lang="en-US" sz="1250" b="1" dirty="0">
                <a:solidFill>
                  <a:srgbClr val="F8FAFC"/>
                </a:solidFill>
                <a:latin typeface="Calibri" pitchFamily="34" charset="0"/>
                <a:ea typeface="Calibri" pitchFamily="34" charset="-122"/>
                <a:cs typeface="Calibri" pitchFamily="34" charset="-120"/>
              </a:rPr>
              <a:t>Email</a:t>
            </a:r>
            <a:endParaRPr lang="en-US" sz="1250" dirty="0"/>
          </a:p>
          <a:p>
            <a:pPr marL="0" indent="0">
              <a:buNone/>
            </a:pPr>
            <a:r>
              <a:rPr lang="en-US" sz="1050" dirty="0">
                <a:solidFill>
                  <a:srgbClr val="A3B3C9"/>
                </a:solidFill>
                <a:latin typeface="Calibri" pitchFamily="34" charset="0"/>
                <a:ea typeface="Calibri" pitchFamily="34" charset="-122"/>
                <a:cs typeface="Calibri" pitchFamily="34" charset="-120"/>
              </a:rPr>
              <a:t>codes, receipts, alerts</a:t>
            </a:r>
            <a:endParaRPr lang="en-US" sz="1250" dirty="0"/>
          </a:p>
        </p:txBody>
      </p:sp>
      <p:sp>
        <p:nvSpPr>
          <p:cNvPr id="49" name="Shape 40"/>
          <p:cNvSpPr/>
          <p:nvPr/>
        </p:nvSpPr>
        <p:spPr>
          <a:xfrm>
            <a:off x="548640" y="5596128"/>
            <a:ext cx="11091672" cy="603504"/>
          </a:xfrm>
          <a:prstGeom prst="roundRect">
            <a:avLst>
              <a:gd name="adj" fmla="val 18182"/>
            </a:avLst>
          </a:prstGeom>
          <a:solidFill>
            <a:srgbClr val="1E2B45"/>
          </a:solidFill>
          <a:ln w="12700">
            <a:solidFill>
              <a:srgbClr val="1E2B45"/>
            </a:solidFill>
            <a:prstDash val="solid"/>
          </a:ln>
        </p:spPr>
      </p:sp>
      <p:sp>
        <p:nvSpPr>
          <p:cNvPr id="50" name="Text 41"/>
          <p:cNvSpPr txBox="1"/>
          <p:nvPr/>
        </p:nvSpPr>
        <p:spPr>
          <a:xfrm>
            <a:off x="777240" y="5596128"/>
            <a:ext cx="10652760" cy="603504"/>
          </a:xfrm>
          <a:prstGeom prst="rect">
            <a:avLst/>
          </a:prstGeom>
          <a:noFill/>
          <a:ln/>
        </p:spPr>
        <p:txBody>
          <a:bodyPr wrap="square" lIns="0" tIns="0" rIns="0" bIns="0" rtlCol="0" anchor="ctr"/>
          <a:lstStyle/>
          <a:p>
            <a:pPr marL="0" indent="0">
              <a:buNone/>
            </a:pPr>
            <a:r>
              <a:rPr lang="en-US" sz="1250" dirty="0">
                <a:solidFill>
                  <a:srgbClr val="F8FAFC"/>
                </a:solidFill>
                <a:latin typeface="Calibri" pitchFamily="34" charset="0"/>
                <a:ea typeface="Calibri" pitchFamily="34" charset="-122"/>
                <a:cs typeface="Calibri" pitchFamily="34" charset="-120"/>
              </a:rPr>
              <a:t>On every request: HTTPS, a signed-in token, only the owner's data (anyone else's is 'not found'), strict input checks, rate limits, no double orders, and the server sets every price.</a:t>
            </a:r>
            <a:endParaRPr lang="en-US" sz="1250" dirty="0"/>
          </a:p>
        </p:txBody>
      </p:sp>
      <p:pic>
        <p:nvPicPr>
          <p:cNvPr id="51" name="Image 7" descr="preencoded.png"/>
          <p:cNvPicPr>
            <a:picLocks noChangeAspect="1"/>
          </p:cNvPicPr>
          <p:nvPr/>
        </p:nvPicPr>
        <p:blipFill>
          <a:blip r:embed="rId10"/>
          <a:stretch>
            <a:fillRect/>
          </a:stretch>
        </p:blipFill>
        <p:spPr>
          <a:xfrm>
            <a:off x="11231575" y="6291072"/>
            <a:ext cx="384048" cy="384048"/>
          </a:xfrm>
          <a:prstGeom prst="rect">
            <a:avLst/>
          </a:prstGeom>
        </p:spPr>
      </p:pic>
      <p:sp>
        <p:nvSpPr>
          <p:cNvPr id="52" name="Text 42"/>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DATA PRIVACY POLICY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Your data is yours. POPIA from day one.</a:t>
            </a:r>
            <a:endParaRPr lang="en-US" sz="3400" dirty="0"/>
          </a:p>
        </p:txBody>
      </p:sp>
      <p:sp>
        <p:nvSpPr>
          <p:cNvPr id="4" name="Shape 2"/>
          <p:cNvSpPr/>
          <p:nvPr/>
        </p:nvSpPr>
        <p:spPr>
          <a:xfrm>
            <a:off x="548640" y="1645920"/>
            <a:ext cx="6812280" cy="3246120"/>
          </a:xfrm>
          <a:prstGeom prst="roundRect">
            <a:avLst>
              <a:gd name="adj" fmla="val 3380"/>
            </a:avLst>
          </a:prstGeom>
          <a:solidFill>
            <a:srgbClr val="17223A"/>
          </a:solidFill>
          <a:ln w="12700">
            <a:solidFill>
              <a:srgbClr val="17223A"/>
            </a:solidFill>
            <a:prstDash val="solid"/>
          </a:ln>
        </p:spPr>
      </p:sp>
      <p:sp>
        <p:nvSpPr>
          <p:cNvPr id="5" name="Text 3"/>
          <p:cNvSpPr txBox="1"/>
          <p:nvPr/>
        </p:nvSpPr>
        <p:spPr>
          <a:xfrm>
            <a:off x="822960" y="1810512"/>
            <a:ext cx="6309360" cy="365760"/>
          </a:xfrm>
          <a:prstGeom prst="rect">
            <a:avLst/>
          </a:prstGeom>
          <a:noFill/>
          <a:ln/>
        </p:spPr>
        <p:txBody>
          <a:bodyPr wrap="square" lIns="0" tIns="0" rIns="0" bIns="0" rtlCol="0" anchor="t"/>
          <a:lstStyle/>
          <a:p>
            <a:pPr marL="0" indent="0">
              <a:buNone/>
            </a:pPr>
            <a:r>
              <a:rPr lang="en-US" sz="1700" b="1" dirty="0">
                <a:solidFill>
                  <a:srgbClr val="34D399"/>
                </a:solidFill>
                <a:latin typeface="Calibri" pitchFamily="34" charset="0"/>
                <a:ea typeface="Calibri" pitchFamily="34" charset="-122"/>
                <a:cs typeface="Calibri" pitchFamily="34" charset="-120"/>
              </a:rPr>
              <a:t>What we collect, and why</a:t>
            </a:r>
            <a:endParaRPr lang="en-US" sz="1700" dirty="0"/>
          </a:p>
        </p:txBody>
      </p:sp>
      <p:sp>
        <p:nvSpPr>
          <p:cNvPr id="6" name="Shape 4"/>
          <p:cNvSpPr/>
          <p:nvPr/>
        </p:nvSpPr>
        <p:spPr>
          <a:xfrm>
            <a:off x="841248" y="2450592"/>
            <a:ext cx="128016" cy="128016"/>
          </a:xfrm>
          <a:prstGeom prst="ellipse">
            <a:avLst/>
          </a:prstGeom>
          <a:solidFill>
            <a:srgbClr val="10B981"/>
          </a:solidFill>
          <a:ln w="12700">
            <a:solidFill>
              <a:srgbClr val="10B981"/>
            </a:solidFill>
            <a:prstDash val="solid"/>
          </a:ln>
        </p:spPr>
      </p:sp>
      <p:sp>
        <p:nvSpPr>
          <p:cNvPr id="7" name="Text 5"/>
          <p:cNvSpPr txBox="1"/>
          <p:nvPr/>
        </p:nvSpPr>
        <p:spPr>
          <a:xfrm>
            <a:off x="1097280" y="2331720"/>
            <a:ext cx="3154680" cy="36576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Email and password (stored hashed)</a:t>
            </a:r>
            <a:endParaRPr lang="en-US" sz="1350" dirty="0"/>
          </a:p>
        </p:txBody>
      </p:sp>
      <p:sp>
        <p:nvSpPr>
          <p:cNvPr id="8" name="Text 6"/>
          <p:cNvSpPr txBox="1"/>
          <p:nvPr/>
        </p:nvSpPr>
        <p:spPr>
          <a:xfrm>
            <a:off x="4297680" y="2331720"/>
            <a:ext cx="2926080" cy="365760"/>
          </a:xfrm>
          <a:prstGeom prst="rect">
            <a:avLst/>
          </a:prstGeom>
          <a:noFill/>
          <a:ln/>
        </p:spPr>
        <p:txBody>
          <a:bodyPr wrap="square" lIns="0" tIns="0" rIns="0" bIns="0" rtlCol="0" anchor="ctr"/>
          <a:lstStyle/>
          <a:p>
            <a:pPr marL="0" indent="0">
              <a:buNone/>
            </a:pPr>
            <a:r>
              <a:rPr lang="en-US" sz="1300" dirty="0">
                <a:solidFill>
                  <a:srgbClr val="A3B3C9"/>
                </a:solidFill>
                <a:latin typeface="Calibri" pitchFamily="34" charset="0"/>
                <a:ea typeface="Calibri" pitchFamily="34" charset="-122"/>
                <a:cs typeface="Calibri" pitchFamily="34" charset="-120"/>
              </a:rPr>
              <a:t>to sign you in</a:t>
            </a:r>
            <a:endParaRPr lang="en-US" sz="1300" dirty="0"/>
          </a:p>
        </p:txBody>
      </p:sp>
      <p:sp>
        <p:nvSpPr>
          <p:cNvPr id="9" name="Shape 7"/>
          <p:cNvSpPr/>
          <p:nvPr/>
        </p:nvSpPr>
        <p:spPr>
          <a:xfrm>
            <a:off x="841248" y="2944368"/>
            <a:ext cx="128016" cy="128016"/>
          </a:xfrm>
          <a:prstGeom prst="ellipse">
            <a:avLst/>
          </a:prstGeom>
          <a:solidFill>
            <a:srgbClr val="10B981"/>
          </a:solidFill>
          <a:ln w="12700">
            <a:solidFill>
              <a:srgbClr val="10B981"/>
            </a:solidFill>
            <a:prstDash val="solid"/>
          </a:ln>
        </p:spPr>
      </p:sp>
      <p:sp>
        <p:nvSpPr>
          <p:cNvPr id="10" name="Text 8"/>
          <p:cNvSpPr txBox="1"/>
          <p:nvPr/>
        </p:nvSpPr>
        <p:spPr>
          <a:xfrm>
            <a:off x="1097280" y="2825496"/>
            <a:ext cx="3154680" cy="36576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Business name, type and area</a:t>
            </a:r>
            <a:endParaRPr lang="en-US" sz="1350" dirty="0"/>
          </a:p>
        </p:txBody>
      </p:sp>
      <p:sp>
        <p:nvSpPr>
          <p:cNvPr id="11" name="Text 9"/>
          <p:cNvSpPr txBox="1"/>
          <p:nvPr/>
        </p:nvSpPr>
        <p:spPr>
          <a:xfrm>
            <a:off x="4297680" y="2825496"/>
            <a:ext cx="2926080" cy="365760"/>
          </a:xfrm>
          <a:prstGeom prst="rect">
            <a:avLst/>
          </a:prstGeom>
          <a:noFill/>
          <a:ln/>
        </p:spPr>
        <p:txBody>
          <a:bodyPr wrap="square" lIns="0" tIns="0" rIns="0" bIns="0" rtlCol="0" anchor="ctr"/>
          <a:lstStyle/>
          <a:p>
            <a:pPr marL="0" indent="0">
              <a:buNone/>
            </a:pPr>
            <a:r>
              <a:rPr lang="en-US" sz="1300" dirty="0">
                <a:solidFill>
                  <a:srgbClr val="A3B3C9"/>
                </a:solidFill>
                <a:latin typeface="Calibri" pitchFamily="34" charset="0"/>
                <a:ea typeface="Calibri" pitchFamily="34" charset="-122"/>
                <a:cs typeface="Calibri" pitchFamily="34" charset="-120"/>
              </a:rPr>
              <a:t>the right tools and suppliers</a:t>
            </a:r>
            <a:endParaRPr lang="en-US" sz="1300" dirty="0"/>
          </a:p>
        </p:txBody>
      </p:sp>
      <p:sp>
        <p:nvSpPr>
          <p:cNvPr id="12" name="Shape 10"/>
          <p:cNvSpPr/>
          <p:nvPr/>
        </p:nvSpPr>
        <p:spPr>
          <a:xfrm>
            <a:off x="841248" y="3438144"/>
            <a:ext cx="128016" cy="128016"/>
          </a:xfrm>
          <a:prstGeom prst="ellipse">
            <a:avLst/>
          </a:prstGeom>
          <a:solidFill>
            <a:srgbClr val="10B981"/>
          </a:solidFill>
          <a:ln w="12700">
            <a:solidFill>
              <a:srgbClr val="10B981"/>
            </a:solidFill>
            <a:prstDash val="solid"/>
          </a:ln>
        </p:spPr>
      </p:sp>
      <p:sp>
        <p:nvSpPr>
          <p:cNvPr id="13" name="Text 11"/>
          <p:cNvSpPr txBox="1"/>
          <p:nvPr/>
        </p:nvSpPr>
        <p:spPr>
          <a:xfrm>
            <a:off x="1097280" y="3319272"/>
            <a:ext cx="3154680" cy="36576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A CIPC number, only if you choose</a:t>
            </a:r>
            <a:endParaRPr lang="en-US" sz="1350" dirty="0"/>
          </a:p>
        </p:txBody>
      </p:sp>
      <p:sp>
        <p:nvSpPr>
          <p:cNvPr id="14" name="Text 12"/>
          <p:cNvSpPr txBox="1"/>
          <p:nvPr/>
        </p:nvSpPr>
        <p:spPr>
          <a:xfrm>
            <a:off x="4297680" y="3319272"/>
            <a:ext cx="2926080" cy="365760"/>
          </a:xfrm>
          <a:prstGeom prst="rect">
            <a:avLst/>
          </a:prstGeom>
          <a:noFill/>
          <a:ln/>
        </p:spPr>
        <p:txBody>
          <a:bodyPr wrap="square" lIns="0" tIns="0" rIns="0" bIns="0" rtlCol="0" anchor="ctr"/>
          <a:lstStyle/>
          <a:p>
            <a:pPr marL="0" indent="0">
              <a:buNone/>
            </a:pPr>
            <a:r>
              <a:rPr lang="en-US" sz="1300" dirty="0">
                <a:solidFill>
                  <a:srgbClr val="A3B3C9"/>
                </a:solidFill>
                <a:latin typeface="Calibri" pitchFamily="34" charset="0"/>
                <a:ea typeface="Calibri" pitchFamily="34" charset="-122"/>
                <a:cs typeface="Calibri" pitchFamily="34" charset="-120"/>
              </a:rPr>
              <a:t>a badge, checked on the register</a:t>
            </a:r>
            <a:endParaRPr lang="en-US" sz="1300" dirty="0"/>
          </a:p>
        </p:txBody>
      </p:sp>
      <p:sp>
        <p:nvSpPr>
          <p:cNvPr id="15" name="Shape 13"/>
          <p:cNvSpPr/>
          <p:nvPr/>
        </p:nvSpPr>
        <p:spPr>
          <a:xfrm>
            <a:off x="841248" y="3931920"/>
            <a:ext cx="128016" cy="128016"/>
          </a:xfrm>
          <a:prstGeom prst="ellipse">
            <a:avLst/>
          </a:prstGeom>
          <a:solidFill>
            <a:srgbClr val="10B981"/>
          </a:solidFill>
          <a:ln w="12700">
            <a:solidFill>
              <a:srgbClr val="10B981"/>
            </a:solidFill>
            <a:prstDash val="solid"/>
          </a:ln>
        </p:spPr>
      </p:sp>
      <p:sp>
        <p:nvSpPr>
          <p:cNvPr id="16" name="Text 14"/>
          <p:cNvSpPr txBox="1"/>
          <p:nvPr/>
        </p:nvSpPr>
        <p:spPr>
          <a:xfrm>
            <a:off x="1097280" y="3813048"/>
            <a:ext cx="3154680" cy="36576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Orders and payment results</a:t>
            </a:r>
            <a:endParaRPr lang="en-US" sz="1350" dirty="0"/>
          </a:p>
        </p:txBody>
      </p:sp>
      <p:sp>
        <p:nvSpPr>
          <p:cNvPr id="17" name="Text 15"/>
          <p:cNvSpPr txBox="1"/>
          <p:nvPr/>
        </p:nvSpPr>
        <p:spPr>
          <a:xfrm>
            <a:off x="4297680" y="3813048"/>
            <a:ext cx="2926080" cy="365760"/>
          </a:xfrm>
          <a:prstGeom prst="rect">
            <a:avLst/>
          </a:prstGeom>
          <a:noFill/>
          <a:ln/>
        </p:spPr>
        <p:txBody>
          <a:bodyPr wrap="square" lIns="0" tIns="0" rIns="0" bIns="0" rtlCol="0" anchor="ctr"/>
          <a:lstStyle/>
          <a:p>
            <a:pPr marL="0" indent="0">
              <a:buNone/>
            </a:pPr>
            <a:r>
              <a:rPr lang="en-US" sz="1300" dirty="0">
                <a:solidFill>
                  <a:srgbClr val="A3B3C9"/>
                </a:solidFill>
                <a:latin typeface="Calibri" pitchFamily="34" charset="0"/>
                <a:ea typeface="Calibri" pitchFamily="34" charset="-122"/>
                <a:cs typeface="Calibri" pitchFamily="34" charset="-120"/>
              </a:rPr>
              <a:t>invoices, receipts and your record</a:t>
            </a:r>
            <a:endParaRPr lang="en-US" sz="1300" dirty="0"/>
          </a:p>
        </p:txBody>
      </p:sp>
      <p:sp>
        <p:nvSpPr>
          <p:cNvPr id="18" name="Shape 16"/>
          <p:cNvSpPr/>
          <p:nvPr/>
        </p:nvSpPr>
        <p:spPr>
          <a:xfrm>
            <a:off x="841248" y="4425696"/>
            <a:ext cx="128016" cy="128016"/>
          </a:xfrm>
          <a:prstGeom prst="ellipse">
            <a:avLst/>
          </a:prstGeom>
          <a:solidFill>
            <a:srgbClr val="10B981"/>
          </a:solidFill>
          <a:ln w="12700">
            <a:solidFill>
              <a:srgbClr val="10B981"/>
            </a:solidFill>
            <a:prstDash val="solid"/>
          </a:ln>
        </p:spPr>
      </p:sp>
      <p:sp>
        <p:nvSpPr>
          <p:cNvPr id="19" name="Text 17"/>
          <p:cNvSpPr txBox="1"/>
          <p:nvPr/>
        </p:nvSpPr>
        <p:spPr>
          <a:xfrm>
            <a:off x="1097280" y="4306824"/>
            <a:ext cx="3154680" cy="36576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Your tools: credit book, jobs</a:t>
            </a:r>
            <a:endParaRPr lang="en-US" sz="1350" dirty="0"/>
          </a:p>
        </p:txBody>
      </p:sp>
      <p:sp>
        <p:nvSpPr>
          <p:cNvPr id="20" name="Text 18"/>
          <p:cNvSpPr txBox="1"/>
          <p:nvPr/>
        </p:nvSpPr>
        <p:spPr>
          <a:xfrm>
            <a:off x="4297680" y="4306824"/>
            <a:ext cx="2926080" cy="365760"/>
          </a:xfrm>
          <a:prstGeom prst="rect">
            <a:avLst/>
          </a:prstGeom>
          <a:noFill/>
          <a:ln/>
        </p:spPr>
        <p:txBody>
          <a:bodyPr wrap="square" lIns="0" tIns="0" rIns="0" bIns="0" rtlCol="0" anchor="ctr"/>
          <a:lstStyle/>
          <a:p>
            <a:pPr marL="0" indent="0">
              <a:buNone/>
            </a:pPr>
            <a:r>
              <a:rPr lang="en-US" sz="1300" dirty="0">
                <a:solidFill>
                  <a:srgbClr val="A3B3C9"/>
                </a:solidFill>
                <a:latin typeface="Calibri" pitchFamily="34" charset="0"/>
                <a:ea typeface="Calibri" pitchFamily="34" charset="-122"/>
                <a:cs typeface="Calibri" pitchFamily="34" charset="-120"/>
              </a:rPr>
              <a:t>yours; suppliers never see it</a:t>
            </a:r>
            <a:endParaRPr lang="en-US" sz="1300" dirty="0"/>
          </a:p>
        </p:txBody>
      </p:sp>
      <p:sp>
        <p:nvSpPr>
          <p:cNvPr id="21" name="Shape 19"/>
          <p:cNvSpPr/>
          <p:nvPr/>
        </p:nvSpPr>
        <p:spPr>
          <a:xfrm>
            <a:off x="7589520" y="1645920"/>
            <a:ext cx="4050792" cy="3246120"/>
          </a:xfrm>
          <a:prstGeom prst="roundRect">
            <a:avLst>
              <a:gd name="adj" fmla="val 3380"/>
            </a:avLst>
          </a:prstGeom>
          <a:solidFill>
            <a:srgbClr val="1E2B45"/>
          </a:solidFill>
          <a:ln w="12700">
            <a:solidFill>
              <a:srgbClr val="1E2B45"/>
            </a:solidFill>
            <a:prstDash val="solid"/>
          </a:ln>
        </p:spPr>
      </p:sp>
      <p:sp>
        <p:nvSpPr>
          <p:cNvPr id="22" name="Text 20"/>
          <p:cNvSpPr txBox="1"/>
          <p:nvPr/>
        </p:nvSpPr>
        <p:spPr>
          <a:xfrm>
            <a:off x="7863840" y="1810512"/>
            <a:ext cx="3566160" cy="365760"/>
          </a:xfrm>
          <a:prstGeom prst="rect">
            <a:avLst/>
          </a:prstGeom>
          <a:noFill/>
          <a:ln/>
        </p:spPr>
        <p:txBody>
          <a:bodyPr wrap="square" lIns="0" tIns="0" rIns="0" bIns="0" rtlCol="0" anchor="t"/>
          <a:lstStyle/>
          <a:p>
            <a:pPr marL="0" indent="0">
              <a:buNone/>
            </a:pPr>
            <a:r>
              <a:rPr lang="en-US" sz="1700" b="1" dirty="0">
                <a:solidFill>
                  <a:srgbClr val="FBBF24"/>
                </a:solidFill>
                <a:latin typeface="Calibri" pitchFamily="34" charset="0"/>
                <a:ea typeface="Calibri" pitchFamily="34" charset="-122"/>
                <a:cs typeface="Calibri" pitchFamily="34" charset="-120"/>
              </a:rPr>
              <a:t>What we never do</a:t>
            </a:r>
            <a:endParaRPr lang="en-US" sz="1700" dirty="0"/>
          </a:p>
        </p:txBody>
      </p:sp>
      <p:sp>
        <p:nvSpPr>
          <p:cNvPr id="23" name="Shape 21"/>
          <p:cNvSpPr/>
          <p:nvPr/>
        </p:nvSpPr>
        <p:spPr>
          <a:xfrm>
            <a:off x="7863840" y="2331720"/>
            <a:ext cx="402336" cy="402336"/>
          </a:xfrm>
          <a:prstGeom prst="ellipse">
            <a:avLst/>
          </a:prstGeom>
          <a:solidFill>
            <a:srgbClr val="1E2B45"/>
          </a:solidFill>
          <a:ln w="19050">
            <a:solidFill>
              <a:srgbClr val="FBBF24"/>
            </a:solidFill>
            <a:prstDash val="solid"/>
          </a:ln>
        </p:spPr>
      </p:sp>
      <p:pic>
        <p:nvPicPr>
          <p:cNvPr id="24" name="Image 0" descr="preencoded.png"/>
          <p:cNvPicPr>
            <a:picLocks noChangeAspect="1"/>
          </p:cNvPicPr>
          <p:nvPr/>
        </p:nvPicPr>
        <p:blipFill>
          <a:blip r:embed="rId3"/>
          <a:stretch>
            <a:fillRect/>
          </a:stretch>
        </p:blipFill>
        <p:spPr>
          <a:xfrm>
            <a:off x="7960401" y="2428281"/>
            <a:ext cx="209215" cy="209215"/>
          </a:xfrm>
          <a:prstGeom prst="rect">
            <a:avLst/>
          </a:prstGeom>
        </p:spPr>
      </p:pic>
      <p:sp>
        <p:nvSpPr>
          <p:cNvPr id="25" name="Text 22"/>
          <p:cNvSpPr txBox="1"/>
          <p:nvPr/>
        </p:nvSpPr>
        <p:spPr>
          <a:xfrm>
            <a:off x="8412480" y="2276856"/>
            <a:ext cx="3063240" cy="512064"/>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Ask for an ID number or passport</a:t>
            </a:r>
            <a:endParaRPr lang="en-US" sz="1350" dirty="0"/>
          </a:p>
        </p:txBody>
      </p:sp>
      <p:sp>
        <p:nvSpPr>
          <p:cNvPr id="26" name="Shape 23"/>
          <p:cNvSpPr/>
          <p:nvPr/>
        </p:nvSpPr>
        <p:spPr>
          <a:xfrm>
            <a:off x="7863840" y="2935224"/>
            <a:ext cx="402336" cy="402336"/>
          </a:xfrm>
          <a:prstGeom prst="ellipse">
            <a:avLst/>
          </a:prstGeom>
          <a:solidFill>
            <a:srgbClr val="1E2B45"/>
          </a:solidFill>
          <a:ln w="19050">
            <a:solidFill>
              <a:srgbClr val="FBBF24"/>
            </a:solidFill>
            <a:prstDash val="solid"/>
          </a:ln>
        </p:spPr>
      </p:sp>
      <p:pic>
        <p:nvPicPr>
          <p:cNvPr id="27" name="Image 1" descr="preencoded.png"/>
          <p:cNvPicPr>
            <a:picLocks noChangeAspect="1"/>
          </p:cNvPicPr>
          <p:nvPr/>
        </p:nvPicPr>
        <p:blipFill>
          <a:blip r:embed="rId3"/>
          <a:stretch>
            <a:fillRect/>
          </a:stretch>
        </p:blipFill>
        <p:spPr>
          <a:xfrm>
            <a:off x="7960401" y="3031785"/>
            <a:ext cx="209215" cy="209215"/>
          </a:xfrm>
          <a:prstGeom prst="rect">
            <a:avLst/>
          </a:prstGeom>
        </p:spPr>
      </p:pic>
      <p:sp>
        <p:nvSpPr>
          <p:cNvPr id="28" name="Text 24"/>
          <p:cNvSpPr txBox="1"/>
          <p:nvPr/>
        </p:nvSpPr>
        <p:spPr>
          <a:xfrm>
            <a:off x="8412480" y="2880360"/>
            <a:ext cx="3063240" cy="512064"/>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See or store card numbers</a:t>
            </a:r>
            <a:endParaRPr lang="en-US" sz="1350" dirty="0"/>
          </a:p>
        </p:txBody>
      </p:sp>
      <p:sp>
        <p:nvSpPr>
          <p:cNvPr id="29" name="Shape 25"/>
          <p:cNvSpPr/>
          <p:nvPr/>
        </p:nvSpPr>
        <p:spPr>
          <a:xfrm>
            <a:off x="7863840" y="3538728"/>
            <a:ext cx="402336" cy="402336"/>
          </a:xfrm>
          <a:prstGeom prst="ellipse">
            <a:avLst/>
          </a:prstGeom>
          <a:solidFill>
            <a:srgbClr val="1E2B45"/>
          </a:solidFill>
          <a:ln w="19050">
            <a:solidFill>
              <a:srgbClr val="FBBF24"/>
            </a:solidFill>
            <a:prstDash val="solid"/>
          </a:ln>
        </p:spPr>
      </p:sp>
      <p:pic>
        <p:nvPicPr>
          <p:cNvPr id="30" name="Image 2" descr="preencoded.png"/>
          <p:cNvPicPr>
            <a:picLocks noChangeAspect="1"/>
          </p:cNvPicPr>
          <p:nvPr/>
        </p:nvPicPr>
        <p:blipFill>
          <a:blip r:embed="rId3"/>
          <a:stretch>
            <a:fillRect/>
          </a:stretch>
        </p:blipFill>
        <p:spPr>
          <a:xfrm>
            <a:off x="7960401" y="3635289"/>
            <a:ext cx="209215" cy="209215"/>
          </a:xfrm>
          <a:prstGeom prst="rect">
            <a:avLst/>
          </a:prstGeom>
        </p:spPr>
      </p:pic>
      <p:sp>
        <p:nvSpPr>
          <p:cNvPr id="31" name="Text 26"/>
          <p:cNvSpPr txBox="1"/>
          <p:nvPr/>
        </p:nvSpPr>
        <p:spPr>
          <a:xfrm>
            <a:off x="8412480" y="3483864"/>
            <a:ext cx="3063240" cy="512064"/>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Sell your data, or use it for ads</a:t>
            </a:r>
            <a:endParaRPr lang="en-US" sz="1350" dirty="0"/>
          </a:p>
        </p:txBody>
      </p:sp>
      <p:sp>
        <p:nvSpPr>
          <p:cNvPr id="32" name="Shape 27"/>
          <p:cNvSpPr/>
          <p:nvPr/>
        </p:nvSpPr>
        <p:spPr>
          <a:xfrm>
            <a:off x="7863840" y="4142232"/>
            <a:ext cx="402336" cy="402336"/>
          </a:xfrm>
          <a:prstGeom prst="ellipse">
            <a:avLst/>
          </a:prstGeom>
          <a:solidFill>
            <a:srgbClr val="1E2B45"/>
          </a:solidFill>
          <a:ln w="19050">
            <a:solidFill>
              <a:srgbClr val="FBBF24"/>
            </a:solidFill>
            <a:prstDash val="solid"/>
          </a:ln>
        </p:spPr>
      </p:sp>
      <p:pic>
        <p:nvPicPr>
          <p:cNvPr id="33" name="Image 3" descr="preencoded.png"/>
          <p:cNvPicPr>
            <a:picLocks noChangeAspect="1"/>
          </p:cNvPicPr>
          <p:nvPr/>
        </p:nvPicPr>
        <p:blipFill>
          <a:blip r:embed="rId3"/>
          <a:stretch>
            <a:fillRect/>
          </a:stretch>
        </p:blipFill>
        <p:spPr>
          <a:xfrm>
            <a:off x="7960401" y="4238793"/>
            <a:ext cx="209215" cy="209215"/>
          </a:xfrm>
          <a:prstGeom prst="rect">
            <a:avLst/>
          </a:prstGeom>
        </p:spPr>
      </p:pic>
      <p:sp>
        <p:nvSpPr>
          <p:cNvPr id="34" name="Text 28"/>
          <p:cNvSpPr txBox="1"/>
          <p:nvPr/>
        </p:nvSpPr>
        <p:spPr>
          <a:xfrm>
            <a:off x="8412480" y="4087368"/>
            <a:ext cx="3063240" cy="512064"/>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Show your customers' names to suppliers</a:t>
            </a:r>
            <a:endParaRPr lang="en-US" sz="1350" dirty="0"/>
          </a:p>
        </p:txBody>
      </p:sp>
      <p:sp>
        <p:nvSpPr>
          <p:cNvPr id="35" name="Shape 29"/>
          <p:cNvSpPr/>
          <p:nvPr/>
        </p:nvSpPr>
        <p:spPr>
          <a:xfrm>
            <a:off x="548640" y="5074920"/>
            <a:ext cx="11091672" cy="1097280"/>
          </a:xfrm>
          <a:prstGeom prst="roundRect">
            <a:avLst>
              <a:gd name="adj" fmla="val 10000"/>
            </a:avLst>
          </a:prstGeom>
          <a:solidFill>
            <a:srgbClr val="17223A"/>
          </a:solidFill>
          <a:ln w="12700">
            <a:solidFill>
              <a:srgbClr val="17223A"/>
            </a:solidFill>
            <a:prstDash val="solid"/>
          </a:ln>
        </p:spPr>
      </p:sp>
      <p:sp>
        <p:nvSpPr>
          <p:cNvPr id="36" name="Text 30"/>
          <p:cNvSpPr txBox="1"/>
          <p:nvPr/>
        </p:nvSpPr>
        <p:spPr>
          <a:xfrm>
            <a:off x="822960" y="5193792"/>
            <a:ext cx="3657600" cy="256032"/>
          </a:xfrm>
          <a:prstGeom prst="rect">
            <a:avLst/>
          </a:prstGeom>
          <a:noFill/>
          <a:ln/>
        </p:spPr>
        <p:txBody>
          <a:bodyPr wrap="square" lIns="0" tIns="0" rIns="0" bIns="0" rtlCol="0" anchor="t"/>
          <a:lstStyle/>
          <a:p>
            <a:pPr marL="0" indent="0">
              <a:buNone/>
            </a:pPr>
            <a:r>
              <a:rPr lang="en-US" sz="1150" b="1" kern="0" spc="200" dirty="0">
                <a:solidFill>
                  <a:srgbClr val="10B981"/>
                </a:solidFill>
                <a:latin typeface="Calibri" pitchFamily="34" charset="0"/>
                <a:ea typeface="Calibri" pitchFamily="34" charset="-122"/>
                <a:cs typeface="Calibri" pitchFamily="34" charset="-120"/>
              </a:rPr>
              <a:t>YOUR RIGHTS</a:t>
            </a:r>
            <a:endParaRPr lang="en-US" sz="1150" dirty="0"/>
          </a:p>
        </p:txBody>
      </p:sp>
      <p:sp>
        <p:nvSpPr>
          <p:cNvPr id="37" name="Text 31"/>
          <p:cNvSpPr txBox="1"/>
          <p:nvPr/>
        </p:nvSpPr>
        <p:spPr>
          <a:xfrm>
            <a:off x="822960" y="5468112"/>
            <a:ext cx="2560320" cy="274320"/>
          </a:xfrm>
          <a:prstGeom prst="rect">
            <a:avLst/>
          </a:prstGeom>
          <a:noFill/>
          <a:ln/>
        </p:spPr>
        <p:txBody>
          <a:bodyPr wrap="square" lIns="0" tIns="0" rIns="0" bIns="0" rtlCol="0" anchor="t"/>
          <a:lstStyle/>
          <a:p>
            <a:pPr marL="0" indent="0">
              <a:buNone/>
            </a:pPr>
            <a:r>
              <a:rPr lang="en-US" sz="1350" b="1" dirty="0">
                <a:solidFill>
                  <a:srgbClr val="F8FAFC"/>
                </a:solidFill>
                <a:latin typeface="Calibri" pitchFamily="34" charset="0"/>
                <a:ea typeface="Calibri" pitchFamily="34" charset="-122"/>
                <a:cs typeface="Calibri" pitchFamily="34" charset="-120"/>
              </a:rPr>
              <a:t>See and download your data</a:t>
            </a:r>
            <a:endParaRPr lang="en-US" sz="1350" dirty="0"/>
          </a:p>
        </p:txBody>
      </p:sp>
      <p:sp>
        <p:nvSpPr>
          <p:cNvPr id="38" name="Text 32"/>
          <p:cNvSpPr txBox="1"/>
          <p:nvPr/>
        </p:nvSpPr>
        <p:spPr>
          <a:xfrm>
            <a:off x="822960" y="5742432"/>
            <a:ext cx="2560320" cy="384048"/>
          </a:xfrm>
          <a:prstGeom prst="rect">
            <a:avLst/>
          </a:prstGeom>
          <a:noFill/>
          <a:ln/>
        </p:spPr>
        <p:txBody>
          <a:bodyPr wrap="square" lIns="0" tIns="0" rIns="0" bIns="0" rtlCol="0" anchor="t"/>
          <a:lstStyle/>
          <a:p>
            <a:pPr marL="0" indent="0">
              <a:buNone/>
            </a:pPr>
            <a:r>
              <a:rPr lang="en-US" sz="1100" dirty="0">
                <a:solidFill>
                  <a:srgbClr val="A3B3C9"/>
                </a:solidFill>
                <a:latin typeface="Calibri" pitchFamily="34" charset="0"/>
                <a:ea typeface="Calibri" pitchFamily="34" charset="-122"/>
                <a:cs typeface="Calibri" pitchFamily="34" charset="-120"/>
              </a:rPr>
              <a:t>On our server today; the app button is next</a:t>
            </a:r>
            <a:endParaRPr lang="en-US" sz="1100" dirty="0"/>
          </a:p>
        </p:txBody>
      </p:sp>
      <p:sp>
        <p:nvSpPr>
          <p:cNvPr id="39" name="Text 33"/>
          <p:cNvSpPr txBox="1"/>
          <p:nvPr/>
        </p:nvSpPr>
        <p:spPr>
          <a:xfrm>
            <a:off x="3538728" y="5468112"/>
            <a:ext cx="2560320" cy="274320"/>
          </a:xfrm>
          <a:prstGeom prst="rect">
            <a:avLst/>
          </a:prstGeom>
          <a:noFill/>
          <a:ln/>
        </p:spPr>
        <p:txBody>
          <a:bodyPr wrap="square" lIns="0" tIns="0" rIns="0" bIns="0" rtlCol="0" anchor="t"/>
          <a:lstStyle/>
          <a:p>
            <a:pPr marL="0" indent="0">
              <a:buNone/>
            </a:pPr>
            <a:r>
              <a:rPr lang="en-US" sz="1350" b="1" dirty="0">
                <a:solidFill>
                  <a:srgbClr val="F8FAFC"/>
                </a:solidFill>
                <a:latin typeface="Calibri" pitchFamily="34" charset="0"/>
                <a:ea typeface="Calibri" pitchFamily="34" charset="-122"/>
                <a:cs typeface="Calibri" pitchFamily="34" charset="-120"/>
              </a:rPr>
              <a:t>Close your account</a:t>
            </a:r>
            <a:endParaRPr lang="en-US" sz="1350" dirty="0"/>
          </a:p>
        </p:txBody>
      </p:sp>
      <p:sp>
        <p:nvSpPr>
          <p:cNvPr id="40" name="Text 34"/>
          <p:cNvSpPr txBox="1"/>
          <p:nvPr/>
        </p:nvSpPr>
        <p:spPr>
          <a:xfrm>
            <a:off x="3538728" y="5742432"/>
            <a:ext cx="2560320" cy="384048"/>
          </a:xfrm>
          <a:prstGeom prst="rect">
            <a:avLst/>
          </a:prstGeom>
          <a:noFill/>
          <a:ln/>
        </p:spPr>
        <p:txBody>
          <a:bodyPr wrap="square" lIns="0" tIns="0" rIns="0" bIns="0" rtlCol="0" anchor="t"/>
          <a:lstStyle/>
          <a:p>
            <a:pPr marL="0" indent="0">
              <a:buNone/>
            </a:pPr>
            <a:r>
              <a:rPr lang="en-US" sz="1100" dirty="0">
                <a:solidFill>
                  <a:srgbClr val="A3B3C9"/>
                </a:solidFill>
                <a:latin typeface="Calibri" pitchFamily="34" charset="0"/>
                <a:ea typeface="Calibri" pitchFamily="34" charset="-122"/>
                <a:cs typeface="Calibri" pitchFamily="34" charset="-120"/>
              </a:rPr>
              <a:t>In the app today; every phone is signed out</a:t>
            </a:r>
            <a:endParaRPr lang="en-US" sz="1100" dirty="0"/>
          </a:p>
        </p:txBody>
      </p:sp>
      <p:sp>
        <p:nvSpPr>
          <p:cNvPr id="41" name="Text 35"/>
          <p:cNvSpPr txBox="1"/>
          <p:nvPr/>
        </p:nvSpPr>
        <p:spPr>
          <a:xfrm>
            <a:off x="6254496" y="5468112"/>
            <a:ext cx="2560320" cy="274320"/>
          </a:xfrm>
          <a:prstGeom prst="rect">
            <a:avLst/>
          </a:prstGeom>
          <a:noFill/>
          <a:ln/>
        </p:spPr>
        <p:txBody>
          <a:bodyPr wrap="square" lIns="0" tIns="0" rIns="0" bIns="0" rtlCol="0" anchor="t"/>
          <a:lstStyle/>
          <a:p>
            <a:pPr marL="0" indent="0">
              <a:buNone/>
            </a:pPr>
            <a:r>
              <a:rPr lang="en-US" sz="1350" b="1" dirty="0">
                <a:solidFill>
                  <a:srgbClr val="F8FAFC"/>
                </a:solidFill>
                <a:latin typeface="Calibri" pitchFamily="34" charset="0"/>
                <a:ea typeface="Calibri" pitchFamily="34" charset="-122"/>
                <a:cs typeface="Calibri" pitchFamily="34" charset="-120"/>
              </a:rPr>
              <a:t>Delete your data</a:t>
            </a:r>
            <a:endParaRPr lang="en-US" sz="1350" dirty="0"/>
          </a:p>
        </p:txBody>
      </p:sp>
      <p:sp>
        <p:nvSpPr>
          <p:cNvPr id="42" name="Text 36"/>
          <p:cNvSpPr txBox="1"/>
          <p:nvPr/>
        </p:nvSpPr>
        <p:spPr>
          <a:xfrm>
            <a:off x="6254496" y="5742432"/>
            <a:ext cx="2560320" cy="384048"/>
          </a:xfrm>
          <a:prstGeom prst="rect">
            <a:avLst/>
          </a:prstGeom>
          <a:noFill/>
          <a:ln/>
        </p:spPr>
        <p:txBody>
          <a:bodyPr wrap="square" lIns="0" tIns="0" rIns="0" bIns="0" rtlCol="0" anchor="t"/>
          <a:lstStyle/>
          <a:p>
            <a:pPr marL="0" indent="0">
              <a:buNone/>
            </a:pPr>
            <a:r>
              <a:rPr lang="en-US" sz="1100" dirty="0">
                <a:solidFill>
                  <a:srgbClr val="A3B3C9"/>
                </a:solidFill>
                <a:latin typeface="Calibri" pitchFamily="34" charset="0"/>
                <a:ea typeface="Calibri" pitchFamily="34" charset="-122"/>
                <a:cs typeface="Calibri" pitchFamily="34" charset="-120"/>
              </a:rPr>
              <a:t>Next. Tax records stay 5 years, by law</a:t>
            </a:r>
            <a:endParaRPr lang="en-US" sz="1100" dirty="0"/>
          </a:p>
        </p:txBody>
      </p:sp>
      <p:sp>
        <p:nvSpPr>
          <p:cNvPr id="43" name="Text 37"/>
          <p:cNvSpPr txBox="1"/>
          <p:nvPr/>
        </p:nvSpPr>
        <p:spPr>
          <a:xfrm>
            <a:off x="8970264" y="5468112"/>
            <a:ext cx="2560320" cy="274320"/>
          </a:xfrm>
          <a:prstGeom prst="rect">
            <a:avLst/>
          </a:prstGeom>
          <a:noFill/>
          <a:ln/>
        </p:spPr>
        <p:txBody>
          <a:bodyPr wrap="square" lIns="0" tIns="0" rIns="0" bIns="0" rtlCol="0" anchor="t"/>
          <a:lstStyle/>
          <a:p>
            <a:pPr marL="0" indent="0">
              <a:buNone/>
            </a:pPr>
            <a:r>
              <a:rPr lang="en-US" sz="1350" b="1" dirty="0">
                <a:solidFill>
                  <a:srgbClr val="F8FAFC"/>
                </a:solidFill>
                <a:latin typeface="Calibri" pitchFamily="34" charset="0"/>
                <a:ea typeface="Calibri" pitchFamily="34" charset="-122"/>
                <a:cs typeface="Calibri" pitchFamily="34" charset="-120"/>
              </a:rPr>
              <a:t>If there's ever a breach</a:t>
            </a:r>
            <a:endParaRPr lang="en-US" sz="1350" dirty="0"/>
          </a:p>
        </p:txBody>
      </p:sp>
      <p:sp>
        <p:nvSpPr>
          <p:cNvPr id="44" name="Text 38"/>
          <p:cNvSpPr txBox="1"/>
          <p:nvPr/>
        </p:nvSpPr>
        <p:spPr>
          <a:xfrm>
            <a:off x="8970264" y="5742432"/>
            <a:ext cx="2560320" cy="384048"/>
          </a:xfrm>
          <a:prstGeom prst="rect">
            <a:avLst/>
          </a:prstGeom>
          <a:noFill/>
          <a:ln/>
        </p:spPr>
        <p:txBody>
          <a:bodyPr wrap="square" lIns="0" tIns="0" rIns="0" bIns="0" rtlCol="0" anchor="t"/>
          <a:lstStyle/>
          <a:p>
            <a:pPr marL="0" indent="0">
              <a:buNone/>
            </a:pPr>
            <a:r>
              <a:rPr lang="en-US" sz="1100" dirty="0">
                <a:solidFill>
                  <a:srgbClr val="A3B3C9"/>
                </a:solidFill>
                <a:latin typeface="Calibri" pitchFamily="34" charset="0"/>
                <a:ea typeface="Calibri" pitchFamily="34" charset="-122"/>
                <a:cs typeface="Calibri" pitchFamily="34" charset="-120"/>
              </a:rPr>
              <a:t>We tell you and the Information Regulator</a:t>
            </a:r>
            <a:endParaRPr lang="en-US" sz="1100" dirty="0"/>
          </a:p>
        </p:txBody>
      </p:sp>
      <p:pic>
        <p:nvPicPr>
          <p:cNvPr id="45" name="Image 4" descr="preencoded.png"/>
          <p:cNvPicPr>
            <a:picLocks noChangeAspect="1"/>
          </p:cNvPicPr>
          <p:nvPr/>
        </p:nvPicPr>
        <p:blipFill>
          <a:blip r:embed="rId4"/>
          <a:stretch>
            <a:fillRect/>
          </a:stretch>
        </p:blipFill>
        <p:spPr>
          <a:xfrm>
            <a:off x="11231575" y="6291072"/>
            <a:ext cx="384048" cy="384048"/>
          </a:xfrm>
          <a:prstGeom prst="rect">
            <a:avLst/>
          </a:prstGeom>
        </p:spPr>
      </p:pic>
      <p:sp>
        <p:nvSpPr>
          <p:cNvPr id="46" name="Text 39"/>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47" name="Text 40"/>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A summary of our privacy policy (v0.2, a draft: a legal review comes before launch). Some providers store data outside South Africa, under POPIA section 72.</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Safe by design, simple to use</a:t>
            </a:r>
            <a:endParaRPr lang="en-US" sz="3400" dirty="0"/>
          </a:p>
        </p:txBody>
      </p:sp>
      <p:sp>
        <p:nvSpPr>
          <p:cNvPr id="4" name="Shape 2"/>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5" name="Shape 3"/>
          <p:cNvSpPr/>
          <p:nvPr/>
        </p:nvSpPr>
        <p:spPr>
          <a:xfrm>
            <a:off x="822960" y="2057400"/>
            <a:ext cx="640080" cy="640080"/>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976579" y="2211019"/>
            <a:ext cx="332842" cy="332842"/>
          </a:xfrm>
          <a:prstGeom prst="rect">
            <a:avLst/>
          </a:prstGeom>
        </p:spPr>
      </p:pic>
      <p:sp>
        <p:nvSpPr>
          <p:cNvPr id="7" name="Text 4"/>
          <p:cNvSpPr txBox="1"/>
          <p:nvPr/>
        </p:nvSpPr>
        <p:spPr>
          <a:xfrm>
            <a:off x="1600200" y="214884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8" name="Text 5"/>
          <p:cNvSpPr txBox="1"/>
          <p:nvPr/>
        </p:nvSpPr>
        <p:spPr>
          <a:xfrm>
            <a:off x="822960" y="278892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9" name="Shape 6"/>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0" name="Shape 7"/>
          <p:cNvSpPr/>
          <p:nvPr/>
        </p:nvSpPr>
        <p:spPr>
          <a:xfrm>
            <a:off x="4572000" y="2057400"/>
            <a:ext cx="640080" cy="640080"/>
          </a:xfrm>
          <a:prstGeom prst="ellipse">
            <a:avLst/>
          </a:prstGeom>
          <a:solidFill>
            <a:srgbClr val="1E2B45"/>
          </a:solidFill>
          <a:ln w="19050">
            <a:solidFill>
              <a:srgbClr val="10B981"/>
            </a:solidFill>
            <a:prstDash val="solid"/>
          </a:ln>
        </p:spPr>
      </p:sp>
      <p:pic>
        <p:nvPicPr>
          <p:cNvPr id="11" name="Image 1" descr="preencoded.png"/>
          <p:cNvPicPr>
            <a:picLocks noChangeAspect="1"/>
          </p:cNvPicPr>
          <p:nvPr/>
        </p:nvPicPr>
        <p:blipFill>
          <a:blip r:embed="rId4"/>
          <a:stretch>
            <a:fillRect/>
          </a:stretch>
        </p:blipFill>
        <p:spPr>
          <a:xfrm>
            <a:off x="4725619" y="2211019"/>
            <a:ext cx="332842" cy="332842"/>
          </a:xfrm>
          <a:prstGeom prst="rect">
            <a:avLst/>
          </a:prstGeom>
        </p:spPr>
      </p:pic>
      <p:sp>
        <p:nvSpPr>
          <p:cNvPr id="12" name="Text 8"/>
          <p:cNvSpPr txBox="1"/>
          <p:nvPr/>
        </p:nvSpPr>
        <p:spPr>
          <a:xfrm>
            <a:off x="5349240" y="214884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3" name="Text 9"/>
          <p:cNvSpPr txBox="1"/>
          <p:nvPr/>
        </p:nvSpPr>
        <p:spPr>
          <a:xfrm>
            <a:off x="4572000" y="278892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4" name="Shape 10"/>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5" name="Shape 11"/>
          <p:cNvSpPr/>
          <p:nvPr/>
        </p:nvSpPr>
        <p:spPr>
          <a:xfrm>
            <a:off x="8321040" y="2057400"/>
            <a:ext cx="640080" cy="640080"/>
          </a:xfrm>
          <a:prstGeom prst="ellipse">
            <a:avLst/>
          </a:prstGeom>
          <a:solidFill>
            <a:srgbClr val="1E2B45"/>
          </a:solidFill>
          <a:ln w="19050">
            <a:solidFill>
              <a:srgbClr val="10B981"/>
            </a:solidFill>
            <a:prstDash val="solid"/>
          </a:ln>
        </p:spPr>
      </p:sp>
      <p:pic>
        <p:nvPicPr>
          <p:cNvPr id="16" name="Image 2" descr="preencoded.png"/>
          <p:cNvPicPr>
            <a:picLocks noChangeAspect="1"/>
          </p:cNvPicPr>
          <p:nvPr/>
        </p:nvPicPr>
        <p:blipFill>
          <a:blip r:embed="rId5"/>
          <a:stretch>
            <a:fillRect/>
          </a:stretch>
        </p:blipFill>
        <p:spPr>
          <a:xfrm>
            <a:off x="8474659" y="2211019"/>
            <a:ext cx="332842" cy="332842"/>
          </a:xfrm>
          <a:prstGeom prst="rect">
            <a:avLst/>
          </a:prstGeom>
        </p:spPr>
      </p:pic>
      <p:sp>
        <p:nvSpPr>
          <p:cNvPr id="17" name="Text 12"/>
          <p:cNvSpPr txBox="1"/>
          <p:nvPr/>
        </p:nvSpPr>
        <p:spPr>
          <a:xfrm>
            <a:off x="9098280" y="214884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18" name="Text 13"/>
          <p:cNvSpPr txBox="1"/>
          <p:nvPr/>
        </p:nvSpPr>
        <p:spPr>
          <a:xfrm>
            <a:off x="8321040" y="278892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19" name="Shape 14"/>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0" name="Shape 15"/>
          <p:cNvSpPr/>
          <p:nvPr/>
        </p:nvSpPr>
        <p:spPr>
          <a:xfrm>
            <a:off x="822960" y="4206240"/>
            <a:ext cx="640080" cy="640080"/>
          </a:xfrm>
          <a:prstGeom prst="ellipse">
            <a:avLst/>
          </a:prstGeom>
          <a:solidFill>
            <a:srgbClr val="1E2B45"/>
          </a:solidFill>
          <a:ln w="19050">
            <a:solidFill>
              <a:srgbClr val="10B981"/>
            </a:solidFill>
            <a:prstDash val="solid"/>
          </a:ln>
        </p:spPr>
      </p:sp>
      <p:pic>
        <p:nvPicPr>
          <p:cNvPr id="21" name="Image 3" descr="preencoded.png"/>
          <p:cNvPicPr>
            <a:picLocks noChangeAspect="1"/>
          </p:cNvPicPr>
          <p:nvPr/>
        </p:nvPicPr>
        <p:blipFill>
          <a:blip r:embed="rId6"/>
          <a:stretch>
            <a:fillRect/>
          </a:stretch>
        </p:blipFill>
        <p:spPr>
          <a:xfrm>
            <a:off x="976579" y="4359859"/>
            <a:ext cx="332842" cy="332842"/>
          </a:xfrm>
          <a:prstGeom prst="rect">
            <a:avLst/>
          </a:prstGeom>
        </p:spPr>
      </p:pic>
      <p:sp>
        <p:nvSpPr>
          <p:cNvPr id="22" name="Text 16"/>
          <p:cNvSpPr txBox="1"/>
          <p:nvPr/>
        </p:nvSpPr>
        <p:spPr>
          <a:xfrm>
            <a:off x="1600200" y="429768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Signed links</a:t>
            </a:r>
            <a:endParaRPr lang="en-US" sz="1600" dirty="0"/>
          </a:p>
        </p:txBody>
      </p:sp>
      <p:sp>
        <p:nvSpPr>
          <p:cNvPr id="23" name="Text 17"/>
          <p:cNvSpPr txBox="1"/>
          <p:nvPr/>
        </p:nvSpPr>
        <p:spPr>
          <a:xfrm>
            <a:off x="822960" y="493776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Invoice, receipt and payment links are signed and expire. A QR check shows no personal details.</a:t>
            </a:r>
            <a:endParaRPr lang="en-US" sz="1300" dirty="0"/>
          </a:p>
        </p:txBody>
      </p:sp>
      <p:sp>
        <p:nvSpPr>
          <p:cNvPr id="24" name="Shape 18"/>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5" name="Shape 19"/>
          <p:cNvSpPr/>
          <p:nvPr/>
        </p:nvSpPr>
        <p:spPr>
          <a:xfrm>
            <a:off x="4572000" y="4206240"/>
            <a:ext cx="640080" cy="640080"/>
          </a:xfrm>
          <a:prstGeom prst="ellipse">
            <a:avLst/>
          </a:prstGeom>
          <a:solidFill>
            <a:srgbClr val="1E2B45"/>
          </a:solidFill>
          <a:ln w="19050">
            <a:solidFill>
              <a:srgbClr val="FBBF24"/>
            </a:solidFill>
            <a:prstDash val="solid"/>
          </a:ln>
        </p:spPr>
      </p:sp>
      <p:pic>
        <p:nvPicPr>
          <p:cNvPr id="26" name="Image 4" descr="preencoded.png"/>
          <p:cNvPicPr>
            <a:picLocks noChangeAspect="1"/>
          </p:cNvPicPr>
          <p:nvPr/>
        </p:nvPicPr>
        <p:blipFill>
          <a:blip r:embed="rId7"/>
          <a:stretch>
            <a:fillRect/>
          </a:stretch>
        </p:blipFill>
        <p:spPr>
          <a:xfrm>
            <a:off x="4725619" y="4359859"/>
            <a:ext cx="332842" cy="332842"/>
          </a:xfrm>
          <a:prstGeom prst="rect">
            <a:avLst/>
          </a:prstGeom>
        </p:spPr>
      </p:pic>
      <p:sp>
        <p:nvSpPr>
          <p:cNvPr id="27" name="Text 20"/>
          <p:cNvSpPr txBox="1"/>
          <p:nvPr/>
        </p:nvSpPr>
        <p:spPr>
          <a:xfrm>
            <a:off x="5349240" y="429768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28" name="Text 21"/>
          <p:cNvSpPr txBox="1"/>
          <p:nvPr/>
        </p:nvSpPr>
        <p:spPr>
          <a:xfrm>
            <a:off x="4572000" y="493776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29" name="Shape 22"/>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0" name="Shape 23"/>
          <p:cNvSpPr/>
          <p:nvPr/>
        </p:nvSpPr>
        <p:spPr>
          <a:xfrm>
            <a:off x="8321040" y="4206240"/>
            <a:ext cx="640080" cy="640080"/>
          </a:xfrm>
          <a:prstGeom prst="ellipse">
            <a:avLst/>
          </a:prstGeom>
          <a:solidFill>
            <a:srgbClr val="1E2B45"/>
          </a:solidFill>
          <a:ln w="19050">
            <a:solidFill>
              <a:srgbClr val="10B981"/>
            </a:solidFill>
            <a:prstDash val="solid"/>
          </a:ln>
        </p:spPr>
      </p:sp>
      <p:pic>
        <p:nvPicPr>
          <p:cNvPr id="31" name="Image 5" descr="preencoded.png"/>
          <p:cNvPicPr>
            <a:picLocks noChangeAspect="1"/>
          </p:cNvPicPr>
          <p:nvPr/>
        </p:nvPicPr>
        <p:blipFill>
          <a:blip r:embed="rId8"/>
          <a:stretch>
            <a:fillRect/>
          </a:stretch>
        </p:blipFill>
        <p:spPr>
          <a:xfrm>
            <a:off x="8474659" y="4359859"/>
            <a:ext cx="332842" cy="332842"/>
          </a:xfrm>
          <a:prstGeom prst="rect">
            <a:avLst/>
          </a:prstGeom>
        </p:spPr>
      </p:pic>
      <p:sp>
        <p:nvSpPr>
          <p:cNvPr id="32" name="Text 24"/>
          <p:cNvSpPr txBox="1"/>
          <p:nvPr/>
        </p:nvSpPr>
        <p:spPr>
          <a:xfrm>
            <a:off x="9098280" y="4297680"/>
            <a:ext cx="2286000" cy="45720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3" name="Text 25"/>
          <p:cNvSpPr txBox="1"/>
          <p:nvPr/>
        </p:nvSpPr>
        <p:spPr>
          <a:xfrm>
            <a:off x="8321040" y="4937760"/>
            <a:ext cx="2971800" cy="868680"/>
          </a:xfrm>
          <a:prstGeom prst="rect">
            <a:avLst/>
          </a:prstGeom>
          <a:noFill/>
          <a:ln/>
        </p:spPr>
        <p:txBody>
          <a:bodyPr wrap="square" lIns="0" tIns="0" rIns="0" bIns="0" rtlCol="0" anchor="t"/>
          <a:lstStyle/>
          <a:p>
            <a:pPr marL="0" indent="0">
              <a:buNone/>
            </a:pPr>
            <a:r>
              <a:rPr lang="en-US" sz="1300" dirty="0">
                <a:solidFill>
                  <a:srgbClr val="A3B3C9"/>
                </a:solidFill>
                <a:latin typeface="Calibri" pitchFamily="34" charset="0"/>
                <a:ea typeface="Calibri" pitchFamily="34" charset="-122"/>
                <a:cs typeface="Calibri" pitchFamily="34" charset="-120"/>
              </a:rPr>
              <a:t>Hostile-input tests on every endpoint, rate limits, the OWASP API Top 10.</a:t>
            </a:r>
            <a:endParaRPr lang="en-US" sz="1300" dirty="0"/>
          </a:p>
        </p:txBody>
      </p:sp>
      <p:pic>
        <p:nvPicPr>
          <p:cNvPr id="34" name="Image 6" descr="preencoded.png"/>
          <p:cNvPicPr>
            <a:picLocks noChangeAspect="1"/>
          </p:cNvPicPr>
          <p:nvPr/>
        </p:nvPicPr>
        <p:blipFill>
          <a:blip r:embed="rId9"/>
          <a:stretch>
            <a:fillRect/>
          </a:stretch>
        </p:blipFill>
        <p:spPr>
          <a:xfrm>
            <a:off x="11231575" y="6291072"/>
            <a:ext cx="384048" cy="384048"/>
          </a:xfrm>
          <a:prstGeom prst="rect">
            <a:avLst/>
          </a:prstGeom>
        </p:spPr>
      </p:pic>
      <p:sp>
        <p:nvSpPr>
          <p:cNvPr id="35" name="Text 26"/>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marL="0" indent="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marL="0" indent="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marL="0" indent="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marL="0" indent="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marL="0" indent="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icPr>
            <a:picLocks noChangeAspect="1"/>
          </p:cNvPicPr>
          <p:nvPr/>
        </p:nvPicPr>
        <p:blipFill>
          <a:blip r:embed="rId3"/>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marL="0" indent="0" algn="ctr">
              <a:buNone/>
            </a:pPr>
            <a:r>
              <a:rPr lang="en-US" sz="4400" b="1" dirty="0">
                <a:solidFill>
                  <a:srgbClr val="34D399"/>
                </a:solidFill>
                <a:latin typeface="Georgia" pitchFamily="34" charset="0"/>
                <a:ea typeface="Georgia" pitchFamily="34" charset="-122"/>
                <a:cs typeface="Georgia" pitchFamily="34" charset="-120"/>
              </a:rPr>
              <a:t>1,281</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marL="0" indent="0" algn="ctr">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marL="0" indent="0" algn="ctr">
              <a:buNone/>
            </a:pPr>
            <a:r>
              <a:rPr lang="en-US" sz="4400" b="1" dirty="0">
                <a:solidFill>
                  <a:srgbClr val="34D399"/>
                </a:solidFill>
                <a:latin typeface="Georgia" pitchFamily="34" charset="0"/>
                <a:ea typeface="Georgia" pitchFamily="34" charset="-122"/>
                <a:cs typeface="Georgia" pitchFamily="34" charset="-120"/>
              </a:rPr>
              <a:t>204</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marL="0" indent="0" algn="ctr">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marL="0" indent="0" algn="ctr">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marL="0" indent="0" algn="ctr">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marL="0" indent="0" algn="ctr">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marL="0" indent="0" algn="ctr">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marL="0" indent="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marL="0" indent="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marL="0" indent="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marL="0" indent="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marL="0" indent="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marL="0" indent="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icPr>
            <a:picLocks noChangeAspect="1"/>
          </p:cNvPicPr>
          <p:nvPr/>
        </p:nvPicPr>
        <p:blipFill>
          <a:blip r:embed="rId3"/>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WHAT IT COSTS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Small to start. Profitable by year 3.</a:t>
            </a:r>
            <a:endParaRPr lang="en-US" sz="3400" dirty="0"/>
          </a:p>
        </p:txBody>
      </p:sp>
      <p:sp>
        <p:nvSpPr>
          <p:cNvPr id="4" name="Shape 2"/>
          <p:cNvSpPr/>
          <p:nvPr/>
        </p:nvSpPr>
        <p:spPr>
          <a:xfrm>
            <a:off x="548640" y="1828800"/>
            <a:ext cx="4846320" cy="1188720"/>
          </a:xfrm>
          <a:prstGeom prst="roundRect">
            <a:avLst>
              <a:gd name="adj" fmla="val 9231"/>
            </a:avLst>
          </a:prstGeom>
          <a:solidFill>
            <a:srgbClr val="17223A"/>
          </a:solidFill>
          <a:ln w="12700">
            <a:solidFill>
              <a:srgbClr val="17223A"/>
            </a:solidFill>
            <a:prstDash val="solid"/>
          </a:ln>
        </p:spPr>
      </p:sp>
      <p:sp>
        <p:nvSpPr>
          <p:cNvPr id="5" name="Text 3"/>
          <p:cNvSpPr txBox="1"/>
          <p:nvPr/>
        </p:nvSpPr>
        <p:spPr>
          <a:xfrm>
            <a:off x="777240" y="1938528"/>
            <a:ext cx="2011680" cy="320040"/>
          </a:xfrm>
          <a:prstGeom prst="rect">
            <a:avLst/>
          </a:prstGeom>
          <a:noFill/>
          <a:ln/>
        </p:spPr>
        <p:txBody>
          <a:bodyPr wrap="square" lIns="0" tIns="0" rIns="0" bIns="0" rtlCol="0" anchor="t"/>
          <a:lstStyle/>
          <a:p>
            <a:pPr marL="0" indent="0">
              <a:buNone/>
            </a:pPr>
            <a:r>
              <a:rPr lang="en-US" sz="1200" b="1" kern="0" spc="200" dirty="0">
                <a:solidFill>
                  <a:srgbClr val="A3B3C9"/>
                </a:solidFill>
                <a:latin typeface="Calibri" pitchFamily="34" charset="0"/>
                <a:ea typeface="Calibri" pitchFamily="34" charset="-122"/>
                <a:cs typeface="Calibri" pitchFamily="34" charset="-120"/>
              </a:rPr>
              <a:t>START</a:t>
            </a:r>
            <a:endParaRPr lang="en-US" sz="1200" dirty="0"/>
          </a:p>
        </p:txBody>
      </p:sp>
      <p:sp>
        <p:nvSpPr>
          <p:cNvPr id="6" name="Text 4"/>
          <p:cNvSpPr txBox="1"/>
          <p:nvPr/>
        </p:nvSpPr>
        <p:spPr>
          <a:xfrm>
            <a:off x="777240" y="2240280"/>
            <a:ext cx="2011680" cy="594360"/>
          </a:xfrm>
          <a:prstGeom prst="rect">
            <a:avLst/>
          </a:prstGeom>
          <a:noFill/>
          <a:ln/>
        </p:spPr>
        <p:txBody>
          <a:bodyPr wrap="square" lIns="0" tIns="0" rIns="0" bIns="0" rtlCol="0" anchor="t"/>
          <a:lstStyle/>
          <a:p>
            <a:pPr marL="0" indent="0">
              <a:buNone/>
            </a:pPr>
            <a:r>
              <a:rPr lang="en-US" sz="3000" b="1" dirty="0">
                <a:solidFill>
                  <a:srgbClr val="FBBF24"/>
                </a:solidFill>
                <a:latin typeface="Georgia" pitchFamily="34" charset="0"/>
                <a:ea typeface="Georgia" pitchFamily="34" charset="-122"/>
                <a:cs typeface="Georgia" pitchFamily="34" charset="-120"/>
              </a:rPr>
              <a:t>R300k</a:t>
            </a:r>
            <a:endParaRPr lang="en-US" sz="3000" dirty="0"/>
          </a:p>
        </p:txBody>
      </p:sp>
      <p:sp>
        <p:nvSpPr>
          <p:cNvPr id="7" name="Text 5"/>
          <p:cNvSpPr txBox="1"/>
          <p:nvPr/>
        </p:nvSpPr>
        <p:spPr>
          <a:xfrm>
            <a:off x="2743200" y="2011680"/>
            <a:ext cx="2514600" cy="86868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One-off: the 6-month pilot (the ask)</a:t>
            </a:r>
            <a:endParaRPr lang="en-US" sz="1350" dirty="0"/>
          </a:p>
        </p:txBody>
      </p:sp>
      <p:sp>
        <p:nvSpPr>
          <p:cNvPr id="8" name="Shape 6"/>
          <p:cNvSpPr/>
          <p:nvPr/>
        </p:nvSpPr>
        <p:spPr>
          <a:xfrm>
            <a:off x="548640" y="3200400"/>
            <a:ext cx="4846320" cy="1188720"/>
          </a:xfrm>
          <a:prstGeom prst="roundRect">
            <a:avLst>
              <a:gd name="adj" fmla="val 9231"/>
            </a:avLst>
          </a:prstGeom>
          <a:solidFill>
            <a:srgbClr val="17223A"/>
          </a:solidFill>
          <a:ln w="12700">
            <a:solidFill>
              <a:srgbClr val="17223A"/>
            </a:solidFill>
            <a:prstDash val="solid"/>
          </a:ln>
        </p:spPr>
      </p:sp>
      <p:sp>
        <p:nvSpPr>
          <p:cNvPr id="9" name="Text 7"/>
          <p:cNvSpPr txBox="1"/>
          <p:nvPr/>
        </p:nvSpPr>
        <p:spPr>
          <a:xfrm>
            <a:off x="777240" y="3310128"/>
            <a:ext cx="2011680" cy="320040"/>
          </a:xfrm>
          <a:prstGeom prst="rect">
            <a:avLst/>
          </a:prstGeom>
          <a:noFill/>
          <a:ln/>
        </p:spPr>
        <p:txBody>
          <a:bodyPr wrap="square" lIns="0" tIns="0" rIns="0" bIns="0" rtlCol="0" anchor="t"/>
          <a:lstStyle/>
          <a:p>
            <a:pPr marL="0" indent="0">
              <a:buNone/>
            </a:pPr>
            <a:r>
              <a:rPr lang="en-US" sz="1200" b="1" kern="0" spc="200" dirty="0">
                <a:solidFill>
                  <a:srgbClr val="A3B3C9"/>
                </a:solidFill>
                <a:latin typeface="Calibri" pitchFamily="34" charset="0"/>
                <a:ea typeface="Calibri" pitchFamily="34" charset="-122"/>
                <a:cs typeface="Calibri" pitchFamily="34" charset="-120"/>
              </a:rPr>
              <a:t>GROW</a:t>
            </a:r>
            <a:endParaRPr lang="en-US" sz="1200" dirty="0"/>
          </a:p>
        </p:txBody>
      </p:sp>
      <p:sp>
        <p:nvSpPr>
          <p:cNvPr id="10" name="Text 8"/>
          <p:cNvSpPr txBox="1"/>
          <p:nvPr/>
        </p:nvSpPr>
        <p:spPr>
          <a:xfrm>
            <a:off x="777240" y="3611880"/>
            <a:ext cx="2011680" cy="594360"/>
          </a:xfrm>
          <a:prstGeom prst="rect">
            <a:avLst/>
          </a:prstGeom>
          <a:noFill/>
          <a:ln/>
        </p:spPr>
        <p:txBody>
          <a:bodyPr wrap="square" lIns="0" tIns="0" rIns="0" bIns="0" rtlCol="0" anchor="t"/>
          <a:lstStyle/>
          <a:p>
            <a:pPr marL="0" indent="0">
              <a:buNone/>
            </a:pPr>
            <a:r>
              <a:rPr lang="en-US" sz="3000" b="1" dirty="0">
                <a:solidFill>
                  <a:srgbClr val="34D399"/>
                </a:solidFill>
                <a:latin typeface="Georgia" pitchFamily="34" charset="0"/>
                <a:ea typeface="Georgia" pitchFamily="34" charset="-122"/>
                <a:cs typeface="Georgia" pitchFamily="34" charset="-120"/>
              </a:rPr>
              <a:t>~R1.5m</a:t>
            </a:r>
            <a:endParaRPr lang="en-US" sz="3000" dirty="0"/>
          </a:p>
        </p:txBody>
      </p:sp>
      <p:sp>
        <p:nvSpPr>
          <p:cNvPr id="11" name="Text 9"/>
          <p:cNvSpPr txBox="1"/>
          <p:nvPr/>
        </p:nvSpPr>
        <p:spPr>
          <a:xfrm>
            <a:off x="2743200" y="3383280"/>
            <a:ext cx="2514600" cy="86868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Raised after the pilot, to hire ahead of revenue</a:t>
            </a:r>
            <a:endParaRPr lang="en-US" sz="1350" dirty="0"/>
          </a:p>
        </p:txBody>
      </p:sp>
      <p:sp>
        <p:nvSpPr>
          <p:cNvPr id="12" name="Shape 10"/>
          <p:cNvSpPr/>
          <p:nvPr/>
        </p:nvSpPr>
        <p:spPr>
          <a:xfrm>
            <a:off x="548640" y="4572000"/>
            <a:ext cx="4846320" cy="1188720"/>
          </a:xfrm>
          <a:prstGeom prst="roundRect">
            <a:avLst>
              <a:gd name="adj" fmla="val 9231"/>
            </a:avLst>
          </a:prstGeom>
          <a:solidFill>
            <a:srgbClr val="17223A"/>
          </a:solidFill>
          <a:ln w="12700">
            <a:solidFill>
              <a:srgbClr val="17223A"/>
            </a:solidFill>
            <a:prstDash val="solid"/>
          </a:ln>
        </p:spPr>
      </p:sp>
      <p:sp>
        <p:nvSpPr>
          <p:cNvPr id="13" name="Text 11"/>
          <p:cNvSpPr txBox="1"/>
          <p:nvPr/>
        </p:nvSpPr>
        <p:spPr>
          <a:xfrm>
            <a:off x="777240" y="4681728"/>
            <a:ext cx="2011680" cy="320040"/>
          </a:xfrm>
          <a:prstGeom prst="rect">
            <a:avLst/>
          </a:prstGeom>
          <a:noFill/>
          <a:ln/>
        </p:spPr>
        <p:txBody>
          <a:bodyPr wrap="square" lIns="0" tIns="0" rIns="0" bIns="0" rtlCol="0" anchor="t"/>
          <a:lstStyle/>
          <a:p>
            <a:pPr marL="0" indent="0">
              <a:buNone/>
            </a:pPr>
            <a:r>
              <a:rPr lang="en-US" sz="1200" b="1" kern="0" spc="200" dirty="0">
                <a:solidFill>
                  <a:srgbClr val="A3B3C9"/>
                </a:solidFill>
                <a:latin typeface="Calibri" pitchFamily="34" charset="0"/>
                <a:ea typeface="Calibri" pitchFamily="34" charset="-122"/>
                <a:cs typeface="Calibri" pitchFamily="34" charset="-120"/>
              </a:rPr>
              <a:t>BREAK EVEN</a:t>
            </a:r>
            <a:endParaRPr lang="en-US" sz="1200" dirty="0"/>
          </a:p>
        </p:txBody>
      </p:sp>
      <p:sp>
        <p:nvSpPr>
          <p:cNvPr id="14" name="Text 12"/>
          <p:cNvSpPr txBox="1"/>
          <p:nvPr/>
        </p:nvSpPr>
        <p:spPr>
          <a:xfrm>
            <a:off x="777240" y="4983480"/>
            <a:ext cx="2011680" cy="594360"/>
          </a:xfrm>
          <a:prstGeom prst="rect">
            <a:avLst/>
          </a:prstGeom>
          <a:noFill/>
          <a:ln/>
        </p:spPr>
        <p:txBody>
          <a:bodyPr wrap="square" lIns="0" tIns="0" rIns="0" bIns="0" rtlCol="0" anchor="t"/>
          <a:lstStyle/>
          <a:p>
            <a:pPr marL="0" indent="0">
              <a:buNone/>
            </a:pPr>
            <a:r>
              <a:rPr lang="en-US" sz="3000" b="1" dirty="0">
                <a:solidFill>
                  <a:srgbClr val="10B981"/>
                </a:solidFill>
                <a:latin typeface="Georgia" pitchFamily="34" charset="0"/>
                <a:ea typeface="Georgia" pitchFamily="34" charset="-122"/>
                <a:cs typeface="Georgia" pitchFamily="34" charset="-120"/>
              </a:rPr>
              <a:t>Year 2</a:t>
            </a:r>
            <a:endParaRPr lang="en-US" sz="3000" dirty="0"/>
          </a:p>
        </p:txBody>
      </p:sp>
      <p:sp>
        <p:nvSpPr>
          <p:cNvPr id="15" name="Text 13"/>
          <p:cNvSpPr txBox="1"/>
          <p:nvPr/>
        </p:nvSpPr>
        <p:spPr>
          <a:xfrm>
            <a:off x="2743200" y="4754880"/>
            <a:ext cx="2514600" cy="868680"/>
          </a:xfrm>
          <a:prstGeom prst="rect">
            <a:avLst/>
          </a:prstGeom>
          <a:noFill/>
          <a:ln/>
        </p:spPr>
        <p:txBody>
          <a:bodyPr wrap="square" lIns="0" tIns="0" rIns="0" bIns="0" rtlCol="0" anchor="ctr"/>
          <a:lstStyle/>
          <a:p>
            <a:pPr marL="0" indent="0">
              <a:buNone/>
            </a:pPr>
            <a:r>
              <a:rPr lang="en-US" sz="1350" dirty="0">
                <a:solidFill>
                  <a:srgbClr val="F8FAFC"/>
                </a:solidFill>
                <a:latin typeface="Calibri" pitchFamily="34" charset="0"/>
                <a:ea typeface="Calibri" pitchFamily="34" charset="-122"/>
                <a:cs typeface="Calibri" pitchFamily="34" charset="-120"/>
              </a:rPr>
              <a:t>Suppliers' fees cover all costs</a:t>
            </a:r>
            <a:endParaRPr lang="en-US" sz="1350" dirty="0"/>
          </a:p>
        </p:txBody>
      </p:sp>
      <p:sp>
        <p:nvSpPr>
          <p:cNvPr id="16" name="Shape 14"/>
          <p:cNvSpPr/>
          <p:nvPr/>
        </p:nvSpPr>
        <p:spPr>
          <a:xfrm>
            <a:off x="5760720" y="1737360"/>
            <a:ext cx="5852160" cy="4023360"/>
          </a:xfrm>
          <a:prstGeom prst="roundRect">
            <a:avLst>
              <a:gd name="adj" fmla="val 2727"/>
            </a:avLst>
          </a:prstGeom>
          <a:solidFill>
            <a:srgbClr val="17223A"/>
          </a:solidFill>
          <a:ln w="12700">
            <a:solidFill>
              <a:srgbClr val="17223A"/>
            </a:solidFill>
            <a:prstDash val="solid"/>
          </a:ln>
        </p:spPr>
      </p:sp>
      <p:graphicFrame>
        <p:nvGraphicFramePr>
          <p:cNvPr id="17" name="Chart 0"/>
          <p:cNvGraphicFramePr/>
          <p:nvPr/>
        </p:nvGraphicFramePr>
        <p:xfrm>
          <a:off x="5852160" y="1828800"/>
          <a:ext cx="566928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5"/>
          <p:cNvSpPr txBox="1"/>
          <p:nvPr/>
        </p:nvSpPr>
        <p:spPr>
          <a:xfrm>
            <a:off x="5760720" y="5852160"/>
            <a:ext cx="5852160" cy="365760"/>
          </a:xfrm>
          <a:prstGeom prst="rect">
            <a:avLst/>
          </a:prstGeom>
          <a:noFill/>
          <a:ln/>
        </p:spPr>
        <p:txBody>
          <a:bodyPr wrap="square" lIns="0" tIns="0" rIns="0" bIns="0" rtlCol="0" anchor="t"/>
          <a:lstStyle/>
          <a:p>
            <a:pPr marL="0" indent="0">
              <a:buNone/>
            </a:pPr>
            <a:r>
              <a:rPr lang="en-US" sz="1250" i="1" dirty="0">
                <a:solidFill>
                  <a:srgbClr val="FBBF24"/>
                </a:solidFill>
                <a:latin typeface="Calibri" pitchFamily="34" charset="0"/>
                <a:ea typeface="Calibri" pitchFamily="34" charset="-122"/>
                <a:cs typeface="Calibri" pitchFamily="34" charset="-120"/>
              </a:rPr>
              <a:t>Most of the cost is people: the team and field agents.</a:t>
            </a:r>
            <a:endParaRPr lang="en-US" sz="1250" dirty="0"/>
          </a:p>
        </p:txBody>
      </p:sp>
      <p:pic>
        <p:nvPicPr>
          <p:cNvPr id="19" name="Image 0" descr="preencoded.png"/>
          <p:cNvPicPr>
            <a:picLocks noChangeAspect="1"/>
          </p:cNvPicPr>
          <p:nvPr/>
        </p:nvPicPr>
        <p:blipFill>
          <a:blip r:embed="rId4"/>
          <a:stretch>
            <a:fillRect/>
          </a:stretch>
        </p:blipFill>
        <p:spPr>
          <a:xfrm>
            <a:off x="11231575" y="6291072"/>
            <a:ext cx="384048" cy="384048"/>
          </a:xfrm>
          <a:prstGeom prst="rect">
            <a:avLst/>
          </a:prstGeom>
        </p:spPr>
      </p:pic>
      <p:sp>
        <p:nvSpPr>
          <p:cNvPr id="20" name="Text 16"/>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23</a:t>
            </a:r>
            <a:endParaRPr lang="en-US" sz="1000" dirty="0"/>
          </a:p>
        </p:txBody>
      </p:sp>
      <p:sp>
        <p:nvSpPr>
          <p:cNvPr id="21" name="Text 17"/>
          <p:cNvSpPr txBox="1"/>
          <p:nvPr/>
        </p:nvSpPr>
        <p:spPr>
          <a:xfrm>
            <a:off x="548640" y="6336792"/>
            <a:ext cx="9875520" cy="365760"/>
          </a:xfrm>
          <a:prstGeom prst="rect">
            <a:avLst/>
          </a:prstGeom>
          <a:noFill/>
          <a:ln/>
        </p:spPr>
        <p:txBody>
          <a:bodyPr wrap="square" lIns="0" tIns="0" rIns="0" bIns="0" rtlCol="0" anchor="t"/>
          <a:lstStyle/>
          <a:p>
            <a:pPr marL="0" indent="0">
              <a:buNone/>
            </a:pPr>
            <a:r>
              <a:rPr lang="en-US" sz="950" dirty="0">
                <a:solidFill>
                  <a:srgbClr val="64748B"/>
                </a:solidFill>
                <a:latin typeface="Calibri" pitchFamily="34" charset="0"/>
                <a:ea typeface="Calibri" pitchFamily="34" charset="-122"/>
                <a:cs typeface="Calibri" pitchFamily="34" charset="-120"/>
              </a:rPr>
              <a:t>Estimates. Costs: team, field agents, sales, hosting and messaging, security and POPIA.</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icPr>
            <a:picLocks noChangeAspect="1"/>
          </p:cNvPicPr>
          <p:nvPr/>
        </p:nvPicPr>
        <p:blipFill>
          <a:blip r:embed="rId3"/>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marL="0" indent="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icPr>
            <a:picLocks noChangeAspect="1"/>
          </p:cNvPicPr>
          <p:nvPr/>
        </p:nvPicPr>
        <p:blipFill>
          <a:blip r:embed="rId4"/>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marL="0" indent="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marL="0" indent="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marL="0" indent="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marL="0" indent="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icPr>
            <a:picLocks noChangeAspect="1"/>
          </p:cNvPicPr>
          <p:nvPr/>
        </p:nvPicPr>
        <p:blipFill>
          <a:blip r:embed="rId5"/>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marL="0" indent="0">
              <a:buNone/>
            </a:pPr>
            <a:r>
              <a:rPr lang="en-US" sz="1300" b="1" kern="0" spc="300" dirty="0">
                <a:solidFill>
                  <a:srgbClr val="10B981"/>
                </a:solidFill>
                <a:latin typeface="Calibri" pitchFamily="34" charset="0"/>
                <a:ea typeface="Calibri" pitchFamily="34" charset="-122"/>
                <a:cs typeface="Calibri" pitchFamily="34" charset="-120"/>
              </a:rPr>
              <a:t>WHAT'S NEXT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marL="0" indent="0">
              <a:buNone/>
            </a:pPr>
            <a:r>
              <a:rPr lang="en-US" sz="3400" b="1" dirty="0">
                <a:solidFill>
                  <a:srgbClr val="F8FAFC"/>
                </a:solidFill>
                <a:latin typeface="Georgia" pitchFamily="34" charset="0"/>
                <a:ea typeface="Georgia" pitchFamily="34" charset="-122"/>
                <a:cs typeface="Georgia" pitchFamily="34" charset="-120"/>
              </a:rPr>
              <a:t>The road from here</a:t>
            </a:r>
            <a:endParaRPr lang="en-US" sz="3400" dirty="0"/>
          </a:p>
        </p:txBody>
      </p:sp>
      <p:sp>
        <p:nvSpPr>
          <p:cNvPr id="4" name="Shape 2"/>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926080" cy="457200"/>
          </a:xfrm>
          <a:prstGeom prst="rect">
            <a:avLst/>
          </a:prstGeom>
          <a:noFill/>
          <a:ln/>
        </p:spPr>
        <p:txBody>
          <a:bodyPr wrap="square" lIns="0" tIns="0" rIns="0" bIns="0" rtlCol="0" anchor="t"/>
          <a:lstStyle/>
          <a:p>
            <a:pPr marL="0" indent="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6" name="Text 4"/>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7" name="Shape 5"/>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8" name="Text 6"/>
          <p:cNvSpPr txBox="1"/>
          <p:nvPr/>
        </p:nvSpPr>
        <p:spPr>
          <a:xfrm>
            <a:off x="4617720" y="2011680"/>
            <a:ext cx="2926080" cy="457200"/>
          </a:xfrm>
          <a:prstGeom prst="rect">
            <a:avLst/>
          </a:prstGeom>
          <a:noFill/>
          <a:ln/>
        </p:spPr>
        <p:txBody>
          <a:bodyPr wrap="square" lIns="0" tIns="0" rIns="0" bIns="0" rtlCol="0" anchor="t"/>
          <a:lstStyle/>
          <a:p>
            <a:pPr marL="0" indent="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9" name="Text 7"/>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0" name="Shape 8"/>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1" name="Text 9"/>
          <p:cNvSpPr txBox="1"/>
          <p:nvPr/>
        </p:nvSpPr>
        <p:spPr>
          <a:xfrm>
            <a:off x="8366760" y="2011680"/>
            <a:ext cx="2926080" cy="457200"/>
          </a:xfrm>
          <a:prstGeom prst="rect">
            <a:avLst/>
          </a:prstGeom>
          <a:noFill/>
          <a:ln/>
        </p:spPr>
        <p:txBody>
          <a:bodyPr wrap="square" lIns="0" tIns="0" rIns="0" bIns="0" rtlCol="0" anchor="t"/>
          <a:lstStyle/>
          <a:p>
            <a:pPr marL="0" indent="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2" name="Text 10"/>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pic>
        <p:nvPicPr>
          <p:cNvPr id="13" name="Image 0" descr="preencoded.png"/>
          <p:cNvPicPr>
            <a:picLocks noChangeAspect="1"/>
          </p:cNvPicPr>
          <p:nvPr/>
        </p:nvPicPr>
        <p:blipFill>
          <a:blip r:embed="rId3"/>
          <a:stretch>
            <a:fillRect/>
          </a:stretch>
        </p:blipFill>
        <p:spPr>
          <a:xfrm>
            <a:off x="11231575" y="6291072"/>
            <a:ext cx="384048" cy="384048"/>
          </a:xfrm>
          <a:prstGeom prst="rect">
            <a:avLst/>
          </a:prstGeom>
        </p:spPr>
      </p:pic>
      <p:sp>
        <p:nvSpPr>
          <p:cNvPr id="14" name="Text 11"/>
          <p:cNvSpPr txBox="1"/>
          <p:nvPr/>
        </p:nvSpPr>
        <p:spPr>
          <a:xfrm>
            <a:off x="10682935" y="6355080"/>
            <a:ext cx="457200" cy="274320"/>
          </a:xfrm>
          <a:prstGeom prst="rect">
            <a:avLst/>
          </a:prstGeom>
          <a:noFill/>
          <a:ln/>
        </p:spPr>
        <p:txBody>
          <a:bodyPr wrap="square" lIns="0" tIns="0" rIns="0" bIns="0" rtlCol="0" anchor="t"/>
          <a:lstStyle/>
          <a:p>
            <a:pPr marL="0" indent="0" algn="r">
              <a:buNone/>
            </a:pPr>
            <a:r>
              <a:rPr lang="en-US" sz="1000" dirty="0">
                <a:solidFill>
                  <a:srgbClr val="64748B"/>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5051</Words>
  <Application>Microsoft Office PowerPoint</Application>
  <PresentationFormat>Widescreen</PresentationFormat>
  <Paragraphs>463</Paragraphs>
  <Slides>25</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RINSUNA RB. MAHANI</cp:lastModifiedBy>
  <cp:revision>2</cp:revision>
  <dcterms:created xsi:type="dcterms:W3CDTF">2026-09-27T01:38:54Z</dcterms:created>
  <dcterms:modified xsi:type="dcterms:W3CDTF">2026-09-27T01:38:59Z</dcterms:modified>
</cp:coreProperties>
</file>