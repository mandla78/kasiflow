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3-minute pitch" id="{941BA80A-09B0-D7F3-A7C6-A6A452444527}">
          <p14:sldIdLst>
            <p14:sldId id="256"/>
            <p14:sldId id="257"/>
            <p14:sldId id="258"/>
            <p14:sldId id="259"/>
            <p14:sldId id="260"/>
            <p14:sldId id="261"/>
            <p14:sldId id="262"/>
            <p14:sldId id="263"/>
          </p14:sldIdLst>
        </p14:section>
        <p14:section name="The detail" id="{6AEA0F81-713B-63F3-FF4E-5F1D5BCAC393}">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Share</c:v>
                </c:pt>
              </c:strCache>
            </c:strRef>
          </c:tx>
          <c:spPr>
            <a:solidFill>
              <a:srgbClr val="F59E0B"/>
            </a:solidFill>
            <a:effectLst/>
          </c:spPr>
          <c:invertIfNegative val="0"/>
          <c:cat>
            <c:strRef>
              <c:f>Sheet1!$A$2:$A$3</c:f>
              <c:strCache>
                <c:ptCount val="2"/>
                <c:pt idx="0">
                  <c:v>Bank loan  &lt;9%</c:v>
                </c:pt>
                <c:pt idx="1">
                  <c:v>Savings, family  57%</c:v>
                </c:pt>
              </c:strCache>
            </c:strRef>
          </c:cat>
          <c:val>
            <c:numRef>
              <c:f>Sheet1!$B$2:$B$3</c:f>
              <c:numCache>
                <c:formatCode>General</c:formatCode>
                <c:ptCount val="2"/>
                <c:pt idx="0">
                  <c:v>9</c:v>
                </c:pt>
                <c:pt idx="1">
                  <c:v>57</c:v>
                </c:pt>
              </c:numCache>
            </c:numRef>
          </c:val>
          <c:extLst>
            <c:ext xmlns:c16="http://schemas.microsoft.com/office/drawing/2014/chart" uri="{C3380CC4-5D6E-409C-BE32-E72D297353CC}">
              <c16:uniqueId val="{00000000-F88C-4FB7-B376-30E0D10F138F}"/>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50" b="0" i="0" u="none" strike="noStrike">
                <a:solidFill>
                  <a:srgbClr val="F8FAFC"/>
                </a:solidFill>
                <a:latin typeface="Calibri"/>
              </a:defRPr>
            </a:pPr>
            <a:endParaRPr lang="en-US"/>
          </a:p>
        </c:txPr>
        <c:crossAx val="2094734552"/>
        <c:crosses val="autoZero"/>
        <c:auto val="1"/>
        <c:lblAlgn val="ctr"/>
        <c:lblOffset val="100"/>
        <c:noMultiLvlLbl val="1"/>
      </c:catAx>
      <c:valAx>
        <c:axId val="2094734552"/>
        <c:scaling>
          <c:orientation val="minMax"/>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Share</c:v>
                </c:pt>
              </c:strCache>
            </c:strRef>
          </c:tx>
          <c:spPr>
            <a:solidFill>
              <a:srgbClr val="F87171"/>
            </a:solidFill>
            <a:effectLst/>
          </c:spPr>
          <c:invertIfNegative val="0"/>
          <c:cat>
            <c:strRef>
              <c:f>Sheet1!$A$2:$A$3</c:f>
              <c:strCache>
                <c:ptCount val="2"/>
                <c:pt idx="0">
                  <c:v>Reached shops  R179.6m</c:v>
                </c:pt>
                <c:pt idx="1">
                  <c:v>Fund  R500m</c:v>
                </c:pt>
              </c:strCache>
            </c:strRef>
          </c:cat>
          <c:val>
            <c:numRef>
              <c:f>Sheet1!$B$2:$B$3</c:f>
              <c:numCache>
                <c:formatCode>General</c:formatCode>
                <c:ptCount val="2"/>
                <c:pt idx="0">
                  <c:v>179.6</c:v>
                </c:pt>
                <c:pt idx="1">
                  <c:v>500</c:v>
                </c:pt>
              </c:numCache>
            </c:numRef>
          </c:val>
          <c:extLst>
            <c:ext xmlns:c16="http://schemas.microsoft.com/office/drawing/2014/chart" uri="{C3380CC4-5D6E-409C-BE32-E72D297353CC}">
              <c16:uniqueId val="{00000000-2399-4C2E-A105-81F3C25E5C2F}"/>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50" b="0" i="0" u="none" strike="noStrike">
                <a:solidFill>
                  <a:srgbClr val="F8FAFC"/>
                </a:solidFill>
                <a:latin typeface="Calibri"/>
              </a:defRPr>
            </a:pPr>
            <a:endParaRPr lang="en-US"/>
          </a:p>
        </c:txPr>
        <c:crossAx val="2094734552"/>
        <c:crosses val="autoZero"/>
        <c:auto val="1"/>
        <c:lblAlgn val="ctr"/>
        <c:lblOffset val="100"/>
        <c:noMultiLvlLbl val="1"/>
      </c:catAx>
      <c:valAx>
        <c:axId val="2094734552"/>
        <c:scaling>
          <c:orientation val="minMax"/>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doughnutChart>
        <c:varyColors val="1"/>
        <c:ser>
          <c:idx val="0"/>
          <c:order val="0"/>
          <c:tx>
            <c:strRef>
              <c:f>Sheet1!$B$1</c:f>
              <c:strCache>
                <c:ptCount val="1"/>
                <c:pt idx="0">
                  <c:v>Businesses</c:v>
                </c:pt>
              </c:strCache>
            </c:strRef>
          </c:tx>
          <c:spPr>
            <a:solidFill>
              <a:schemeClr val="accent1"/>
            </a:solidFill>
            <a:ln w="9525" cap="flat">
              <a:solidFill>
                <a:srgbClr val="F9F9F9"/>
              </a:solidFill>
              <a:prstDash val="solid"/>
              <a:round/>
            </a:ln>
            <a:effectLst/>
          </c:spPr>
          <c:dPt>
            <c:idx val="0"/>
            <c:bubble3D val="0"/>
            <c:spPr>
              <a:solidFill>
                <a:srgbClr val="10B981"/>
              </a:solidFill>
              <a:effectLst/>
            </c:spPr>
            <c:extLst>
              <c:ext xmlns:c16="http://schemas.microsoft.com/office/drawing/2014/chart" uri="{C3380CC4-5D6E-409C-BE32-E72D297353CC}">
                <c16:uniqueId val="{00000001-680C-4090-9ED2-AA3E7B495CCF}"/>
              </c:ext>
            </c:extLst>
          </c:dPt>
          <c:dPt>
            <c:idx val="1"/>
            <c:bubble3D val="0"/>
            <c:spPr>
              <a:solidFill>
                <a:srgbClr val="64748B"/>
              </a:solidFill>
              <a:effectLst/>
            </c:spPr>
            <c:extLst>
              <c:ext xmlns:c16="http://schemas.microsoft.com/office/drawing/2014/chart" uri="{C3380CC4-5D6E-409C-BE32-E72D297353CC}">
                <c16:uniqueId val="{00000003-680C-4090-9ED2-AA3E7B495CCF}"/>
              </c:ext>
            </c:extLst>
          </c:dPt>
          <c:cat>
            <c:strRef>
              <c:f>Sheet1!$A$2:$A$3</c:f>
              <c:strCache>
                <c:ptCount val="2"/>
                <c:pt idx="0">
                  <c:v>Unregistered</c:v>
                </c:pt>
                <c:pt idx="1">
                  <c:v>Registered</c:v>
                </c:pt>
              </c:strCache>
            </c:strRef>
          </c:cat>
          <c:val>
            <c:numRef>
              <c:f>Sheet1!$B$2:$B$3</c:f>
              <c:numCache>
                <c:formatCode>General</c:formatCode>
                <c:ptCount val="2"/>
                <c:pt idx="0">
                  <c:v>80</c:v>
                </c:pt>
                <c:pt idx="1">
                  <c:v>20</c:v>
                </c:pt>
              </c:numCache>
            </c:numRef>
          </c:val>
          <c:extLst>
            <c:ext xmlns:c16="http://schemas.microsoft.com/office/drawing/2014/chart" uri="{C3380CC4-5D6E-409C-BE32-E72D297353CC}">
              <c16:uniqueId val="{00000004-680C-4090-9ED2-AA3E7B495CCF}"/>
            </c:ext>
          </c:extLst>
        </c:ser>
        <c:dLbls>
          <c:showLegendKey val="0"/>
          <c:showVal val="0"/>
          <c:showCatName val="0"/>
          <c:showSerName val="0"/>
          <c:showPercent val="0"/>
          <c:showBubbleSize val="0"/>
          <c:showLeaderLines val="0"/>
        </c:dLbls>
        <c:firstSliceAng val="0"/>
        <c:holeSize val="68"/>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doughnut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10B981"/>
              </a:solidFill>
              <a:effectLst/>
            </c:spPr>
            <c:extLst>
              <c:ext xmlns:c16="http://schemas.microsoft.com/office/drawing/2014/chart" uri="{C3380CC4-5D6E-409C-BE32-E72D297353CC}">
                <c16:uniqueId val="{00000001-F193-4584-9D2E-5B3520320408}"/>
              </c:ext>
            </c:extLst>
          </c:dPt>
          <c:dPt>
            <c:idx val="1"/>
            <c:bubble3D val="0"/>
            <c:spPr>
              <a:solidFill>
                <a:srgbClr val="F59E0B"/>
              </a:solidFill>
              <a:effectLst/>
            </c:spPr>
            <c:extLst>
              <c:ext xmlns:c16="http://schemas.microsoft.com/office/drawing/2014/chart" uri="{C3380CC4-5D6E-409C-BE32-E72D297353CC}">
                <c16:uniqueId val="{00000003-F193-4584-9D2E-5B3520320408}"/>
              </c:ext>
            </c:extLst>
          </c:dPt>
          <c:dPt>
            <c:idx val="2"/>
            <c:bubble3D val="0"/>
            <c:spPr>
              <a:solidFill>
                <a:srgbClr val="34D399"/>
              </a:solidFill>
              <a:effectLst/>
            </c:spPr>
            <c:extLst>
              <c:ext xmlns:c16="http://schemas.microsoft.com/office/drawing/2014/chart" uri="{C3380CC4-5D6E-409C-BE32-E72D297353CC}">
                <c16:uniqueId val="{00000005-F193-4584-9D2E-5B3520320408}"/>
              </c:ext>
            </c:extLst>
          </c:dPt>
          <c:dPt>
            <c:idx val="3"/>
            <c:bubble3D val="0"/>
            <c:spPr>
              <a:solidFill>
                <a:srgbClr val="7C93B5"/>
              </a:solidFill>
              <a:effectLst/>
            </c:spPr>
            <c:extLst>
              <c:ext xmlns:c16="http://schemas.microsoft.com/office/drawing/2014/chart" uri="{C3380CC4-5D6E-409C-BE32-E72D297353CC}">
                <c16:uniqueId val="{00000007-F193-4584-9D2E-5B3520320408}"/>
              </c:ext>
            </c:extLst>
          </c:dPt>
          <c:dPt>
            <c:idx val="4"/>
            <c:bubble3D val="0"/>
            <c:spPr>
              <a:solidFill>
                <a:srgbClr val="F87171"/>
              </a:solidFill>
              <a:effectLst/>
            </c:spPr>
            <c:extLst>
              <c:ext xmlns:c16="http://schemas.microsoft.com/office/drawing/2014/chart" uri="{C3380CC4-5D6E-409C-BE32-E72D297353CC}">
                <c16:uniqueId val="{00000009-F193-4584-9D2E-5B3520320408}"/>
              </c:ext>
            </c:extLst>
          </c:dPt>
          <c:dPt>
            <c:idx val="5"/>
            <c:bubble3D val="0"/>
            <c:spPr>
              <a:solidFill>
                <a:srgbClr val="C4B5FD"/>
              </a:solidFill>
              <a:effectLst/>
            </c:spPr>
            <c:extLst>
              <c:ext xmlns:c16="http://schemas.microsoft.com/office/drawing/2014/chart" uri="{C3380CC4-5D6E-409C-BE32-E72D297353CC}">
                <c16:uniqueId val="{0000000B-F193-4584-9D2E-5B3520320408}"/>
              </c:ext>
            </c:extLst>
          </c:dPt>
          <c:dLbls>
            <c:dLbl>
              <c:idx val="0"/>
              <c:numFmt formatCode="General" sourceLinked="0"/>
              <c:spPr/>
              <c:txPr>
                <a:bodyPr/>
                <a:lstStyle/>
                <a:p>
                  <a:pPr>
                    <a:defRPr sz="1100" b="1" i="0" u="none" strike="noStrike">
                      <a:solidFill>
                        <a:srgbClr val="0F172A"/>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193-4584-9D2E-5B3520320408}"/>
                </c:ext>
              </c:extLst>
            </c:dLbl>
            <c:dLbl>
              <c:idx val="1"/>
              <c:numFmt formatCode="General" sourceLinked="0"/>
              <c:spPr/>
              <c:txPr>
                <a:bodyPr/>
                <a:lstStyle/>
                <a:p>
                  <a:pPr>
                    <a:defRPr sz="1100" b="1" i="0" u="none" strike="noStrike">
                      <a:solidFill>
                        <a:srgbClr val="0F172A"/>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193-4584-9D2E-5B3520320408}"/>
                </c:ext>
              </c:extLst>
            </c:dLbl>
            <c:dLbl>
              <c:idx val="2"/>
              <c:numFmt formatCode="General" sourceLinked="0"/>
              <c:spPr/>
              <c:txPr>
                <a:bodyPr/>
                <a:lstStyle/>
                <a:p>
                  <a:pPr>
                    <a:defRPr sz="1100" b="1" i="0" u="none" strike="noStrike">
                      <a:solidFill>
                        <a:srgbClr val="0F172A"/>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193-4584-9D2E-5B3520320408}"/>
                </c:ext>
              </c:extLst>
            </c:dLbl>
            <c:dLbl>
              <c:idx val="3"/>
              <c:numFmt formatCode="General" sourceLinked="0"/>
              <c:spPr/>
              <c:txPr>
                <a:bodyPr/>
                <a:lstStyle/>
                <a:p>
                  <a:pPr>
                    <a:defRPr sz="1100" b="1" i="0" u="none" strike="noStrike">
                      <a:solidFill>
                        <a:srgbClr val="0F172A"/>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193-4584-9D2E-5B3520320408}"/>
                </c:ext>
              </c:extLst>
            </c:dLbl>
            <c:dLbl>
              <c:idx val="4"/>
              <c:numFmt formatCode="General" sourceLinked="0"/>
              <c:spPr/>
              <c:txPr>
                <a:bodyPr/>
                <a:lstStyle/>
                <a:p>
                  <a:pPr>
                    <a:defRPr sz="1100" b="1" i="0" u="none" strike="noStrike">
                      <a:solidFill>
                        <a:srgbClr val="0F172A"/>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193-4584-9D2E-5B3520320408}"/>
                </c:ext>
              </c:extLst>
            </c:dLbl>
            <c:dLbl>
              <c:idx val="5"/>
              <c:numFmt formatCode="General" sourceLinked="0"/>
              <c:spPr/>
              <c:txPr>
                <a:bodyPr/>
                <a:lstStyle/>
                <a:p>
                  <a:pPr>
                    <a:defRPr sz="1100" b="1" i="0" u="none" strike="noStrike">
                      <a:solidFill>
                        <a:srgbClr val="0F172A"/>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F193-4584-9D2E-5B3520320408}"/>
                </c:ext>
              </c:extLst>
            </c:dLbl>
            <c:numFmt formatCode="General"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Sheet1!$A$2:$A$7</c:f>
              <c:strCache>
                <c:ptCount val="6"/>
                <c:pt idx="0">
                  <c:v>Stipends for pilot businesses</c:v>
                </c:pt>
                <c:pt idx="1">
                  <c:v>Field agent</c:v>
                </c:pt>
                <c:pt idx="2">
                  <c:v>Data bundles</c:v>
                </c:pt>
                <c:pt idx="3">
                  <c:v>Running costs</c:v>
                </c:pt>
                <c:pt idx="4">
                  <c:v>POPIA review + security test</c:v>
                </c:pt>
                <c:pt idx="5">
                  <c:v>Devices + contingency</c:v>
                </c:pt>
              </c:strCache>
            </c:strRef>
          </c:cat>
          <c:val>
            <c:numRef>
              <c:f>Sheet1!$B$2:$B$7</c:f>
              <c:numCache>
                <c:formatCode>General</c:formatCode>
                <c:ptCount val="6"/>
                <c:pt idx="0">
                  <c:v>96</c:v>
                </c:pt>
                <c:pt idx="1">
                  <c:v>60</c:v>
                </c:pt>
                <c:pt idx="2">
                  <c:v>60</c:v>
                </c:pt>
                <c:pt idx="3">
                  <c:v>24</c:v>
                </c:pt>
                <c:pt idx="4">
                  <c:v>30</c:v>
                </c:pt>
                <c:pt idx="5">
                  <c:v>30</c:v>
                </c:pt>
              </c:numCache>
            </c:numRef>
          </c:val>
          <c:extLst>
            <c:ext xmlns:c16="http://schemas.microsoft.com/office/drawing/2014/chart" uri="{C3380CC4-5D6E-409C-BE32-E72D297353CC}">
              <c16:uniqueId val="{0000000C-F193-4584-9D2E-5B3520320408}"/>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1050">
              <a:solidFill>
                <a:srgbClr val="F8FAFC"/>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953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while we're introduced. Start the speech on the next slide.
THE 3-MINUTE PITCH follows the speech, slides 2-8: 0:00 the problem (2-3) · 0:28 the solution and airtime advance (4) · 0:55 the demo video, 50 s (5) · 1:45 cost and ask (6) · 2:06 why we stand out (7) · 2:27 the close (8), done by 2:50.
Slides 9-10 (architecture, data privacy) are for the assessors. Don't present them; open one only if a question calls for it. The rules allow 10 slides at most.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(0:00-0:15): 'Everyone wants a piece of the informal market. Big retailers are moving into townships. Banks and payment apps are fighting for its customers. Because it's worth about R900 billion a year.'
R900 bn: Standard Bank's Township Informal Economy Report, October 2025 (research by Foshizi, 250+ businesses in 5 provinces). Say 'about R900 billion'. The retailer and bank lines are lived evidence: no number, so don't add one.
Photos: 'Nomonde Tuck Shop' by HelenOnline (CC BY-SA 4.0) and 'Aliwal North - Dukatole - Housebuilding Projekt' by Heinz-Josef Lücking (CC BY-SA 3.0 DE), Wikimedia Commons, resized, with our captions. Credits are also in REUSE.md.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(0:15-0:28): 'But the people who run it can't prove any of it. It runs on cash and word of mouth. Fewer than one in ten can get a bank loan. A spaza owner can't get stock on credit, and a builder can't prove the houses he's built.'
IF ASKED: fewer than 9% can get a bank loan and 57% run on savings and family; about 80% are unregistered (Standard Bank 2025). Of the R500m Spaza Shop Support Fund, R179.6m had reached spaza shops by the end of May 2026, and 354 applications failed verification (DSBD, 29 May 2026). That number is about spaza shops only.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(0:28-0:55): 'Akayza is one free app for the whole informal market. Spaza shops and food sellers are matched with suppliers who deliver. Builders log every job with photos, and clients sign off each stage.'
Then, pointing at the band: 'You know airtime advance: your network lends you airtime because it's seen that you always pay. Akayza builds that kind of history for a business. Every paid order and signed-off job adds to a record the owner holds: the first step to credit, better suppliers and new clients.'
Real screens from our app on a Samsung A56, with sample suppliers and made-up customers. Honest wording: a payment made in the app is confirmed by the payment provider; a job stage is confirmed by both sides. IF ASKED 'do you lend?': 'No. We build the record, and the owner decides who sees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over the video (0:55-1:45), one line per scene; let the screens breathe:
[Business type] 'Akayza works for any kasi business. Meet Sipho, who runs a kota shop by the taxi rank.'
[Location pin] 'He picks Food, and drops a pin where he trades.'
[Suppliers] 'Akayza shows him suppliers who deliver to him.'
[Order and pay] 'He orders bread from a bakery that delivers, and pays in the app. The payment provider confirms it, and his invoice arrives.'
[Order book] 'At the counter, every kota he sells goes in his order book.'
[My record] 'It all adds up in his record, with the confirmed payments marked.'
[Builder job] 'Now meet Thabo, a builder. Every job, stage by stage, is photographed, and the client signs off each stage from a link: confirmed by both. That's his track record.'
The 49-second video is in the deck and starts by itself when this slide opens. It's silent, so speak over it. If it doesn't start, click it (or press Alt+P). No Wi-Fi needed.
The steps on the right are the user journey the organisers ask for. Sipho and Thabo are illustrations of the owners we built for, not real customers. The full 81-second version with music is on Google Drive (the link under the video).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(1:45-2:06): 'Businesses use Akayza for free. Suppliers pay: from R299 a month, plus about 1% on digital orders, never on cash. Next, lenders pay to see a business's record, only with the owner's consent.' Then, slowly, it's the most important number: 'For a six-month pilot in Soshanguve, with 2 suppliers and 50 to 100 businesses, we need R300,000: field agents, stipends for pilot businesses, data, running costs and a POPIA review.'
Use of funds: stipends R96k, field agent R60k, data R60k, running costs R24k, POPIA review + external security test R30k, devices + contingency R30k. After the pilot it costs about R460 a month to run, so two suppliers on Starter already cover it.
IF ASKED how the revenue adds up: subscriptions = supplier mix × price; commission = active businesses × ~R4,000 digital orders a month × 1%. Year 1: 5 Starter + 10 Pro suppliers, 1,000 businesses. They're estimates, and we say so. Lenders are next, not revenue today.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(2:06-2:27): 'Ordering apps give traders a place to buy. Payment apps take cards. Akayza gives the informal market something it's never had: a record people can trust. Payments are confirmed by the payment provider, and job stages by both sides, so it's more than a receipt. And the record belongs to the owner: nothing goes to a lender without their consent.'
Our biggest competitor is the habit of WhatsApp and a notebook. Don't attack anyone; show the gap. We complement payment apps; we don't replace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(2:27-2:50), look at the panel, not the screen: 'Richard Maponya started in the 1950s with a milk business in Soweto. His customers trusted him, and decades later he opened Maponya Mall. The next Maponya is out there right now: selling kotas, running a spaza, laying bricks. Everyone wants a piece of the informal market. Akayza makes sure the people who run it keep theirs. We don't hold the stock. We build the record. Keep it in the kasi.' Then stop talking.
Maponya: Dube Hygienic Dairy, early 1950s, milk delivered by young men on bicycles to homes without fridges; Maponya Mall opened in 2007 (Daily Maverick, Wikipedia).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(only if asked, 20 s): 'The app talks to one API over HTTPS. Inside, each area is its own module: identity, business tools, suppliers, commerce, proof and platform. An automated architecture test fails the build if one area reads another's data, and identity is sealed behind one account service. PostgreSQL sits behind it, one schema per area. Payments happen on PayFast's own page and count only after four checks; photos go straight to Cloudinary with a signature from us.'
Numbers: about 1,280 backend tests and 204 app tests run before every merge. Sealed records: the owner can seal the whole record with ML-DSA-65 (NIST FIPS 204, post-quantum) plus Ed25519, and a check shows anything changed or deleted since.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(only if asked, 20 s): 'We collect only what the service needs, and we say why. No ID numbers, no card numbers; we never sell data or use it for ads, and suppliers never see your customers. You can download your data and close your account, and if there's ever a breach, we tell you and the Information Regulator.'
HONEST STATUS, don't claim more: data download is built on the server (GET /me/export), but the app has no button for it yet. 'Close my account' works in the app. 'Delete my account and data' says 'Coming soon'; when it comes, personal data is deleted or anonymised, and orders, invoices and payment records stay 5 years (tax law).
The full policy is in the app (src/content/legal/privacyPolicy.ts). Customer names in the credit book stay private to the owner; the supplier engine uses aggregates only. PayFast, Cloudinary, Mapbox and the email provider may store data outside South Africa: POPIA section 72.</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chart" Target="../charts/chart3.xml"/><Relationship Id="rId3" Type="http://schemas.openxmlformats.org/officeDocument/2006/relationships/image" Target="../media/image6.png"/><Relationship Id="rId7"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hyperlink" Target="https://drive.google.com/file/d/1yYQfVBEG-dnn-hxgRRtD5xDVw8vZV8Es/view?usp=drive_link" TargetMode="External"/><Relationship Id="rId5" Type="http://schemas.openxmlformats.org/officeDocument/2006/relationships/image" Target="../media/image1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1.png"/><Relationship Id="rId4" Type="http://schemas.openxmlformats.org/officeDocument/2006/relationships/image" Target="../media/image18.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85800" y="1097280"/>
            <a:ext cx="1554480" cy="1554480"/>
          </a:xfrm>
          <a:prstGeom prst="rect">
            <a:avLst/>
          </a:prstGeom>
        </p:spPr>
      </p:pic>
      <p:sp>
        <p:nvSpPr>
          <p:cNvPr id="3" name="Text 0"/>
          <p:cNvSpPr txBox="1"/>
          <p:nvPr/>
        </p:nvSpPr>
        <p:spPr>
          <a:xfrm>
            <a:off x="658368" y="2788920"/>
            <a:ext cx="6400800" cy="1197033"/>
          </a:xfrm>
          <a:prstGeom prst="rect">
            <a:avLst/>
          </a:prstGeom>
          <a:noFill/>
          <a:ln/>
        </p:spPr>
        <p:txBody>
          <a:bodyPr wrap="square" lIns="0" tIns="0" rIns="0" bIns="0" rtlCol="0" anchor="t"/>
          <a:lstStyle/>
          <a:p>
            <a:pPr marL="0" indent="0">
              <a:buNone/>
            </a:pPr>
            <a:r>
              <a:rPr lang="en-US" sz="7200" b="1" dirty="0">
                <a:solidFill>
                  <a:srgbClr val="F8FAFC"/>
                </a:solidFill>
                <a:latin typeface="Arial" pitchFamily="34" charset="0"/>
                <a:ea typeface="Arial" pitchFamily="34" charset="-122"/>
                <a:cs typeface="Arial" pitchFamily="34" charset="-120"/>
              </a:rPr>
              <a:t>akay</a:t>
            </a:r>
            <a:r>
              <a:rPr lang="en-US" sz="7200" b="1" dirty="0">
                <a:solidFill>
                  <a:srgbClr val="10B981"/>
                </a:solidFill>
                <a:latin typeface="Arial" pitchFamily="34" charset="0"/>
                <a:ea typeface="Arial" pitchFamily="34" charset="-122"/>
                <a:cs typeface="Arial" pitchFamily="34" charset="-120"/>
              </a:rPr>
              <a:t>za</a:t>
            </a:r>
            <a:endParaRPr lang="en-US" sz="7200" dirty="0"/>
          </a:p>
        </p:txBody>
      </p:sp>
      <p:sp>
        <p:nvSpPr>
          <p:cNvPr id="4" name="Text 1"/>
          <p:cNvSpPr txBox="1"/>
          <p:nvPr/>
        </p:nvSpPr>
        <p:spPr>
          <a:xfrm>
            <a:off x="731520" y="4069080"/>
            <a:ext cx="7315200" cy="640080"/>
          </a:xfrm>
          <a:prstGeom prst="rect">
            <a:avLst/>
          </a:prstGeom>
          <a:noFill/>
          <a:ln/>
        </p:spPr>
        <p:txBody>
          <a:bodyPr wrap="square" lIns="0" tIns="0" rIns="0" bIns="0" rtlCol="0" anchor="t"/>
          <a:lstStyle/>
          <a:p>
            <a:pPr marL="0" indent="0">
              <a:buNone/>
            </a:pPr>
            <a:r>
              <a:rPr lang="en-US" sz="3000" i="1" dirty="0">
                <a:solidFill>
                  <a:srgbClr val="FBBF24"/>
                </a:solidFill>
                <a:latin typeface="Georgia" pitchFamily="34" charset="0"/>
                <a:ea typeface="Georgia" pitchFamily="34" charset="-122"/>
                <a:cs typeface="Georgia" pitchFamily="34" charset="-120"/>
              </a:rPr>
              <a:t>Keep it in the kasi.</a:t>
            </a:r>
            <a:endParaRPr lang="en-US" sz="3000" dirty="0"/>
          </a:p>
        </p:txBody>
      </p:sp>
      <p:sp>
        <p:nvSpPr>
          <p:cNvPr id="5" name="Text 2"/>
          <p:cNvSpPr txBox="1"/>
          <p:nvPr/>
        </p:nvSpPr>
        <p:spPr>
          <a:xfrm>
            <a:off x="731520" y="4709160"/>
            <a:ext cx="7498080" cy="411480"/>
          </a:xfrm>
          <a:prstGeom prst="rect">
            <a:avLst/>
          </a:prstGeom>
          <a:noFill/>
          <a:ln/>
        </p:spPr>
        <p:txBody>
          <a:bodyPr wrap="square" lIns="0" tIns="0" rIns="0" bIns="0" rtlCol="0" anchor="t"/>
          <a:lstStyle/>
          <a:p>
            <a:pPr marL="0" indent="0">
              <a:buNone/>
            </a:pPr>
            <a:r>
              <a:rPr lang="en-US" sz="1900" b="1" dirty="0">
                <a:solidFill>
                  <a:srgbClr val="F8FAFC"/>
                </a:solidFill>
                <a:latin typeface="Calibri" pitchFamily="34" charset="0"/>
                <a:ea typeface="Calibri" pitchFamily="34" charset="-122"/>
                <a:cs typeface="Calibri" pitchFamily="34" charset="-120"/>
              </a:rPr>
              <a:t>Igniting capabilities for South Africa's informal market.</a:t>
            </a:r>
            <a:endParaRPr lang="en-US" sz="1900" dirty="0"/>
          </a:p>
        </p:txBody>
      </p:sp>
      <p:sp>
        <p:nvSpPr>
          <p:cNvPr id="6" name="Text 3"/>
          <p:cNvSpPr txBox="1"/>
          <p:nvPr/>
        </p:nvSpPr>
        <p:spPr>
          <a:xfrm>
            <a:off x="731520" y="5138928"/>
            <a:ext cx="7315200" cy="548640"/>
          </a:xfrm>
          <a:prstGeom prst="rect">
            <a:avLst/>
          </a:prstGeom>
          <a:noFill/>
          <a:ln/>
        </p:spPr>
        <p:txBody>
          <a:bodyPr wrap="square" lIns="0" tIns="0" rIns="0" bIns="0" rtlCol="0" anchor="t"/>
          <a:lstStyle/>
          <a:p>
            <a:pPr marL="0" indent="0">
              <a:buNone/>
            </a:pPr>
            <a:r>
              <a:rPr lang="en-US" sz="1500" dirty="0">
                <a:solidFill>
                  <a:srgbClr val="A3B3C9"/>
                </a:solidFill>
                <a:latin typeface="Calibri" pitchFamily="34" charset="0"/>
                <a:ea typeface="Calibri" pitchFamily="34" charset="-122"/>
                <a:cs typeface="Calibri" pitchFamily="34" charset="-120"/>
              </a:rPr>
              <a:t>Built for use by spaza shops, food sellers and builders, on the phones they already own.</a:t>
            </a:r>
            <a:endParaRPr lang="en-US" sz="1500" dirty="0"/>
          </a:p>
        </p:txBody>
      </p:sp>
      <p:sp>
        <p:nvSpPr>
          <p:cNvPr id="7" name="Text 4"/>
          <p:cNvSpPr txBox="1"/>
          <p:nvPr/>
        </p:nvSpPr>
        <p:spPr>
          <a:xfrm>
            <a:off x="731520" y="5806440"/>
            <a:ext cx="7315200" cy="365760"/>
          </a:xfrm>
          <a:prstGeom prst="rect">
            <a:avLst/>
          </a:prstGeom>
          <a:noFill/>
          <a:ln/>
        </p:spPr>
        <p:txBody>
          <a:bodyPr wrap="square" lIns="0" tIns="0" rIns="0" bIns="0" rtlCol="0" anchor="t"/>
          <a:lstStyle/>
          <a:p>
            <a:pPr marL="0" indent="0">
              <a:buNone/>
            </a:pPr>
            <a:r>
              <a:rPr lang="en-US" sz="1300" dirty="0">
                <a:solidFill>
                  <a:srgbClr val="64748B"/>
                </a:solidFill>
                <a:latin typeface="Calibri" pitchFamily="34" charset="0"/>
                <a:ea typeface="Calibri" pitchFamily="34" charset="-122"/>
                <a:cs typeface="Calibri" pitchFamily="34" charset="-120"/>
              </a:rPr>
              <a:t>Prepared by Team PR  ·  GKHack26  ·  27 September 2026</a:t>
            </a:r>
            <a:endParaRPr lang="en-US" sz="1300" dirty="0"/>
          </a:p>
        </p:txBody>
      </p:sp>
      <p:sp>
        <p:nvSpPr>
          <p:cNvPr id="8" name="Shape 5"/>
          <p:cNvSpPr/>
          <p:nvPr/>
        </p:nvSpPr>
        <p:spPr>
          <a:xfrm>
            <a:off x="8412480" y="822960"/>
            <a:ext cx="3291840" cy="3291840"/>
          </a:xfrm>
          <a:prstGeom prst="ellipse">
            <a:avLst/>
          </a:prstGeom>
          <a:solidFill>
            <a:srgbClr val="0F172A"/>
          </a:solidFill>
          <a:ln w="25400">
            <a:solidFill>
              <a:srgbClr val="1E2B45"/>
            </a:solidFill>
            <a:prstDash val="solid"/>
          </a:ln>
        </p:spPr>
      </p:sp>
      <p:sp>
        <p:nvSpPr>
          <p:cNvPr id="9" name="Shape 6"/>
          <p:cNvSpPr/>
          <p:nvPr/>
        </p:nvSpPr>
        <p:spPr>
          <a:xfrm>
            <a:off x="9235440" y="2286000"/>
            <a:ext cx="2651760" cy="2651760"/>
          </a:xfrm>
          <a:prstGeom prst="ellipse">
            <a:avLst/>
          </a:prstGeom>
          <a:solidFill>
            <a:srgbClr val="0F172A">
              <a:alpha val="0"/>
            </a:srgbClr>
          </a:solidFill>
          <a:ln w="19050">
            <a:solidFill>
              <a:srgbClr val="10B981">
                <a:alpha val="60000"/>
              </a:srgbClr>
            </a:solidFill>
            <a:prstDash val="solid"/>
          </a:ln>
        </p:spPr>
      </p:sp>
      <p:sp>
        <p:nvSpPr>
          <p:cNvPr id="10" name="Shape 7"/>
          <p:cNvSpPr/>
          <p:nvPr/>
        </p:nvSpPr>
        <p:spPr>
          <a:xfrm>
            <a:off x="8229600" y="3200400"/>
            <a:ext cx="2286000" cy="2286000"/>
          </a:xfrm>
          <a:prstGeom prst="ellipse">
            <a:avLst/>
          </a:prstGeom>
          <a:solidFill>
            <a:srgbClr val="0F172A">
              <a:alpha val="0"/>
            </a:srgbClr>
          </a:solidFill>
          <a:ln w="19050">
            <a:solidFill>
              <a:srgbClr val="F59E0B">
                <a:alpha val="60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t"/>
          <a:lstStyle/>
          <a:p>
            <a:pPr marL="0" indent="0">
              <a:buNone/>
            </a:pPr>
            <a:r>
              <a:rPr lang="en-US" sz="1300" b="1" kern="0" spc="300" dirty="0">
                <a:solidFill>
                  <a:srgbClr val="10B981"/>
                </a:solidFill>
                <a:latin typeface="Calibri" pitchFamily="34" charset="0"/>
                <a:ea typeface="Calibri" pitchFamily="34" charset="-122"/>
                <a:cs typeface="Calibri" pitchFamily="34" charset="-120"/>
              </a:rPr>
              <a:t>THE PROBLEM</a:t>
            </a:r>
            <a:endParaRPr lang="en-US" sz="1300" dirty="0"/>
          </a:p>
        </p:txBody>
      </p:sp>
      <p:sp>
        <p:nvSpPr>
          <p:cNvPr id="3" name="Text 1"/>
          <p:cNvSpPr txBox="1"/>
          <p:nvPr/>
        </p:nvSpPr>
        <p:spPr>
          <a:xfrm>
            <a:off x="548640" y="777240"/>
            <a:ext cx="7223760" cy="1188720"/>
          </a:xfrm>
          <a:prstGeom prst="rect">
            <a:avLst/>
          </a:prstGeom>
          <a:noFill/>
          <a:ln/>
        </p:spPr>
        <p:txBody>
          <a:bodyPr wrap="square" lIns="0" tIns="0" rIns="0" bIns="0" rtlCol="0" anchor="t"/>
          <a:lstStyle/>
          <a:p>
            <a:pPr marL="0" indent="0">
              <a:buNone/>
            </a:pPr>
            <a:r>
              <a:rPr lang="en-US" sz="3400" b="1" dirty="0">
                <a:solidFill>
                  <a:srgbClr val="F8FAFC"/>
                </a:solidFill>
                <a:latin typeface="Georgia" pitchFamily="34" charset="0"/>
                <a:ea typeface="Georgia" pitchFamily="34" charset="-122"/>
                <a:cs typeface="Georgia" pitchFamily="34" charset="-120"/>
              </a:rPr>
              <a:t>Everyone wants a piece of the informal market</a:t>
            </a:r>
            <a:endParaRPr lang="en-US" sz="3400" dirty="0"/>
          </a:p>
        </p:txBody>
      </p:sp>
      <p:sp>
        <p:nvSpPr>
          <p:cNvPr id="4" name="Shape 2"/>
          <p:cNvSpPr/>
          <p:nvPr/>
        </p:nvSpPr>
        <p:spPr>
          <a:xfrm>
            <a:off x="548640" y="2286000"/>
            <a:ext cx="566928" cy="566928"/>
          </a:xfrm>
          <a:prstGeom prst="ellipse">
            <a:avLst/>
          </a:prstGeom>
          <a:solidFill>
            <a:srgbClr val="1E2B45"/>
          </a:solidFill>
          <a:ln w="19050">
            <a:solidFill>
              <a:srgbClr val="F59E0B"/>
            </a:solidFill>
            <a:prstDash val="solid"/>
          </a:ln>
        </p:spPr>
      </p:sp>
      <p:pic>
        <p:nvPicPr>
          <p:cNvPr id="5" name="Image 0" descr="preencoded.png"/>
          <p:cNvPicPr>
            <a:picLocks noChangeAspect="1"/>
          </p:cNvPicPr>
          <p:nvPr/>
        </p:nvPicPr>
        <p:blipFill>
          <a:blip r:embed="rId3"/>
          <a:stretch>
            <a:fillRect/>
          </a:stretch>
        </p:blipFill>
        <p:spPr>
          <a:xfrm>
            <a:off x="684703" y="2422063"/>
            <a:ext cx="294803" cy="294803"/>
          </a:xfrm>
          <a:prstGeom prst="rect">
            <a:avLst/>
          </a:prstGeom>
        </p:spPr>
      </p:pic>
      <p:sp>
        <p:nvSpPr>
          <p:cNvPr id="6" name="Text 3"/>
          <p:cNvSpPr txBox="1"/>
          <p:nvPr/>
        </p:nvSpPr>
        <p:spPr>
          <a:xfrm>
            <a:off x="1280160" y="2286000"/>
            <a:ext cx="6309360" cy="566928"/>
          </a:xfrm>
          <a:prstGeom prst="rect">
            <a:avLst/>
          </a:prstGeom>
          <a:noFill/>
          <a:ln/>
        </p:spPr>
        <p:txBody>
          <a:bodyPr wrap="square" lIns="0" tIns="0" rIns="0" bIns="0" rtlCol="0" anchor="ctr"/>
          <a:lstStyle/>
          <a:p>
            <a:pPr marL="0" indent="0">
              <a:buNone/>
            </a:pPr>
            <a:r>
              <a:rPr lang="en-US" sz="1700" dirty="0">
                <a:solidFill>
                  <a:srgbClr val="F8FAFC"/>
                </a:solidFill>
                <a:latin typeface="Calibri" pitchFamily="34" charset="0"/>
                <a:ea typeface="Calibri" pitchFamily="34" charset="-122"/>
                <a:cs typeface="Calibri" pitchFamily="34" charset="-120"/>
              </a:rPr>
              <a:t>Big retailers are moving into townships</a:t>
            </a:r>
            <a:endParaRPr lang="en-US" sz="1700" dirty="0"/>
          </a:p>
        </p:txBody>
      </p:sp>
      <p:sp>
        <p:nvSpPr>
          <p:cNvPr id="7" name="Shape 4"/>
          <p:cNvSpPr/>
          <p:nvPr/>
        </p:nvSpPr>
        <p:spPr>
          <a:xfrm>
            <a:off x="548640" y="3063240"/>
            <a:ext cx="566928" cy="566928"/>
          </a:xfrm>
          <a:prstGeom prst="ellipse">
            <a:avLst/>
          </a:prstGeom>
          <a:solidFill>
            <a:srgbClr val="1E2B45"/>
          </a:solidFill>
          <a:ln w="19050">
            <a:solidFill>
              <a:srgbClr val="F59E0B"/>
            </a:solidFill>
            <a:prstDash val="solid"/>
          </a:ln>
        </p:spPr>
      </p:sp>
      <p:pic>
        <p:nvPicPr>
          <p:cNvPr id="8" name="Image 1" descr="preencoded.png"/>
          <p:cNvPicPr>
            <a:picLocks noChangeAspect="1"/>
          </p:cNvPicPr>
          <p:nvPr/>
        </p:nvPicPr>
        <p:blipFill>
          <a:blip r:embed="rId4"/>
          <a:stretch>
            <a:fillRect/>
          </a:stretch>
        </p:blipFill>
        <p:spPr>
          <a:xfrm>
            <a:off x="684703" y="3199303"/>
            <a:ext cx="294803" cy="294803"/>
          </a:xfrm>
          <a:prstGeom prst="rect">
            <a:avLst/>
          </a:prstGeom>
        </p:spPr>
      </p:pic>
      <p:sp>
        <p:nvSpPr>
          <p:cNvPr id="9" name="Text 5"/>
          <p:cNvSpPr txBox="1"/>
          <p:nvPr/>
        </p:nvSpPr>
        <p:spPr>
          <a:xfrm>
            <a:off x="1280160" y="3063240"/>
            <a:ext cx="6309360" cy="566928"/>
          </a:xfrm>
          <a:prstGeom prst="rect">
            <a:avLst/>
          </a:prstGeom>
          <a:noFill/>
          <a:ln/>
        </p:spPr>
        <p:txBody>
          <a:bodyPr wrap="square" lIns="0" tIns="0" rIns="0" bIns="0" rtlCol="0" anchor="ctr"/>
          <a:lstStyle/>
          <a:p>
            <a:pPr marL="0" indent="0">
              <a:buNone/>
            </a:pPr>
            <a:r>
              <a:rPr lang="en-US" sz="1700" dirty="0">
                <a:solidFill>
                  <a:srgbClr val="F8FAFC"/>
                </a:solidFill>
                <a:latin typeface="Calibri" pitchFamily="34" charset="0"/>
                <a:ea typeface="Calibri" pitchFamily="34" charset="-122"/>
                <a:cs typeface="Calibri" pitchFamily="34" charset="-120"/>
              </a:rPr>
              <a:t>Banks and payment apps are fighting for its customers</a:t>
            </a:r>
            <a:endParaRPr lang="en-US" sz="1700" dirty="0"/>
          </a:p>
        </p:txBody>
      </p:sp>
      <p:sp>
        <p:nvSpPr>
          <p:cNvPr id="10" name="Text 6"/>
          <p:cNvSpPr txBox="1"/>
          <p:nvPr/>
        </p:nvSpPr>
        <p:spPr>
          <a:xfrm>
            <a:off x="548640" y="4069080"/>
            <a:ext cx="6858000" cy="365760"/>
          </a:xfrm>
          <a:prstGeom prst="rect">
            <a:avLst/>
          </a:prstGeom>
          <a:noFill/>
          <a:ln/>
        </p:spPr>
        <p:txBody>
          <a:bodyPr wrap="square" lIns="0" tIns="0" rIns="0" bIns="0" rtlCol="0" anchor="t"/>
          <a:lstStyle/>
          <a:p>
            <a:pPr marL="0" indent="0">
              <a:buNone/>
            </a:pPr>
            <a:r>
              <a:rPr lang="en-US" sz="1800" dirty="0">
                <a:solidFill>
                  <a:srgbClr val="A3B3C9"/>
                </a:solidFill>
                <a:latin typeface="Calibri" pitchFamily="34" charset="0"/>
                <a:ea typeface="Calibri" pitchFamily="34" charset="-122"/>
                <a:cs typeface="Calibri" pitchFamily="34" charset="-120"/>
              </a:rPr>
              <a:t>Because it's worth about</a:t>
            </a:r>
            <a:endParaRPr lang="en-US" sz="1800" dirty="0"/>
          </a:p>
        </p:txBody>
      </p:sp>
      <p:sp>
        <p:nvSpPr>
          <p:cNvPr id="11" name="Text 7"/>
          <p:cNvSpPr txBox="1"/>
          <p:nvPr/>
        </p:nvSpPr>
        <p:spPr>
          <a:xfrm>
            <a:off x="548640" y="4434840"/>
            <a:ext cx="7315200" cy="914400"/>
          </a:xfrm>
          <a:prstGeom prst="rect">
            <a:avLst/>
          </a:prstGeom>
          <a:noFill/>
          <a:ln/>
        </p:spPr>
        <p:txBody>
          <a:bodyPr wrap="square" lIns="0" tIns="0" rIns="0" bIns="0" rtlCol="0" anchor="t"/>
          <a:lstStyle/>
          <a:p>
            <a:pPr marL="0" indent="0">
              <a:buNone/>
            </a:pPr>
            <a:r>
              <a:rPr lang="en-US" sz="5000" b="1" dirty="0">
                <a:solidFill>
                  <a:srgbClr val="FBBF24"/>
                </a:solidFill>
                <a:latin typeface="Georgia" pitchFamily="34" charset="0"/>
                <a:ea typeface="Georgia" pitchFamily="34" charset="-122"/>
                <a:cs typeface="Georgia" pitchFamily="34" charset="-120"/>
              </a:rPr>
              <a:t>R900 billion a year</a:t>
            </a:r>
            <a:endParaRPr lang="en-US" sz="5000" dirty="0"/>
          </a:p>
        </p:txBody>
      </p:sp>
      <p:pic>
        <p:nvPicPr>
          <p:cNvPr id="12" name="Image 2" descr="preencoded.png"/>
          <p:cNvPicPr>
            <a:picLocks noChangeAspect="1"/>
          </p:cNvPicPr>
          <p:nvPr/>
        </p:nvPicPr>
        <p:blipFill>
          <a:blip r:embed="rId5"/>
          <a:stretch>
            <a:fillRect/>
          </a:stretch>
        </p:blipFill>
        <p:spPr>
          <a:xfrm>
            <a:off x="8074152" y="1051560"/>
            <a:ext cx="3566160" cy="2377440"/>
          </a:xfrm>
          <a:prstGeom prst="rect">
            <a:avLst/>
          </a:prstGeom>
        </p:spPr>
      </p:pic>
      <p:sp>
        <p:nvSpPr>
          <p:cNvPr id="13" name="Shape 8"/>
          <p:cNvSpPr/>
          <p:nvPr/>
        </p:nvSpPr>
        <p:spPr>
          <a:xfrm>
            <a:off x="8074152" y="3063240"/>
            <a:ext cx="3566160" cy="365760"/>
          </a:xfrm>
          <a:prstGeom prst="rect">
            <a:avLst/>
          </a:prstGeom>
          <a:solidFill>
            <a:srgbClr val="0F172A">
              <a:alpha val="75000"/>
            </a:srgbClr>
          </a:solidFill>
          <a:ln w="12700">
            <a:solidFill>
              <a:srgbClr val="0F172A">
                <a:alpha val="0"/>
              </a:srgbClr>
            </a:solidFill>
            <a:prstDash val="solid"/>
          </a:ln>
        </p:spPr>
      </p:sp>
      <p:sp>
        <p:nvSpPr>
          <p:cNvPr id="14" name="Text 9"/>
          <p:cNvSpPr txBox="1"/>
          <p:nvPr/>
        </p:nvSpPr>
        <p:spPr>
          <a:xfrm>
            <a:off x="8211312" y="3063240"/>
            <a:ext cx="3337560" cy="365760"/>
          </a:xfrm>
          <a:prstGeom prst="rect">
            <a:avLst/>
          </a:prstGeom>
          <a:noFill/>
          <a:ln/>
        </p:spPr>
        <p:txBody>
          <a:bodyPr wrap="square" lIns="0" tIns="0" rIns="0" bIns="0" rtlCol="0" anchor="ctr"/>
          <a:lstStyle/>
          <a:p>
            <a:pPr marL="0" indent="0">
              <a:buNone/>
            </a:pPr>
            <a:r>
              <a:rPr lang="en-US" sz="1250" b="1" dirty="0">
                <a:solidFill>
                  <a:srgbClr val="F8FAFC"/>
                </a:solidFill>
                <a:latin typeface="Calibri" pitchFamily="34" charset="0"/>
                <a:ea typeface="Calibri" pitchFamily="34" charset="-122"/>
                <a:cs typeface="Calibri" pitchFamily="34" charset="-120"/>
              </a:rPr>
              <a:t>A spaza shop, and its supplier's truck</a:t>
            </a:r>
            <a:endParaRPr lang="en-US" sz="1250" dirty="0"/>
          </a:p>
        </p:txBody>
      </p:sp>
      <p:pic>
        <p:nvPicPr>
          <p:cNvPr id="15" name="Image 3" descr="preencoded.png"/>
          <p:cNvPicPr>
            <a:picLocks noChangeAspect="1"/>
          </p:cNvPicPr>
          <p:nvPr/>
        </p:nvPicPr>
        <p:blipFill>
          <a:blip r:embed="rId6"/>
          <a:stretch>
            <a:fillRect/>
          </a:stretch>
        </p:blipFill>
        <p:spPr>
          <a:xfrm>
            <a:off x="8074152" y="3593592"/>
            <a:ext cx="3566160" cy="2377440"/>
          </a:xfrm>
          <a:prstGeom prst="rect">
            <a:avLst/>
          </a:prstGeom>
        </p:spPr>
      </p:pic>
      <p:sp>
        <p:nvSpPr>
          <p:cNvPr id="16" name="Shape 10"/>
          <p:cNvSpPr/>
          <p:nvPr/>
        </p:nvSpPr>
        <p:spPr>
          <a:xfrm>
            <a:off x="8074152" y="5605272"/>
            <a:ext cx="3566160" cy="365760"/>
          </a:xfrm>
          <a:prstGeom prst="rect">
            <a:avLst/>
          </a:prstGeom>
          <a:solidFill>
            <a:srgbClr val="0F172A">
              <a:alpha val="75000"/>
            </a:srgbClr>
          </a:solidFill>
          <a:ln w="12700">
            <a:solidFill>
              <a:srgbClr val="0F172A">
                <a:alpha val="0"/>
              </a:srgbClr>
            </a:solidFill>
            <a:prstDash val="solid"/>
          </a:ln>
        </p:spPr>
      </p:sp>
      <p:sp>
        <p:nvSpPr>
          <p:cNvPr id="17" name="Text 11"/>
          <p:cNvSpPr txBox="1"/>
          <p:nvPr/>
        </p:nvSpPr>
        <p:spPr>
          <a:xfrm>
            <a:off x="8211312" y="5605272"/>
            <a:ext cx="3337560" cy="365760"/>
          </a:xfrm>
          <a:prstGeom prst="rect">
            <a:avLst/>
          </a:prstGeom>
          <a:noFill/>
          <a:ln/>
        </p:spPr>
        <p:txBody>
          <a:bodyPr wrap="square" lIns="0" tIns="0" rIns="0" bIns="0" rtlCol="0" anchor="ctr"/>
          <a:lstStyle/>
          <a:p>
            <a:pPr marL="0" indent="0">
              <a:buNone/>
            </a:pPr>
            <a:r>
              <a:rPr lang="en-US" sz="1250" b="1" dirty="0">
                <a:solidFill>
                  <a:srgbClr val="F8FAFC"/>
                </a:solidFill>
                <a:latin typeface="Calibri" pitchFamily="34" charset="0"/>
                <a:ea typeface="Calibri" pitchFamily="34" charset="-122"/>
                <a:cs typeface="Calibri" pitchFamily="34" charset="-120"/>
              </a:rPr>
              <a:t>A builder's site: bricks, cash and trust</a:t>
            </a:r>
            <a:endParaRPr lang="en-US" sz="1250" dirty="0"/>
          </a:p>
        </p:txBody>
      </p:sp>
      <p:pic>
        <p:nvPicPr>
          <p:cNvPr id="18" name="Image 4" descr="preencoded.png"/>
          <p:cNvPicPr>
            <a:picLocks noChangeAspect="1"/>
          </p:cNvPicPr>
          <p:nvPr/>
        </p:nvPicPr>
        <p:blipFill>
          <a:blip r:embed="rId7"/>
          <a:stretch>
            <a:fillRect/>
          </a:stretch>
        </p:blipFill>
        <p:spPr>
          <a:xfrm>
            <a:off x="11231575" y="6291072"/>
            <a:ext cx="384048" cy="384048"/>
          </a:xfrm>
          <a:prstGeom prst="rect">
            <a:avLst/>
          </a:prstGeom>
        </p:spPr>
      </p:pic>
      <p:sp>
        <p:nvSpPr>
          <p:cNvPr id="19" name="Text 12"/>
          <p:cNvSpPr txBox="1"/>
          <p:nvPr/>
        </p:nvSpPr>
        <p:spPr>
          <a:xfrm>
            <a:off x="10682935" y="6355080"/>
            <a:ext cx="457200" cy="274320"/>
          </a:xfrm>
          <a:prstGeom prst="rect">
            <a:avLst/>
          </a:prstGeom>
          <a:noFill/>
          <a:ln/>
        </p:spPr>
        <p:txBody>
          <a:bodyPr wrap="square" lIns="0" tIns="0" rIns="0" bIns="0" rtlCol="0" anchor="t"/>
          <a:lstStyle/>
          <a:p>
            <a:pPr marL="0" indent="0" algn="r">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
        <p:nvSpPr>
          <p:cNvPr id="20" name="Text 13"/>
          <p:cNvSpPr txBox="1"/>
          <p:nvPr/>
        </p:nvSpPr>
        <p:spPr>
          <a:xfrm>
            <a:off x="548640" y="6336792"/>
            <a:ext cx="9875520" cy="365760"/>
          </a:xfrm>
          <a:prstGeom prst="rect">
            <a:avLst/>
          </a:prstGeom>
          <a:noFill/>
          <a:ln/>
        </p:spPr>
        <p:txBody>
          <a:bodyPr wrap="square" lIns="0" tIns="0" rIns="0" bIns="0" rtlCol="0" anchor="t"/>
          <a:lstStyle/>
          <a:p>
            <a:pPr marL="0" indent="0">
              <a:buNone/>
            </a:pPr>
            <a:r>
              <a:rPr lang="en-US" sz="950" dirty="0">
                <a:solidFill>
                  <a:srgbClr val="64748B"/>
                </a:solidFill>
                <a:latin typeface="Calibri" pitchFamily="34" charset="0"/>
                <a:ea typeface="Calibri" pitchFamily="34" charset="-122"/>
                <a:cs typeface="Calibri" pitchFamily="34" charset="-120"/>
              </a:rPr>
              <a:t>Standard Bank, Township Informal Economy Report, Oct 2025 (Foshizi; 250+ businesses, 5 provinces). Photos: HelenOnline (CC BY-SA 4.0) and Heinz-Josef Lücking (CC BY-SA 3.0 DE), Wikimedia Commons.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t"/>
          <a:lstStyle/>
          <a:p>
            <a:pPr marL="0" indent="0">
              <a:buNone/>
            </a:pPr>
            <a:r>
              <a:rPr lang="en-US" sz="1300" b="1" kern="0" spc="300" dirty="0">
                <a:solidFill>
                  <a:srgbClr val="10B981"/>
                </a:solidFill>
                <a:latin typeface="Calibri" pitchFamily="34" charset="0"/>
                <a:ea typeface="Calibri" pitchFamily="34" charset="-122"/>
                <a:cs typeface="Calibri" pitchFamily="34" charset="-120"/>
              </a:rPr>
              <a:t>THE PROBLEM</a:t>
            </a:r>
            <a:endParaRPr lang="en-US" sz="1300" dirty="0"/>
          </a:p>
        </p:txBody>
      </p:sp>
      <p:sp>
        <p:nvSpPr>
          <p:cNvPr id="3" name="Text 1"/>
          <p:cNvSpPr txBox="1"/>
          <p:nvPr/>
        </p:nvSpPr>
        <p:spPr>
          <a:xfrm>
            <a:off x="548640" y="731520"/>
            <a:ext cx="11064240" cy="868680"/>
          </a:xfrm>
          <a:prstGeom prst="rect">
            <a:avLst/>
          </a:prstGeom>
          <a:noFill/>
          <a:ln/>
        </p:spPr>
        <p:txBody>
          <a:bodyPr wrap="square" lIns="0" tIns="0" rIns="0" bIns="0" rtlCol="0" anchor="t"/>
          <a:lstStyle/>
          <a:p>
            <a:pPr marL="0" indent="0">
              <a:buNone/>
            </a:pPr>
            <a:r>
              <a:rPr lang="en-US" sz="3200" b="1" dirty="0">
                <a:solidFill>
                  <a:srgbClr val="F8FAFC"/>
                </a:solidFill>
                <a:latin typeface="Georgia" pitchFamily="34" charset="0"/>
                <a:ea typeface="Georgia" pitchFamily="34" charset="-122"/>
                <a:cs typeface="Georgia" pitchFamily="34" charset="-120"/>
              </a:rPr>
              <a:t>The people who run it can't prove any of it</a:t>
            </a:r>
            <a:endParaRPr lang="en-US" sz="3200" dirty="0"/>
          </a:p>
        </p:txBody>
      </p:sp>
      <p:sp>
        <p:nvSpPr>
          <p:cNvPr id="4" name="Shape 2"/>
          <p:cNvSpPr/>
          <p:nvPr/>
        </p:nvSpPr>
        <p:spPr>
          <a:xfrm>
            <a:off x="548640" y="1737360"/>
            <a:ext cx="3474720" cy="3886200"/>
          </a:xfrm>
          <a:prstGeom prst="roundRect">
            <a:avLst>
              <a:gd name="adj" fmla="val 3158"/>
            </a:avLst>
          </a:prstGeom>
          <a:solidFill>
            <a:srgbClr val="17223A"/>
          </a:solidFill>
          <a:ln w="12700">
            <a:solidFill>
              <a:srgbClr val="17223A"/>
            </a:solidFill>
            <a:prstDash val="solid"/>
          </a:ln>
        </p:spPr>
      </p:sp>
      <p:sp>
        <p:nvSpPr>
          <p:cNvPr id="5" name="Shape 3"/>
          <p:cNvSpPr/>
          <p:nvPr/>
        </p:nvSpPr>
        <p:spPr>
          <a:xfrm>
            <a:off x="822960" y="1901952"/>
            <a:ext cx="603504" cy="603504"/>
          </a:xfrm>
          <a:prstGeom prst="ellipse">
            <a:avLst/>
          </a:prstGeom>
          <a:solidFill>
            <a:srgbClr val="1E2B45"/>
          </a:solidFill>
          <a:ln w="19050">
            <a:solidFill>
              <a:srgbClr val="F59E0B"/>
            </a:solidFill>
            <a:prstDash val="solid"/>
          </a:ln>
        </p:spPr>
      </p:sp>
      <p:pic>
        <p:nvPicPr>
          <p:cNvPr id="6" name="Image 0" descr="preencoded.png"/>
          <p:cNvPicPr>
            <a:picLocks noChangeAspect="1"/>
          </p:cNvPicPr>
          <p:nvPr/>
        </p:nvPicPr>
        <p:blipFill>
          <a:blip r:embed="rId3"/>
          <a:stretch>
            <a:fillRect/>
          </a:stretch>
        </p:blipFill>
        <p:spPr>
          <a:xfrm>
            <a:off x="967801" y="2046793"/>
            <a:ext cx="313822" cy="313822"/>
          </a:xfrm>
          <a:prstGeom prst="rect">
            <a:avLst/>
          </a:prstGeom>
        </p:spPr>
      </p:pic>
      <p:sp>
        <p:nvSpPr>
          <p:cNvPr id="7" name="Text 4"/>
          <p:cNvSpPr txBox="1"/>
          <p:nvPr/>
        </p:nvSpPr>
        <p:spPr>
          <a:xfrm>
            <a:off x="1572768" y="2011680"/>
            <a:ext cx="2286000" cy="411480"/>
          </a:xfrm>
          <a:prstGeom prst="rect">
            <a:avLst/>
          </a:prstGeom>
          <a:noFill/>
          <a:ln/>
        </p:spPr>
        <p:txBody>
          <a:bodyPr wrap="square" lIns="0" tIns="0" rIns="0" bIns="0" rtlCol="0" anchor="t"/>
          <a:lstStyle/>
          <a:p>
            <a:pPr marL="0" indent="0">
              <a:buNone/>
            </a:pPr>
            <a:r>
              <a:rPr lang="en-US" sz="2000" b="1" dirty="0">
                <a:solidFill>
                  <a:srgbClr val="F8FAFC"/>
                </a:solidFill>
                <a:latin typeface="Calibri" pitchFamily="34" charset="0"/>
                <a:ea typeface="Calibri" pitchFamily="34" charset="-122"/>
                <a:cs typeface="Calibri" pitchFamily="34" charset="-120"/>
              </a:rPr>
              <a:t>No finance</a:t>
            </a:r>
            <a:endParaRPr lang="en-US" sz="2000" dirty="0"/>
          </a:p>
        </p:txBody>
      </p:sp>
      <p:sp>
        <p:nvSpPr>
          <p:cNvPr id="8" name="Text 5"/>
          <p:cNvSpPr txBox="1"/>
          <p:nvPr/>
        </p:nvSpPr>
        <p:spPr>
          <a:xfrm>
            <a:off x="822960" y="4526280"/>
            <a:ext cx="2926080" cy="1005840"/>
          </a:xfrm>
          <a:prstGeom prst="rect">
            <a:avLst/>
          </a:prstGeom>
          <a:noFill/>
          <a:ln/>
        </p:spPr>
        <p:txBody>
          <a:bodyPr wrap="square" lIns="0" tIns="0" rIns="0" bIns="0" rtlCol="0" anchor="t"/>
          <a:lstStyle/>
          <a:p>
            <a:pPr marL="0" indent="0">
              <a:buNone/>
            </a:pPr>
            <a:r>
              <a:rPr lang="en-US" sz="1300" dirty="0">
                <a:solidFill>
                  <a:srgbClr val="A3B3C9"/>
                </a:solidFill>
                <a:latin typeface="Calibri" pitchFamily="34" charset="0"/>
                <a:ea typeface="Calibri" pitchFamily="34" charset="-122"/>
                <a:cs typeface="Calibri" pitchFamily="34" charset="-120"/>
              </a:rPr>
              <a:t>It runs on cash and word of mouth. 57% use savings and family; fewer than 9% can get a bank loan.</a:t>
            </a:r>
            <a:endParaRPr lang="en-US" sz="1300" dirty="0"/>
          </a:p>
        </p:txBody>
      </p:sp>
      <p:sp>
        <p:nvSpPr>
          <p:cNvPr id="9" name="Shape 6"/>
          <p:cNvSpPr/>
          <p:nvPr/>
        </p:nvSpPr>
        <p:spPr>
          <a:xfrm>
            <a:off x="4297680" y="1737360"/>
            <a:ext cx="3474720" cy="3886200"/>
          </a:xfrm>
          <a:prstGeom prst="roundRect">
            <a:avLst>
              <a:gd name="adj" fmla="val 3158"/>
            </a:avLst>
          </a:prstGeom>
          <a:solidFill>
            <a:srgbClr val="17223A"/>
          </a:solidFill>
          <a:ln w="12700">
            <a:solidFill>
              <a:srgbClr val="17223A"/>
            </a:solidFill>
            <a:prstDash val="solid"/>
          </a:ln>
        </p:spPr>
      </p:sp>
      <p:sp>
        <p:nvSpPr>
          <p:cNvPr id="10" name="Shape 7"/>
          <p:cNvSpPr/>
          <p:nvPr/>
        </p:nvSpPr>
        <p:spPr>
          <a:xfrm>
            <a:off x="4572000" y="1901952"/>
            <a:ext cx="603504" cy="603504"/>
          </a:xfrm>
          <a:prstGeom prst="ellipse">
            <a:avLst/>
          </a:prstGeom>
          <a:solidFill>
            <a:srgbClr val="1E2B45"/>
          </a:solidFill>
          <a:ln w="19050">
            <a:solidFill>
              <a:srgbClr val="F87171"/>
            </a:solidFill>
            <a:prstDash val="solid"/>
          </a:ln>
        </p:spPr>
      </p:sp>
      <p:pic>
        <p:nvPicPr>
          <p:cNvPr id="11" name="Image 1" descr="preencoded.png"/>
          <p:cNvPicPr>
            <a:picLocks noChangeAspect="1"/>
          </p:cNvPicPr>
          <p:nvPr/>
        </p:nvPicPr>
        <p:blipFill>
          <a:blip r:embed="rId4"/>
          <a:stretch>
            <a:fillRect/>
          </a:stretch>
        </p:blipFill>
        <p:spPr>
          <a:xfrm>
            <a:off x="4716841" y="2046793"/>
            <a:ext cx="313822" cy="313822"/>
          </a:xfrm>
          <a:prstGeom prst="rect">
            <a:avLst/>
          </a:prstGeom>
        </p:spPr>
      </p:pic>
      <p:sp>
        <p:nvSpPr>
          <p:cNvPr id="12" name="Text 8"/>
          <p:cNvSpPr txBox="1"/>
          <p:nvPr/>
        </p:nvSpPr>
        <p:spPr>
          <a:xfrm>
            <a:off x="5321808" y="2011680"/>
            <a:ext cx="2286000" cy="411480"/>
          </a:xfrm>
          <a:prstGeom prst="rect">
            <a:avLst/>
          </a:prstGeom>
          <a:noFill/>
          <a:ln/>
        </p:spPr>
        <p:txBody>
          <a:bodyPr wrap="square" lIns="0" tIns="0" rIns="0" bIns="0" rtlCol="0" anchor="t"/>
          <a:lstStyle/>
          <a:p>
            <a:pPr marL="0" indent="0">
              <a:buNone/>
            </a:pPr>
            <a:r>
              <a:rPr lang="en-US" sz="2000" b="1" dirty="0">
                <a:solidFill>
                  <a:srgbClr val="F8FAFC"/>
                </a:solidFill>
                <a:latin typeface="Calibri" pitchFamily="34" charset="0"/>
                <a:ea typeface="Calibri" pitchFamily="34" charset="-122"/>
                <a:cs typeface="Calibri" pitchFamily="34" charset="-120"/>
              </a:rPr>
              <a:t>No support</a:t>
            </a:r>
            <a:endParaRPr lang="en-US" sz="2000" dirty="0"/>
          </a:p>
        </p:txBody>
      </p:sp>
      <p:sp>
        <p:nvSpPr>
          <p:cNvPr id="13" name="Text 9"/>
          <p:cNvSpPr txBox="1"/>
          <p:nvPr/>
        </p:nvSpPr>
        <p:spPr>
          <a:xfrm>
            <a:off x="4572000" y="4526280"/>
            <a:ext cx="2926080" cy="1005840"/>
          </a:xfrm>
          <a:prstGeom prst="rect">
            <a:avLst/>
          </a:prstGeom>
          <a:noFill/>
          <a:ln/>
        </p:spPr>
        <p:txBody>
          <a:bodyPr wrap="square" lIns="0" tIns="0" rIns="0" bIns="0" rtlCol="0" anchor="t"/>
          <a:lstStyle/>
          <a:p>
            <a:pPr marL="0" indent="0">
              <a:buNone/>
            </a:pPr>
            <a:r>
              <a:rPr lang="en-US" sz="1300" dirty="0">
                <a:solidFill>
                  <a:srgbClr val="A3B3C9"/>
                </a:solidFill>
                <a:latin typeface="Calibri" pitchFamily="34" charset="0"/>
                <a:ea typeface="Calibri" pitchFamily="34" charset="-122"/>
                <a:cs typeface="Calibri" pitchFamily="34" charset="-120"/>
              </a:rPr>
              <a:t>Of the R500m Spaza Shop Support Fund, R179.6m reached spaza shops. 354 applications failed verification.</a:t>
            </a:r>
            <a:endParaRPr lang="en-US" sz="1300" dirty="0"/>
          </a:p>
        </p:txBody>
      </p:sp>
      <p:sp>
        <p:nvSpPr>
          <p:cNvPr id="14" name="Shape 10"/>
          <p:cNvSpPr/>
          <p:nvPr/>
        </p:nvSpPr>
        <p:spPr>
          <a:xfrm>
            <a:off x="8046720" y="1737360"/>
            <a:ext cx="3474720" cy="3886200"/>
          </a:xfrm>
          <a:prstGeom prst="roundRect">
            <a:avLst>
              <a:gd name="adj" fmla="val 3158"/>
            </a:avLst>
          </a:prstGeom>
          <a:solidFill>
            <a:srgbClr val="17223A"/>
          </a:solidFill>
          <a:ln w="12700">
            <a:solidFill>
              <a:srgbClr val="17223A"/>
            </a:solidFill>
            <a:prstDash val="solid"/>
          </a:ln>
        </p:spPr>
      </p:sp>
      <p:sp>
        <p:nvSpPr>
          <p:cNvPr id="15" name="Shape 11"/>
          <p:cNvSpPr/>
          <p:nvPr/>
        </p:nvSpPr>
        <p:spPr>
          <a:xfrm>
            <a:off x="8321040" y="1901952"/>
            <a:ext cx="603504" cy="603504"/>
          </a:xfrm>
          <a:prstGeom prst="ellipse">
            <a:avLst/>
          </a:prstGeom>
          <a:solidFill>
            <a:srgbClr val="1E2B45"/>
          </a:solidFill>
          <a:ln w="19050">
            <a:solidFill>
              <a:srgbClr val="10B981"/>
            </a:solidFill>
            <a:prstDash val="solid"/>
          </a:ln>
        </p:spPr>
      </p:sp>
      <p:pic>
        <p:nvPicPr>
          <p:cNvPr id="16" name="Image 2" descr="preencoded.png"/>
          <p:cNvPicPr>
            <a:picLocks noChangeAspect="1"/>
          </p:cNvPicPr>
          <p:nvPr/>
        </p:nvPicPr>
        <p:blipFill>
          <a:blip r:embed="rId5"/>
          <a:stretch>
            <a:fillRect/>
          </a:stretch>
        </p:blipFill>
        <p:spPr>
          <a:xfrm>
            <a:off x="8465881" y="2046793"/>
            <a:ext cx="313822" cy="313822"/>
          </a:xfrm>
          <a:prstGeom prst="rect">
            <a:avLst/>
          </a:prstGeom>
        </p:spPr>
      </p:pic>
      <p:sp>
        <p:nvSpPr>
          <p:cNvPr id="17" name="Text 12"/>
          <p:cNvSpPr txBox="1"/>
          <p:nvPr/>
        </p:nvSpPr>
        <p:spPr>
          <a:xfrm>
            <a:off x="9070848" y="2011680"/>
            <a:ext cx="2286000" cy="411480"/>
          </a:xfrm>
          <a:prstGeom prst="rect">
            <a:avLst/>
          </a:prstGeom>
          <a:noFill/>
          <a:ln/>
        </p:spPr>
        <p:txBody>
          <a:bodyPr wrap="square" lIns="0" tIns="0" rIns="0" bIns="0" rtlCol="0" anchor="t"/>
          <a:lstStyle/>
          <a:p>
            <a:pPr marL="0" indent="0">
              <a:buNone/>
            </a:pPr>
            <a:r>
              <a:rPr lang="en-US" sz="2000" b="1" dirty="0">
                <a:solidFill>
                  <a:srgbClr val="F8FAFC"/>
                </a:solidFill>
                <a:latin typeface="Calibri" pitchFamily="34" charset="0"/>
                <a:ea typeface="Calibri" pitchFamily="34" charset="-122"/>
                <a:cs typeface="Calibri" pitchFamily="34" charset="-120"/>
              </a:rPr>
              <a:t>No record</a:t>
            </a:r>
            <a:endParaRPr lang="en-US" sz="2000" dirty="0"/>
          </a:p>
        </p:txBody>
      </p:sp>
      <p:sp>
        <p:nvSpPr>
          <p:cNvPr id="18" name="Text 13"/>
          <p:cNvSpPr txBox="1"/>
          <p:nvPr/>
        </p:nvSpPr>
        <p:spPr>
          <a:xfrm>
            <a:off x="8321040" y="4526280"/>
            <a:ext cx="2926080" cy="1005840"/>
          </a:xfrm>
          <a:prstGeom prst="rect">
            <a:avLst/>
          </a:prstGeom>
          <a:noFill/>
          <a:ln/>
        </p:spPr>
        <p:txBody>
          <a:bodyPr wrap="square" lIns="0" tIns="0" rIns="0" bIns="0" rtlCol="0" anchor="t"/>
          <a:lstStyle/>
          <a:p>
            <a:pPr marL="0" indent="0">
              <a:buNone/>
            </a:pPr>
            <a:r>
              <a:rPr lang="en-US" sz="1300" dirty="0">
                <a:solidFill>
                  <a:srgbClr val="A3B3C9"/>
                </a:solidFill>
                <a:latin typeface="Calibri" pitchFamily="34" charset="0"/>
                <a:ea typeface="Calibri" pitchFamily="34" charset="-122"/>
                <a:cs typeface="Calibri" pitchFamily="34" charset="-120"/>
              </a:rPr>
              <a:t>About 80% are unregistered: every order is cash, every dispute is word against word.</a:t>
            </a:r>
            <a:endParaRPr lang="en-US" sz="1300" dirty="0"/>
          </a:p>
        </p:txBody>
      </p:sp>
      <p:graphicFrame>
        <p:nvGraphicFramePr>
          <p:cNvPr id="19" name="Chart 0"/>
          <p:cNvGraphicFramePr/>
          <p:nvPr/>
        </p:nvGraphicFramePr>
        <p:xfrm>
          <a:off x="685800" y="2606040"/>
          <a:ext cx="3200400" cy="18288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0" name="Chart 1"/>
          <p:cNvGraphicFramePr/>
          <p:nvPr/>
        </p:nvGraphicFramePr>
        <p:xfrm>
          <a:off x="4434840" y="2606040"/>
          <a:ext cx="3200400" cy="18288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1" name="Chart 2"/>
          <p:cNvGraphicFramePr/>
          <p:nvPr/>
        </p:nvGraphicFramePr>
        <p:xfrm>
          <a:off x="8915400" y="2606040"/>
          <a:ext cx="1737360" cy="1737360"/>
        </p:xfrm>
        <a:graphic>
          <a:graphicData uri="http://schemas.openxmlformats.org/drawingml/2006/chart">
            <c:chart xmlns:c="http://schemas.openxmlformats.org/drawingml/2006/chart" xmlns:r="http://schemas.openxmlformats.org/officeDocument/2006/relationships" r:id="rId8"/>
          </a:graphicData>
        </a:graphic>
      </p:graphicFrame>
      <p:sp>
        <p:nvSpPr>
          <p:cNvPr id="22" name="Text 14"/>
          <p:cNvSpPr txBox="1"/>
          <p:nvPr/>
        </p:nvSpPr>
        <p:spPr>
          <a:xfrm>
            <a:off x="8915400" y="3154680"/>
            <a:ext cx="1737360" cy="411480"/>
          </a:xfrm>
          <a:prstGeom prst="rect">
            <a:avLst/>
          </a:prstGeom>
          <a:noFill/>
          <a:ln/>
        </p:spPr>
        <p:txBody>
          <a:bodyPr wrap="square" lIns="0" tIns="0" rIns="0" bIns="0" rtlCol="0" anchor="t"/>
          <a:lstStyle/>
          <a:p>
            <a:pPr marL="0" indent="0" algn="ctr">
              <a:buNone/>
            </a:pPr>
            <a:r>
              <a:rPr lang="en-US" sz="2400" b="1" dirty="0">
                <a:solidFill>
                  <a:srgbClr val="34D399"/>
                </a:solidFill>
                <a:latin typeface="Georgia" pitchFamily="34" charset="0"/>
                <a:ea typeface="Georgia" pitchFamily="34" charset="-122"/>
                <a:cs typeface="Georgia" pitchFamily="34" charset="-120"/>
              </a:rPr>
              <a:t>80%</a:t>
            </a:r>
            <a:endParaRPr lang="en-US" sz="2400" dirty="0"/>
          </a:p>
        </p:txBody>
      </p:sp>
      <p:sp>
        <p:nvSpPr>
          <p:cNvPr id="23" name="Text 15"/>
          <p:cNvSpPr txBox="1"/>
          <p:nvPr/>
        </p:nvSpPr>
        <p:spPr>
          <a:xfrm>
            <a:off x="8915400" y="3575304"/>
            <a:ext cx="1737360" cy="256032"/>
          </a:xfrm>
          <a:prstGeom prst="rect">
            <a:avLst/>
          </a:prstGeom>
          <a:noFill/>
          <a:ln/>
        </p:spPr>
        <p:txBody>
          <a:bodyPr wrap="square" lIns="0" tIns="0" rIns="0" bIns="0" rtlCol="0" anchor="t"/>
          <a:lstStyle/>
          <a:p>
            <a:pPr marL="0" indent="0" algn="ctr">
              <a:buNone/>
            </a:pPr>
            <a:r>
              <a:rPr lang="en-US" sz="1100" dirty="0">
                <a:solidFill>
                  <a:srgbClr val="A3B3C9"/>
                </a:solidFill>
                <a:latin typeface="Calibri" pitchFamily="34" charset="0"/>
                <a:ea typeface="Calibri" pitchFamily="34" charset="-122"/>
                <a:cs typeface="Calibri" pitchFamily="34" charset="-120"/>
              </a:rPr>
              <a:t>unregistered</a:t>
            </a:r>
            <a:endParaRPr lang="en-US" sz="1100" dirty="0"/>
          </a:p>
        </p:txBody>
      </p:sp>
      <p:sp>
        <p:nvSpPr>
          <p:cNvPr id="24" name="Text 16"/>
          <p:cNvSpPr txBox="1"/>
          <p:nvPr/>
        </p:nvSpPr>
        <p:spPr>
          <a:xfrm>
            <a:off x="548640" y="5742432"/>
            <a:ext cx="11064240" cy="411480"/>
          </a:xfrm>
          <a:prstGeom prst="rect">
            <a:avLst/>
          </a:prstGeom>
          <a:noFill/>
          <a:ln/>
        </p:spPr>
        <p:txBody>
          <a:bodyPr wrap="square" lIns="0" tIns="0" rIns="0" bIns="0" rtlCol="0" anchor="t"/>
          <a:lstStyle/>
          <a:p>
            <a:pPr marL="0" indent="0">
              <a:buNone/>
            </a:pPr>
            <a:r>
              <a:rPr lang="en-US" sz="1800" i="1" dirty="0">
                <a:solidFill>
                  <a:srgbClr val="FBBF24"/>
                </a:solidFill>
                <a:latin typeface="Georgia" pitchFamily="34" charset="0"/>
                <a:ea typeface="Georgia" pitchFamily="34" charset="-122"/>
                <a:cs typeface="Georgia" pitchFamily="34" charset="-120"/>
              </a:rPr>
              <a:t>A spaza owner can't get stock on credit. A builder can't prove the houses he's built.</a:t>
            </a:r>
            <a:endParaRPr lang="en-US" sz="1800" dirty="0"/>
          </a:p>
        </p:txBody>
      </p:sp>
      <p:pic>
        <p:nvPicPr>
          <p:cNvPr id="25" name="Image 3" descr="preencoded.png"/>
          <p:cNvPicPr>
            <a:picLocks noChangeAspect="1"/>
          </p:cNvPicPr>
          <p:nvPr/>
        </p:nvPicPr>
        <p:blipFill>
          <a:blip r:embed="rId9"/>
          <a:stretch>
            <a:fillRect/>
          </a:stretch>
        </p:blipFill>
        <p:spPr>
          <a:xfrm>
            <a:off x="11231575" y="6291072"/>
            <a:ext cx="384048" cy="384048"/>
          </a:xfrm>
          <a:prstGeom prst="rect">
            <a:avLst/>
          </a:prstGeom>
        </p:spPr>
      </p:pic>
      <p:sp>
        <p:nvSpPr>
          <p:cNvPr id="26" name="Text 17"/>
          <p:cNvSpPr txBox="1"/>
          <p:nvPr/>
        </p:nvSpPr>
        <p:spPr>
          <a:xfrm>
            <a:off x="10682935" y="6355080"/>
            <a:ext cx="457200" cy="274320"/>
          </a:xfrm>
          <a:prstGeom prst="rect">
            <a:avLst/>
          </a:prstGeom>
          <a:noFill/>
          <a:ln/>
        </p:spPr>
        <p:txBody>
          <a:bodyPr wrap="square" lIns="0" tIns="0" rIns="0" bIns="0" rtlCol="0" anchor="t"/>
          <a:lstStyle/>
          <a:p>
            <a:pPr marL="0" indent="0" algn="r">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
        <p:nvSpPr>
          <p:cNvPr id="27" name="Text 18"/>
          <p:cNvSpPr txBox="1"/>
          <p:nvPr/>
        </p:nvSpPr>
        <p:spPr>
          <a:xfrm>
            <a:off x="548640" y="6336792"/>
            <a:ext cx="9875520" cy="365760"/>
          </a:xfrm>
          <a:prstGeom prst="rect">
            <a:avLst/>
          </a:prstGeom>
          <a:noFill/>
          <a:ln/>
        </p:spPr>
        <p:txBody>
          <a:bodyPr wrap="square" lIns="0" tIns="0" rIns="0" bIns="0" rtlCol="0" anchor="t"/>
          <a:lstStyle/>
          <a:p>
            <a:pPr marL="0" indent="0">
              <a:buNone/>
            </a:pPr>
            <a:r>
              <a:rPr lang="en-US" sz="950" dirty="0">
                <a:solidFill>
                  <a:srgbClr val="64748B"/>
                </a:solidFill>
                <a:latin typeface="Calibri" pitchFamily="34" charset="0"/>
                <a:ea typeface="Calibri" pitchFamily="34" charset="-122"/>
                <a:cs typeface="Calibri" pitchFamily="34" charset="-120"/>
              </a:rPr>
              <a:t>Standard Bank, Township Informal Economy Report 2025; DSBD &amp; dtic, Spaza Shop Support Fund update, May 2026.</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57200"/>
            <a:ext cx="822960" cy="822960"/>
          </a:xfrm>
          <a:prstGeom prst="rect">
            <a:avLst/>
          </a:prstGeom>
        </p:spPr>
      </p:pic>
      <p:sp>
        <p:nvSpPr>
          <p:cNvPr id="3" name="Text 0"/>
          <p:cNvSpPr txBox="1"/>
          <p:nvPr/>
        </p:nvSpPr>
        <p:spPr>
          <a:xfrm>
            <a:off x="1600200" y="603504"/>
            <a:ext cx="10058400" cy="731520"/>
          </a:xfrm>
          <a:prstGeom prst="rect">
            <a:avLst/>
          </a:prstGeom>
          <a:noFill/>
          <a:ln/>
        </p:spPr>
        <p:txBody>
          <a:bodyPr wrap="square" lIns="0" tIns="0" rIns="0" bIns="0" rtlCol="0" anchor="t"/>
          <a:lstStyle/>
          <a:p>
            <a:pPr marL="0" indent="0">
              <a:buNone/>
            </a:pPr>
            <a:r>
              <a:rPr lang="en-US" sz="3200" b="1" dirty="0">
                <a:solidFill>
                  <a:srgbClr val="F8FAFC"/>
                </a:solidFill>
                <a:latin typeface="Georgia" pitchFamily="34" charset="0"/>
                <a:ea typeface="Georgia" pitchFamily="34" charset="-122"/>
                <a:cs typeface="Georgia" pitchFamily="34" charset="-120"/>
              </a:rPr>
              <a:t>One free app for the whole informal market</a:t>
            </a:r>
            <a:endParaRPr lang="en-US" sz="3200" dirty="0"/>
          </a:p>
        </p:txBody>
      </p:sp>
      <p:sp>
        <p:nvSpPr>
          <p:cNvPr id="4" name="Shape 1"/>
          <p:cNvSpPr/>
          <p:nvPr/>
        </p:nvSpPr>
        <p:spPr>
          <a:xfrm>
            <a:off x="548640" y="1600200"/>
            <a:ext cx="548640" cy="548640"/>
          </a:xfrm>
          <a:prstGeom prst="ellipse">
            <a:avLst/>
          </a:prstGeom>
          <a:solidFill>
            <a:srgbClr val="1E2B45"/>
          </a:solidFill>
          <a:ln w="19050">
            <a:solidFill>
              <a:srgbClr val="10B981"/>
            </a:solidFill>
            <a:prstDash val="solid"/>
          </a:ln>
        </p:spPr>
      </p:sp>
      <p:pic>
        <p:nvPicPr>
          <p:cNvPr id="5" name="Image 1" descr="preencoded.png"/>
          <p:cNvPicPr>
            <a:picLocks noChangeAspect="1"/>
          </p:cNvPicPr>
          <p:nvPr/>
        </p:nvPicPr>
        <p:blipFill>
          <a:blip r:embed="rId4"/>
          <a:stretch>
            <a:fillRect/>
          </a:stretch>
        </p:blipFill>
        <p:spPr>
          <a:xfrm>
            <a:off x="680314" y="1731874"/>
            <a:ext cx="285293" cy="285293"/>
          </a:xfrm>
          <a:prstGeom prst="rect">
            <a:avLst/>
          </a:prstGeom>
        </p:spPr>
      </p:pic>
      <p:sp>
        <p:nvSpPr>
          <p:cNvPr id="6" name="Text 2"/>
          <p:cNvSpPr txBox="1"/>
          <p:nvPr/>
        </p:nvSpPr>
        <p:spPr>
          <a:xfrm>
            <a:off x="1261872" y="1581912"/>
            <a:ext cx="4434840" cy="1097280"/>
          </a:xfrm>
          <a:prstGeom prst="rect">
            <a:avLst/>
          </a:prstGeom>
          <a:noFill/>
          <a:ln/>
        </p:spPr>
        <p:txBody>
          <a:bodyPr wrap="square" lIns="0" tIns="0" rIns="0" bIns="0" rtlCol="0" anchor="t"/>
          <a:lstStyle/>
          <a:p>
            <a:pPr marL="0" indent="0">
              <a:spcAft>
                <a:spcPts val="400"/>
              </a:spcAft>
              <a:buNone/>
            </a:pPr>
            <a:r>
              <a:rPr lang="en-US" sz="1700" b="1" dirty="0">
                <a:solidFill>
                  <a:srgbClr val="10B981"/>
                </a:solidFill>
                <a:latin typeface="Calibri" pitchFamily="34" charset="0"/>
                <a:ea typeface="Calibri" pitchFamily="34" charset="-122"/>
                <a:cs typeface="Calibri" pitchFamily="34" charset="-120"/>
              </a:rPr>
              <a:t>Matched with suppliers who deliver</a:t>
            </a:r>
            <a:endParaRPr lang="en-US" sz="1700" dirty="0"/>
          </a:p>
          <a:p>
            <a:pPr marL="0" indent="0">
              <a:buNone/>
            </a:pPr>
            <a:r>
              <a:rPr lang="en-US" sz="1350" dirty="0">
                <a:solidFill>
                  <a:srgbClr val="A3B3C9"/>
                </a:solidFill>
                <a:latin typeface="Calibri" pitchFamily="34" charset="0"/>
                <a:ea typeface="Calibri" pitchFamily="34" charset="-122"/>
                <a:cs typeface="Calibri" pitchFamily="34" charset="-120"/>
              </a:rPr>
              <a:t>Spaza shops and food sellers order from the suppliers they use, and ones that fit them.</a:t>
            </a:r>
            <a:endParaRPr lang="en-US" sz="1700" dirty="0"/>
          </a:p>
        </p:txBody>
      </p:sp>
      <p:sp>
        <p:nvSpPr>
          <p:cNvPr id="7" name="Shape 3"/>
          <p:cNvSpPr/>
          <p:nvPr/>
        </p:nvSpPr>
        <p:spPr>
          <a:xfrm>
            <a:off x="6025896" y="1600200"/>
            <a:ext cx="1722090" cy="3392424"/>
          </a:xfrm>
          <a:prstGeom prst="roundRect">
            <a:avLst>
              <a:gd name="adj" fmla="val 6372"/>
            </a:avLst>
          </a:prstGeom>
          <a:solidFill>
            <a:srgbClr val="1E2B45"/>
          </a:solidFill>
          <a:ln w="12700">
            <a:solidFill>
              <a:srgbClr val="1E2B45"/>
            </a:solidFill>
            <a:prstDash val="solid"/>
          </a:ln>
        </p:spPr>
      </p:sp>
      <p:pic>
        <p:nvPicPr>
          <p:cNvPr id="8" name="Image 2" descr="preencoded.png"/>
          <p:cNvPicPr>
            <a:picLocks noChangeAspect="1"/>
          </p:cNvPicPr>
          <p:nvPr/>
        </p:nvPicPr>
        <p:blipFill>
          <a:blip r:embed="rId5"/>
          <a:stretch>
            <a:fillRect/>
          </a:stretch>
        </p:blipFill>
        <p:spPr>
          <a:xfrm>
            <a:off x="6099048" y="1673352"/>
            <a:ext cx="1575786" cy="3246120"/>
          </a:xfrm>
          <a:prstGeom prst="rect">
            <a:avLst/>
          </a:prstGeom>
        </p:spPr>
      </p:pic>
      <p:sp>
        <p:nvSpPr>
          <p:cNvPr id="9" name="Shape 4"/>
          <p:cNvSpPr/>
          <p:nvPr/>
        </p:nvSpPr>
        <p:spPr>
          <a:xfrm>
            <a:off x="5897880" y="1472184"/>
            <a:ext cx="402336" cy="402336"/>
          </a:xfrm>
          <a:prstGeom prst="ellipse">
            <a:avLst/>
          </a:prstGeom>
          <a:solidFill>
            <a:srgbClr val="10B981"/>
          </a:solidFill>
          <a:ln w="25400">
            <a:solidFill>
              <a:srgbClr val="0F172A"/>
            </a:solidFill>
            <a:prstDash val="solid"/>
          </a:ln>
        </p:spPr>
      </p:sp>
      <p:sp>
        <p:nvSpPr>
          <p:cNvPr id="10" name="Text 5"/>
          <p:cNvSpPr txBox="1"/>
          <p:nvPr/>
        </p:nvSpPr>
        <p:spPr>
          <a:xfrm>
            <a:off x="5897880" y="1472184"/>
            <a:ext cx="402336" cy="402336"/>
          </a:xfrm>
          <a:prstGeom prst="rect">
            <a:avLst/>
          </a:prstGeom>
          <a:noFill/>
          <a:ln/>
        </p:spPr>
        <p:txBody>
          <a:bodyPr wrap="square" lIns="0" tIns="0" rIns="0" bIns="0" rtlCol="0" anchor="ctr"/>
          <a:lstStyle/>
          <a:p>
            <a:pPr marL="0" indent="0" algn="ctr">
              <a:buNone/>
            </a:pPr>
            <a:r>
              <a:rPr lang="en-US" sz="1400" b="1" dirty="0">
                <a:solidFill>
                  <a:srgbClr val="0F172A"/>
                </a:solidFill>
                <a:latin typeface="Calibri" pitchFamily="34" charset="0"/>
                <a:ea typeface="Calibri" pitchFamily="34" charset="-122"/>
                <a:cs typeface="Calibri" pitchFamily="34" charset="-120"/>
              </a:rPr>
              <a:t>1</a:t>
            </a:r>
            <a:endParaRPr lang="en-US" sz="1400" dirty="0"/>
          </a:p>
        </p:txBody>
      </p:sp>
      <p:sp>
        <p:nvSpPr>
          <p:cNvPr id="11" name="Shape 6"/>
          <p:cNvSpPr/>
          <p:nvPr/>
        </p:nvSpPr>
        <p:spPr>
          <a:xfrm>
            <a:off x="548640" y="2770632"/>
            <a:ext cx="548640" cy="548640"/>
          </a:xfrm>
          <a:prstGeom prst="ellipse">
            <a:avLst/>
          </a:prstGeom>
          <a:solidFill>
            <a:srgbClr val="1E2B45"/>
          </a:solidFill>
          <a:ln w="19050">
            <a:solidFill>
              <a:srgbClr val="FBBF24"/>
            </a:solidFill>
            <a:prstDash val="solid"/>
          </a:ln>
        </p:spPr>
      </p:sp>
      <p:pic>
        <p:nvPicPr>
          <p:cNvPr id="12" name="Image 3" descr="preencoded.png"/>
          <p:cNvPicPr>
            <a:picLocks noChangeAspect="1"/>
          </p:cNvPicPr>
          <p:nvPr/>
        </p:nvPicPr>
        <p:blipFill>
          <a:blip r:embed="rId6"/>
          <a:stretch>
            <a:fillRect/>
          </a:stretch>
        </p:blipFill>
        <p:spPr>
          <a:xfrm>
            <a:off x="680314" y="2902306"/>
            <a:ext cx="285293" cy="285293"/>
          </a:xfrm>
          <a:prstGeom prst="rect">
            <a:avLst/>
          </a:prstGeom>
        </p:spPr>
      </p:pic>
      <p:sp>
        <p:nvSpPr>
          <p:cNvPr id="13" name="Text 7"/>
          <p:cNvSpPr txBox="1"/>
          <p:nvPr/>
        </p:nvSpPr>
        <p:spPr>
          <a:xfrm>
            <a:off x="1261872" y="2752344"/>
            <a:ext cx="4434840" cy="1097280"/>
          </a:xfrm>
          <a:prstGeom prst="rect">
            <a:avLst/>
          </a:prstGeom>
          <a:noFill/>
          <a:ln/>
        </p:spPr>
        <p:txBody>
          <a:bodyPr wrap="square" lIns="0" tIns="0" rIns="0" bIns="0" rtlCol="0" anchor="t"/>
          <a:lstStyle/>
          <a:p>
            <a:pPr marL="0" indent="0">
              <a:spcAft>
                <a:spcPts val="400"/>
              </a:spcAft>
              <a:buNone/>
            </a:pPr>
            <a:r>
              <a:rPr lang="en-US" sz="1700" b="1" dirty="0">
                <a:solidFill>
                  <a:srgbClr val="FBBF24"/>
                </a:solidFill>
                <a:latin typeface="Calibri" pitchFamily="34" charset="0"/>
                <a:ea typeface="Calibri" pitchFamily="34" charset="-122"/>
                <a:cs typeface="Calibri" pitchFamily="34" charset="-120"/>
              </a:rPr>
              <a:t>Every job logged with photos</a:t>
            </a:r>
            <a:endParaRPr lang="en-US" sz="1700" dirty="0"/>
          </a:p>
          <a:p>
            <a:pPr marL="0" indent="0">
              <a:buNone/>
            </a:pPr>
            <a:r>
              <a:rPr lang="en-US" sz="1350" dirty="0">
                <a:solidFill>
                  <a:srgbClr val="A3B3C9"/>
                </a:solidFill>
                <a:latin typeface="Calibri" pitchFamily="34" charset="0"/>
                <a:ea typeface="Calibri" pitchFamily="34" charset="-122"/>
                <a:cs typeface="Calibri" pitchFamily="34" charset="-120"/>
              </a:rPr>
              <a:t>Builders photograph each stage, and the client signs it off from a link.</a:t>
            </a:r>
            <a:endParaRPr lang="en-US" sz="1700" dirty="0"/>
          </a:p>
        </p:txBody>
      </p:sp>
      <p:sp>
        <p:nvSpPr>
          <p:cNvPr id="14" name="Shape 8"/>
          <p:cNvSpPr/>
          <p:nvPr/>
        </p:nvSpPr>
        <p:spPr>
          <a:xfrm>
            <a:off x="7973568" y="1600200"/>
            <a:ext cx="1722090" cy="3392424"/>
          </a:xfrm>
          <a:prstGeom prst="roundRect">
            <a:avLst>
              <a:gd name="adj" fmla="val 6372"/>
            </a:avLst>
          </a:prstGeom>
          <a:solidFill>
            <a:srgbClr val="1E2B45"/>
          </a:solidFill>
          <a:ln w="12700">
            <a:solidFill>
              <a:srgbClr val="1E2B45"/>
            </a:solidFill>
            <a:prstDash val="solid"/>
          </a:ln>
        </p:spPr>
      </p:sp>
      <p:pic>
        <p:nvPicPr>
          <p:cNvPr id="15" name="Image 4" descr="preencoded.png"/>
          <p:cNvPicPr>
            <a:picLocks noChangeAspect="1"/>
          </p:cNvPicPr>
          <p:nvPr/>
        </p:nvPicPr>
        <p:blipFill>
          <a:blip r:embed="rId7"/>
          <a:stretch>
            <a:fillRect/>
          </a:stretch>
        </p:blipFill>
        <p:spPr>
          <a:xfrm>
            <a:off x="8046720" y="1673352"/>
            <a:ext cx="1575786" cy="3246120"/>
          </a:xfrm>
          <a:prstGeom prst="rect">
            <a:avLst/>
          </a:prstGeom>
        </p:spPr>
      </p:pic>
      <p:sp>
        <p:nvSpPr>
          <p:cNvPr id="16" name="Shape 9"/>
          <p:cNvSpPr/>
          <p:nvPr/>
        </p:nvSpPr>
        <p:spPr>
          <a:xfrm>
            <a:off x="7845552" y="1472184"/>
            <a:ext cx="402336" cy="402336"/>
          </a:xfrm>
          <a:prstGeom prst="ellipse">
            <a:avLst/>
          </a:prstGeom>
          <a:solidFill>
            <a:srgbClr val="FBBF24"/>
          </a:solidFill>
          <a:ln w="25400">
            <a:solidFill>
              <a:srgbClr val="0F172A"/>
            </a:solidFill>
            <a:prstDash val="solid"/>
          </a:ln>
        </p:spPr>
      </p:sp>
      <p:sp>
        <p:nvSpPr>
          <p:cNvPr id="17" name="Text 10"/>
          <p:cNvSpPr txBox="1"/>
          <p:nvPr/>
        </p:nvSpPr>
        <p:spPr>
          <a:xfrm>
            <a:off x="7845552" y="1472184"/>
            <a:ext cx="402336" cy="402336"/>
          </a:xfrm>
          <a:prstGeom prst="rect">
            <a:avLst/>
          </a:prstGeom>
          <a:noFill/>
          <a:ln/>
        </p:spPr>
        <p:txBody>
          <a:bodyPr wrap="square" lIns="0" tIns="0" rIns="0" bIns="0" rtlCol="0" anchor="ctr"/>
          <a:lstStyle/>
          <a:p>
            <a:pPr marL="0" indent="0" algn="ctr">
              <a:buNone/>
            </a:pPr>
            <a:r>
              <a:rPr lang="en-US" sz="1400" b="1" dirty="0">
                <a:solidFill>
                  <a:srgbClr val="0F172A"/>
                </a:solidFill>
                <a:latin typeface="Calibri" pitchFamily="34" charset="0"/>
                <a:ea typeface="Calibri" pitchFamily="34" charset="-122"/>
                <a:cs typeface="Calibri" pitchFamily="34" charset="-120"/>
              </a:rPr>
              <a:t>2</a:t>
            </a:r>
            <a:endParaRPr lang="en-US" sz="1400" dirty="0"/>
          </a:p>
        </p:txBody>
      </p:sp>
      <p:sp>
        <p:nvSpPr>
          <p:cNvPr id="18" name="Shape 11"/>
          <p:cNvSpPr/>
          <p:nvPr/>
        </p:nvSpPr>
        <p:spPr>
          <a:xfrm>
            <a:off x="548640" y="3941064"/>
            <a:ext cx="548640" cy="548640"/>
          </a:xfrm>
          <a:prstGeom prst="ellipse">
            <a:avLst/>
          </a:prstGeom>
          <a:solidFill>
            <a:srgbClr val="1E2B45"/>
          </a:solidFill>
          <a:ln w="19050">
            <a:solidFill>
              <a:srgbClr val="34D399"/>
            </a:solidFill>
            <a:prstDash val="solid"/>
          </a:ln>
        </p:spPr>
      </p:sp>
      <p:pic>
        <p:nvPicPr>
          <p:cNvPr id="19" name="Image 5" descr="preencoded.png"/>
          <p:cNvPicPr>
            <a:picLocks noChangeAspect="1"/>
          </p:cNvPicPr>
          <p:nvPr/>
        </p:nvPicPr>
        <p:blipFill>
          <a:blip r:embed="rId8"/>
          <a:stretch>
            <a:fillRect/>
          </a:stretch>
        </p:blipFill>
        <p:spPr>
          <a:xfrm>
            <a:off x="680314" y="4072738"/>
            <a:ext cx="285293" cy="285293"/>
          </a:xfrm>
          <a:prstGeom prst="rect">
            <a:avLst/>
          </a:prstGeom>
        </p:spPr>
      </p:pic>
      <p:sp>
        <p:nvSpPr>
          <p:cNvPr id="20" name="Text 12"/>
          <p:cNvSpPr txBox="1"/>
          <p:nvPr/>
        </p:nvSpPr>
        <p:spPr>
          <a:xfrm>
            <a:off x="1261872" y="3922776"/>
            <a:ext cx="4434840" cy="1097280"/>
          </a:xfrm>
          <a:prstGeom prst="rect">
            <a:avLst/>
          </a:prstGeom>
          <a:noFill/>
          <a:ln/>
        </p:spPr>
        <p:txBody>
          <a:bodyPr wrap="square" lIns="0" tIns="0" rIns="0" bIns="0" rtlCol="0" anchor="t"/>
          <a:lstStyle/>
          <a:p>
            <a:pPr marL="0" indent="0">
              <a:spcAft>
                <a:spcPts val="400"/>
              </a:spcAft>
              <a:buNone/>
            </a:pPr>
            <a:r>
              <a:rPr lang="en-US" sz="1700" b="1" dirty="0">
                <a:solidFill>
                  <a:srgbClr val="34D399"/>
                </a:solidFill>
                <a:latin typeface="Calibri" pitchFamily="34" charset="0"/>
                <a:ea typeface="Calibri" pitchFamily="34" charset="-122"/>
                <a:cs typeface="Calibri" pitchFamily="34" charset="-120"/>
              </a:rPr>
              <a:t>Payments confirmed</a:t>
            </a:r>
            <a:endParaRPr lang="en-US" sz="1700" dirty="0"/>
          </a:p>
          <a:p>
            <a:pPr marL="0" indent="0">
              <a:buNone/>
            </a:pPr>
            <a:r>
              <a:rPr lang="en-US" sz="1350" dirty="0">
                <a:solidFill>
                  <a:srgbClr val="A3B3C9"/>
                </a:solidFill>
                <a:latin typeface="Calibri" pitchFamily="34" charset="0"/>
                <a:ea typeface="Calibri" pitchFamily="34" charset="-122"/>
                <a:cs typeface="Calibri" pitchFamily="34" charset="-120"/>
              </a:rPr>
              <a:t>Paid in the app: confirmed by the payment provider. A job stage: confirmed by both sides.</a:t>
            </a:r>
            <a:endParaRPr lang="en-US" sz="1700" dirty="0"/>
          </a:p>
        </p:txBody>
      </p:sp>
      <p:sp>
        <p:nvSpPr>
          <p:cNvPr id="21" name="Shape 13"/>
          <p:cNvSpPr/>
          <p:nvPr/>
        </p:nvSpPr>
        <p:spPr>
          <a:xfrm>
            <a:off x="9921240" y="1600200"/>
            <a:ext cx="1722090" cy="3392424"/>
          </a:xfrm>
          <a:prstGeom prst="roundRect">
            <a:avLst>
              <a:gd name="adj" fmla="val 6372"/>
            </a:avLst>
          </a:prstGeom>
          <a:solidFill>
            <a:srgbClr val="1E2B45"/>
          </a:solidFill>
          <a:ln w="12700">
            <a:solidFill>
              <a:srgbClr val="1E2B45"/>
            </a:solidFill>
            <a:prstDash val="solid"/>
          </a:ln>
        </p:spPr>
      </p:sp>
      <p:pic>
        <p:nvPicPr>
          <p:cNvPr id="22" name="Image 6" descr="preencoded.png"/>
          <p:cNvPicPr>
            <a:picLocks noChangeAspect="1"/>
          </p:cNvPicPr>
          <p:nvPr/>
        </p:nvPicPr>
        <p:blipFill>
          <a:blip r:embed="rId9"/>
          <a:stretch>
            <a:fillRect/>
          </a:stretch>
        </p:blipFill>
        <p:spPr>
          <a:xfrm>
            <a:off x="9994392" y="1673352"/>
            <a:ext cx="1575786" cy="3246120"/>
          </a:xfrm>
          <a:prstGeom prst="rect">
            <a:avLst/>
          </a:prstGeom>
        </p:spPr>
      </p:pic>
      <p:sp>
        <p:nvSpPr>
          <p:cNvPr id="23" name="Shape 14"/>
          <p:cNvSpPr/>
          <p:nvPr/>
        </p:nvSpPr>
        <p:spPr>
          <a:xfrm>
            <a:off x="9793224" y="1472184"/>
            <a:ext cx="402336" cy="402336"/>
          </a:xfrm>
          <a:prstGeom prst="ellipse">
            <a:avLst/>
          </a:prstGeom>
          <a:solidFill>
            <a:srgbClr val="34D399"/>
          </a:solidFill>
          <a:ln w="25400">
            <a:solidFill>
              <a:srgbClr val="0F172A"/>
            </a:solidFill>
            <a:prstDash val="solid"/>
          </a:ln>
        </p:spPr>
      </p:sp>
      <p:sp>
        <p:nvSpPr>
          <p:cNvPr id="24" name="Text 15"/>
          <p:cNvSpPr txBox="1"/>
          <p:nvPr/>
        </p:nvSpPr>
        <p:spPr>
          <a:xfrm>
            <a:off x="9793224" y="1472184"/>
            <a:ext cx="402336" cy="402336"/>
          </a:xfrm>
          <a:prstGeom prst="rect">
            <a:avLst/>
          </a:prstGeom>
          <a:noFill/>
          <a:ln/>
        </p:spPr>
        <p:txBody>
          <a:bodyPr wrap="square" lIns="0" tIns="0" rIns="0" bIns="0" rtlCol="0" anchor="ctr"/>
          <a:lstStyle/>
          <a:p>
            <a:pPr marL="0" indent="0" algn="ctr">
              <a:buNone/>
            </a:pPr>
            <a:r>
              <a:rPr lang="en-US" sz="1400" b="1" dirty="0">
                <a:solidFill>
                  <a:srgbClr val="0F172A"/>
                </a:solidFill>
                <a:latin typeface="Calibri" pitchFamily="34" charset="0"/>
                <a:ea typeface="Calibri" pitchFamily="34" charset="-122"/>
                <a:cs typeface="Calibri" pitchFamily="34" charset="-120"/>
              </a:rPr>
              <a:t>3</a:t>
            </a:r>
            <a:endParaRPr lang="en-US" sz="1400" dirty="0"/>
          </a:p>
        </p:txBody>
      </p:sp>
      <p:sp>
        <p:nvSpPr>
          <p:cNvPr id="25" name="Shape 16"/>
          <p:cNvSpPr/>
          <p:nvPr/>
        </p:nvSpPr>
        <p:spPr>
          <a:xfrm>
            <a:off x="548640" y="5120640"/>
            <a:ext cx="11091672" cy="1024128"/>
          </a:xfrm>
          <a:prstGeom prst="roundRect">
            <a:avLst>
              <a:gd name="adj" fmla="val 10714"/>
            </a:avLst>
          </a:prstGeom>
          <a:solidFill>
            <a:srgbClr val="1E2B45"/>
          </a:solidFill>
          <a:ln w="12700">
            <a:solidFill>
              <a:srgbClr val="1E2B45"/>
            </a:solidFill>
            <a:prstDash val="solid"/>
          </a:ln>
        </p:spPr>
      </p:sp>
      <p:sp>
        <p:nvSpPr>
          <p:cNvPr id="26" name="Shape 17"/>
          <p:cNvSpPr/>
          <p:nvPr/>
        </p:nvSpPr>
        <p:spPr>
          <a:xfrm>
            <a:off x="749808" y="5303520"/>
            <a:ext cx="658368" cy="658368"/>
          </a:xfrm>
          <a:prstGeom prst="ellipse">
            <a:avLst/>
          </a:prstGeom>
          <a:solidFill>
            <a:srgbClr val="1E2B45"/>
          </a:solidFill>
          <a:ln w="19050">
            <a:solidFill>
              <a:srgbClr val="FBBF24"/>
            </a:solidFill>
            <a:prstDash val="solid"/>
          </a:ln>
        </p:spPr>
      </p:sp>
      <p:pic>
        <p:nvPicPr>
          <p:cNvPr id="27" name="Image 7" descr="preencoded.png"/>
          <p:cNvPicPr>
            <a:picLocks noChangeAspect="1"/>
          </p:cNvPicPr>
          <p:nvPr/>
        </p:nvPicPr>
        <p:blipFill>
          <a:blip r:embed="rId10"/>
          <a:stretch>
            <a:fillRect/>
          </a:stretch>
        </p:blipFill>
        <p:spPr>
          <a:xfrm>
            <a:off x="907816" y="5461528"/>
            <a:ext cx="342351" cy="342351"/>
          </a:xfrm>
          <a:prstGeom prst="rect">
            <a:avLst/>
          </a:prstGeom>
        </p:spPr>
      </p:pic>
      <p:sp>
        <p:nvSpPr>
          <p:cNvPr id="28" name="Text 18"/>
          <p:cNvSpPr txBox="1"/>
          <p:nvPr/>
        </p:nvSpPr>
        <p:spPr>
          <a:xfrm>
            <a:off x="1600200" y="5120640"/>
            <a:ext cx="9875520" cy="1024128"/>
          </a:xfrm>
          <a:prstGeom prst="rect">
            <a:avLst/>
          </a:prstGeom>
          <a:noFill/>
          <a:ln/>
        </p:spPr>
        <p:txBody>
          <a:bodyPr wrap="square" lIns="0" tIns="0" rIns="0" bIns="0" rtlCol="0" anchor="ctr"/>
          <a:lstStyle/>
          <a:p>
            <a:pPr marL="0" indent="0">
              <a:buNone/>
            </a:pPr>
            <a:r>
              <a:rPr lang="en-US" sz="1450" b="1" dirty="0">
                <a:solidFill>
                  <a:srgbClr val="FBBF24"/>
                </a:solidFill>
                <a:latin typeface="Calibri" pitchFamily="34" charset="0"/>
                <a:ea typeface="Calibri" pitchFamily="34" charset="-122"/>
                <a:cs typeface="Calibri" pitchFamily="34" charset="-120"/>
              </a:rPr>
              <a:t>Airtime advance, for business. </a:t>
            </a:r>
            <a:r>
              <a:rPr lang="en-US" sz="1450" dirty="0">
                <a:solidFill>
                  <a:srgbClr val="F8FAFC"/>
                </a:solidFill>
                <a:latin typeface="Calibri" pitchFamily="34" charset="0"/>
                <a:ea typeface="Calibri" pitchFamily="34" charset="-122"/>
                <a:cs typeface="Calibri" pitchFamily="34" charset="-120"/>
              </a:rPr>
              <a:t>Your network lends you airtime because it's seen that you always pay. Every paid order and signed-off job adds to a record the owner holds: the first step to credit, better suppliers and new clients.</a:t>
            </a:r>
            <a:endParaRPr lang="en-US" sz="1450" dirty="0"/>
          </a:p>
        </p:txBody>
      </p:sp>
      <p:pic>
        <p:nvPicPr>
          <p:cNvPr id="29" name="Image 8" descr="preencoded.png"/>
          <p:cNvPicPr>
            <a:picLocks noChangeAspect="1"/>
          </p:cNvPicPr>
          <p:nvPr/>
        </p:nvPicPr>
        <p:blipFill>
          <a:blip r:embed="rId3"/>
          <a:stretch>
            <a:fillRect/>
          </a:stretch>
        </p:blipFill>
        <p:spPr>
          <a:xfrm>
            <a:off x="11231575" y="6291072"/>
            <a:ext cx="384048" cy="384048"/>
          </a:xfrm>
          <a:prstGeom prst="rect">
            <a:avLst/>
          </a:prstGeom>
        </p:spPr>
      </p:pic>
      <p:sp>
        <p:nvSpPr>
          <p:cNvPr id="30" name="Text 19"/>
          <p:cNvSpPr txBox="1"/>
          <p:nvPr/>
        </p:nvSpPr>
        <p:spPr>
          <a:xfrm>
            <a:off x="10682935" y="6355080"/>
            <a:ext cx="457200" cy="274320"/>
          </a:xfrm>
          <a:prstGeom prst="rect">
            <a:avLst/>
          </a:prstGeom>
          <a:noFill/>
          <a:ln/>
        </p:spPr>
        <p:txBody>
          <a:bodyPr wrap="square" lIns="0" tIns="0" rIns="0" bIns="0" rtlCol="0" anchor="t"/>
          <a:lstStyle/>
          <a:p>
            <a:pPr marL="0" indent="0" algn="r">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t"/>
          <a:lstStyle/>
          <a:p>
            <a:pPr marL="0" indent="0">
              <a:buNone/>
            </a:pPr>
            <a:r>
              <a:rPr lang="en-US" sz="1300" b="1" kern="0" spc="300" dirty="0">
                <a:solidFill>
                  <a:srgbClr val="10B981"/>
                </a:solidFill>
                <a:latin typeface="Calibri" pitchFamily="34" charset="0"/>
                <a:ea typeface="Calibri" pitchFamily="34" charset="-122"/>
                <a:cs typeface="Calibri" pitchFamily="34" charset="-120"/>
              </a:rPr>
              <a:t>USER JOURNEY  ·  DEMO</a:t>
            </a:r>
            <a:endParaRPr lang="en-US" sz="13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marL="0" indent="0">
              <a:buNone/>
            </a:pPr>
            <a:r>
              <a:rPr lang="en-US" sz="3400" b="1" dirty="0">
                <a:solidFill>
                  <a:srgbClr val="F8FAFC"/>
                </a:solidFill>
                <a:latin typeface="Georgia" pitchFamily="34" charset="0"/>
                <a:ea typeface="Georgia" pitchFamily="34" charset="-122"/>
                <a:cs typeface="Georgia" pitchFamily="34" charset="-120"/>
              </a:rPr>
              <a:t>Meet Sipho and Thabo</a:t>
            </a:r>
            <a:endParaRPr lang="en-US" sz="3400" dirty="0"/>
          </a:p>
        </p:txBody>
      </p:sp>
      <p:sp>
        <p:nvSpPr>
          <p:cNvPr id="4" name="Shape 2"/>
          <p:cNvSpPr/>
          <p:nvPr/>
        </p:nvSpPr>
        <p:spPr>
          <a:xfrm>
            <a:off x="475488" y="1527048"/>
            <a:ext cx="7095744" cy="4055364"/>
          </a:xfrm>
          <a:prstGeom prst="roundRect">
            <a:avLst>
              <a:gd name="adj" fmla="val 2706"/>
            </a:avLst>
          </a:prstGeom>
          <a:solidFill>
            <a:srgbClr val="1E2B45"/>
          </a:solidFill>
          <a:ln w="12700">
            <a:solidFill>
              <a:srgbClr val="1E2B45"/>
            </a:solidFill>
            <a:prstDash val="solid"/>
          </a:ln>
        </p:spPr>
      </p:sp>
      <p:pic>
        <p:nvPicPr>
          <p:cNvPr id="5" name="Demo 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48640" y="1600200"/>
            <a:ext cx="6949440" cy="3909060"/>
          </a:xfrm>
          <a:prstGeom prst="rect">
            <a:avLst/>
          </a:prstGeom>
        </p:spPr>
      </p:pic>
      <p:sp>
        <p:nvSpPr>
          <p:cNvPr id="6" name="Text 3"/>
          <p:cNvSpPr txBox="1"/>
          <p:nvPr/>
        </p:nvSpPr>
        <p:spPr>
          <a:xfrm>
            <a:off x="548640" y="5715000"/>
            <a:ext cx="7040880" cy="411480"/>
          </a:xfrm>
          <a:prstGeom prst="rect">
            <a:avLst/>
          </a:prstGeom>
          <a:noFill/>
          <a:ln/>
        </p:spPr>
        <p:txBody>
          <a:bodyPr wrap="square" lIns="0" tIns="0" rIns="0" bIns="0" rtlCol="0" anchor="t"/>
          <a:lstStyle/>
          <a:p>
            <a:pPr marL="0" indent="0">
              <a:buNone/>
            </a:pPr>
            <a:r>
              <a:rPr lang="en-US" sz="1000" b="1" dirty="0">
                <a:solidFill>
                  <a:srgbClr val="A3B3C9"/>
                </a:solidFill>
                <a:latin typeface="Calibri" pitchFamily="34" charset="0"/>
                <a:ea typeface="Calibri" pitchFamily="34" charset="-122"/>
                <a:cs typeface="Calibri" pitchFamily="34" charset="-120"/>
              </a:rPr>
              <a:t>Full video, 81 seconds:  </a:t>
            </a:r>
            <a:r>
              <a:rPr lang="en-US" sz="1000" u="sng" dirty="0">
                <a:solidFill>
                  <a:srgbClr val="34D399"/>
                </a:solidFill>
                <a:latin typeface="Calibri" pitchFamily="34" charset="0"/>
                <a:ea typeface="Calibri" pitchFamily="34" charset="-122"/>
                <a:cs typeface="Calibri" pitchFamily="34" charset="-120"/>
                <a:hlinkClick r:id="rId6" tooltip="Watch the full demo">
                  <a:extLst>
                    <a:ext uri="{A12FA001-AC4F-418D-AE19-62706E023703}">
                      <ahyp:hlinkClr xmlns:ahyp="http://schemas.microsoft.com/office/drawing/2018/hyperlinkcolor" val="tx"/>
                    </a:ext>
                  </a:extLst>
                </a:hlinkClick>
              </a:rPr>
              <a:t>https://drive.google.com/file/d/1yYQfVBEG-dnn-hxgRRtD5xDVw8vZV8Es/view?usp=drive_link</a:t>
            </a:r>
            <a:endParaRPr lang="en-US" sz="1000" dirty="0"/>
          </a:p>
        </p:txBody>
      </p:sp>
      <p:sp>
        <p:nvSpPr>
          <p:cNvPr id="7" name="Text 4"/>
          <p:cNvSpPr txBox="1"/>
          <p:nvPr/>
        </p:nvSpPr>
        <p:spPr>
          <a:xfrm>
            <a:off x="7863840" y="1600200"/>
            <a:ext cx="3776472" cy="274320"/>
          </a:xfrm>
          <a:prstGeom prst="rect">
            <a:avLst/>
          </a:prstGeom>
          <a:noFill/>
          <a:ln/>
        </p:spPr>
        <p:txBody>
          <a:bodyPr wrap="square" lIns="0" tIns="0" rIns="0" bIns="0" rtlCol="0" anchor="t"/>
          <a:lstStyle/>
          <a:p>
            <a:pPr marL="0" indent="0">
              <a:buNone/>
            </a:pPr>
            <a:r>
              <a:rPr lang="en-US" sz="1200" b="1" kern="0" spc="200" dirty="0">
                <a:solidFill>
                  <a:srgbClr val="10B981"/>
                </a:solidFill>
                <a:latin typeface="Calibri" pitchFamily="34" charset="0"/>
                <a:ea typeface="Calibri" pitchFamily="34" charset="-122"/>
                <a:cs typeface="Calibri" pitchFamily="34" charset="-120"/>
              </a:rPr>
              <a:t>SIPHO  ·  KOTA SHOP</a:t>
            </a:r>
            <a:endParaRPr lang="en-US" sz="1200" dirty="0"/>
          </a:p>
        </p:txBody>
      </p:sp>
      <p:sp>
        <p:nvSpPr>
          <p:cNvPr id="8" name="Text 5"/>
          <p:cNvSpPr txBox="1"/>
          <p:nvPr/>
        </p:nvSpPr>
        <p:spPr>
          <a:xfrm>
            <a:off x="7863840" y="1929384"/>
            <a:ext cx="3776472" cy="2103120"/>
          </a:xfrm>
          <a:prstGeom prst="rect">
            <a:avLst/>
          </a:prstGeom>
          <a:noFill/>
          <a:ln/>
        </p:spPr>
        <p:txBody>
          <a:bodyPr wrap="square" lIns="0" tIns="0" rIns="0" bIns="0" rtlCol="0" anchor="t"/>
          <a:lstStyle/>
          <a:p>
            <a:pPr marL="342900" indent="-342900">
              <a:spcAft>
                <a:spcPts val="400"/>
              </a:spcAft>
              <a:buSzPct val="100000"/>
              <a:buFont typeface="+mj-lt"/>
              <a:buAutoNum type="arabicPeriod"/>
            </a:pPr>
            <a:r>
              <a:rPr lang="en-US" sz="1250" dirty="0">
                <a:solidFill>
                  <a:srgbClr val="F8FAFC"/>
                </a:solidFill>
                <a:latin typeface="Calibri" pitchFamily="34" charset="0"/>
                <a:ea typeface="Calibri" pitchFamily="34" charset="-122"/>
                <a:cs typeface="Calibri" pitchFamily="34" charset="-120"/>
              </a:rPr>
              <a:t>Picks Food seller and drops a pin where he trades</a:t>
            </a:r>
            <a:endParaRPr lang="en-US" sz="1250" dirty="0"/>
          </a:p>
          <a:p>
            <a:pPr marL="342900" indent="-342900">
              <a:spcAft>
                <a:spcPts val="400"/>
              </a:spcAft>
              <a:buSzPct val="100000"/>
              <a:buFont typeface="+mj-lt"/>
              <a:buAutoNum type="arabicPeriod"/>
            </a:pPr>
            <a:r>
              <a:rPr lang="en-US" sz="1250" dirty="0">
                <a:solidFill>
                  <a:srgbClr val="F8FAFC"/>
                </a:solidFill>
                <a:latin typeface="Calibri" pitchFamily="34" charset="0"/>
                <a:ea typeface="Calibri" pitchFamily="34" charset="-122"/>
                <a:cs typeface="Calibri" pitchFamily="34" charset="-120"/>
              </a:rPr>
              <a:t>Finds suppliers who deliver to him</a:t>
            </a:r>
            <a:endParaRPr lang="en-US" sz="1250" dirty="0"/>
          </a:p>
          <a:p>
            <a:pPr marL="342900" indent="-342900">
              <a:spcAft>
                <a:spcPts val="400"/>
              </a:spcAft>
              <a:buSzPct val="100000"/>
              <a:buFont typeface="+mj-lt"/>
              <a:buAutoNum type="arabicPeriod"/>
            </a:pPr>
            <a:r>
              <a:rPr lang="en-US" sz="1250" dirty="0">
                <a:solidFill>
                  <a:srgbClr val="F8FAFC"/>
                </a:solidFill>
                <a:latin typeface="Calibri" pitchFamily="34" charset="0"/>
                <a:ea typeface="Calibri" pitchFamily="34" charset="-122"/>
                <a:cs typeface="Calibri" pitchFamily="34" charset="-120"/>
              </a:rPr>
              <a:t>Orders bread and pays: PayFast confirms it</a:t>
            </a:r>
            <a:endParaRPr lang="en-US" sz="1250" dirty="0"/>
          </a:p>
          <a:p>
            <a:pPr marL="342900" indent="-342900">
              <a:spcAft>
                <a:spcPts val="400"/>
              </a:spcAft>
              <a:buSzPct val="100000"/>
              <a:buFont typeface="+mj-lt"/>
              <a:buAutoNum type="arabicPeriod"/>
            </a:pPr>
            <a:r>
              <a:rPr lang="en-US" sz="1250" dirty="0">
                <a:solidFill>
                  <a:srgbClr val="F8FAFC"/>
                </a:solidFill>
                <a:latin typeface="Calibri" pitchFamily="34" charset="0"/>
                <a:ea typeface="Calibri" pitchFamily="34" charset="-122"/>
                <a:cs typeface="Calibri" pitchFamily="34" charset="-120"/>
              </a:rPr>
              <a:t>Sells kotas at the counter, in his order book</a:t>
            </a:r>
            <a:endParaRPr lang="en-US" sz="1250" dirty="0"/>
          </a:p>
          <a:p>
            <a:pPr marL="342900" indent="-342900">
              <a:spcAft>
                <a:spcPts val="400"/>
              </a:spcAft>
              <a:buSzPct val="100000"/>
              <a:buFont typeface="+mj-lt"/>
              <a:buAutoNum type="arabicPeriod"/>
            </a:pPr>
            <a:r>
              <a:rPr lang="en-US" sz="1250" dirty="0">
                <a:solidFill>
                  <a:srgbClr val="F8FAFC"/>
                </a:solidFill>
                <a:latin typeface="Calibri" pitchFamily="34" charset="0"/>
                <a:ea typeface="Calibri" pitchFamily="34" charset="-122"/>
                <a:cs typeface="Calibri" pitchFamily="34" charset="-120"/>
              </a:rPr>
              <a:t>His record grows, confirmed payments marked</a:t>
            </a:r>
            <a:endParaRPr lang="en-US" sz="1250" dirty="0"/>
          </a:p>
        </p:txBody>
      </p:sp>
      <p:sp>
        <p:nvSpPr>
          <p:cNvPr id="9" name="Text 6"/>
          <p:cNvSpPr txBox="1"/>
          <p:nvPr/>
        </p:nvSpPr>
        <p:spPr>
          <a:xfrm>
            <a:off x="7863840" y="4261104"/>
            <a:ext cx="3776472" cy="274320"/>
          </a:xfrm>
          <a:prstGeom prst="rect">
            <a:avLst/>
          </a:prstGeom>
          <a:noFill/>
          <a:ln/>
        </p:spPr>
        <p:txBody>
          <a:bodyPr wrap="square" lIns="0" tIns="0" rIns="0" bIns="0" rtlCol="0" anchor="t"/>
          <a:lstStyle/>
          <a:p>
            <a:pPr marL="0" indent="0">
              <a:buNone/>
            </a:pPr>
            <a:r>
              <a:rPr lang="en-US" sz="1200" b="1" kern="0" spc="200" dirty="0">
                <a:solidFill>
                  <a:srgbClr val="FBBF24"/>
                </a:solidFill>
                <a:latin typeface="Calibri" pitchFamily="34" charset="0"/>
                <a:ea typeface="Calibri" pitchFamily="34" charset="-122"/>
                <a:cs typeface="Calibri" pitchFamily="34" charset="-120"/>
              </a:rPr>
              <a:t>THABO  ·  BUILDER</a:t>
            </a:r>
            <a:endParaRPr lang="en-US" sz="1200" dirty="0"/>
          </a:p>
        </p:txBody>
      </p:sp>
      <p:sp>
        <p:nvSpPr>
          <p:cNvPr id="10" name="Text 7"/>
          <p:cNvSpPr txBox="1"/>
          <p:nvPr/>
        </p:nvSpPr>
        <p:spPr>
          <a:xfrm>
            <a:off x="7863840" y="4590288"/>
            <a:ext cx="3776472" cy="1261872"/>
          </a:xfrm>
          <a:prstGeom prst="rect">
            <a:avLst/>
          </a:prstGeom>
          <a:noFill/>
          <a:ln/>
        </p:spPr>
        <p:txBody>
          <a:bodyPr wrap="square" lIns="0" tIns="0" rIns="0" bIns="0" rtlCol="0" anchor="t"/>
          <a:lstStyle/>
          <a:p>
            <a:pPr marL="342900" indent="-342900">
              <a:spcAft>
                <a:spcPts val="400"/>
              </a:spcAft>
              <a:buSzPct val="100000"/>
              <a:buFont typeface="+mj-lt"/>
              <a:buAutoNum type="arabicPeriod"/>
            </a:pPr>
            <a:r>
              <a:rPr lang="en-US" sz="1250" dirty="0">
                <a:solidFill>
                  <a:srgbClr val="F8FAFC"/>
                </a:solidFill>
                <a:latin typeface="Calibri" pitchFamily="34" charset="0"/>
                <a:ea typeface="Calibri" pitchFamily="34" charset="-122"/>
                <a:cs typeface="Calibri" pitchFamily="34" charset="-120"/>
              </a:rPr>
              <a:t>Photographs each stage of a job in the app</a:t>
            </a:r>
            <a:endParaRPr lang="en-US" sz="1250" dirty="0"/>
          </a:p>
          <a:p>
            <a:pPr marL="342900" indent="-342900">
              <a:spcAft>
                <a:spcPts val="400"/>
              </a:spcAft>
              <a:buSzPct val="100000"/>
              <a:buFont typeface="+mj-lt"/>
              <a:buAutoNum type="arabicPeriod"/>
            </a:pPr>
            <a:r>
              <a:rPr lang="en-US" sz="1250" dirty="0">
                <a:solidFill>
                  <a:srgbClr val="F8FAFC"/>
                </a:solidFill>
                <a:latin typeface="Calibri" pitchFamily="34" charset="0"/>
                <a:ea typeface="Calibri" pitchFamily="34" charset="-122"/>
                <a:cs typeface="Calibri" pitchFamily="34" charset="-120"/>
              </a:rPr>
              <a:t>The client signs off from a link: confirmed by both</a:t>
            </a:r>
            <a:endParaRPr lang="en-US" sz="1250" dirty="0"/>
          </a:p>
          <a:p>
            <a:pPr marL="342900" indent="-342900">
              <a:spcAft>
                <a:spcPts val="400"/>
              </a:spcAft>
              <a:buSzPct val="100000"/>
              <a:buFont typeface="+mj-lt"/>
              <a:buAutoNum type="arabicPeriod"/>
            </a:pPr>
            <a:r>
              <a:rPr lang="en-US" sz="1250" dirty="0">
                <a:solidFill>
                  <a:srgbClr val="F8FAFC"/>
                </a:solidFill>
                <a:latin typeface="Calibri" pitchFamily="34" charset="0"/>
                <a:ea typeface="Calibri" pitchFamily="34" charset="-122"/>
                <a:cs typeface="Calibri" pitchFamily="34" charset="-120"/>
              </a:rPr>
              <a:t>Finished jobs become his track record</a:t>
            </a:r>
            <a:endParaRPr lang="en-US" sz="1250" dirty="0"/>
          </a:p>
        </p:txBody>
      </p:sp>
      <p:pic>
        <p:nvPicPr>
          <p:cNvPr id="11" name="Image 0" descr="preencoded.png"/>
          <p:cNvPicPr>
            <a:picLocks noChangeAspect="1"/>
          </p:cNvPicPr>
          <p:nvPr/>
        </p:nvPicPr>
        <p:blipFill>
          <a:blip r:embed="rId7"/>
          <a:stretch>
            <a:fillRect/>
          </a:stretch>
        </p:blipFill>
        <p:spPr>
          <a:xfrm>
            <a:off x="11231575" y="6291072"/>
            <a:ext cx="384048" cy="384048"/>
          </a:xfrm>
          <a:prstGeom prst="rect">
            <a:avLst/>
          </a:prstGeom>
        </p:spPr>
      </p:pic>
      <p:sp>
        <p:nvSpPr>
          <p:cNvPr id="12" name="Text 8"/>
          <p:cNvSpPr txBox="1"/>
          <p:nvPr/>
        </p:nvSpPr>
        <p:spPr>
          <a:xfrm>
            <a:off x="10682935" y="6355080"/>
            <a:ext cx="457200" cy="274320"/>
          </a:xfrm>
          <a:prstGeom prst="rect">
            <a:avLst/>
          </a:prstGeom>
          <a:noFill/>
          <a:ln/>
        </p:spPr>
        <p:txBody>
          <a:bodyPr wrap="square" lIns="0" tIns="0" rIns="0" bIns="0" rtlCol="0" anchor="t"/>
          <a:lstStyle/>
          <a:p>
            <a:pPr marL="0" indent="0" algn="r">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t"/>
          <a:lstStyle/>
          <a:p>
            <a:pPr marL="0" indent="0">
              <a:buNone/>
            </a:pPr>
            <a:r>
              <a:rPr lang="en-US" sz="1300" b="1" kern="0" spc="300" dirty="0">
                <a:solidFill>
                  <a:srgbClr val="10B981"/>
                </a:solidFill>
                <a:latin typeface="Calibri" pitchFamily="34" charset="0"/>
                <a:ea typeface="Calibri" pitchFamily="34" charset="-122"/>
                <a:cs typeface="Calibri" pitchFamily="34" charset="-120"/>
              </a:rPr>
              <a:t>BUSINESS MODEL  ·  THE ASK</a:t>
            </a:r>
            <a:endParaRPr lang="en-US" sz="13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marL="0" indent="0">
              <a:buNone/>
            </a:pPr>
            <a:r>
              <a:rPr lang="en-US" sz="3400" b="1" dirty="0">
                <a:solidFill>
                  <a:srgbClr val="F8FAFC"/>
                </a:solidFill>
                <a:latin typeface="Georgia" pitchFamily="34" charset="0"/>
                <a:ea typeface="Georgia" pitchFamily="34" charset="-122"/>
                <a:cs typeface="Georgia" pitchFamily="34" charset="-120"/>
              </a:rPr>
              <a:t>Suppliers pay. We need R300,000.</a:t>
            </a:r>
            <a:endParaRPr lang="en-US" sz="3400" dirty="0"/>
          </a:p>
        </p:txBody>
      </p:sp>
      <p:sp>
        <p:nvSpPr>
          <p:cNvPr id="4" name="Shape 2"/>
          <p:cNvSpPr/>
          <p:nvPr/>
        </p:nvSpPr>
        <p:spPr>
          <a:xfrm>
            <a:off x="548640" y="1737360"/>
            <a:ext cx="4937760" cy="640080"/>
          </a:xfrm>
          <a:prstGeom prst="roundRect">
            <a:avLst>
              <a:gd name="adj" fmla="val 17143"/>
            </a:avLst>
          </a:prstGeom>
          <a:solidFill>
            <a:srgbClr val="17223A"/>
          </a:solidFill>
          <a:ln w="12700">
            <a:solidFill>
              <a:srgbClr val="17223A"/>
            </a:solidFill>
            <a:prstDash val="solid"/>
          </a:ln>
        </p:spPr>
      </p:sp>
      <p:sp>
        <p:nvSpPr>
          <p:cNvPr id="5" name="Text 3"/>
          <p:cNvSpPr txBox="1"/>
          <p:nvPr/>
        </p:nvSpPr>
        <p:spPr>
          <a:xfrm>
            <a:off x="777240" y="1874520"/>
            <a:ext cx="2103120" cy="365760"/>
          </a:xfrm>
          <a:prstGeom prst="rect">
            <a:avLst/>
          </a:prstGeom>
          <a:noFill/>
          <a:ln/>
        </p:spPr>
        <p:txBody>
          <a:bodyPr wrap="square" lIns="0" tIns="0" rIns="0" bIns="0" rtlCol="0" anchor="t"/>
          <a:lstStyle/>
          <a:p>
            <a:pPr marL="0" indent="0">
              <a:buNone/>
            </a:pPr>
            <a:r>
              <a:rPr lang="en-US" sz="1600" b="1" dirty="0">
                <a:solidFill>
                  <a:srgbClr val="A3B3C9"/>
                </a:solidFill>
                <a:latin typeface="Calibri" pitchFamily="34" charset="0"/>
                <a:ea typeface="Calibri" pitchFamily="34" charset="-122"/>
                <a:cs typeface="Calibri" pitchFamily="34" charset="-120"/>
              </a:rPr>
              <a:t>Starter</a:t>
            </a:r>
            <a:endParaRPr lang="en-US" sz="1600" dirty="0"/>
          </a:p>
        </p:txBody>
      </p:sp>
      <p:sp>
        <p:nvSpPr>
          <p:cNvPr id="6" name="Text 4"/>
          <p:cNvSpPr txBox="1"/>
          <p:nvPr/>
        </p:nvSpPr>
        <p:spPr>
          <a:xfrm>
            <a:off x="2651760" y="1773936"/>
            <a:ext cx="1737360" cy="566928"/>
          </a:xfrm>
          <a:prstGeom prst="rect">
            <a:avLst/>
          </a:prstGeom>
          <a:noFill/>
          <a:ln/>
        </p:spPr>
        <p:txBody>
          <a:bodyPr wrap="square" lIns="0" tIns="0" rIns="0" bIns="0" rtlCol="0" anchor="t"/>
          <a:lstStyle/>
          <a:p>
            <a:pPr marL="0" indent="0" algn="r">
              <a:buNone/>
            </a:pPr>
            <a:r>
              <a:rPr lang="en-US" sz="2600" b="1" dirty="0">
                <a:solidFill>
                  <a:srgbClr val="34D399"/>
                </a:solidFill>
                <a:latin typeface="Georgia" pitchFamily="34" charset="0"/>
                <a:ea typeface="Georgia" pitchFamily="34" charset="-122"/>
                <a:cs typeface="Georgia" pitchFamily="34" charset="-120"/>
              </a:rPr>
              <a:t>R299</a:t>
            </a:r>
            <a:endParaRPr lang="en-US" sz="2600" dirty="0"/>
          </a:p>
        </p:txBody>
      </p:sp>
      <p:sp>
        <p:nvSpPr>
          <p:cNvPr id="7" name="Text 5"/>
          <p:cNvSpPr txBox="1"/>
          <p:nvPr/>
        </p:nvSpPr>
        <p:spPr>
          <a:xfrm>
            <a:off x="4480560" y="1929384"/>
            <a:ext cx="960120" cy="320040"/>
          </a:xfrm>
          <a:prstGeom prst="rect">
            <a:avLst/>
          </a:prstGeom>
          <a:noFill/>
          <a:ln/>
        </p:spPr>
        <p:txBody>
          <a:bodyPr wrap="square" lIns="0" tIns="0" rIns="0" bIns="0" rtlCol="0" anchor="t"/>
          <a:lstStyle/>
          <a:p>
            <a:pPr marL="0" indent="0">
              <a:buNone/>
            </a:pPr>
            <a:r>
              <a:rPr lang="en-US" sz="1050" dirty="0">
                <a:solidFill>
                  <a:srgbClr val="64748B"/>
                </a:solidFill>
                <a:latin typeface="Calibri" pitchFamily="34" charset="0"/>
                <a:ea typeface="Calibri" pitchFamily="34" charset="-122"/>
                <a:cs typeface="Calibri" pitchFamily="34" charset="-120"/>
              </a:rPr>
              <a:t>/month</a:t>
            </a:r>
            <a:endParaRPr lang="en-US" sz="1050" dirty="0"/>
          </a:p>
        </p:txBody>
      </p:sp>
      <p:sp>
        <p:nvSpPr>
          <p:cNvPr id="8" name="Shape 6"/>
          <p:cNvSpPr/>
          <p:nvPr/>
        </p:nvSpPr>
        <p:spPr>
          <a:xfrm>
            <a:off x="548640" y="2487168"/>
            <a:ext cx="4937760" cy="640080"/>
          </a:xfrm>
          <a:prstGeom prst="roundRect">
            <a:avLst>
              <a:gd name="adj" fmla="val 17143"/>
            </a:avLst>
          </a:prstGeom>
          <a:solidFill>
            <a:srgbClr val="17223A"/>
          </a:solidFill>
          <a:ln w="12700">
            <a:solidFill>
              <a:srgbClr val="17223A"/>
            </a:solidFill>
            <a:prstDash val="solid"/>
          </a:ln>
        </p:spPr>
      </p:sp>
      <p:sp>
        <p:nvSpPr>
          <p:cNvPr id="9" name="Text 7"/>
          <p:cNvSpPr txBox="1"/>
          <p:nvPr/>
        </p:nvSpPr>
        <p:spPr>
          <a:xfrm>
            <a:off x="777240" y="2624328"/>
            <a:ext cx="2103120" cy="365760"/>
          </a:xfrm>
          <a:prstGeom prst="rect">
            <a:avLst/>
          </a:prstGeom>
          <a:noFill/>
          <a:ln/>
        </p:spPr>
        <p:txBody>
          <a:bodyPr wrap="square" lIns="0" tIns="0" rIns="0" bIns="0" rtlCol="0" anchor="t"/>
          <a:lstStyle/>
          <a:p>
            <a:pPr marL="0" indent="0">
              <a:buNone/>
            </a:pPr>
            <a:r>
              <a:rPr lang="en-US" sz="1600" b="1" dirty="0">
                <a:solidFill>
                  <a:srgbClr val="A3B3C9"/>
                </a:solidFill>
                <a:latin typeface="Calibri" pitchFamily="34" charset="0"/>
                <a:ea typeface="Calibri" pitchFamily="34" charset="-122"/>
                <a:cs typeface="Calibri" pitchFamily="34" charset="-120"/>
              </a:rPr>
              <a:t>Pro</a:t>
            </a:r>
            <a:endParaRPr lang="en-US" sz="1600" dirty="0"/>
          </a:p>
        </p:txBody>
      </p:sp>
      <p:sp>
        <p:nvSpPr>
          <p:cNvPr id="10" name="Text 8"/>
          <p:cNvSpPr txBox="1"/>
          <p:nvPr/>
        </p:nvSpPr>
        <p:spPr>
          <a:xfrm>
            <a:off x="2651760" y="2523744"/>
            <a:ext cx="1737360" cy="566928"/>
          </a:xfrm>
          <a:prstGeom prst="rect">
            <a:avLst/>
          </a:prstGeom>
          <a:noFill/>
          <a:ln/>
        </p:spPr>
        <p:txBody>
          <a:bodyPr wrap="square" lIns="0" tIns="0" rIns="0" bIns="0" rtlCol="0" anchor="t"/>
          <a:lstStyle/>
          <a:p>
            <a:pPr marL="0" indent="0" algn="r">
              <a:buNone/>
            </a:pPr>
            <a:r>
              <a:rPr lang="en-US" sz="2600" b="1" dirty="0">
                <a:solidFill>
                  <a:srgbClr val="34D399"/>
                </a:solidFill>
                <a:latin typeface="Georgia" pitchFamily="34" charset="0"/>
                <a:ea typeface="Georgia" pitchFamily="34" charset="-122"/>
                <a:cs typeface="Georgia" pitchFamily="34" charset="-120"/>
              </a:rPr>
              <a:t>R1,499</a:t>
            </a:r>
            <a:endParaRPr lang="en-US" sz="2600" dirty="0"/>
          </a:p>
        </p:txBody>
      </p:sp>
      <p:sp>
        <p:nvSpPr>
          <p:cNvPr id="11" name="Text 9"/>
          <p:cNvSpPr txBox="1"/>
          <p:nvPr/>
        </p:nvSpPr>
        <p:spPr>
          <a:xfrm>
            <a:off x="4480560" y="2679192"/>
            <a:ext cx="960120" cy="320040"/>
          </a:xfrm>
          <a:prstGeom prst="rect">
            <a:avLst/>
          </a:prstGeom>
          <a:noFill/>
          <a:ln/>
        </p:spPr>
        <p:txBody>
          <a:bodyPr wrap="square" lIns="0" tIns="0" rIns="0" bIns="0" rtlCol="0" anchor="t"/>
          <a:lstStyle/>
          <a:p>
            <a:pPr marL="0" indent="0">
              <a:buNone/>
            </a:pPr>
            <a:r>
              <a:rPr lang="en-US" sz="1050" dirty="0">
                <a:solidFill>
                  <a:srgbClr val="64748B"/>
                </a:solidFill>
                <a:latin typeface="Calibri" pitchFamily="34" charset="0"/>
                <a:ea typeface="Calibri" pitchFamily="34" charset="-122"/>
                <a:cs typeface="Calibri" pitchFamily="34" charset="-120"/>
              </a:rPr>
              <a:t>/month</a:t>
            </a:r>
            <a:endParaRPr lang="en-US" sz="1050" dirty="0"/>
          </a:p>
        </p:txBody>
      </p:sp>
      <p:sp>
        <p:nvSpPr>
          <p:cNvPr id="12" name="Shape 10"/>
          <p:cNvSpPr/>
          <p:nvPr/>
        </p:nvSpPr>
        <p:spPr>
          <a:xfrm>
            <a:off x="548640" y="3236976"/>
            <a:ext cx="4937760" cy="640080"/>
          </a:xfrm>
          <a:prstGeom prst="roundRect">
            <a:avLst>
              <a:gd name="adj" fmla="val 17143"/>
            </a:avLst>
          </a:prstGeom>
          <a:solidFill>
            <a:srgbClr val="17223A"/>
          </a:solidFill>
          <a:ln w="12700">
            <a:solidFill>
              <a:srgbClr val="17223A"/>
            </a:solidFill>
            <a:prstDash val="solid"/>
          </a:ln>
        </p:spPr>
      </p:sp>
      <p:sp>
        <p:nvSpPr>
          <p:cNvPr id="13" name="Text 11"/>
          <p:cNvSpPr txBox="1"/>
          <p:nvPr/>
        </p:nvSpPr>
        <p:spPr>
          <a:xfrm>
            <a:off x="777240" y="3374136"/>
            <a:ext cx="2103120" cy="365760"/>
          </a:xfrm>
          <a:prstGeom prst="rect">
            <a:avLst/>
          </a:prstGeom>
          <a:noFill/>
          <a:ln/>
        </p:spPr>
        <p:txBody>
          <a:bodyPr wrap="square" lIns="0" tIns="0" rIns="0" bIns="0" rtlCol="0" anchor="t"/>
          <a:lstStyle/>
          <a:p>
            <a:pPr marL="0" indent="0">
              <a:buNone/>
            </a:pPr>
            <a:r>
              <a:rPr lang="en-US" sz="1600" b="1" dirty="0">
                <a:solidFill>
                  <a:srgbClr val="A3B3C9"/>
                </a:solidFill>
                <a:latin typeface="Calibri" pitchFamily="34" charset="0"/>
                <a:ea typeface="Calibri" pitchFamily="34" charset="-122"/>
                <a:cs typeface="Calibri" pitchFamily="34" charset="-120"/>
              </a:rPr>
              <a:t>ERP link</a:t>
            </a:r>
            <a:endParaRPr lang="en-US" sz="1600" dirty="0"/>
          </a:p>
        </p:txBody>
      </p:sp>
      <p:sp>
        <p:nvSpPr>
          <p:cNvPr id="14" name="Text 12"/>
          <p:cNvSpPr txBox="1"/>
          <p:nvPr/>
        </p:nvSpPr>
        <p:spPr>
          <a:xfrm>
            <a:off x="2651760" y="3273552"/>
            <a:ext cx="1737360" cy="566928"/>
          </a:xfrm>
          <a:prstGeom prst="rect">
            <a:avLst/>
          </a:prstGeom>
          <a:noFill/>
          <a:ln/>
        </p:spPr>
        <p:txBody>
          <a:bodyPr wrap="square" lIns="0" tIns="0" rIns="0" bIns="0" rtlCol="0" anchor="t"/>
          <a:lstStyle/>
          <a:p>
            <a:pPr marL="0" indent="0" algn="r">
              <a:buNone/>
            </a:pPr>
            <a:r>
              <a:rPr lang="en-US" sz="2600" b="1" dirty="0">
                <a:solidFill>
                  <a:srgbClr val="34D399"/>
                </a:solidFill>
                <a:latin typeface="Georgia" pitchFamily="34" charset="0"/>
                <a:ea typeface="Georgia" pitchFamily="34" charset="-122"/>
                <a:cs typeface="Georgia" pitchFamily="34" charset="-120"/>
              </a:rPr>
              <a:t>R4,999</a:t>
            </a:r>
            <a:endParaRPr lang="en-US" sz="2600" dirty="0"/>
          </a:p>
        </p:txBody>
      </p:sp>
      <p:sp>
        <p:nvSpPr>
          <p:cNvPr id="15" name="Text 13"/>
          <p:cNvSpPr txBox="1"/>
          <p:nvPr/>
        </p:nvSpPr>
        <p:spPr>
          <a:xfrm>
            <a:off x="4480560" y="3429000"/>
            <a:ext cx="960120" cy="320040"/>
          </a:xfrm>
          <a:prstGeom prst="rect">
            <a:avLst/>
          </a:prstGeom>
          <a:noFill/>
          <a:ln/>
        </p:spPr>
        <p:txBody>
          <a:bodyPr wrap="square" lIns="0" tIns="0" rIns="0" bIns="0" rtlCol="0" anchor="t"/>
          <a:lstStyle/>
          <a:p>
            <a:pPr marL="0" indent="0">
              <a:buNone/>
            </a:pPr>
            <a:r>
              <a:rPr lang="en-US" sz="1050" dirty="0">
                <a:solidFill>
                  <a:srgbClr val="64748B"/>
                </a:solidFill>
                <a:latin typeface="Calibri" pitchFamily="34" charset="0"/>
                <a:ea typeface="Calibri" pitchFamily="34" charset="-122"/>
                <a:cs typeface="Calibri" pitchFamily="34" charset="-120"/>
              </a:rPr>
              <a:t>/month + setup</a:t>
            </a:r>
            <a:endParaRPr lang="en-US" sz="1050" dirty="0"/>
          </a:p>
        </p:txBody>
      </p:sp>
      <p:sp>
        <p:nvSpPr>
          <p:cNvPr id="16" name="Shape 14"/>
          <p:cNvSpPr/>
          <p:nvPr/>
        </p:nvSpPr>
        <p:spPr>
          <a:xfrm>
            <a:off x="548640" y="3986784"/>
            <a:ext cx="4937760" cy="640080"/>
          </a:xfrm>
          <a:prstGeom prst="roundRect">
            <a:avLst>
              <a:gd name="adj" fmla="val 17143"/>
            </a:avLst>
          </a:prstGeom>
          <a:solidFill>
            <a:srgbClr val="17223A"/>
          </a:solidFill>
          <a:ln w="12700">
            <a:solidFill>
              <a:srgbClr val="17223A"/>
            </a:solidFill>
            <a:prstDash val="solid"/>
          </a:ln>
        </p:spPr>
      </p:sp>
      <p:sp>
        <p:nvSpPr>
          <p:cNvPr id="17" name="Text 15"/>
          <p:cNvSpPr txBox="1"/>
          <p:nvPr/>
        </p:nvSpPr>
        <p:spPr>
          <a:xfrm>
            <a:off x="777240" y="4123944"/>
            <a:ext cx="2103120" cy="365760"/>
          </a:xfrm>
          <a:prstGeom prst="rect">
            <a:avLst/>
          </a:prstGeom>
          <a:noFill/>
          <a:ln/>
        </p:spPr>
        <p:txBody>
          <a:bodyPr wrap="square" lIns="0" tIns="0" rIns="0" bIns="0" rtlCol="0" anchor="t"/>
          <a:lstStyle/>
          <a:p>
            <a:pPr marL="0" indent="0">
              <a:buNone/>
            </a:pPr>
            <a:r>
              <a:rPr lang="en-US" sz="1600" b="1" dirty="0">
                <a:solidFill>
                  <a:srgbClr val="A3B3C9"/>
                </a:solidFill>
                <a:latin typeface="Calibri" pitchFamily="34" charset="0"/>
                <a:ea typeface="Calibri" pitchFamily="34" charset="-122"/>
                <a:cs typeface="Calibri" pitchFamily="34" charset="-120"/>
              </a:rPr>
              <a:t>Digital orders</a:t>
            </a:r>
            <a:endParaRPr lang="en-US" sz="1600" dirty="0"/>
          </a:p>
        </p:txBody>
      </p:sp>
      <p:sp>
        <p:nvSpPr>
          <p:cNvPr id="18" name="Text 16"/>
          <p:cNvSpPr txBox="1"/>
          <p:nvPr/>
        </p:nvSpPr>
        <p:spPr>
          <a:xfrm>
            <a:off x="2651760" y="4023360"/>
            <a:ext cx="1737360" cy="566928"/>
          </a:xfrm>
          <a:prstGeom prst="rect">
            <a:avLst/>
          </a:prstGeom>
          <a:noFill/>
          <a:ln/>
        </p:spPr>
        <p:txBody>
          <a:bodyPr wrap="square" lIns="0" tIns="0" rIns="0" bIns="0" rtlCol="0" anchor="t"/>
          <a:lstStyle/>
          <a:p>
            <a:pPr marL="0" indent="0" algn="r">
              <a:buNone/>
            </a:pPr>
            <a:r>
              <a:rPr lang="en-US" sz="2600" b="1" dirty="0">
                <a:solidFill>
                  <a:srgbClr val="FBBF24"/>
                </a:solidFill>
                <a:latin typeface="Georgia" pitchFamily="34" charset="0"/>
                <a:ea typeface="Georgia" pitchFamily="34" charset="-122"/>
                <a:cs typeface="Georgia" pitchFamily="34" charset="-120"/>
              </a:rPr>
              <a:t>~1%</a:t>
            </a:r>
            <a:endParaRPr lang="en-US" sz="2600" dirty="0"/>
          </a:p>
        </p:txBody>
      </p:sp>
      <p:sp>
        <p:nvSpPr>
          <p:cNvPr id="19" name="Text 17"/>
          <p:cNvSpPr txBox="1"/>
          <p:nvPr/>
        </p:nvSpPr>
        <p:spPr>
          <a:xfrm>
            <a:off x="4480560" y="4178808"/>
            <a:ext cx="960120" cy="320040"/>
          </a:xfrm>
          <a:prstGeom prst="rect">
            <a:avLst/>
          </a:prstGeom>
          <a:noFill/>
          <a:ln/>
        </p:spPr>
        <p:txBody>
          <a:bodyPr wrap="square" lIns="0" tIns="0" rIns="0" bIns="0" rtlCol="0" anchor="t"/>
          <a:lstStyle/>
          <a:p>
            <a:pPr marL="0" indent="0">
              <a:buNone/>
            </a:pPr>
            <a:r>
              <a:rPr lang="en-US" sz="1050" dirty="0">
                <a:solidFill>
                  <a:srgbClr val="64748B"/>
                </a:solidFill>
                <a:latin typeface="Calibri" pitchFamily="34" charset="0"/>
                <a:ea typeface="Calibri" pitchFamily="34" charset="-122"/>
                <a:cs typeface="Calibri" pitchFamily="34" charset="-120"/>
              </a:rPr>
              <a:t>cash stays free</a:t>
            </a:r>
            <a:endParaRPr lang="en-US" sz="1050" dirty="0"/>
          </a:p>
        </p:txBody>
      </p:sp>
      <p:sp>
        <p:nvSpPr>
          <p:cNvPr id="20" name="Text 18"/>
          <p:cNvSpPr txBox="1"/>
          <p:nvPr/>
        </p:nvSpPr>
        <p:spPr>
          <a:xfrm>
            <a:off x="548640" y="4800600"/>
            <a:ext cx="4937760" cy="548640"/>
          </a:xfrm>
          <a:prstGeom prst="rect">
            <a:avLst/>
          </a:prstGeom>
          <a:noFill/>
          <a:ln/>
        </p:spPr>
        <p:txBody>
          <a:bodyPr wrap="square" lIns="0" tIns="0" rIns="0" bIns="0" rtlCol="0" anchor="t"/>
          <a:lstStyle/>
          <a:p>
            <a:pPr marL="0" indent="0">
              <a:buNone/>
            </a:pPr>
            <a:r>
              <a:rPr lang="en-US" sz="1350" i="1" dirty="0">
                <a:solidFill>
                  <a:srgbClr val="FBBF24"/>
                </a:solidFill>
                <a:latin typeface="Calibri" pitchFamily="34" charset="0"/>
                <a:ea typeface="Calibri" pitchFamily="34" charset="-122"/>
                <a:cs typeface="Calibri" pitchFamily="34" charset="-120"/>
              </a:rPr>
              <a:t>Businesses use it free. Next: lenders pay to see a business's record, only with the owner's consent.</a:t>
            </a:r>
            <a:endParaRPr lang="en-US" sz="1350" dirty="0"/>
          </a:p>
        </p:txBody>
      </p:sp>
      <p:sp>
        <p:nvSpPr>
          <p:cNvPr id="21" name="Text 19"/>
          <p:cNvSpPr txBox="1"/>
          <p:nvPr/>
        </p:nvSpPr>
        <p:spPr>
          <a:xfrm>
            <a:off x="548640" y="5440680"/>
            <a:ext cx="4937760" cy="502920"/>
          </a:xfrm>
          <a:prstGeom prst="rect">
            <a:avLst/>
          </a:prstGeom>
          <a:noFill/>
          <a:ln/>
        </p:spPr>
        <p:txBody>
          <a:bodyPr wrap="square" lIns="0" tIns="0" rIns="0" bIns="0" rtlCol="0" anchor="t"/>
          <a:lstStyle/>
          <a:p>
            <a:pPr marL="0" indent="0">
              <a:buNone/>
            </a:pPr>
            <a:r>
              <a:rPr lang="en-US" sz="1200" dirty="0">
                <a:solidFill>
                  <a:srgbClr val="A3B3C9"/>
                </a:solidFill>
                <a:latin typeface="Calibri" pitchFamily="34" charset="0"/>
                <a:ea typeface="Calibri" pitchFamily="34" charset="-122"/>
                <a:cs typeface="Calibri" pitchFamily="34" charset="-120"/>
              </a:rPr>
              <a:t>Estimates: about R56,000 a month by the end of year 1, and R1.1 million a month by year 3.</a:t>
            </a:r>
            <a:endParaRPr lang="en-US" sz="1200" dirty="0"/>
          </a:p>
        </p:txBody>
      </p:sp>
      <p:sp>
        <p:nvSpPr>
          <p:cNvPr id="22" name="Shape 20"/>
          <p:cNvSpPr/>
          <p:nvPr/>
        </p:nvSpPr>
        <p:spPr>
          <a:xfrm>
            <a:off x="5806440" y="1737360"/>
            <a:ext cx="5833872" cy="4343400"/>
          </a:xfrm>
          <a:prstGeom prst="roundRect">
            <a:avLst>
              <a:gd name="adj" fmla="val 2526"/>
            </a:avLst>
          </a:prstGeom>
          <a:solidFill>
            <a:srgbClr val="17223A"/>
          </a:solidFill>
          <a:ln w="12700">
            <a:solidFill>
              <a:srgbClr val="17223A"/>
            </a:solidFill>
            <a:prstDash val="solid"/>
          </a:ln>
        </p:spPr>
      </p:sp>
      <p:sp>
        <p:nvSpPr>
          <p:cNvPr id="23" name="Text 21"/>
          <p:cNvSpPr txBox="1"/>
          <p:nvPr/>
        </p:nvSpPr>
        <p:spPr>
          <a:xfrm>
            <a:off x="6080760" y="1847088"/>
            <a:ext cx="5303520" cy="731520"/>
          </a:xfrm>
          <a:prstGeom prst="rect">
            <a:avLst/>
          </a:prstGeom>
          <a:noFill/>
          <a:ln/>
        </p:spPr>
        <p:txBody>
          <a:bodyPr wrap="square" lIns="0" tIns="0" rIns="0" bIns="0" rtlCol="0" anchor="t"/>
          <a:lstStyle/>
          <a:p>
            <a:pPr marL="0" indent="0">
              <a:buNone/>
            </a:pPr>
            <a:r>
              <a:rPr lang="en-US" sz="4400" b="1" dirty="0">
                <a:solidFill>
                  <a:srgbClr val="FBBF24"/>
                </a:solidFill>
                <a:latin typeface="Georgia" pitchFamily="34" charset="0"/>
                <a:ea typeface="Georgia" pitchFamily="34" charset="-122"/>
                <a:cs typeface="Georgia" pitchFamily="34" charset="-120"/>
              </a:rPr>
              <a:t>R300,000</a:t>
            </a:r>
            <a:endParaRPr lang="en-US" sz="4400" dirty="0"/>
          </a:p>
        </p:txBody>
      </p:sp>
      <p:sp>
        <p:nvSpPr>
          <p:cNvPr id="24" name="Text 22"/>
          <p:cNvSpPr txBox="1"/>
          <p:nvPr/>
        </p:nvSpPr>
        <p:spPr>
          <a:xfrm>
            <a:off x="6080760" y="2606040"/>
            <a:ext cx="5394960" cy="365760"/>
          </a:xfrm>
          <a:prstGeom prst="rect">
            <a:avLst/>
          </a:prstGeom>
          <a:noFill/>
          <a:ln/>
        </p:spPr>
        <p:txBody>
          <a:bodyPr wrap="square" lIns="0" tIns="0" rIns="0" bIns="0" rtlCol="0" anchor="t"/>
          <a:lstStyle/>
          <a:p>
            <a:pPr marL="0" indent="0">
              <a:buNone/>
            </a:pPr>
            <a:r>
              <a:rPr lang="en-US" sz="1450" b="1" dirty="0">
                <a:solidFill>
                  <a:srgbClr val="F8FAFC"/>
                </a:solidFill>
                <a:latin typeface="Calibri" pitchFamily="34" charset="0"/>
                <a:ea typeface="Calibri" pitchFamily="34" charset="-122"/>
                <a:cs typeface="Calibri" pitchFamily="34" charset="-120"/>
              </a:rPr>
              <a:t>for a 6-month pilot: the sum of its costs (R thousand)</a:t>
            </a:r>
            <a:endParaRPr lang="en-US" sz="1450" dirty="0"/>
          </a:p>
        </p:txBody>
      </p:sp>
      <p:graphicFrame>
        <p:nvGraphicFramePr>
          <p:cNvPr id="25" name="Chart 0"/>
          <p:cNvGraphicFramePr/>
          <p:nvPr/>
        </p:nvGraphicFramePr>
        <p:xfrm>
          <a:off x="5943600" y="2971800"/>
          <a:ext cx="557784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 23"/>
          <p:cNvSpPr txBox="1"/>
          <p:nvPr/>
        </p:nvSpPr>
        <p:spPr>
          <a:xfrm>
            <a:off x="6080760" y="5532120"/>
            <a:ext cx="5394960" cy="457200"/>
          </a:xfrm>
          <a:prstGeom prst="rect">
            <a:avLst/>
          </a:prstGeom>
          <a:noFill/>
          <a:ln/>
        </p:spPr>
        <p:txBody>
          <a:bodyPr wrap="square" lIns="0" tIns="0" rIns="0" bIns="0" rtlCol="0" anchor="t"/>
          <a:lstStyle/>
          <a:p>
            <a:pPr marL="0" indent="0">
              <a:buNone/>
            </a:pPr>
            <a:r>
              <a:rPr lang="en-US" sz="1150" dirty="0">
                <a:solidFill>
                  <a:srgbClr val="A3B3C9"/>
                </a:solidFill>
                <a:latin typeface="Calibri" pitchFamily="34" charset="0"/>
                <a:ea typeface="Calibri" pitchFamily="34" charset="-122"/>
                <a:cs typeface="Calibri" pitchFamily="34" charset="-120"/>
              </a:rPr>
              <a:t>2 suppliers and 50-100 businesses live  ·  break-even at 2 suppliers on Starter (about R460 a month to run)</a:t>
            </a:r>
            <a:endParaRPr lang="en-US" sz="1150" dirty="0"/>
          </a:p>
        </p:txBody>
      </p:sp>
      <p:pic>
        <p:nvPicPr>
          <p:cNvPr id="27" name="Image 0" descr="preencoded.png"/>
          <p:cNvPicPr>
            <a:picLocks noChangeAspect="1"/>
          </p:cNvPicPr>
          <p:nvPr/>
        </p:nvPicPr>
        <p:blipFill>
          <a:blip r:embed="rId4"/>
          <a:stretch>
            <a:fillRect/>
          </a:stretch>
        </p:blipFill>
        <p:spPr>
          <a:xfrm>
            <a:off x="11231575" y="6291072"/>
            <a:ext cx="384048" cy="384048"/>
          </a:xfrm>
          <a:prstGeom prst="rect">
            <a:avLst/>
          </a:prstGeom>
        </p:spPr>
      </p:pic>
      <p:sp>
        <p:nvSpPr>
          <p:cNvPr id="28" name="Text 24"/>
          <p:cNvSpPr txBox="1"/>
          <p:nvPr/>
        </p:nvSpPr>
        <p:spPr>
          <a:xfrm>
            <a:off x="10682935" y="6355080"/>
            <a:ext cx="457200" cy="274320"/>
          </a:xfrm>
          <a:prstGeom prst="rect">
            <a:avLst/>
          </a:prstGeom>
          <a:noFill/>
          <a:ln/>
        </p:spPr>
        <p:txBody>
          <a:bodyPr wrap="square" lIns="0" tIns="0" rIns="0" bIns="0" rtlCol="0" anchor="t"/>
          <a:lstStyle/>
          <a:p>
            <a:pPr marL="0" indent="0" algn="r">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
        <p:nvSpPr>
          <p:cNvPr id="29" name="Text 25"/>
          <p:cNvSpPr txBox="1"/>
          <p:nvPr/>
        </p:nvSpPr>
        <p:spPr>
          <a:xfrm>
            <a:off x="548640" y="6336792"/>
            <a:ext cx="9875520" cy="365760"/>
          </a:xfrm>
          <a:prstGeom prst="rect">
            <a:avLst/>
          </a:prstGeom>
          <a:noFill/>
          <a:ln/>
        </p:spPr>
        <p:txBody>
          <a:bodyPr wrap="square" lIns="0" tIns="0" rIns="0" bIns="0" rtlCol="0" anchor="t"/>
          <a:lstStyle/>
          <a:p>
            <a:pPr marL="0" indent="0">
              <a:buNone/>
            </a:pPr>
            <a:r>
              <a:rPr lang="en-US" sz="950" dirty="0">
                <a:solidFill>
                  <a:srgbClr val="64748B"/>
                </a:solidFill>
                <a:latin typeface="Calibri" pitchFamily="34" charset="0"/>
                <a:ea typeface="Calibri" pitchFamily="34" charset="-122"/>
                <a:cs typeface="Calibri" pitchFamily="34" charset="-120"/>
              </a:rPr>
              <a:t>Estimates. Commission assumes ~R4,000 of digital orders per business per month.</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t"/>
          <a:lstStyle/>
          <a:p>
            <a:pPr marL="0" indent="0">
              <a:buNone/>
            </a:pPr>
            <a:r>
              <a:rPr lang="en-US" sz="1300" b="1" kern="0" spc="300" dirty="0">
                <a:solidFill>
                  <a:srgbClr val="10B981"/>
                </a:solidFill>
                <a:latin typeface="Calibri" pitchFamily="34" charset="0"/>
                <a:ea typeface="Calibri" pitchFamily="34" charset="-122"/>
                <a:cs typeface="Calibri" pitchFamily="34" charset="-120"/>
              </a:rPr>
              <a:t>WHY WE STAND OUT</a:t>
            </a:r>
            <a:endParaRPr lang="en-US" sz="13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marL="0" indent="0">
              <a:buNone/>
            </a:pPr>
            <a:r>
              <a:rPr lang="en-US" sz="3400" b="1" dirty="0">
                <a:solidFill>
                  <a:srgbClr val="F8FAFC"/>
                </a:solidFill>
                <a:latin typeface="Georgia" pitchFamily="34" charset="0"/>
                <a:ea typeface="Georgia" pitchFamily="34" charset="-122"/>
                <a:cs typeface="Georgia" pitchFamily="34" charset="-120"/>
              </a:rPr>
              <a:t>They sell to you. We build your record.</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3657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621792">
                <a:tc>
                  <a:txBody>
                    <a:bodyPr/>
                    <a:lstStyle/>
                    <a:p>
                      <a:pPr marL="0" indent="0" algn="l">
                        <a:buNone/>
                      </a:pP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marL="0" indent="0" algn="ctr">
                        <a:buNone/>
                      </a:pPr>
                      <a:r>
                        <a:rPr lang="en-US" sz="1350" b="1" dirty="0">
                          <a:solidFill>
                            <a:srgbClr val="34D399"/>
                          </a:solidFill>
                          <a:latin typeface="Calibri" pitchFamily="34" charset="0"/>
                          <a:ea typeface="Calibri" pitchFamily="34" charset="-122"/>
                          <a:cs typeface="Calibri" pitchFamily="34" charset="-120"/>
                        </a:rPr>
                        <a:t>Runs the business</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marL="0" indent="0" algn="ctr">
                        <a:buNone/>
                      </a:pPr>
                      <a:r>
                        <a:rPr lang="en-US" sz="1350" b="1" dirty="0">
                          <a:solidFill>
                            <a:srgbClr val="34D399"/>
                          </a:solidFill>
                          <a:latin typeface="Calibri" pitchFamily="34" charset="0"/>
                          <a:ea typeface="Calibri" pitchFamily="34" charset="-122"/>
                          <a:cs typeface="Calibri" pitchFamily="34" charset="-120"/>
                        </a:rPr>
                        <a:t>Your own suppliers</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marL="0" indent="0" algn="ctr">
                        <a:buNone/>
                      </a:pPr>
                      <a:r>
                        <a:rPr lang="en-US" sz="1350" b="1" dirty="0">
                          <a:solidFill>
                            <a:srgbClr val="34D399"/>
                          </a:solidFill>
                          <a:latin typeface="Calibri" pitchFamily="34" charset="0"/>
                          <a:ea typeface="Calibri" pitchFamily="34" charset="-122"/>
                          <a:cs typeface="Calibri" pitchFamily="34" charset="-120"/>
                        </a:rPr>
                        <a:t>Spaza shops and builders</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marL="0" indent="0" algn="ctr">
                        <a:buNone/>
                      </a:pPr>
                      <a:r>
                        <a:rPr lang="en-US" sz="1350" b="1" dirty="0">
                          <a:solidFill>
                            <a:srgbClr val="34D399"/>
                          </a:solidFill>
                          <a:latin typeface="Calibri" pitchFamily="34" charset="0"/>
                          <a:ea typeface="Calibri" pitchFamily="34" charset="-122"/>
                          <a:cs typeface="Calibri" pitchFamily="34" charset="-120"/>
                        </a:rPr>
                        <a:t>A record the owner holds</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621792">
                <a:tc>
                  <a:txBody>
                    <a:bodyPr/>
                    <a:lstStyle/>
                    <a:p>
                      <a:pPr marL="0" indent="0" algn="l">
                        <a:buNone/>
                      </a:pPr>
                      <a:r>
                        <a:rPr lang="en-US" sz="1350" b="1" dirty="0">
                          <a:solidFill>
                            <a:srgbClr val="F8FAFC"/>
                          </a:solidFill>
                          <a:latin typeface="Calibri" pitchFamily="34" charset="0"/>
                          <a:ea typeface="Calibri" pitchFamily="34" charset="-122"/>
                          <a:cs typeface="Calibri" pitchFamily="34" charset="-120"/>
                        </a:rPr>
                        <a:t>WhatsApp + notebook (today)</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c>
                  <a:txBody>
                    <a:bodyPr/>
                    <a:lstStyle/>
                    <a:p>
                      <a:pPr marL="0" indent="0" algn="ctr">
                        <a:buNone/>
                      </a:pPr>
                      <a:r>
                        <a:rPr lang="en-US" sz="1350" dirty="0">
                          <a:solidFill>
                            <a:srgbClr val="64748B"/>
                          </a:solidFill>
                          <a:latin typeface="Calibri" pitchFamily="34" charset="0"/>
                          <a:ea typeface="Calibri" pitchFamily="34" charset="-122"/>
                          <a:cs typeface="Calibri" pitchFamily="34" charset="-120"/>
                        </a:rPr>
                        <a:t>no</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c>
                  <a:txBody>
                    <a:bodyPr/>
                    <a:lstStyle/>
                    <a:p>
                      <a:pPr marL="0" indent="0" algn="ctr">
                        <a:buNone/>
                      </a:pPr>
                      <a:r>
                        <a:rPr lang="en-US" sz="1350" dirty="0">
                          <a:solidFill>
                            <a:srgbClr val="F8FAFC"/>
                          </a:solidFill>
                          <a:latin typeface="Calibri" pitchFamily="34" charset="0"/>
                          <a:ea typeface="Calibri" pitchFamily="34" charset="-122"/>
                          <a:cs typeface="Calibri" pitchFamily="34" charset="-120"/>
                        </a:rPr>
                        <a:t>by voice note</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c>
                  <a:txBody>
                    <a:bodyPr/>
                    <a:lstStyle/>
                    <a:p>
                      <a:pPr marL="0" indent="0" algn="ctr">
                        <a:buNone/>
                      </a:pPr>
                      <a:r>
                        <a:rPr lang="en-US" sz="1350" dirty="0">
                          <a:solidFill>
                            <a:srgbClr val="F8FAFC"/>
                          </a:solidFill>
                          <a:latin typeface="Calibri" pitchFamily="34" charset="0"/>
                          <a:ea typeface="Calibri" pitchFamily="34" charset="-122"/>
                          <a:cs typeface="Calibri" pitchFamily="34" charset="-120"/>
                        </a:rPr>
                        <a:t>yes</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c>
                  <a:txBody>
                    <a:bodyPr/>
                    <a:lstStyle/>
                    <a:p>
                      <a:pPr marL="0" indent="0" algn="ctr">
                        <a:buNone/>
                      </a:pPr>
                      <a:r>
                        <a:rPr lang="en-US" sz="1350" dirty="0">
                          <a:solidFill>
                            <a:srgbClr val="F8FAFC"/>
                          </a:solidFill>
                          <a:latin typeface="Calibri" pitchFamily="34" charset="0"/>
                          <a:ea typeface="Calibri" pitchFamily="34" charset="-122"/>
                          <a:cs typeface="Calibri" pitchFamily="34" charset="-120"/>
                        </a:rPr>
                        <a:t>a notebook</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extLst>
                  <a:ext uri="{0D108BD9-81ED-4DB2-BD59-A6C34878D82A}">
                    <a16:rowId xmlns:a16="http://schemas.microsoft.com/office/drawing/2014/main" val="10001"/>
                  </a:ext>
                </a:extLst>
              </a:tr>
              <a:tr h="621792">
                <a:tc>
                  <a:txBody>
                    <a:bodyPr/>
                    <a:lstStyle/>
                    <a:p>
                      <a:pPr marL="0" indent="0" algn="l">
                        <a:buNone/>
                      </a:pPr>
                      <a:r>
                        <a:rPr lang="en-US" sz="1350" b="1" dirty="0">
                          <a:solidFill>
                            <a:srgbClr val="F8FAFC"/>
                          </a:solidFill>
                          <a:latin typeface="Calibri" pitchFamily="34" charset="0"/>
                          <a:ea typeface="Calibri" pitchFamily="34" charset="-122"/>
                          <a:cs typeface="Calibri" pitchFamily="34" charset="-120"/>
                        </a:rPr>
                        <a:t>A wholesaler's own app (e.g. Shoprite Cash &amp; Carry)</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marL="0" indent="0" algn="ctr">
                        <a:buNone/>
                      </a:pPr>
                      <a:r>
                        <a:rPr lang="en-US" sz="1350" dirty="0">
                          <a:solidFill>
                            <a:srgbClr val="64748B"/>
                          </a:solidFill>
                          <a:latin typeface="Calibri" pitchFamily="34" charset="0"/>
                          <a:ea typeface="Calibri" pitchFamily="34" charset="-122"/>
                          <a:cs typeface="Calibri" pitchFamily="34" charset="-120"/>
                        </a:rPr>
                        <a:t>no</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marL="0" indent="0" algn="ctr">
                        <a:buNone/>
                      </a:pPr>
                      <a:r>
                        <a:rPr lang="en-US" sz="1350" dirty="0">
                          <a:solidFill>
                            <a:srgbClr val="F8FAFC"/>
                          </a:solidFill>
                          <a:latin typeface="Calibri" pitchFamily="34" charset="0"/>
                          <a:ea typeface="Calibri" pitchFamily="34" charset="-122"/>
                          <a:cs typeface="Calibri" pitchFamily="34" charset="-120"/>
                        </a:rPr>
                        <a:t>one wholesaler</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marL="0" indent="0" algn="ctr">
                        <a:buNone/>
                      </a:pPr>
                      <a:r>
                        <a:rPr lang="en-US" sz="1350" dirty="0">
                          <a:solidFill>
                            <a:srgbClr val="F8FAFC"/>
                          </a:solidFill>
                          <a:latin typeface="Calibri" pitchFamily="34" charset="0"/>
                          <a:ea typeface="Calibri" pitchFamily="34" charset="-122"/>
                          <a:cs typeface="Calibri" pitchFamily="34" charset="-120"/>
                        </a:rPr>
                        <a:t>shops</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marL="0" indent="0" algn="ctr">
                        <a:buNone/>
                      </a:pPr>
                      <a:r>
                        <a:rPr lang="en-US" sz="1350" dirty="0">
                          <a:solidFill>
                            <a:srgbClr val="F8FAFC"/>
                          </a:solidFill>
                          <a:latin typeface="Calibri" pitchFamily="34" charset="0"/>
                          <a:ea typeface="Calibri" pitchFamily="34" charset="-122"/>
                          <a:cs typeface="Calibri" pitchFamily="34" charset="-120"/>
                        </a:rPr>
                        <a:t>one supplier's orders</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extLst>
                  <a:ext uri="{0D108BD9-81ED-4DB2-BD59-A6C34878D82A}">
                    <a16:rowId xmlns:a16="http://schemas.microsoft.com/office/drawing/2014/main" val="10002"/>
                  </a:ext>
                </a:extLst>
              </a:tr>
              <a:tr h="621792">
                <a:tc>
                  <a:txBody>
                    <a:bodyPr/>
                    <a:lstStyle/>
                    <a:p>
                      <a:pPr marL="0" indent="0" algn="l">
                        <a:buNone/>
                      </a:pPr>
                      <a:r>
                        <a:rPr lang="en-US" sz="1350" b="1" dirty="0">
                          <a:solidFill>
                            <a:srgbClr val="F8FAFC"/>
                          </a:solidFill>
                          <a:latin typeface="Calibri" pitchFamily="34" charset="0"/>
                          <a:ea typeface="Calibri" pitchFamily="34" charset="-122"/>
                          <a:cs typeface="Calibri" pitchFamily="34" charset="-120"/>
                        </a:rPr>
                        <a:t>Payments / POS (iKhokha, Yoco)</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c>
                  <a:txBody>
                    <a:bodyPr/>
                    <a:lstStyle/>
                    <a:p>
                      <a:pPr marL="0" indent="0" algn="ctr">
                        <a:buNone/>
                      </a:pPr>
                      <a:r>
                        <a:rPr lang="en-US" sz="1350" dirty="0">
                          <a:solidFill>
                            <a:srgbClr val="F8FAFC"/>
                          </a:solidFill>
                          <a:latin typeface="Calibri" pitchFamily="34" charset="0"/>
                          <a:ea typeface="Calibri" pitchFamily="34" charset="-122"/>
                          <a:cs typeface="Calibri" pitchFamily="34" charset="-120"/>
                        </a:rPr>
                        <a:t>sales only</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c>
                  <a:txBody>
                    <a:bodyPr/>
                    <a:lstStyle/>
                    <a:p>
                      <a:pPr marL="0" indent="0" algn="ctr">
                        <a:buNone/>
                      </a:pPr>
                      <a:r>
                        <a:rPr lang="en-US" sz="1350" dirty="0">
                          <a:solidFill>
                            <a:srgbClr val="64748B"/>
                          </a:solidFill>
                          <a:latin typeface="Calibri" pitchFamily="34" charset="0"/>
                          <a:ea typeface="Calibri" pitchFamily="34" charset="-122"/>
                          <a:cs typeface="Calibri" pitchFamily="34" charset="-120"/>
                        </a:rPr>
                        <a:t>no</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c>
                  <a:txBody>
                    <a:bodyPr/>
                    <a:lstStyle/>
                    <a:p>
                      <a:pPr marL="0" indent="0" algn="ctr">
                        <a:buNone/>
                      </a:pPr>
                      <a:r>
                        <a:rPr lang="en-US" sz="1350" dirty="0">
                          <a:solidFill>
                            <a:srgbClr val="F8FAFC"/>
                          </a:solidFill>
                          <a:latin typeface="Calibri" pitchFamily="34" charset="0"/>
                          <a:ea typeface="Calibri" pitchFamily="34" charset="-122"/>
                          <a:cs typeface="Calibri" pitchFamily="34" charset="-120"/>
                        </a:rPr>
                        <a:t>yes</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c>
                  <a:txBody>
                    <a:bodyPr/>
                    <a:lstStyle/>
                    <a:p>
                      <a:pPr marL="0" indent="0" algn="ctr">
                        <a:buNone/>
                      </a:pPr>
                      <a:r>
                        <a:rPr lang="en-US" sz="1350" dirty="0">
                          <a:solidFill>
                            <a:srgbClr val="F8FAFC"/>
                          </a:solidFill>
                          <a:latin typeface="Calibri" pitchFamily="34" charset="0"/>
                          <a:ea typeface="Calibri" pitchFamily="34" charset="-122"/>
                          <a:cs typeface="Calibri" pitchFamily="34" charset="-120"/>
                        </a:rPr>
                        <a:t>card sales</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extLst>
                  <a:ext uri="{0D108BD9-81ED-4DB2-BD59-A6C34878D82A}">
                    <a16:rowId xmlns:a16="http://schemas.microsoft.com/office/drawing/2014/main" val="10003"/>
                  </a:ext>
                </a:extLst>
              </a:tr>
              <a:tr h="621792">
                <a:tc>
                  <a:txBody>
                    <a:bodyPr/>
                    <a:lstStyle/>
                    <a:p>
                      <a:pPr marL="0" indent="0" algn="l">
                        <a:buNone/>
                      </a:pPr>
                      <a:r>
                        <a:rPr lang="en-US" sz="1350" b="1" dirty="0">
                          <a:solidFill>
                            <a:srgbClr val="F8FAFC"/>
                          </a:solidFill>
                          <a:latin typeface="Calibri" pitchFamily="34" charset="0"/>
                          <a:ea typeface="Calibri" pitchFamily="34" charset="-122"/>
                          <a:cs typeface="Calibri" pitchFamily="34" charset="-120"/>
                        </a:rPr>
                        <a:t>Bulk buying (Spazapp)</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marL="0" indent="0" algn="ctr">
                        <a:buNone/>
                      </a:pPr>
                      <a:r>
                        <a:rPr lang="en-US" sz="1350" dirty="0">
                          <a:solidFill>
                            <a:srgbClr val="64748B"/>
                          </a:solidFill>
                          <a:latin typeface="Calibri" pitchFamily="34" charset="0"/>
                          <a:ea typeface="Calibri" pitchFamily="34" charset="-122"/>
                          <a:cs typeface="Calibri" pitchFamily="34" charset="-120"/>
                        </a:rPr>
                        <a:t>no</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marL="0" indent="0" algn="ctr">
                        <a:buNone/>
                      </a:pPr>
                      <a:r>
                        <a:rPr lang="en-US" sz="1350" dirty="0">
                          <a:solidFill>
                            <a:srgbClr val="F8FAFC"/>
                          </a:solidFill>
                          <a:latin typeface="Calibri" pitchFamily="34" charset="0"/>
                          <a:ea typeface="Calibri" pitchFamily="34" charset="-122"/>
                          <a:cs typeface="Calibri" pitchFamily="34" charset="-120"/>
                        </a:rPr>
                        <a:t>their range</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marL="0" indent="0" algn="ctr">
                        <a:buNone/>
                      </a:pPr>
                      <a:r>
                        <a:rPr lang="en-US" sz="1350" dirty="0">
                          <a:solidFill>
                            <a:srgbClr val="F8FAFC"/>
                          </a:solidFill>
                          <a:latin typeface="Calibri" pitchFamily="34" charset="0"/>
                          <a:ea typeface="Calibri" pitchFamily="34" charset="-122"/>
                          <a:cs typeface="Calibri" pitchFamily="34" charset="-120"/>
                        </a:rPr>
                        <a:t>shops</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marL="0" indent="0" algn="ctr">
                        <a:buNone/>
                      </a:pPr>
                      <a:r>
                        <a:rPr lang="en-US" sz="1350" dirty="0">
                          <a:solidFill>
                            <a:srgbClr val="F8FAFC"/>
                          </a:solidFill>
                          <a:latin typeface="Calibri" pitchFamily="34" charset="0"/>
                          <a:ea typeface="Calibri" pitchFamily="34" charset="-122"/>
                          <a:cs typeface="Calibri" pitchFamily="34" charset="-120"/>
                        </a:rPr>
                        <a:t>their orders</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extLst>
                  <a:ext uri="{0D108BD9-81ED-4DB2-BD59-A6C34878D82A}">
                    <a16:rowId xmlns:a16="http://schemas.microsoft.com/office/drawing/2014/main" val="10004"/>
                  </a:ext>
                </a:extLst>
              </a:tr>
              <a:tr h="621792">
                <a:tc>
                  <a:txBody>
                    <a:bodyPr/>
                    <a:lstStyle/>
                    <a:p>
                      <a:pPr marL="0" indent="0" algn="l">
                        <a:buNone/>
                      </a:pPr>
                      <a:r>
                        <a:rPr lang="en-US" sz="1350" b="1" dirty="0">
                          <a:solidFill>
                            <a:srgbClr val="0F172A"/>
                          </a:solidFill>
                          <a:latin typeface="Calibri" pitchFamily="34" charset="0"/>
                          <a:ea typeface="Calibri" pitchFamily="34" charset="-122"/>
                          <a:cs typeface="Calibri" pitchFamily="34" charset="-120"/>
                        </a:rPr>
                        <a:t>Akayza</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0B981"/>
                    </a:solidFill>
                  </a:tcPr>
                </a:tc>
                <a:tc>
                  <a:txBody>
                    <a:bodyPr/>
                    <a:lstStyle/>
                    <a:p>
                      <a:pPr marL="0" indent="0" algn="ctr">
                        <a:buNone/>
                      </a:pPr>
                      <a:r>
                        <a:rPr lang="en-US" sz="1350" b="1" dirty="0">
                          <a:solidFill>
                            <a:srgbClr val="0F172A"/>
                          </a:solidFill>
                          <a:latin typeface="Calibri" pitchFamily="34" charset="0"/>
                          <a:ea typeface="Calibri" pitchFamily="34" charset="-122"/>
                          <a:cs typeface="Calibri" pitchFamily="34" charset="-120"/>
                        </a:rPr>
                        <a:t>yes</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0B981"/>
                    </a:solidFill>
                  </a:tcPr>
                </a:tc>
                <a:tc>
                  <a:txBody>
                    <a:bodyPr/>
                    <a:lstStyle/>
                    <a:p>
                      <a:pPr marL="0" indent="0" algn="ctr">
                        <a:buNone/>
                      </a:pPr>
                      <a:r>
                        <a:rPr lang="en-US" sz="1350" b="1" dirty="0">
                          <a:solidFill>
                            <a:srgbClr val="0F172A"/>
                          </a:solidFill>
                          <a:latin typeface="Calibri" pitchFamily="34" charset="0"/>
                          <a:ea typeface="Calibri" pitchFamily="34" charset="-122"/>
                          <a:cs typeface="Calibri" pitchFamily="34" charset="-120"/>
                        </a:rPr>
                        <a:t>any supplier</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0B981"/>
                    </a:solidFill>
                  </a:tcPr>
                </a:tc>
                <a:tc>
                  <a:txBody>
                    <a:bodyPr/>
                    <a:lstStyle/>
                    <a:p>
                      <a:pPr marL="0" indent="0" algn="ctr">
                        <a:buNone/>
                      </a:pPr>
                      <a:r>
                        <a:rPr lang="en-US" sz="1350" b="1" dirty="0">
                          <a:solidFill>
                            <a:srgbClr val="0F172A"/>
                          </a:solidFill>
                          <a:latin typeface="Calibri" pitchFamily="34" charset="0"/>
                          <a:ea typeface="Calibri" pitchFamily="34" charset="-122"/>
                          <a:cs typeface="Calibri" pitchFamily="34" charset="-120"/>
                        </a:rPr>
                        <a:t>yes</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0B981"/>
                    </a:solidFill>
                  </a:tcPr>
                </a:tc>
                <a:tc>
                  <a:txBody>
                    <a:bodyPr/>
                    <a:lstStyle/>
                    <a:p>
                      <a:pPr marL="0" indent="0" algn="ctr">
                        <a:buNone/>
                      </a:pPr>
                      <a:r>
                        <a:rPr lang="en-US" sz="1350" b="1" dirty="0">
                          <a:solidFill>
                            <a:srgbClr val="0F172A"/>
                          </a:solidFill>
                          <a:latin typeface="Calibri" pitchFamily="34" charset="0"/>
                          <a:ea typeface="Calibri" pitchFamily="34" charset="-122"/>
                          <a:cs typeface="Calibri" pitchFamily="34" charset="-120"/>
                        </a:rPr>
                        <a:t>orders, jobs, payments</a:t>
                      </a:r>
                      <a:endParaRPr lang="en-US" sz="1350" dirty="0">
                        <a:latin typeface="Calibri" charset="0"/>
                        <a:ea typeface="Calibri" charset="0"/>
                        <a:cs typeface="Calibri" charset="0"/>
                      </a:endParaRPr>
                    </a:p>
                  </a:txBody>
                  <a:tcPr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0B981"/>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548640" y="5559552"/>
            <a:ext cx="11064240" cy="640080"/>
          </a:xfrm>
          <a:prstGeom prst="rect">
            <a:avLst/>
          </a:prstGeom>
          <a:noFill/>
          <a:ln/>
        </p:spPr>
        <p:txBody>
          <a:bodyPr wrap="square" lIns="0" tIns="0" rIns="0" bIns="0" rtlCol="0" anchor="t"/>
          <a:lstStyle/>
          <a:p>
            <a:pPr marL="0" indent="0">
              <a:buNone/>
            </a:pPr>
            <a:r>
              <a:rPr lang="en-US" sz="1500" i="1" dirty="0">
                <a:solidFill>
                  <a:srgbClr val="FBBF24"/>
                </a:solidFill>
                <a:latin typeface="Calibri" pitchFamily="34" charset="0"/>
                <a:ea typeface="Calibri" pitchFamily="34" charset="-122"/>
                <a:cs typeface="Calibri" pitchFamily="34" charset="-120"/>
              </a:rPr>
              <a:t>Payments are confirmed by the provider, job stages by both sides. And the record belongs to the owner: nothing goes to a lender without their consent.</a:t>
            </a:r>
            <a:endParaRPr lang="en-US" sz="1500" dirty="0"/>
          </a:p>
        </p:txBody>
      </p:sp>
      <p:pic>
        <p:nvPicPr>
          <p:cNvPr id="6" name="Image 0" descr="preencoded.png"/>
          <p:cNvPicPr>
            <a:picLocks noChangeAspect="1"/>
          </p:cNvPicPr>
          <p:nvPr/>
        </p:nvPicPr>
        <p:blipFill>
          <a:blip r:embed="rId3"/>
          <a:stretch>
            <a:fillRect/>
          </a:stretch>
        </p:blipFill>
        <p:spPr>
          <a:xfrm>
            <a:off x="11231575" y="6291072"/>
            <a:ext cx="384048" cy="384048"/>
          </a:xfrm>
          <a:prstGeom prst="rect">
            <a:avLst/>
          </a:prstGeom>
        </p:spPr>
      </p:pic>
      <p:sp>
        <p:nvSpPr>
          <p:cNvPr id="7" name="Text 3"/>
          <p:cNvSpPr txBox="1"/>
          <p:nvPr/>
        </p:nvSpPr>
        <p:spPr>
          <a:xfrm>
            <a:off x="10682935" y="6355080"/>
            <a:ext cx="457200" cy="274320"/>
          </a:xfrm>
          <a:prstGeom prst="rect">
            <a:avLst/>
          </a:prstGeom>
          <a:noFill/>
          <a:ln/>
        </p:spPr>
        <p:txBody>
          <a:bodyPr wrap="square" lIns="0" tIns="0" rIns="0" bIns="0" rtlCol="0" anchor="t"/>
          <a:lstStyle/>
          <a:p>
            <a:pPr marL="0" indent="0" algn="r">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85800" y="640080"/>
            <a:ext cx="914400" cy="914400"/>
          </a:xfrm>
          <a:prstGeom prst="rect">
            <a:avLst/>
          </a:prstGeom>
        </p:spPr>
      </p:pic>
      <p:sp>
        <p:nvSpPr>
          <p:cNvPr id="3" name="Text 0"/>
          <p:cNvSpPr txBox="1"/>
          <p:nvPr/>
        </p:nvSpPr>
        <p:spPr>
          <a:xfrm>
            <a:off x="731520" y="1828800"/>
            <a:ext cx="10515600" cy="777240"/>
          </a:xfrm>
          <a:prstGeom prst="rect">
            <a:avLst/>
          </a:prstGeom>
          <a:noFill/>
          <a:ln/>
        </p:spPr>
        <p:txBody>
          <a:bodyPr wrap="square" lIns="0" tIns="0" rIns="0" bIns="0" rtlCol="0" anchor="t"/>
          <a:lstStyle/>
          <a:p>
            <a:pPr marL="0" indent="0">
              <a:buNone/>
            </a:pPr>
            <a:r>
              <a:rPr lang="en-US" sz="1700" dirty="0">
                <a:solidFill>
                  <a:srgbClr val="A3B3C9"/>
                </a:solidFill>
                <a:latin typeface="Calibri" pitchFamily="34" charset="0"/>
                <a:ea typeface="Calibri" pitchFamily="34" charset="-122"/>
                <a:cs typeface="Calibri" pitchFamily="34" charset="-120"/>
              </a:rPr>
              <a:t>In the 1950s, Richard Maponya started a milk business in Soweto. His customers trusted him, and decades later he opened Maponya Mall.</a:t>
            </a:r>
            <a:endParaRPr lang="en-US" sz="1700" dirty="0"/>
          </a:p>
        </p:txBody>
      </p:sp>
      <p:sp>
        <p:nvSpPr>
          <p:cNvPr id="4" name="Text 1"/>
          <p:cNvSpPr txBox="1"/>
          <p:nvPr/>
        </p:nvSpPr>
        <p:spPr>
          <a:xfrm>
            <a:off x="731520" y="2697480"/>
            <a:ext cx="10972800" cy="731520"/>
          </a:xfrm>
          <a:prstGeom prst="rect">
            <a:avLst/>
          </a:prstGeom>
          <a:noFill/>
          <a:ln/>
        </p:spPr>
        <p:txBody>
          <a:bodyPr wrap="square" lIns="0" tIns="0" rIns="0" bIns="0" rtlCol="0" anchor="t"/>
          <a:lstStyle/>
          <a:p>
            <a:pPr marL="0" indent="0">
              <a:buNone/>
            </a:pPr>
            <a:r>
              <a:rPr lang="en-US" sz="3600" b="1" dirty="0">
                <a:solidFill>
                  <a:srgbClr val="F8FAFC"/>
                </a:solidFill>
                <a:latin typeface="Georgia" pitchFamily="34" charset="0"/>
                <a:ea typeface="Georgia" pitchFamily="34" charset="-122"/>
                <a:cs typeface="Georgia" pitchFamily="34" charset="-120"/>
              </a:rPr>
              <a:t>The next Maponya is out there right now.</a:t>
            </a:r>
            <a:endParaRPr lang="en-US" sz="3600" dirty="0"/>
          </a:p>
        </p:txBody>
      </p:sp>
      <p:sp>
        <p:nvSpPr>
          <p:cNvPr id="5" name="Text 2"/>
          <p:cNvSpPr txBox="1"/>
          <p:nvPr/>
        </p:nvSpPr>
        <p:spPr>
          <a:xfrm>
            <a:off x="731520" y="3474720"/>
            <a:ext cx="10515600" cy="502920"/>
          </a:xfrm>
          <a:prstGeom prst="rect">
            <a:avLst/>
          </a:prstGeom>
          <a:noFill/>
          <a:ln/>
        </p:spPr>
        <p:txBody>
          <a:bodyPr wrap="square" lIns="0" tIns="0" rIns="0" bIns="0" rtlCol="0" anchor="t"/>
          <a:lstStyle/>
          <a:p>
            <a:pPr marL="0" indent="0">
              <a:buNone/>
            </a:pPr>
            <a:r>
              <a:rPr lang="en-US" sz="2400" i="1" dirty="0">
                <a:solidFill>
                  <a:srgbClr val="FBBF24"/>
                </a:solidFill>
                <a:latin typeface="Georgia" pitchFamily="34" charset="0"/>
                <a:ea typeface="Georgia" pitchFamily="34" charset="-122"/>
                <a:cs typeface="Georgia" pitchFamily="34" charset="-120"/>
              </a:rPr>
              <a:t>Selling kotas. Running a spaza. Laying bricks.</a:t>
            </a:r>
            <a:endParaRPr lang="en-US" sz="2400" dirty="0"/>
          </a:p>
        </p:txBody>
      </p:sp>
      <p:sp>
        <p:nvSpPr>
          <p:cNvPr id="6" name="Text 3"/>
          <p:cNvSpPr txBox="1"/>
          <p:nvPr/>
        </p:nvSpPr>
        <p:spPr>
          <a:xfrm>
            <a:off x="731520" y="4343400"/>
            <a:ext cx="10515600" cy="457200"/>
          </a:xfrm>
          <a:prstGeom prst="rect">
            <a:avLst/>
          </a:prstGeom>
          <a:noFill/>
          <a:ln/>
        </p:spPr>
        <p:txBody>
          <a:bodyPr wrap="square" lIns="0" tIns="0" rIns="0" bIns="0" rtlCol="0" anchor="t"/>
          <a:lstStyle/>
          <a:p>
            <a:pPr marL="0" indent="0">
              <a:buNone/>
            </a:pPr>
            <a:r>
              <a:rPr lang="en-US" sz="2000" b="1" dirty="0">
                <a:solidFill>
                  <a:srgbClr val="34D399"/>
                </a:solidFill>
                <a:latin typeface="Calibri" pitchFamily="34" charset="0"/>
                <a:ea typeface="Calibri" pitchFamily="34" charset="-122"/>
                <a:cs typeface="Calibri" pitchFamily="34" charset="-120"/>
              </a:rPr>
              <a:t>We don't hold the stock. We build the record.</a:t>
            </a:r>
            <a:endParaRPr lang="en-US" sz="2000" dirty="0"/>
          </a:p>
        </p:txBody>
      </p:sp>
      <p:sp>
        <p:nvSpPr>
          <p:cNvPr id="7" name="Text 4"/>
          <p:cNvSpPr txBox="1"/>
          <p:nvPr/>
        </p:nvSpPr>
        <p:spPr>
          <a:xfrm>
            <a:off x="731520" y="4892040"/>
            <a:ext cx="10515600" cy="685800"/>
          </a:xfrm>
          <a:prstGeom prst="rect">
            <a:avLst/>
          </a:prstGeom>
          <a:noFill/>
          <a:ln/>
        </p:spPr>
        <p:txBody>
          <a:bodyPr wrap="square" lIns="0" tIns="0" rIns="0" bIns="0" rtlCol="0" anchor="t"/>
          <a:lstStyle/>
          <a:p>
            <a:pPr marL="0" indent="0">
              <a:buNone/>
            </a:pPr>
            <a:r>
              <a:rPr lang="en-US" sz="3200" i="1" dirty="0">
                <a:solidFill>
                  <a:srgbClr val="F8FAFC"/>
                </a:solidFill>
                <a:latin typeface="Georgia" pitchFamily="34" charset="0"/>
                <a:ea typeface="Georgia" pitchFamily="34" charset="-122"/>
                <a:cs typeface="Georgia" pitchFamily="34" charset="-120"/>
              </a:rPr>
              <a:t>Keep it in the kasi.</a:t>
            </a:r>
            <a:endParaRPr lang="en-US" sz="3200" dirty="0"/>
          </a:p>
        </p:txBody>
      </p:sp>
      <p:sp>
        <p:nvSpPr>
          <p:cNvPr id="8" name="Text 5"/>
          <p:cNvSpPr txBox="1"/>
          <p:nvPr/>
        </p:nvSpPr>
        <p:spPr>
          <a:xfrm>
            <a:off x="731520" y="5943600"/>
            <a:ext cx="10515600" cy="365760"/>
          </a:xfrm>
          <a:prstGeom prst="rect">
            <a:avLst/>
          </a:prstGeom>
          <a:noFill/>
          <a:ln/>
        </p:spPr>
        <p:txBody>
          <a:bodyPr wrap="square" lIns="0" tIns="0" rIns="0" bIns="0" rtlCol="0" anchor="t"/>
          <a:lstStyle/>
          <a:p>
            <a:pPr marL="0" indent="0">
              <a:buNone/>
            </a:pPr>
            <a:r>
              <a:rPr lang="en-US" sz="1300" dirty="0">
                <a:solidFill>
                  <a:srgbClr val="64748B"/>
                </a:solidFill>
                <a:latin typeface="Calibri" pitchFamily="34" charset="0"/>
                <a:ea typeface="Calibri" pitchFamily="34" charset="-122"/>
                <a:cs typeface="Calibri" pitchFamily="34" charset="-120"/>
              </a:rPr>
              <a:t>Thank you  ·  R300,000 for a 6-month pilot  ·  Team PR, GKHack26</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t"/>
          <a:lstStyle/>
          <a:p>
            <a:pPr marL="0" indent="0">
              <a:buNone/>
            </a:pPr>
            <a:r>
              <a:rPr lang="en-US" sz="1300" b="1" kern="0" spc="300" dirty="0">
                <a:solidFill>
                  <a:srgbClr val="10B981"/>
                </a:solidFill>
                <a:latin typeface="Calibri" pitchFamily="34" charset="0"/>
                <a:ea typeface="Calibri" pitchFamily="34" charset="-122"/>
                <a:cs typeface="Calibri" pitchFamily="34" charset="-120"/>
              </a:rPr>
              <a:t>TECHNOLOGICAL ARCHITECTURE</a:t>
            </a:r>
            <a:endParaRPr lang="en-US" sz="13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marL="0" indent="0">
              <a:buNone/>
            </a:pPr>
            <a:r>
              <a:rPr lang="en-US" sz="3400" b="1" dirty="0">
                <a:solidFill>
                  <a:srgbClr val="F8FAFC"/>
                </a:solidFill>
                <a:latin typeface="Georgia" pitchFamily="34" charset="0"/>
                <a:ea typeface="Georgia" pitchFamily="34" charset="-122"/>
                <a:cs typeface="Georgia" pitchFamily="34" charset="-120"/>
              </a:rPr>
              <a:t>How it's built</a:t>
            </a:r>
            <a:endParaRPr lang="en-US" sz="3400" dirty="0"/>
          </a:p>
        </p:txBody>
      </p:sp>
      <p:sp>
        <p:nvSpPr>
          <p:cNvPr id="4" name="Shape 2"/>
          <p:cNvSpPr/>
          <p:nvPr/>
        </p:nvSpPr>
        <p:spPr>
          <a:xfrm>
            <a:off x="548640" y="1645920"/>
            <a:ext cx="2697480" cy="2834640"/>
          </a:xfrm>
          <a:prstGeom prst="roundRect">
            <a:avLst>
              <a:gd name="adj" fmla="val 4068"/>
            </a:avLst>
          </a:prstGeom>
          <a:solidFill>
            <a:srgbClr val="17223A"/>
          </a:solidFill>
          <a:ln w="12700">
            <a:solidFill>
              <a:srgbClr val="17223A"/>
            </a:solidFill>
            <a:prstDash val="solid"/>
          </a:ln>
        </p:spPr>
      </p:sp>
      <p:sp>
        <p:nvSpPr>
          <p:cNvPr id="5" name="Shape 3"/>
          <p:cNvSpPr/>
          <p:nvPr/>
        </p:nvSpPr>
        <p:spPr>
          <a:xfrm>
            <a:off x="777240" y="1847088"/>
            <a:ext cx="566928" cy="566928"/>
          </a:xfrm>
          <a:prstGeom prst="ellipse">
            <a:avLst/>
          </a:prstGeom>
          <a:solidFill>
            <a:srgbClr val="1E2B45"/>
          </a:solidFill>
          <a:ln w="19050">
            <a:solidFill>
              <a:srgbClr val="10B981"/>
            </a:solidFill>
            <a:prstDash val="solid"/>
          </a:ln>
        </p:spPr>
      </p:sp>
      <p:pic>
        <p:nvPicPr>
          <p:cNvPr id="6" name="Image 0" descr="preencoded.png"/>
          <p:cNvPicPr>
            <a:picLocks noChangeAspect="1"/>
          </p:cNvPicPr>
          <p:nvPr/>
        </p:nvPicPr>
        <p:blipFill>
          <a:blip r:embed="rId3"/>
          <a:stretch>
            <a:fillRect/>
          </a:stretch>
        </p:blipFill>
        <p:spPr>
          <a:xfrm>
            <a:off x="913303" y="1983151"/>
            <a:ext cx="294803" cy="294803"/>
          </a:xfrm>
          <a:prstGeom prst="rect">
            <a:avLst/>
          </a:prstGeom>
        </p:spPr>
      </p:pic>
      <p:sp>
        <p:nvSpPr>
          <p:cNvPr id="7" name="Text 4"/>
          <p:cNvSpPr txBox="1"/>
          <p:nvPr/>
        </p:nvSpPr>
        <p:spPr>
          <a:xfrm>
            <a:off x="1463040" y="1956816"/>
            <a:ext cx="1691640" cy="365760"/>
          </a:xfrm>
          <a:prstGeom prst="rect">
            <a:avLst/>
          </a:prstGeom>
          <a:noFill/>
          <a:ln/>
        </p:spPr>
        <p:txBody>
          <a:bodyPr wrap="square" lIns="0" tIns="0" rIns="0" bIns="0" rtlCol="0" anchor="t"/>
          <a:lstStyle/>
          <a:p>
            <a:pPr marL="0" indent="0">
              <a:buNone/>
            </a:pPr>
            <a:r>
              <a:rPr lang="en-US" sz="1700" b="1" dirty="0">
                <a:solidFill>
                  <a:srgbClr val="10B981"/>
                </a:solidFill>
                <a:latin typeface="Calibri" pitchFamily="34" charset="0"/>
                <a:ea typeface="Calibri" pitchFamily="34" charset="-122"/>
                <a:cs typeface="Calibri" pitchFamily="34" charset="-120"/>
              </a:rPr>
              <a:t>Mobile app</a:t>
            </a:r>
            <a:endParaRPr lang="en-US" sz="1700" dirty="0"/>
          </a:p>
        </p:txBody>
      </p:sp>
      <p:sp>
        <p:nvSpPr>
          <p:cNvPr id="8" name="Text 5"/>
          <p:cNvSpPr txBox="1"/>
          <p:nvPr/>
        </p:nvSpPr>
        <p:spPr>
          <a:xfrm>
            <a:off x="777240" y="2606040"/>
            <a:ext cx="2286000" cy="17830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A3B3C9"/>
                </a:solidFill>
                <a:latin typeface="Calibri" pitchFamily="34" charset="0"/>
                <a:ea typeface="Calibri" pitchFamily="34" charset="-122"/>
                <a:cs typeface="Calibri" pitchFamily="34" charset="-120"/>
              </a:rPr>
              <a:t>React Native + Expo, TypeScript</a:t>
            </a:r>
            <a:endParaRPr lang="en-US" sz="1250" dirty="0"/>
          </a:p>
          <a:p>
            <a:pPr marL="342900" indent="-342900">
              <a:spcAft>
                <a:spcPts val="500"/>
              </a:spcAft>
              <a:buSzPct val="100000"/>
              <a:buChar char="•"/>
            </a:pPr>
            <a:r>
              <a:rPr lang="en-US" sz="1250" dirty="0">
                <a:solidFill>
                  <a:srgbClr val="A3B3C9"/>
                </a:solidFill>
                <a:latin typeface="Calibri" pitchFamily="34" charset="0"/>
                <a:ea typeface="Calibri" pitchFamily="34" charset="-122"/>
                <a:cs typeface="Calibri" pitchFamily="34" charset="-120"/>
              </a:rPr>
              <a:t>Android first</a:t>
            </a:r>
            <a:endParaRPr lang="en-US" sz="1250" dirty="0"/>
          </a:p>
          <a:p>
            <a:pPr marL="342900" indent="-342900">
              <a:spcAft>
                <a:spcPts val="500"/>
              </a:spcAft>
              <a:buSzPct val="100000"/>
              <a:buChar char="•"/>
            </a:pPr>
            <a:r>
              <a:rPr lang="en-US" sz="1250" dirty="0">
                <a:solidFill>
                  <a:srgbClr val="A3B3C9"/>
                </a:solidFill>
                <a:latin typeface="Calibri" pitchFamily="34" charset="0"/>
                <a:ea typeface="Calibri" pitchFamily="34" charset="-122"/>
                <a:cs typeface="Calibri" pitchFamily="34" charset="-120"/>
              </a:rPr>
              <a:t>Sign-in kept in secure storage</a:t>
            </a:r>
            <a:endParaRPr lang="en-US" sz="1250" dirty="0"/>
          </a:p>
          <a:p>
            <a:pPr marL="342900" indent="-342900">
              <a:spcAft>
                <a:spcPts val="500"/>
              </a:spcAft>
              <a:buSzPct val="100000"/>
              <a:buChar char="•"/>
            </a:pPr>
            <a:r>
              <a:rPr lang="en-US" sz="1250" dirty="0">
                <a:solidFill>
                  <a:srgbClr val="A3B3C9"/>
                </a:solidFill>
                <a:latin typeface="Calibri" pitchFamily="34" charset="0"/>
                <a:ea typeface="Calibri" pitchFamily="34" charset="-122"/>
                <a:cs typeface="Calibri" pitchFamily="34" charset="-120"/>
              </a:rPr>
              <a:t>Offline orders wait, then send once</a:t>
            </a:r>
            <a:endParaRPr lang="en-US" sz="1250" dirty="0"/>
          </a:p>
        </p:txBody>
      </p:sp>
      <p:sp>
        <p:nvSpPr>
          <p:cNvPr id="9" name="Shape 6"/>
          <p:cNvSpPr/>
          <p:nvPr/>
        </p:nvSpPr>
        <p:spPr>
          <a:xfrm>
            <a:off x="3611880" y="1645920"/>
            <a:ext cx="4983480" cy="2834640"/>
          </a:xfrm>
          <a:prstGeom prst="roundRect">
            <a:avLst>
              <a:gd name="adj" fmla="val 3871"/>
            </a:avLst>
          </a:prstGeom>
          <a:solidFill>
            <a:srgbClr val="17223A"/>
          </a:solidFill>
          <a:ln w="12700">
            <a:solidFill>
              <a:srgbClr val="17223A"/>
            </a:solidFill>
            <a:prstDash val="solid"/>
          </a:ln>
        </p:spPr>
      </p:sp>
      <p:sp>
        <p:nvSpPr>
          <p:cNvPr id="10" name="Shape 7"/>
          <p:cNvSpPr/>
          <p:nvPr/>
        </p:nvSpPr>
        <p:spPr>
          <a:xfrm>
            <a:off x="3840480" y="1847088"/>
            <a:ext cx="566928" cy="566928"/>
          </a:xfrm>
          <a:prstGeom prst="ellipse">
            <a:avLst/>
          </a:prstGeom>
          <a:solidFill>
            <a:srgbClr val="1E2B45"/>
          </a:solidFill>
          <a:ln w="19050">
            <a:solidFill>
              <a:srgbClr val="FBBF24"/>
            </a:solidFill>
            <a:prstDash val="solid"/>
          </a:ln>
        </p:spPr>
      </p:sp>
      <p:pic>
        <p:nvPicPr>
          <p:cNvPr id="11" name="Image 1" descr="preencoded.png"/>
          <p:cNvPicPr>
            <a:picLocks noChangeAspect="1"/>
          </p:cNvPicPr>
          <p:nvPr/>
        </p:nvPicPr>
        <p:blipFill>
          <a:blip r:embed="rId4"/>
          <a:stretch>
            <a:fillRect/>
          </a:stretch>
        </p:blipFill>
        <p:spPr>
          <a:xfrm>
            <a:off x="3976543" y="1983151"/>
            <a:ext cx="294803" cy="294803"/>
          </a:xfrm>
          <a:prstGeom prst="rect">
            <a:avLst/>
          </a:prstGeom>
        </p:spPr>
      </p:pic>
      <p:sp>
        <p:nvSpPr>
          <p:cNvPr id="12" name="Text 8"/>
          <p:cNvSpPr txBox="1"/>
          <p:nvPr/>
        </p:nvSpPr>
        <p:spPr>
          <a:xfrm>
            <a:off x="4526280" y="1956816"/>
            <a:ext cx="3840480" cy="365760"/>
          </a:xfrm>
          <a:prstGeom prst="rect">
            <a:avLst/>
          </a:prstGeom>
          <a:noFill/>
          <a:ln/>
        </p:spPr>
        <p:txBody>
          <a:bodyPr wrap="square" lIns="0" tIns="0" rIns="0" bIns="0" rtlCol="0" anchor="t"/>
          <a:lstStyle/>
          <a:p>
            <a:pPr marL="0" indent="0">
              <a:buNone/>
            </a:pPr>
            <a:r>
              <a:rPr lang="en-US" sz="1700" b="1" dirty="0">
                <a:solidFill>
                  <a:srgbClr val="FBBF24"/>
                </a:solidFill>
                <a:latin typeface="Calibri" pitchFamily="34" charset="0"/>
                <a:ea typeface="Calibri" pitchFamily="34" charset="-122"/>
                <a:cs typeface="Calibri" pitchFamily="34" charset="-120"/>
              </a:rPr>
              <a:t>API: Python + Flask</a:t>
            </a:r>
            <a:endParaRPr lang="en-US" sz="1700" dirty="0"/>
          </a:p>
        </p:txBody>
      </p:sp>
      <p:sp>
        <p:nvSpPr>
          <p:cNvPr id="13" name="Shape 9"/>
          <p:cNvSpPr/>
          <p:nvPr/>
        </p:nvSpPr>
        <p:spPr>
          <a:xfrm>
            <a:off x="3794760" y="2542032"/>
            <a:ext cx="2240280" cy="548640"/>
          </a:xfrm>
          <a:prstGeom prst="roundRect">
            <a:avLst>
              <a:gd name="adj" fmla="val 20000"/>
            </a:avLst>
          </a:prstGeom>
          <a:solidFill>
            <a:srgbClr val="1E2B45"/>
          </a:solidFill>
          <a:ln w="12700">
            <a:solidFill>
              <a:srgbClr val="1E2B45"/>
            </a:solidFill>
            <a:prstDash val="solid"/>
          </a:ln>
        </p:spPr>
      </p:sp>
      <p:sp>
        <p:nvSpPr>
          <p:cNvPr id="14" name="Text 10"/>
          <p:cNvSpPr txBox="1"/>
          <p:nvPr/>
        </p:nvSpPr>
        <p:spPr>
          <a:xfrm>
            <a:off x="3922776" y="2587752"/>
            <a:ext cx="2057400" cy="45720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Identity</a:t>
            </a:r>
            <a:endParaRPr lang="en-US" sz="1200" dirty="0"/>
          </a:p>
          <a:p>
            <a:pPr marL="0" indent="0">
              <a:buNone/>
            </a:pPr>
            <a:r>
              <a:rPr lang="en-US" sz="1000" dirty="0">
                <a:solidFill>
                  <a:srgbClr val="A3B3C9"/>
                </a:solidFill>
                <a:latin typeface="Calibri" pitchFamily="34" charset="0"/>
                <a:ea typeface="Calibri" pitchFamily="34" charset="-122"/>
                <a:cs typeface="Calibri" pitchFamily="34" charset="-120"/>
              </a:rPr>
              <a:t>accounts, sign-in, devices</a:t>
            </a:r>
            <a:endParaRPr lang="en-US" sz="1200" dirty="0"/>
          </a:p>
        </p:txBody>
      </p:sp>
      <p:sp>
        <p:nvSpPr>
          <p:cNvPr id="15" name="Shape 11"/>
          <p:cNvSpPr/>
          <p:nvPr/>
        </p:nvSpPr>
        <p:spPr>
          <a:xfrm>
            <a:off x="6172200" y="2542032"/>
            <a:ext cx="2240280" cy="548640"/>
          </a:xfrm>
          <a:prstGeom prst="roundRect">
            <a:avLst>
              <a:gd name="adj" fmla="val 20000"/>
            </a:avLst>
          </a:prstGeom>
          <a:solidFill>
            <a:srgbClr val="1E2B45"/>
          </a:solidFill>
          <a:ln w="12700">
            <a:solidFill>
              <a:srgbClr val="1E2B45"/>
            </a:solidFill>
            <a:prstDash val="solid"/>
          </a:ln>
        </p:spPr>
      </p:sp>
      <p:sp>
        <p:nvSpPr>
          <p:cNvPr id="16" name="Text 12"/>
          <p:cNvSpPr txBox="1"/>
          <p:nvPr/>
        </p:nvSpPr>
        <p:spPr>
          <a:xfrm>
            <a:off x="6300216" y="2587752"/>
            <a:ext cx="2057400" cy="45720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Business tools</a:t>
            </a:r>
            <a:endParaRPr lang="en-US" sz="1200" dirty="0"/>
          </a:p>
          <a:p>
            <a:pPr marL="0" indent="0">
              <a:buNone/>
            </a:pPr>
            <a:r>
              <a:rPr lang="en-US" sz="1000" dirty="0">
                <a:solidFill>
                  <a:srgbClr val="A3B3C9"/>
                </a:solidFill>
                <a:latin typeface="Calibri" pitchFamily="34" charset="0"/>
                <a:ea typeface="Calibri" pitchFamily="34" charset="-122"/>
                <a:cs typeface="Calibri" pitchFamily="34" charset="-120"/>
              </a:rPr>
              <a:t>credit, orders, jobs, builders</a:t>
            </a:r>
            <a:endParaRPr lang="en-US" sz="1200" dirty="0"/>
          </a:p>
        </p:txBody>
      </p:sp>
      <p:sp>
        <p:nvSpPr>
          <p:cNvPr id="17" name="Shape 13"/>
          <p:cNvSpPr/>
          <p:nvPr/>
        </p:nvSpPr>
        <p:spPr>
          <a:xfrm>
            <a:off x="3794760" y="3172968"/>
            <a:ext cx="2240280" cy="548640"/>
          </a:xfrm>
          <a:prstGeom prst="roundRect">
            <a:avLst>
              <a:gd name="adj" fmla="val 20000"/>
            </a:avLst>
          </a:prstGeom>
          <a:solidFill>
            <a:srgbClr val="1E2B45"/>
          </a:solidFill>
          <a:ln w="12700">
            <a:solidFill>
              <a:srgbClr val="1E2B45"/>
            </a:solidFill>
            <a:prstDash val="solid"/>
          </a:ln>
        </p:spPr>
      </p:sp>
      <p:sp>
        <p:nvSpPr>
          <p:cNvPr id="18" name="Text 14"/>
          <p:cNvSpPr txBox="1"/>
          <p:nvPr/>
        </p:nvSpPr>
        <p:spPr>
          <a:xfrm>
            <a:off x="3922776" y="3218688"/>
            <a:ext cx="2057400" cy="45720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Suppliers</a:t>
            </a:r>
            <a:endParaRPr lang="en-US" sz="1200" dirty="0"/>
          </a:p>
          <a:p>
            <a:pPr marL="0" indent="0">
              <a:buNone/>
            </a:pPr>
            <a:r>
              <a:rPr lang="en-US" sz="1000" dirty="0">
                <a:solidFill>
                  <a:srgbClr val="A3B3C9"/>
                </a:solidFill>
                <a:latin typeface="Calibri" pitchFamily="34" charset="0"/>
                <a:ea typeface="Calibri" pitchFamily="34" charset="-122"/>
                <a:cs typeface="Calibri" pitchFamily="34" charset="-120"/>
              </a:rPr>
              <a:t>catalogue, the matching engine</a:t>
            </a:r>
            <a:endParaRPr lang="en-US" sz="1200" dirty="0"/>
          </a:p>
        </p:txBody>
      </p:sp>
      <p:sp>
        <p:nvSpPr>
          <p:cNvPr id="19" name="Shape 15"/>
          <p:cNvSpPr/>
          <p:nvPr/>
        </p:nvSpPr>
        <p:spPr>
          <a:xfrm>
            <a:off x="6172200" y="3172968"/>
            <a:ext cx="2240280" cy="548640"/>
          </a:xfrm>
          <a:prstGeom prst="roundRect">
            <a:avLst>
              <a:gd name="adj" fmla="val 20000"/>
            </a:avLst>
          </a:prstGeom>
          <a:solidFill>
            <a:srgbClr val="1E2B45"/>
          </a:solidFill>
          <a:ln w="12700">
            <a:solidFill>
              <a:srgbClr val="1E2B45"/>
            </a:solidFill>
            <a:prstDash val="solid"/>
          </a:ln>
        </p:spPr>
      </p:sp>
      <p:sp>
        <p:nvSpPr>
          <p:cNvPr id="20" name="Text 16"/>
          <p:cNvSpPr txBox="1"/>
          <p:nvPr/>
        </p:nvSpPr>
        <p:spPr>
          <a:xfrm>
            <a:off x="6300216" y="3218688"/>
            <a:ext cx="2057400" cy="45720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Commerce</a:t>
            </a:r>
            <a:endParaRPr lang="en-US" sz="1200" dirty="0"/>
          </a:p>
          <a:p>
            <a:pPr marL="0" indent="0">
              <a:buNone/>
            </a:pPr>
            <a:r>
              <a:rPr lang="en-US" sz="1000" dirty="0">
                <a:solidFill>
                  <a:srgbClr val="A3B3C9"/>
                </a:solidFill>
                <a:latin typeface="Calibri" pitchFamily="34" charset="0"/>
                <a:ea typeface="Calibri" pitchFamily="34" charset="-122"/>
                <a:cs typeface="Calibri" pitchFamily="34" charset="-120"/>
              </a:rPr>
              <a:t>orders, payments, invoices</a:t>
            </a:r>
            <a:endParaRPr lang="en-US" sz="1200" dirty="0"/>
          </a:p>
        </p:txBody>
      </p:sp>
      <p:sp>
        <p:nvSpPr>
          <p:cNvPr id="21" name="Shape 17"/>
          <p:cNvSpPr/>
          <p:nvPr/>
        </p:nvSpPr>
        <p:spPr>
          <a:xfrm>
            <a:off x="3794760" y="3803904"/>
            <a:ext cx="2240280" cy="548640"/>
          </a:xfrm>
          <a:prstGeom prst="roundRect">
            <a:avLst>
              <a:gd name="adj" fmla="val 20000"/>
            </a:avLst>
          </a:prstGeom>
          <a:solidFill>
            <a:srgbClr val="1E2B45"/>
          </a:solidFill>
          <a:ln w="12700">
            <a:solidFill>
              <a:srgbClr val="1E2B45"/>
            </a:solidFill>
            <a:prstDash val="solid"/>
          </a:ln>
        </p:spPr>
      </p:sp>
      <p:sp>
        <p:nvSpPr>
          <p:cNvPr id="22" name="Text 18"/>
          <p:cNvSpPr txBox="1"/>
          <p:nvPr/>
        </p:nvSpPr>
        <p:spPr>
          <a:xfrm>
            <a:off x="3922776" y="3849624"/>
            <a:ext cx="2057400" cy="45720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Proof</a:t>
            </a:r>
            <a:endParaRPr lang="en-US" sz="1200" dirty="0"/>
          </a:p>
          <a:p>
            <a:pPr marL="0" indent="0">
              <a:buNone/>
            </a:pPr>
            <a:r>
              <a:rPr lang="en-US" sz="1000" dirty="0">
                <a:solidFill>
                  <a:srgbClr val="A3B3C9"/>
                </a:solidFill>
                <a:latin typeface="Calibri" pitchFamily="34" charset="0"/>
                <a:ea typeface="Calibri" pitchFamily="34" charset="-122"/>
                <a:cs typeface="Calibri" pitchFamily="34" charset="-120"/>
              </a:rPr>
              <a:t>payment proof, sealed records</a:t>
            </a:r>
            <a:endParaRPr lang="en-US" sz="1200" dirty="0"/>
          </a:p>
        </p:txBody>
      </p:sp>
      <p:sp>
        <p:nvSpPr>
          <p:cNvPr id="23" name="Shape 19"/>
          <p:cNvSpPr/>
          <p:nvPr/>
        </p:nvSpPr>
        <p:spPr>
          <a:xfrm>
            <a:off x="6172200" y="3803904"/>
            <a:ext cx="2240280" cy="548640"/>
          </a:xfrm>
          <a:prstGeom prst="roundRect">
            <a:avLst>
              <a:gd name="adj" fmla="val 20000"/>
            </a:avLst>
          </a:prstGeom>
          <a:solidFill>
            <a:srgbClr val="1E2B45"/>
          </a:solidFill>
          <a:ln w="12700">
            <a:solidFill>
              <a:srgbClr val="1E2B45"/>
            </a:solidFill>
            <a:prstDash val="solid"/>
          </a:ln>
        </p:spPr>
      </p:sp>
      <p:sp>
        <p:nvSpPr>
          <p:cNvPr id="24" name="Text 20"/>
          <p:cNvSpPr txBox="1"/>
          <p:nvPr/>
        </p:nvSpPr>
        <p:spPr>
          <a:xfrm>
            <a:off x="6300216" y="3849624"/>
            <a:ext cx="2057400" cy="45720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Platform</a:t>
            </a:r>
            <a:endParaRPr lang="en-US" sz="1200" dirty="0"/>
          </a:p>
          <a:p>
            <a:pPr marL="0" indent="0">
              <a:buNone/>
            </a:pPr>
            <a:r>
              <a:rPr lang="en-US" sz="1000" dirty="0">
                <a:solidFill>
                  <a:srgbClr val="A3B3C9"/>
                </a:solidFill>
                <a:latin typeface="Calibri" pitchFamily="34" charset="0"/>
                <a:ea typeface="Calibri" pitchFamily="34" charset="-122"/>
                <a:cs typeface="Calibri" pitchFamily="34" charset="-120"/>
              </a:rPr>
              <a:t>alerts, audit trail</a:t>
            </a:r>
            <a:endParaRPr lang="en-US" sz="1200" dirty="0"/>
          </a:p>
        </p:txBody>
      </p:sp>
      <p:sp>
        <p:nvSpPr>
          <p:cNvPr id="25" name="Shape 21"/>
          <p:cNvSpPr/>
          <p:nvPr/>
        </p:nvSpPr>
        <p:spPr>
          <a:xfrm>
            <a:off x="8961120" y="1645920"/>
            <a:ext cx="2679192" cy="2834640"/>
          </a:xfrm>
          <a:prstGeom prst="roundRect">
            <a:avLst>
              <a:gd name="adj" fmla="val 4096"/>
            </a:avLst>
          </a:prstGeom>
          <a:solidFill>
            <a:srgbClr val="17223A"/>
          </a:solidFill>
          <a:ln w="12700">
            <a:solidFill>
              <a:srgbClr val="17223A"/>
            </a:solidFill>
            <a:prstDash val="solid"/>
          </a:ln>
        </p:spPr>
      </p:sp>
      <p:sp>
        <p:nvSpPr>
          <p:cNvPr id="26" name="Shape 22"/>
          <p:cNvSpPr/>
          <p:nvPr/>
        </p:nvSpPr>
        <p:spPr>
          <a:xfrm>
            <a:off x="9189720" y="1847088"/>
            <a:ext cx="566928" cy="566928"/>
          </a:xfrm>
          <a:prstGeom prst="ellipse">
            <a:avLst/>
          </a:prstGeom>
          <a:solidFill>
            <a:srgbClr val="1E2B45"/>
          </a:solidFill>
          <a:ln w="19050">
            <a:solidFill>
              <a:srgbClr val="34D399"/>
            </a:solidFill>
            <a:prstDash val="solid"/>
          </a:ln>
        </p:spPr>
      </p:sp>
      <p:pic>
        <p:nvPicPr>
          <p:cNvPr id="27" name="Image 2" descr="preencoded.png"/>
          <p:cNvPicPr>
            <a:picLocks noChangeAspect="1"/>
          </p:cNvPicPr>
          <p:nvPr/>
        </p:nvPicPr>
        <p:blipFill>
          <a:blip r:embed="rId5"/>
          <a:stretch>
            <a:fillRect/>
          </a:stretch>
        </p:blipFill>
        <p:spPr>
          <a:xfrm>
            <a:off x="9325783" y="1983151"/>
            <a:ext cx="294803" cy="294803"/>
          </a:xfrm>
          <a:prstGeom prst="rect">
            <a:avLst/>
          </a:prstGeom>
        </p:spPr>
      </p:pic>
      <p:sp>
        <p:nvSpPr>
          <p:cNvPr id="28" name="Text 23"/>
          <p:cNvSpPr txBox="1"/>
          <p:nvPr/>
        </p:nvSpPr>
        <p:spPr>
          <a:xfrm>
            <a:off x="9875520" y="1956816"/>
            <a:ext cx="1691640" cy="365760"/>
          </a:xfrm>
          <a:prstGeom prst="rect">
            <a:avLst/>
          </a:prstGeom>
          <a:noFill/>
          <a:ln/>
        </p:spPr>
        <p:txBody>
          <a:bodyPr wrap="square" lIns="0" tIns="0" rIns="0" bIns="0" rtlCol="0" anchor="t"/>
          <a:lstStyle/>
          <a:p>
            <a:pPr marL="0" indent="0">
              <a:buNone/>
            </a:pPr>
            <a:r>
              <a:rPr lang="en-US" sz="1700" b="1" dirty="0">
                <a:solidFill>
                  <a:srgbClr val="34D399"/>
                </a:solidFill>
                <a:latin typeface="Calibri" pitchFamily="34" charset="0"/>
                <a:ea typeface="Calibri" pitchFamily="34" charset="-122"/>
                <a:cs typeface="Calibri" pitchFamily="34" charset="-120"/>
              </a:rPr>
              <a:t>PostgreSQL</a:t>
            </a:r>
            <a:endParaRPr lang="en-US" sz="1700" dirty="0"/>
          </a:p>
        </p:txBody>
      </p:sp>
      <p:sp>
        <p:nvSpPr>
          <p:cNvPr id="29" name="Text 24"/>
          <p:cNvSpPr txBox="1"/>
          <p:nvPr/>
        </p:nvSpPr>
        <p:spPr>
          <a:xfrm>
            <a:off x="9189720" y="2606040"/>
            <a:ext cx="2286000" cy="17830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A3B3C9"/>
                </a:solidFill>
                <a:latin typeface="Calibri" pitchFamily="34" charset="0"/>
                <a:ea typeface="Calibri" pitchFamily="34" charset="-122"/>
                <a:cs typeface="Calibri" pitchFamily="34" charset="-120"/>
              </a:rPr>
              <a:t>One schema per area</a:t>
            </a:r>
            <a:endParaRPr lang="en-US" sz="1250" dirty="0"/>
          </a:p>
          <a:p>
            <a:pPr marL="342900" indent="-342900">
              <a:spcAft>
                <a:spcPts val="500"/>
              </a:spcAft>
              <a:buSzPct val="100000"/>
              <a:buChar char="•"/>
            </a:pPr>
            <a:r>
              <a:rPr lang="en-US" sz="1250" dirty="0">
                <a:solidFill>
                  <a:srgbClr val="A3B3C9"/>
                </a:solidFill>
                <a:latin typeface="Calibri" pitchFamily="34" charset="0"/>
                <a:ea typeface="Calibri" pitchFamily="34" charset="-122"/>
                <a:cs typeface="Calibri" pitchFamily="34" charset="-120"/>
              </a:rPr>
              <a:t>Versioned migrations</a:t>
            </a:r>
            <a:endParaRPr lang="en-US" sz="1250" dirty="0"/>
          </a:p>
          <a:p>
            <a:pPr marL="342900" indent="-342900">
              <a:spcAft>
                <a:spcPts val="500"/>
              </a:spcAft>
              <a:buSzPct val="100000"/>
              <a:buChar char="•"/>
            </a:pPr>
            <a:r>
              <a:rPr lang="en-US" sz="1250" dirty="0">
                <a:solidFill>
                  <a:srgbClr val="A3B3C9"/>
                </a:solidFill>
                <a:latin typeface="Calibri" pitchFamily="34" charset="0"/>
                <a:ea typeface="Calibri" pitchFamily="34" charset="-122"/>
                <a:cs typeface="Calibri" pitchFamily="34" charset="-120"/>
              </a:rPr>
              <a:t>Audit trail with no personal data</a:t>
            </a:r>
            <a:endParaRPr lang="en-US" sz="1250" dirty="0"/>
          </a:p>
        </p:txBody>
      </p:sp>
      <p:sp>
        <p:nvSpPr>
          <p:cNvPr id="30" name="Shape 25"/>
          <p:cNvSpPr/>
          <p:nvPr/>
        </p:nvSpPr>
        <p:spPr>
          <a:xfrm>
            <a:off x="3264408" y="3063240"/>
            <a:ext cx="329184" cy="0"/>
          </a:xfrm>
          <a:prstGeom prst="line">
            <a:avLst/>
          </a:prstGeom>
          <a:noFill/>
          <a:ln w="25400">
            <a:solidFill>
              <a:srgbClr val="10B981"/>
            </a:solidFill>
            <a:prstDash val="solid"/>
            <a:headEnd type="triangle"/>
            <a:tailEnd type="triangle"/>
          </a:ln>
        </p:spPr>
      </p:sp>
      <p:sp>
        <p:nvSpPr>
          <p:cNvPr id="31" name="Shape 26"/>
          <p:cNvSpPr/>
          <p:nvPr/>
        </p:nvSpPr>
        <p:spPr>
          <a:xfrm>
            <a:off x="8613648" y="3063240"/>
            <a:ext cx="329184" cy="0"/>
          </a:xfrm>
          <a:prstGeom prst="line">
            <a:avLst/>
          </a:prstGeom>
          <a:noFill/>
          <a:ln w="25400">
            <a:solidFill>
              <a:srgbClr val="10B981"/>
            </a:solidFill>
            <a:prstDash val="solid"/>
            <a:headEnd type="triangle"/>
            <a:tailEnd type="triangle"/>
          </a:ln>
        </p:spPr>
      </p:sp>
      <p:sp>
        <p:nvSpPr>
          <p:cNvPr id="32" name="Text 27"/>
          <p:cNvSpPr txBox="1"/>
          <p:nvPr/>
        </p:nvSpPr>
        <p:spPr>
          <a:xfrm>
            <a:off x="548640" y="4590288"/>
            <a:ext cx="4572000" cy="228600"/>
          </a:xfrm>
          <a:prstGeom prst="rect">
            <a:avLst/>
          </a:prstGeom>
          <a:noFill/>
          <a:ln/>
        </p:spPr>
        <p:txBody>
          <a:bodyPr wrap="square" lIns="0" tIns="0" rIns="0" bIns="0" rtlCol="0" anchor="t"/>
          <a:lstStyle/>
          <a:p>
            <a:pPr marL="0" indent="0">
              <a:buNone/>
            </a:pPr>
            <a:r>
              <a:rPr lang="en-US" sz="1100" b="1" kern="0" spc="200" dirty="0">
                <a:solidFill>
                  <a:srgbClr val="64748B"/>
                </a:solidFill>
                <a:latin typeface="Calibri" pitchFamily="34" charset="0"/>
                <a:ea typeface="Calibri" pitchFamily="34" charset="-122"/>
                <a:cs typeface="Calibri" pitchFamily="34" charset="-120"/>
              </a:rPr>
              <a:t>SERVICES WE USE</a:t>
            </a:r>
            <a:endParaRPr lang="en-US" sz="1100" dirty="0"/>
          </a:p>
        </p:txBody>
      </p:sp>
      <p:sp>
        <p:nvSpPr>
          <p:cNvPr id="33" name="Shape 28"/>
          <p:cNvSpPr/>
          <p:nvPr/>
        </p:nvSpPr>
        <p:spPr>
          <a:xfrm>
            <a:off x="548640" y="4864608"/>
            <a:ext cx="2651760" cy="621792"/>
          </a:xfrm>
          <a:prstGeom prst="roundRect">
            <a:avLst>
              <a:gd name="adj" fmla="val 17647"/>
            </a:avLst>
          </a:prstGeom>
          <a:solidFill>
            <a:srgbClr val="17223A"/>
          </a:solidFill>
          <a:ln w="12700">
            <a:solidFill>
              <a:srgbClr val="17223A"/>
            </a:solidFill>
            <a:prstDash val="solid"/>
          </a:ln>
        </p:spPr>
      </p:sp>
      <p:sp>
        <p:nvSpPr>
          <p:cNvPr id="34" name="Shape 29"/>
          <p:cNvSpPr/>
          <p:nvPr/>
        </p:nvSpPr>
        <p:spPr>
          <a:xfrm>
            <a:off x="676656" y="4937760"/>
            <a:ext cx="475488" cy="475488"/>
          </a:xfrm>
          <a:prstGeom prst="ellipse">
            <a:avLst/>
          </a:prstGeom>
          <a:solidFill>
            <a:srgbClr val="1E2B45"/>
          </a:solidFill>
          <a:ln w="19050">
            <a:solidFill>
              <a:srgbClr val="10B981"/>
            </a:solidFill>
            <a:prstDash val="solid"/>
          </a:ln>
        </p:spPr>
      </p:sp>
      <p:pic>
        <p:nvPicPr>
          <p:cNvPr id="35" name="Image 3" descr="preencoded.png"/>
          <p:cNvPicPr>
            <a:picLocks noChangeAspect="1"/>
          </p:cNvPicPr>
          <p:nvPr/>
        </p:nvPicPr>
        <p:blipFill>
          <a:blip r:embed="rId6"/>
          <a:stretch>
            <a:fillRect/>
          </a:stretch>
        </p:blipFill>
        <p:spPr>
          <a:xfrm>
            <a:off x="790773" y="5051877"/>
            <a:ext cx="247254" cy="247254"/>
          </a:xfrm>
          <a:prstGeom prst="rect">
            <a:avLst/>
          </a:prstGeom>
        </p:spPr>
      </p:pic>
      <p:sp>
        <p:nvSpPr>
          <p:cNvPr id="36" name="Text 30"/>
          <p:cNvSpPr txBox="1"/>
          <p:nvPr/>
        </p:nvSpPr>
        <p:spPr>
          <a:xfrm>
            <a:off x="1280160" y="4919472"/>
            <a:ext cx="1847088" cy="512064"/>
          </a:xfrm>
          <a:prstGeom prst="rect">
            <a:avLst/>
          </a:prstGeom>
          <a:noFill/>
          <a:ln/>
        </p:spPr>
        <p:txBody>
          <a:bodyPr wrap="square" lIns="0" tIns="0" rIns="0" bIns="0" rtlCol="0" anchor="ctr"/>
          <a:lstStyle/>
          <a:p>
            <a:pPr marL="0" indent="0">
              <a:buNone/>
            </a:pPr>
            <a:r>
              <a:rPr lang="en-US" sz="1250" b="1" dirty="0">
                <a:solidFill>
                  <a:srgbClr val="F8FAFC"/>
                </a:solidFill>
                <a:latin typeface="Calibri" pitchFamily="34" charset="0"/>
                <a:ea typeface="Calibri" pitchFamily="34" charset="-122"/>
                <a:cs typeface="Calibri" pitchFamily="34" charset="-120"/>
              </a:rPr>
              <a:t>PayFast</a:t>
            </a:r>
            <a:endParaRPr lang="en-US" sz="1250" dirty="0"/>
          </a:p>
          <a:p>
            <a:pPr marL="0" indent="0">
              <a:buNone/>
            </a:pPr>
            <a:r>
              <a:rPr lang="en-US" sz="1050" dirty="0">
                <a:solidFill>
                  <a:srgbClr val="A3B3C9"/>
                </a:solidFill>
                <a:latin typeface="Calibri" pitchFamily="34" charset="0"/>
                <a:ea typeface="Calibri" pitchFamily="34" charset="-122"/>
                <a:cs typeface="Calibri" pitchFamily="34" charset="-120"/>
              </a:rPr>
              <a:t>payments, checked 4 ways</a:t>
            </a:r>
            <a:endParaRPr lang="en-US" sz="1250" dirty="0"/>
          </a:p>
        </p:txBody>
      </p:sp>
      <p:sp>
        <p:nvSpPr>
          <p:cNvPr id="37" name="Shape 31"/>
          <p:cNvSpPr/>
          <p:nvPr/>
        </p:nvSpPr>
        <p:spPr>
          <a:xfrm>
            <a:off x="3364992" y="4864608"/>
            <a:ext cx="2651760" cy="621792"/>
          </a:xfrm>
          <a:prstGeom prst="roundRect">
            <a:avLst>
              <a:gd name="adj" fmla="val 17647"/>
            </a:avLst>
          </a:prstGeom>
          <a:solidFill>
            <a:srgbClr val="17223A"/>
          </a:solidFill>
          <a:ln w="12700">
            <a:solidFill>
              <a:srgbClr val="17223A"/>
            </a:solidFill>
            <a:prstDash val="solid"/>
          </a:ln>
        </p:spPr>
      </p:sp>
      <p:sp>
        <p:nvSpPr>
          <p:cNvPr id="38" name="Shape 32"/>
          <p:cNvSpPr/>
          <p:nvPr/>
        </p:nvSpPr>
        <p:spPr>
          <a:xfrm>
            <a:off x="3493008" y="4937760"/>
            <a:ext cx="475488" cy="475488"/>
          </a:xfrm>
          <a:prstGeom prst="ellipse">
            <a:avLst/>
          </a:prstGeom>
          <a:solidFill>
            <a:srgbClr val="1E2B45"/>
          </a:solidFill>
          <a:ln w="19050">
            <a:solidFill>
              <a:srgbClr val="10B981"/>
            </a:solidFill>
            <a:prstDash val="solid"/>
          </a:ln>
        </p:spPr>
      </p:sp>
      <p:pic>
        <p:nvPicPr>
          <p:cNvPr id="39" name="Image 4" descr="preencoded.png"/>
          <p:cNvPicPr>
            <a:picLocks noChangeAspect="1"/>
          </p:cNvPicPr>
          <p:nvPr/>
        </p:nvPicPr>
        <p:blipFill>
          <a:blip r:embed="rId7"/>
          <a:stretch>
            <a:fillRect/>
          </a:stretch>
        </p:blipFill>
        <p:spPr>
          <a:xfrm>
            <a:off x="3607125" y="5051877"/>
            <a:ext cx="247254" cy="247254"/>
          </a:xfrm>
          <a:prstGeom prst="rect">
            <a:avLst/>
          </a:prstGeom>
        </p:spPr>
      </p:pic>
      <p:sp>
        <p:nvSpPr>
          <p:cNvPr id="40" name="Text 33"/>
          <p:cNvSpPr txBox="1"/>
          <p:nvPr/>
        </p:nvSpPr>
        <p:spPr>
          <a:xfrm>
            <a:off x="4096512" y="4919472"/>
            <a:ext cx="1847088" cy="512064"/>
          </a:xfrm>
          <a:prstGeom prst="rect">
            <a:avLst/>
          </a:prstGeom>
          <a:noFill/>
          <a:ln/>
        </p:spPr>
        <p:txBody>
          <a:bodyPr wrap="square" lIns="0" tIns="0" rIns="0" bIns="0" rtlCol="0" anchor="ctr"/>
          <a:lstStyle/>
          <a:p>
            <a:pPr marL="0" indent="0">
              <a:buNone/>
            </a:pPr>
            <a:r>
              <a:rPr lang="en-US" sz="1250" b="1" dirty="0">
                <a:solidFill>
                  <a:srgbClr val="F8FAFC"/>
                </a:solidFill>
                <a:latin typeface="Calibri" pitchFamily="34" charset="0"/>
                <a:ea typeface="Calibri" pitchFamily="34" charset="-122"/>
                <a:cs typeface="Calibri" pitchFamily="34" charset="-120"/>
              </a:rPr>
              <a:t>Cloudinary</a:t>
            </a:r>
            <a:endParaRPr lang="en-US" sz="1250" dirty="0"/>
          </a:p>
          <a:p>
            <a:pPr marL="0" indent="0">
              <a:buNone/>
            </a:pPr>
            <a:r>
              <a:rPr lang="en-US" sz="1050" dirty="0">
                <a:solidFill>
                  <a:srgbClr val="A3B3C9"/>
                </a:solidFill>
                <a:latin typeface="Calibri" pitchFamily="34" charset="0"/>
                <a:ea typeface="Calibri" pitchFamily="34" charset="-122"/>
                <a:cs typeface="Calibri" pitchFamily="34" charset="-120"/>
              </a:rPr>
              <a:t>signed photo uploads</a:t>
            </a:r>
            <a:endParaRPr lang="en-US" sz="1250" dirty="0"/>
          </a:p>
        </p:txBody>
      </p:sp>
      <p:sp>
        <p:nvSpPr>
          <p:cNvPr id="41" name="Shape 34"/>
          <p:cNvSpPr/>
          <p:nvPr/>
        </p:nvSpPr>
        <p:spPr>
          <a:xfrm>
            <a:off x="6181344" y="4864608"/>
            <a:ext cx="2651760" cy="621792"/>
          </a:xfrm>
          <a:prstGeom prst="roundRect">
            <a:avLst>
              <a:gd name="adj" fmla="val 17647"/>
            </a:avLst>
          </a:prstGeom>
          <a:solidFill>
            <a:srgbClr val="17223A"/>
          </a:solidFill>
          <a:ln w="12700">
            <a:solidFill>
              <a:srgbClr val="17223A"/>
            </a:solidFill>
            <a:prstDash val="solid"/>
          </a:ln>
        </p:spPr>
      </p:sp>
      <p:sp>
        <p:nvSpPr>
          <p:cNvPr id="42" name="Shape 35"/>
          <p:cNvSpPr/>
          <p:nvPr/>
        </p:nvSpPr>
        <p:spPr>
          <a:xfrm>
            <a:off x="6309360" y="4937760"/>
            <a:ext cx="475488" cy="475488"/>
          </a:xfrm>
          <a:prstGeom prst="ellipse">
            <a:avLst/>
          </a:prstGeom>
          <a:solidFill>
            <a:srgbClr val="1E2B45"/>
          </a:solidFill>
          <a:ln w="19050">
            <a:solidFill>
              <a:srgbClr val="10B981"/>
            </a:solidFill>
            <a:prstDash val="solid"/>
          </a:ln>
        </p:spPr>
      </p:sp>
      <p:pic>
        <p:nvPicPr>
          <p:cNvPr id="43" name="Image 5" descr="preencoded.png"/>
          <p:cNvPicPr>
            <a:picLocks noChangeAspect="1"/>
          </p:cNvPicPr>
          <p:nvPr/>
        </p:nvPicPr>
        <p:blipFill>
          <a:blip r:embed="rId8"/>
          <a:stretch>
            <a:fillRect/>
          </a:stretch>
        </p:blipFill>
        <p:spPr>
          <a:xfrm>
            <a:off x="6423477" y="5051877"/>
            <a:ext cx="247254" cy="247254"/>
          </a:xfrm>
          <a:prstGeom prst="rect">
            <a:avLst/>
          </a:prstGeom>
        </p:spPr>
      </p:pic>
      <p:sp>
        <p:nvSpPr>
          <p:cNvPr id="44" name="Text 36"/>
          <p:cNvSpPr txBox="1"/>
          <p:nvPr/>
        </p:nvSpPr>
        <p:spPr>
          <a:xfrm>
            <a:off x="6912864" y="4919472"/>
            <a:ext cx="1847088" cy="512064"/>
          </a:xfrm>
          <a:prstGeom prst="rect">
            <a:avLst/>
          </a:prstGeom>
          <a:noFill/>
          <a:ln/>
        </p:spPr>
        <p:txBody>
          <a:bodyPr wrap="square" lIns="0" tIns="0" rIns="0" bIns="0" rtlCol="0" anchor="ctr"/>
          <a:lstStyle/>
          <a:p>
            <a:pPr marL="0" indent="0">
              <a:buNone/>
            </a:pPr>
            <a:r>
              <a:rPr lang="en-US" sz="1250" b="1" dirty="0">
                <a:solidFill>
                  <a:srgbClr val="F8FAFC"/>
                </a:solidFill>
                <a:latin typeface="Calibri" pitchFamily="34" charset="0"/>
                <a:ea typeface="Calibri" pitchFamily="34" charset="-122"/>
                <a:cs typeface="Calibri" pitchFamily="34" charset="-120"/>
              </a:rPr>
              <a:t>Mapbox</a:t>
            </a:r>
            <a:endParaRPr lang="en-US" sz="1250" dirty="0"/>
          </a:p>
          <a:p>
            <a:pPr marL="0" indent="0">
              <a:buNone/>
            </a:pPr>
            <a:r>
              <a:rPr lang="en-US" sz="1050" dirty="0">
                <a:solidFill>
                  <a:srgbClr val="A3B3C9"/>
                </a:solidFill>
                <a:latin typeface="Calibri" pitchFamily="34" charset="0"/>
                <a:ea typeface="Calibri" pitchFamily="34" charset="-122"/>
                <a:cs typeface="Calibri" pitchFamily="34" charset="-120"/>
              </a:rPr>
              <a:t>address search</a:t>
            </a:r>
            <a:endParaRPr lang="en-US" sz="1250" dirty="0"/>
          </a:p>
        </p:txBody>
      </p:sp>
      <p:sp>
        <p:nvSpPr>
          <p:cNvPr id="45" name="Shape 37"/>
          <p:cNvSpPr/>
          <p:nvPr/>
        </p:nvSpPr>
        <p:spPr>
          <a:xfrm>
            <a:off x="8997696" y="4864608"/>
            <a:ext cx="2651760" cy="621792"/>
          </a:xfrm>
          <a:prstGeom prst="roundRect">
            <a:avLst>
              <a:gd name="adj" fmla="val 17647"/>
            </a:avLst>
          </a:prstGeom>
          <a:solidFill>
            <a:srgbClr val="17223A"/>
          </a:solidFill>
          <a:ln w="12700">
            <a:solidFill>
              <a:srgbClr val="17223A"/>
            </a:solidFill>
            <a:prstDash val="solid"/>
          </a:ln>
        </p:spPr>
      </p:sp>
      <p:sp>
        <p:nvSpPr>
          <p:cNvPr id="46" name="Shape 38"/>
          <p:cNvSpPr/>
          <p:nvPr/>
        </p:nvSpPr>
        <p:spPr>
          <a:xfrm>
            <a:off x="9125712" y="4937760"/>
            <a:ext cx="475488" cy="475488"/>
          </a:xfrm>
          <a:prstGeom prst="ellipse">
            <a:avLst/>
          </a:prstGeom>
          <a:solidFill>
            <a:srgbClr val="1E2B45"/>
          </a:solidFill>
          <a:ln w="19050">
            <a:solidFill>
              <a:srgbClr val="10B981"/>
            </a:solidFill>
            <a:prstDash val="solid"/>
          </a:ln>
        </p:spPr>
      </p:sp>
      <p:pic>
        <p:nvPicPr>
          <p:cNvPr id="47" name="Image 6" descr="preencoded.png"/>
          <p:cNvPicPr>
            <a:picLocks noChangeAspect="1"/>
          </p:cNvPicPr>
          <p:nvPr/>
        </p:nvPicPr>
        <p:blipFill>
          <a:blip r:embed="rId9"/>
          <a:stretch>
            <a:fillRect/>
          </a:stretch>
        </p:blipFill>
        <p:spPr>
          <a:xfrm>
            <a:off x="9239829" y="5051877"/>
            <a:ext cx="247254" cy="247254"/>
          </a:xfrm>
          <a:prstGeom prst="rect">
            <a:avLst/>
          </a:prstGeom>
        </p:spPr>
      </p:pic>
      <p:sp>
        <p:nvSpPr>
          <p:cNvPr id="48" name="Text 39"/>
          <p:cNvSpPr txBox="1"/>
          <p:nvPr/>
        </p:nvSpPr>
        <p:spPr>
          <a:xfrm>
            <a:off x="9729216" y="4919472"/>
            <a:ext cx="1847088" cy="512064"/>
          </a:xfrm>
          <a:prstGeom prst="rect">
            <a:avLst/>
          </a:prstGeom>
          <a:noFill/>
          <a:ln/>
        </p:spPr>
        <p:txBody>
          <a:bodyPr wrap="square" lIns="0" tIns="0" rIns="0" bIns="0" rtlCol="0" anchor="ctr"/>
          <a:lstStyle/>
          <a:p>
            <a:pPr marL="0" indent="0">
              <a:buNone/>
            </a:pPr>
            <a:r>
              <a:rPr lang="en-US" sz="1250" b="1" dirty="0">
                <a:solidFill>
                  <a:srgbClr val="F8FAFC"/>
                </a:solidFill>
                <a:latin typeface="Calibri" pitchFamily="34" charset="0"/>
                <a:ea typeface="Calibri" pitchFamily="34" charset="-122"/>
                <a:cs typeface="Calibri" pitchFamily="34" charset="-120"/>
              </a:rPr>
              <a:t>Email</a:t>
            </a:r>
            <a:endParaRPr lang="en-US" sz="1250" dirty="0"/>
          </a:p>
          <a:p>
            <a:pPr marL="0" indent="0">
              <a:buNone/>
            </a:pPr>
            <a:r>
              <a:rPr lang="en-US" sz="1050" dirty="0">
                <a:solidFill>
                  <a:srgbClr val="A3B3C9"/>
                </a:solidFill>
                <a:latin typeface="Calibri" pitchFamily="34" charset="0"/>
                <a:ea typeface="Calibri" pitchFamily="34" charset="-122"/>
                <a:cs typeface="Calibri" pitchFamily="34" charset="-120"/>
              </a:rPr>
              <a:t>codes, receipts, alerts</a:t>
            </a:r>
            <a:endParaRPr lang="en-US" sz="1250" dirty="0"/>
          </a:p>
        </p:txBody>
      </p:sp>
      <p:sp>
        <p:nvSpPr>
          <p:cNvPr id="49" name="Shape 40"/>
          <p:cNvSpPr/>
          <p:nvPr/>
        </p:nvSpPr>
        <p:spPr>
          <a:xfrm>
            <a:off x="548640" y="5596128"/>
            <a:ext cx="11091672" cy="603504"/>
          </a:xfrm>
          <a:prstGeom prst="roundRect">
            <a:avLst>
              <a:gd name="adj" fmla="val 18182"/>
            </a:avLst>
          </a:prstGeom>
          <a:solidFill>
            <a:srgbClr val="1E2B45"/>
          </a:solidFill>
          <a:ln w="12700">
            <a:solidFill>
              <a:srgbClr val="1E2B45"/>
            </a:solidFill>
            <a:prstDash val="solid"/>
          </a:ln>
        </p:spPr>
      </p:sp>
      <p:sp>
        <p:nvSpPr>
          <p:cNvPr id="50" name="Text 41"/>
          <p:cNvSpPr txBox="1"/>
          <p:nvPr/>
        </p:nvSpPr>
        <p:spPr>
          <a:xfrm>
            <a:off x="777240" y="5596128"/>
            <a:ext cx="10652760" cy="603504"/>
          </a:xfrm>
          <a:prstGeom prst="rect">
            <a:avLst/>
          </a:prstGeom>
          <a:noFill/>
          <a:ln/>
        </p:spPr>
        <p:txBody>
          <a:bodyPr wrap="square" lIns="0" tIns="0" rIns="0" bIns="0" rtlCol="0" anchor="ctr"/>
          <a:lstStyle/>
          <a:p>
            <a:pPr marL="0" indent="0">
              <a:buNone/>
            </a:pPr>
            <a:r>
              <a:rPr lang="en-US" sz="1250" dirty="0">
                <a:solidFill>
                  <a:srgbClr val="F8FAFC"/>
                </a:solidFill>
                <a:latin typeface="Calibri" pitchFamily="34" charset="0"/>
                <a:ea typeface="Calibri" pitchFamily="34" charset="-122"/>
                <a:cs typeface="Calibri" pitchFamily="34" charset="-120"/>
              </a:rPr>
              <a:t>On every request: HTTPS, a signed-in token, only the owner's data (anyone else's is 'not found'), strict input checks, rate limits, no double orders, and the server sets every price. 1,281 backend and 204 app tests run before every merge.</a:t>
            </a:r>
            <a:endParaRPr lang="en-US" sz="1250" dirty="0"/>
          </a:p>
        </p:txBody>
      </p:sp>
      <p:pic>
        <p:nvPicPr>
          <p:cNvPr id="51" name="Image 7" descr="preencoded.png"/>
          <p:cNvPicPr>
            <a:picLocks noChangeAspect="1"/>
          </p:cNvPicPr>
          <p:nvPr/>
        </p:nvPicPr>
        <p:blipFill>
          <a:blip r:embed="rId10"/>
          <a:stretch>
            <a:fillRect/>
          </a:stretch>
        </p:blipFill>
        <p:spPr>
          <a:xfrm>
            <a:off x="11231575" y="6291072"/>
            <a:ext cx="384048" cy="384048"/>
          </a:xfrm>
          <a:prstGeom prst="rect">
            <a:avLst/>
          </a:prstGeom>
        </p:spPr>
      </p:pic>
      <p:sp>
        <p:nvSpPr>
          <p:cNvPr id="52" name="Text 42"/>
          <p:cNvSpPr txBox="1"/>
          <p:nvPr/>
        </p:nvSpPr>
        <p:spPr>
          <a:xfrm>
            <a:off x="10682935" y="6355080"/>
            <a:ext cx="457200" cy="274320"/>
          </a:xfrm>
          <a:prstGeom prst="rect">
            <a:avLst/>
          </a:prstGeom>
          <a:noFill/>
          <a:ln/>
        </p:spPr>
        <p:txBody>
          <a:bodyPr wrap="square" lIns="0" tIns="0" rIns="0" bIns="0" rtlCol="0" anchor="t"/>
          <a:lstStyle/>
          <a:p>
            <a:pPr marL="0" indent="0" algn="r">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t"/>
          <a:lstStyle/>
          <a:p>
            <a:pPr marL="0" indent="0">
              <a:buNone/>
            </a:pPr>
            <a:r>
              <a:rPr lang="en-US" sz="1300" b="1" kern="0" spc="300" dirty="0">
                <a:solidFill>
                  <a:srgbClr val="10B981"/>
                </a:solidFill>
                <a:latin typeface="Calibri" pitchFamily="34" charset="0"/>
                <a:ea typeface="Calibri" pitchFamily="34" charset="-122"/>
                <a:cs typeface="Calibri" pitchFamily="34" charset="-120"/>
              </a:rPr>
              <a:t>DATA PRIVACY POLICY</a:t>
            </a:r>
            <a:endParaRPr lang="en-US" sz="13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marL="0" indent="0">
              <a:buNone/>
            </a:pPr>
            <a:r>
              <a:rPr lang="en-US" sz="3400" b="1" dirty="0">
                <a:solidFill>
                  <a:srgbClr val="F8FAFC"/>
                </a:solidFill>
                <a:latin typeface="Georgia" pitchFamily="34" charset="0"/>
                <a:ea typeface="Georgia" pitchFamily="34" charset="-122"/>
                <a:cs typeface="Georgia" pitchFamily="34" charset="-120"/>
              </a:rPr>
              <a:t>Your data is yours. POPIA from day one.</a:t>
            </a:r>
            <a:endParaRPr lang="en-US" sz="3400" dirty="0"/>
          </a:p>
        </p:txBody>
      </p:sp>
      <p:sp>
        <p:nvSpPr>
          <p:cNvPr id="4" name="Shape 2"/>
          <p:cNvSpPr/>
          <p:nvPr/>
        </p:nvSpPr>
        <p:spPr>
          <a:xfrm>
            <a:off x="548640" y="1645920"/>
            <a:ext cx="6812280" cy="3246120"/>
          </a:xfrm>
          <a:prstGeom prst="roundRect">
            <a:avLst>
              <a:gd name="adj" fmla="val 3380"/>
            </a:avLst>
          </a:prstGeom>
          <a:solidFill>
            <a:srgbClr val="17223A"/>
          </a:solidFill>
          <a:ln w="12700">
            <a:solidFill>
              <a:srgbClr val="17223A"/>
            </a:solidFill>
            <a:prstDash val="solid"/>
          </a:ln>
        </p:spPr>
      </p:sp>
      <p:sp>
        <p:nvSpPr>
          <p:cNvPr id="5" name="Text 3"/>
          <p:cNvSpPr txBox="1"/>
          <p:nvPr/>
        </p:nvSpPr>
        <p:spPr>
          <a:xfrm>
            <a:off x="822960" y="1810512"/>
            <a:ext cx="6309360" cy="365760"/>
          </a:xfrm>
          <a:prstGeom prst="rect">
            <a:avLst/>
          </a:prstGeom>
          <a:noFill/>
          <a:ln/>
        </p:spPr>
        <p:txBody>
          <a:bodyPr wrap="square" lIns="0" tIns="0" rIns="0" bIns="0" rtlCol="0" anchor="t"/>
          <a:lstStyle/>
          <a:p>
            <a:pPr marL="0" indent="0">
              <a:buNone/>
            </a:pPr>
            <a:r>
              <a:rPr lang="en-US" sz="1700" b="1" dirty="0">
                <a:solidFill>
                  <a:srgbClr val="34D399"/>
                </a:solidFill>
                <a:latin typeface="Calibri" pitchFamily="34" charset="0"/>
                <a:ea typeface="Calibri" pitchFamily="34" charset="-122"/>
                <a:cs typeface="Calibri" pitchFamily="34" charset="-120"/>
              </a:rPr>
              <a:t>What we collect, and why</a:t>
            </a:r>
            <a:endParaRPr lang="en-US" sz="1700" dirty="0"/>
          </a:p>
        </p:txBody>
      </p:sp>
      <p:sp>
        <p:nvSpPr>
          <p:cNvPr id="6" name="Shape 4"/>
          <p:cNvSpPr/>
          <p:nvPr/>
        </p:nvSpPr>
        <p:spPr>
          <a:xfrm>
            <a:off x="841248" y="2450592"/>
            <a:ext cx="128016" cy="128016"/>
          </a:xfrm>
          <a:prstGeom prst="ellipse">
            <a:avLst/>
          </a:prstGeom>
          <a:solidFill>
            <a:srgbClr val="10B981"/>
          </a:solidFill>
          <a:ln w="12700">
            <a:solidFill>
              <a:srgbClr val="10B981"/>
            </a:solidFill>
            <a:prstDash val="solid"/>
          </a:ln>
        </p:spPr>
      </p:sp>
      <p:sp>
        <p:nvSpPr>
          <p:cNvPr id="7" name="Text 5"/>
          <p:cNvSpPr txBox="1"/>
          <p:nvPr/>
        </p:nvSpPr>
        <p:spPr>
          <a:xfrm>
            <a:off x="1097280" y="2331720"/>
            <a:ext cx="3154680" cy="365760"/>
          </a:xfrm>
          <a:prstGeom prst="rect">
            <a:avLst/>
          </a:prstGeom>
          <a:noFill/>
          <a:ln/>
        </p:spPr>
        <p:txBody>
          <a:bodyPr wrap="square" lIns="0" tIns="0" rIns="0" bIns="0" rtlCol="0" anchor="ctr"/>
          <a:lstStyle/>
          <a:p>
            <a:pPr marL="0" indent="0">
              <a:buNone/>
            </a:pPr>
            <a:r>
              <a:rPr lang="en-US" sz="1350" dirty="0">
                <a:solidFill>
                  <a:srgbClr val="F8FAFC"/>
                </a:solidFill>
                <a:latin typeface="Calibri" pitchFamily="34" charset="0"/>
                <a:ea typeface="Calibri" pitchFamily="34" charset="-122"/>
                <a:cs typeface="Calibri" pitchFamily="34" charset="-120"/>
              </a:rPr>
              <a:t>Email and password (stored hashed)</a:t>
            </a:r>
            <a:endParaRPr lang="en-US" sz="1350" dirty="0"/>
          </a:p>
        </p:txBody>
      </p:sp>
      <p:sp>
        <p:nvSpPr>
          <p:cNvPr id="8" name="Text 6"/>
          <p:cNvSpPr txBox="1"/>
          <p:nvPr/>
        </p:nvSpPr>
        <p:spPr>
          <a:xfrm>
            <a:off x="4297680" y="2331720"/>
            <a:ext cx="2926080" cy="365760"/>
          </a:xfrm>
          <a:prstGeom prst="rect">
            <a:avLst/>
          </a:prstGeom>
          <a:noFill/>
          <a:ln/>
        </p:spPr>
        <p:txBody>
          <a:bodyPr wrap="square" lIns="0" tIns="0" rIns="0" bIns="0" rtlCol="0" anchor="ctr"/>
          <a:lstStyle/>
          <a:p>
            <a:pPr marL="0" indent="0">
              <a:buNone/>
            </a:pPr>
            <a:r>
              <a:rPr lang="en-US" sz="1300" dirty="0">
                <a:solidFill>
                  <a:srgbClr val="A3B3C9"/>
                </a:solidFill>
                <a:latin typeface="Calibri" pitchFamily="34" charset="0"/>
                <a:ea typeface="Calibri" pitchFamily="34" charset="-122"/>
                <a:cs typeface="Calibri" pitchFamily="34" charset="-120"/>
              </a:rPr>
              <a:t>to sign you in</a:t>
            </a:r>
            <a:endParaRPr lang="en-US" sz="1300" dirty="0"/>
          </a:p>
        </p:txBody>
      </p:sp>
      <p:sp>
        <p:nvSpPr>
          <p:cNvPr id="9" name="Shape 7"/>
          <p:cNvSpPr/>
          <p:nvPr/>
        </p:nvSpPr>
        <p:spPr>
          <a:xfrm>
            <a:off x="841248" y="2944368"/>
            <a:ext cx="128016" cy="128016"/>
          </a:xfrm>
          <a:prstGeom prst="ellipse">
            <a:avLst/>
          </a:prstGeom>
          <a:solidFill>
            <a:srgbClr val="10B981"/>
          </a:solidFill>
          <a:ln w="12700">
            <a:solidFill>
              <a:srgbClr val="10B981"/>
            </a:solidFill>
            <a:prstDash val="solid"/>
          </a:ln>
        </p:spPr>
      </p:sp>
      <p:sp>
        <p:nvSpPr>
          <p:cNvPr id="10" name="Text 8"/>
          <p:cNvSpPr txBox="1"/>
          <p:nvPr/>
        </p:nvSpPr>
        <p:spPr>
          <a:xfrm>
            <a:off x="1097280" y="2825496"/>
            <a:ext cx="3154680" cy="365760"/>
          </a:xfrm>
          <a:prstGeom prst="rect">
            <a:avLst/>
          </a:prstGeom>
          <a:noFill/>
          <a:ln/>
        </p:spPr>
        <p:txBody>
          <a:bodyPr wrap="square" lIns="0" tIns="0" rIns="0" bIns="0" rtlCol="0" anchor="ctr"/>
          <a:lstStyle/>
          <a:p>
            <a:pPr marL="0" indent="0">
              <a:buNone/>
            </a:pPr>
            <a:r>
              <a:rPr lang="en-US" sz="1350" dirty="0">
                <a:solidFill>
                  <a:srgbClr val="F8FAFC"/>
                </a:solidFill>
                <a:latin typeface="Calibri" pitchFamily="34" charset="0"/>
                <a:ea typeface="Calibri" pitchFamily="34" charset="-122"/>
                <a:cs typeface="Calibri" pitchFamily="34" charset="-120"/>
              </a:rPr>
              <a:t>Business name, type and area</a:t>
            </a:r>
            <a:endParaRPr lang="en-US" sz="1350" dirty="0"/>
          </a:p>
        </p:txBody>
      </p:sp>
      <p:sp>
        <p:nvSpPr>
          <p:cNvPr id="11" name="Text 9"/>
          <p:cNvSpPr txBox="1"/>
          <p:nvPr/>
        </p:nvSpPr>
        <p:spPr>
          <a:xfrm>
            <a:off x="4297680" y="2825496"/>
            <a:ext cx="2926080" cy="365760"/>
          </a:xfrm>
          <a:prstGeom prst="rect">
            <a:avLst/>
          </a:prstGeom>
          <a:noFill/>
          <a:ln/>
        </p:spPr>
        <p:txBody>
          <a:bodyPr wrap="square" lIns="0" tIns="0" rIns="0" bIns="0" rtlCol="0" anchor="ctr"/>
          <a:lstStyle/>
          <a:p>
            <a:pPr marL="0" indent="0">
              <a:buNone/>
            </a:pPr>
            <a:r>
              <a:rPr lang="en-US" sz="1300" dirty="0">
                <a:solidFill>
                  <a:srgbClr val="A3B3C9"/>
                </a:solidFill>
                <a:latin typeface="Calibri" pitchFamily="34" charset="0"/>
                <a:ea typeface="Calibri" pitchFamily="34" charset="-122"/>
                <a:cs typeface="Calibri" pitchFamily="34" charset="-120"/>
              </a:rPr>
              <a:t>the right tools and suppliers</a:t>
            </a:r>
            <a:endParaRPr lang="en-US" sz="1300" dirty="0"/>
          </a:p>
        </p:txBody>
      </p:sp>
      <p:sp>
        <p:nvSpPr>
          <p:cNvPr id="12" name="Shape 10"/>
          <p:cNvSpPr/>
          <p:nvPr/>
        </p:nvSpPr>
        <p:spPr>
          <a:xfrm>
            <a:off x="841248" y="3438144"/>
            <a:ext cx="128016" cy="128016"/>
          </a:xfrm>
          <a:prstGeom prst="ellipse">
            <a:avLst/>
          </a:prstGeom>
          <a:solidFill>
            <a:srgbClr val="10B981"/>
          </a:solidFill>
          <a:ln w="12700">
            <a:solidFill>
              <a:srgbClr val="10B981"/>
            </a:solidFill>
            <a:prstDash val="solid"/>
          </a:ln>
        </p:spPr>
      </p:sp>
      <p:sp>
        <p:nvSpPr>
          <p:cNvPr id="13" name="Text 11"/>
          <p:cNvSpPr txBox="1"/>
          <p:nvPr/>
        </p:nvSpPr>
        <p:spPr>
          <a:xfrm>
            <a:off x="1097280" y="3319272"/>
            <a:ext cx="3154680" cy="365760"/>
          </a:xfrm>
          <a:prstGeom prst="rect">
            <a:avLst/>
          </a:prstGeom>
          <a:noFill/>
          <a:ln/>
        </p:spPr>
        <p:txBody>
          <a:bodyPr wrap="square" lIns="0" tIns="0" rIns="0" bIns="0" rtlCol="0" anchor="ctr"/>
          <a:lstStyle/>
          <a:p>
            <a:pPr marL="0" indent="0">
              <a:buNone/>
            </a:pPr>
            <a:r>
              <a:rPr lang="en-US" sz="1350" dirty="0">
                <a:solidFill>
                  <a:srgbClr val="F8FAFC"/>
                </a:solidFill>
                <a:latin typeface="Calibri" pitchFamily="34" charset="0"/>
                <a:ea typeface="Calibri" pitchFamily="34" charset="-122"/>
                <a:cs typeface="Calibri" pitchFamily="34" charset="-120"/>
              </a:rPr>
              <a:t>A CIPC number, only if you choose</a:t>
            </a:r>
            <a:endParaRPr lang="en-US" sz="1350" dirty="0"/>
          </a:p>
        </p:txBody>
      </p:sp>
      <p:sp>
        <p:nvSpPr>
          <p:cNvPr id="14" name="Text 12"/>
          <p:cNvSpPr txBox="1"/>
          <p:nvPr/>
        </p:nvSpPr>
        <p:spPr>
          <a:xfrm>
            <a:off x="4297680" y="3319272"/>
            <a:ext cx="2926080" cy="365760"/>
          </a:xfrm>
          <a:prstGeom prst="rect">
            <a:avLst/>
          </a:prstGeom>
          <a:noFill/>
          <a:ln/>
        </p:spPr>
        <p:txBody>
          <a:bodyPr wrap="square" lIns="0" tIns="0" rIns="0" bIns="0" rtlCol="0" anchor="ctr"/>
          <a:lstStyle/>
          <a:p>
            <a:pPr marL="0" indent="0">
              <a:buNone/>
            </a:pPr>
            <a:r>
              <a:rPr lang="en-US" sz="1300" dirty="0">
                <a:solidFill>
                  <a:srgbClr val="A3B3C9"/>
                </a:solidFill>
                <a:latin typeface="Calibri" pitchFamily="34" charset="0"/>
                <a:ea typeface="Calibri" pitchFamily="34" charset="-122"/>
                <a:cs typeface="Calibri" pitchFamily="34" charset="-120"/>
              </a:rPr>
              <a:t>a badge, checked on the register</a:t>
            </a:r>
            <a:endParaRPr lang="en-US" sz="1300" dirty="0"/>
          </a:p>
        </p:txBody>
      </p:sp>
      <p:sp>
        <p:nvSpPr>
          <p:cNvPr id="15" name="Shape 13"/>
          <p:cNvSpPr/>
          <p:nvPr/>
        </p:nvSpPr>
        <p:spPr>
          <a:xfrm>
            <a:off x="841248" y="3931920"/>
            <a:ext cx="128016" cy="128016"/>
          </a:xfrm>
          <a:prstGeom prst="ellipse">
            <a:avLst/>
          </a:prstGeom>
          <a:solidFill>
            <a:srgbClr val="10B981"/>
          </a:solidFill>
          <a:ln w="12700">
            <a:solidFill>
              <a:srgbClr val="10B981"/>
            </a:solidFill>
            <a:prstDash val="solid"/>
          </a:ln>
        </p:spPr>
      </p:sp>
      <p:sp>
        <p:nvSpPr>
          <p:cNvPr id="16" name="Text 14"/>
          <p:cNvSpPr txBox="1"/>
          <p:nvPr/>
        </p:nvSpPr>
        <p:spPr>
          <a:xfrm>
            <a:off x="1097280" y="3813048"/>
            <a:ext cx="3154680" cy="365760"/>
          </a:xfrm>
          <a:prstGeom prst="rect">
            <a:avLst/>
          </a:prstGeom>
          <a:noFill/>
          <a:ln/>
        </p:spPr>
        <p:txBody>
          <a:bodyPr wrap="square" lIns="0" tIns="0" rIns="0" bIns="0" rtlCol="0" anchor="ctr"/>
          <a:lstStyle/>
          <a:p>
            <a:pPr marL="0" indent="0">
              <a:buNone/>
            </a:pPr>
            <a:r>
              <a:rPr lang="en-US" sz="1350" dirty="0">
                <a:solidFill>
                  <a:srgbClr val="F8FAFC"/>
                </a:solidFill>
                <a:latin typeface="Calibri" pitchFamily="34" charset="0"/>
                <a:ea typeface="Calibri" pitchFamily="34" charset="-122"/>
                <a:cs typeface="Calibri" pitchFamily="34" charset="-120"/>
              </a:rPr>
              <a:t>Orders and payment results</a:t>
            </a:r>
            <a:endParaRPr lang="en-US" sz="1350" dirty="0"/>
          </a:p>
        </p:txBody>
      </p:sp>
      <p:sp>
        <p:nvSpPr>
          <p:cNvPr id="17" name="Text 15"/>
          <p:cNvSpPr txBox="1"/>
          <p:nvPr/>
        </p:nvSpPr>
        <p:spPr>
          <a:xfrm>
            <a:off x="4297680" y="3813048"/>
            <a:ext cx="2926080" cy="365760"/>
          </a:xfrm>
          <a:prstGeom prst="rect">
            <a:avLst/>
          </a:prstGeom>
          <a:noFill/>
          <a:ln/>
        </p:spPr>
        <p:txBody>
          <a:bodyPr wrap="square" lIns="0" tIns="0" rIns="0" bIns="0" rtlCol="0" anchor="ctr"/>
          <a:lstStyle/>
          <a:p>
            <a:pPr marL="0" indent="0">
              <a:buNone/>
            </a:pPr>
            <a:r>
              <a:rPr lang="en-US" sz="1300" dirty="0">
                <a:solidFill>
                  <a:srgbClr val="A3B3C9"/>
                </a:solidFill>
                <a:latin typeface="Calibri" pitchFamily="34" charset="0"/>
                <a:ea typeface="Calibri" pitchFamily="34" charset="-122"/>
                <a:cs typeface="Calibri" pitchFamily="34" charset="-120"/>
              </a:rPr>
              <a:t>invoices, receipts and your record</a:t>
            </a:r>
            <a:endParaRPr lang="en-US" sz="1300" dirty="0"/>
          </a:p>
        </p:txBody>
      </p:sp>
      <p:sp>
        <p:nvSpPr>
          <p:cNvPr id="18" name="Shape 16"/>
          <p:cNvSpPr/>
          <p:nvPr/>
        </p:nvSpPr>
        <p:spPr>
          <a:xfrm>
            <a:off x="841248" y="4425696"/>
            <a:ext cx="128016" cy="128016"/>
          </a:xfrm>
          <a:prstGeom prst="ellipse">
            <a:avLst/>
          </a:prstGeom>
          <a:solidFill>
            <a:srgbClr val="10B981"/>
          </a:solidFill>
          <a:ln w="12700">
            <a:solidFill>
              <a:srgbClr val="10B981"/>
            </a:solidFill>
            <a:prstDash val="solid"/>
          </a:ln>
        </p:spPr>
      </p:sp>
      <p:sp>
        <p:nvSpPr>
          <p:cNvPr id="19" name="Text 17"/>
          <p:cNvSpPr txBox="1"/>
          <p:nvPr/>
        </p:nvSpPr>
        <p:spPr>
          <a:xfrm>
            <a:off x="1097280" y="4306824"/>
            <a:ext cx="3154680" cy="365760"/>
          </a:xfrm>
          <a:prstGeom prst="rect">
            <a:avLst/>
          </a:prstGeom>
          <a:noFill/>
          <a:ln/>
        </p:spPr>
        <p:txBody>
          <a:bodyPr wrap="square" lIns="0" tIns="0" rIns="0" bIns="0" rtlCol="0" anchor="ctr"/>
          <a:lstStyle/>
          <a:p>
            <a:pPr marL="0" indent="0">
              <a:buNone/>
            </a:pPr>
            <a:r>
              <a:rPr lang="en-US" sz="1350" dirty="0">
                <a:solidFill>
                  <a:srgbClr val="F8FAFC"/>
                </a:solidFill>
                <a:latin typeface="Calibri" pitchFamily="34" charset="0"/>
                <a:ea typeface="Calibri" pitchFamily="34" charset="-122"/>
                <a:cs typeface="Calibri" pitchFamily="34" charset="-120"/>
              </a:rPr>
              <a:t>Your tools: credit book, jobs</a:t>
            </a:r>
            <a:endParaRPr lang="en-US" sz="1350" dirty="0"/>
          </a:p>
        </p:txBody>
      </p:sp>
      <p:sp>
        <p:nvSpPr>
          <p:cNvPr id="20" name="Text 18"/>
          <p:cNvSpPr txBox="1"/>
          <p:nvPr/>
        </p:nvSpPr>
        <p:spPr>
          <a:xfrm>
            <a:off x="4297680" y="4306824"/>
            <a:ext cx="2926080" cy="365760"/>
          </a:xfrm>
          <a:prstGeom prst="rect">
            <a:avLst/>
          </a:prstGeom>
          <a:noFill/>
          <a:ln/>
        </p:spPr>
        <p:txBody>
          <a:bodyPr wrap="square" lIns="0" tIns="0" rIns="0" bIns="0" rtlCol="0" anchor="ctr"/>
          <a:lstStyle/>
          <a:p>
            <a:pPr marL="0" indent="0">
              <a:buNone/>
            </a:pPr>
            <a:r>
              <a:rPr lang="en-US" sz="1300" dirty="0">
                <a:solidFill>
                  <a:srgbClr val="A3B3C9"/>
                </a:solidFill>
                <a:latin typeface="Calibri" pitchFamily="34" charset="0"/>
                <a:ea typeface="Calibri" pitchFamily="34" charset="-122"/>
                <a:cs typeface="Calibri" pitchFamily="34" charset="-120"/>
              </a:rPr>
              <a:t>yours; suppliers never see it</a:t>
            </a:r>
            <a:endParaRPr lang="en-US" sz="1300" dirty="0"/>
          </a:p>
        </p:txBody>
      </p:sp>
      <p:sp>
        <p:nvSpPr>
          <p:cNvPr id="21" name="Shape 19"/>
          <p:cNvSpPr/>
          <p:nvPr/>
        </p:nvSpPr>
        <p:spPr>
          <a:xfrm>
            <a:off x="7589520" y="1645920"/>
            <a:ext cx="4050792" cy="3246120"/>
          </a:xfrm>
          <a:prstGeom prst="roundRect">
            <a:avLst>
              <a:gd name="adj" fmla="val 3380"/>
            </a:avLst>
          </a:prstGeom>
          <a:solidFill>
            <a:srgbClr val="1E2B45"/>
          </a:solidFill>
          <a:ln w="12700">
            <a:solidFill>
              <a:srgbClr val="1E2B45"/>
            </a:solidFill>
            <a:prstDash val="solid"/>
          </a:ln>
        </p:spPr>
      </p:sp>
      <p:sp>
        <p:nvSpPr>
          <p:cNvPr id="22" name="Text 20"/>
          <p:cNvSpPr txBox="1"/>
          <p:nvPr/>
        </p:nvSpPr>
        <p:spPr>
          <a:xfrm>
            <a:off x="7863840" y="1810512"/>
            <a:ext cx="3566160" cy="365760"/>
          </a:xfrm>
          <a:prstGeom prst="rect">
            <a:avLst/>
          </a:prstGeom>
          <a:noFill/>
          <a:ln/>
        </p:spPr>
        <p:txBody>
          <a:bodyPr wrap="square" lIns="0" tIns="0" rIns="0" bIns="0" rtlCol="0" anchor="t"/>
          <a:lstStyle/>
          <a:p>
            <a:pPr marL="0" indent="0">
              <a:buNone/>
            </a:pPr>
            <a:r>
              <a:rPr lang="en-US" sz="1700" b="1" dirty="0">
                <a:solidFill>
                  <a:srgbClr val="FBBF24"/>
                </a:solidFill>
                <a:latin typeface="Calibri" pitchFamily="34" charset="0"/>
                <a:ea typeface="Calibri" pitchFamily="34" charset="-122"/>
                <a:cs typeface="Calibri" pitchFamily="34" charset="-120"/>
              </a:rPr>
              <a:t>What we never do</a:t>
            </a:r>
            <a:endParaRPr lang="en-US" sz="1700" dirty="0"/>
          </a:p>
        </p:txBody>
      </p:sp>
      <p:sp>
        <p:nvSpPr>
          <p:cNvPr id="23" name="Shape 21"/>
          <p:cNvSpPr/>
          <p:nvPr/>
        </p:nvSpPr>
        <p:spPr>
          <a:xfrm>
            <a:off x="7863840" y="2331720"/>
            <a:ext cx="402336" cy="402336"/>
          </a:xfrm>
          <a:prstGeom prst="ellipse">
            <a:avLst/>
          </a:prstGeom>
          <a:solidFill>
            <a:srgbClr val="1E2B45"/>
          </a:solidFill>
          <a:ln w="19050">
            <a:solidFill>
              <a:srgbClr val="FBBF24"/>
            </a:solidFill>
            <a:prstDash val="solid"/>
          </a:ln>
        </p:spPr>
      </p:sp>
      <p:pic>
        <p:nvPicPr>
          <p:cNvPr id="24" name="Image 0" descr="preencoded.png"/>
          <p:cNvPicPr>
            <a:picLocks noChangeAspect="1"/>
          </p:cNvPicPr>
          <p:nvPr/>
        </p:nvPicPr>
        <p:blipFill>
          <a:blip r:embed="rId3"/>
          <a:stretch>
            <a:fillRect/>
          </a:stretch>
        </p:blipFill>
        <p:spPr>
          <a:xfrm>
            <a:off x="7960401" y="2428281"/>
            <a:ext cx="209215" cy="209215"/>
          </a:xfrm>
          <a:prstGeom prst="rect">
            <a:avLst/>
          </a:prstGeom>
        </p:spPr>
      </p:pic>
      <p:sp>
        <p:nvSpPr>
          <p:cNvPr id="25" name="Text 22"/>
          <p:cNvSpPr txBox="1"/>
          <p:nvPr/>
        </p:nvSpPr>
        <p:spPr>
          <a:xfrm>
            <a:off x="8412480" y="2276856"/>
            <a:ext cx="3063240" cy="512064"/>
          </a:xfrm>
          <a:prstGeom prst="rect">
            <a:avLst/>
          </a:prstGeom>
          <a:noFill/>
          <a:ln/>
        </p:spPr>
        <p:txBody>
          <a:bodyPr wrap="square" lIns="0" tIns="0" rIns="0" bIns="0" rtlCol="0" anchor="ctr"/>
          <a:lstStyle/>
          <a:p>
            <a:pPr marL="0" indent="0">
              <a:buNone/>
            </a:pPr>
            <a:r>
              <a:rPr lang="en-US" sz="1350" dirty="0">
                <a:solidFill>
                  <a:srgbClr val="F8FAFC"/>
                </a:solidFill>
                <a:latin typeface="Calibri" pitchFamily="34" charset="0"/>
                <a:ea typeface="Calibri" pitchFamily="34" charset="-122"/>
                <a:cs typeface="Calibri" pitchFamily="34" charset="-120"/>
              </a:rPr>
              <a:t>Ask for an ID number or passport</a:t>
            </a:r>
            <a:endParaRPr lang="en-US" sz="1350" dirty="0"/>
          </a:p>
        </p:txBody>
      </p:sp>
      <p:sp>
        <p:nvSpPr>
          <p:cNvPr id="26" name="Shape 23"/>
          <p:cNvSpPr/>
          <p:nvPr/>
        </p:nvSpPr>
        <p:spPr>
          <a:xfrm>
            <a:off x="7863840" y="2935224"/>
            <a:ext cx="402336" cy="402336"/>
          </a:xfrm>
          <a:prstGeom prst="ellipse">
            <a:avLst/>
          </a:prstGeom>
          <a:solidFill>
            <a:srgbClr val="1E2B45"/>
          </a:solidFill>
          <a:ln w="19050">
            <a:solidFill>
              <a:srgbClr val="FBBF24"/>
            </a:solidFill>
            <a:prstDash val="solid"/>
          </a:ln>
        </p:spPr>
      </p:sp>
      <p:pic>
        <p:nvPicPr>
          <p:cNvPr id="27" name="Image 1" descr="preencoded.png"/>
          <p:cNvPicPr>
            <a:picLocks noChangeAspect="1"/>
          </p:cNvPicPr>
          <p:nvPr/>
        </p:nvPicPr>
        <p:blipFill>
          <a:blip r:embed="rId3"/>
          <a:stretch>
            <a:fillRect/>
          </a:stretch>
        </p:blipFill>
        <p:spPr>
          <a:xfrm>
            <a:off x="7960401" y="3031785"/>
            <a:ext cx="209215" cy="209215"/>
          </a:xfrm>
          <a:prstGeom prst="rect">
            <a:avLst/>
          </a:prstGeom>
        </p:spPr>
      </p:pic>
      <p:sp>
        <p:nvSpPr>
          <p:cNvPr id="28" name="Text 24"/>
          <p:cNvSpPr txBox="1"/>
          <p:nvPr/>
        </p:nvSpPr>
        <p:spPr>
          <a:xfrm>
            <a:off x="8412480" y="2880360"/>
            <a:ext cx="3063240" cy="512064"/>
          </a:xfrm>
          <a:prstGeom prst="rect">
            <a:avLst/>
          </a:prstGeom>
          <a:noFill/>
          <a:ln/>
        </p:spPr>
        <p:txBody>
          <a:bodyPr wrap="square" lIns="0" tIns="0" rIns="0" bIns="0" rtlCol="0" anchor="ctr"/>
          <a:lstStyle/>
          <a:p>
            <a:pPr marL="0" indent="0">
              <a:buNone/>
            </a:pPr>
            <a:r>
              <a:rPr lang="en-US" sz="1350" dirty="0">
                <a:solidFill>
                  <a:srgbClr val="F8FAFC"/>
                </a:solidFill>
                <a:latin typeface="Calibri" pitchFamily="34" charset="0"/>
                <a:ea typeface="Calibri" pitchFamily="34" charset="-122"/>
                <a:cs typeface="Calibri" pitchFamily="34" charset="-120"/>
              </a:rPr>
              <a:t>See or store card numbers</a:t>
            </a:r>
            <a:endParaRPr lang="en-US" sz="1350" dirty="0"/>
          </a:p>
        </p:txBody>
      </p:sp>
      <p:sp>
        <p:nvSpPr>
          <p:cNvPr id="29" name="Shape 25"/>
          <p:cNvSpPr/>
          <p:nvPr/>
        </p:nvSpPr>
        <p:spPr>
          <a:xfrm>
            <a:off x="7863840" y="3538728"/>
            <a:ext cx="402336" cy="402336"/>
          </a:xfrm>
          <a:prstGeom prst="ellipse">
            <a:avLst/>
          </a:prstGeom>
          <a:solidFill>
            <a:srgbClr val="1E2B45"/>
          </a:solidFill>
          <a:ln w="19050">
            <a:solidFill>
              <a:srgbClr val="FBBF24"/>
            </a:solidFill>
            <a:prstDash val="solid"/>
          </a:ln>
        </p:spPr>
      </p:sp>
      <p:pic>
        <p:nvPicPr>
          <p:cNvPr id="30" name="Image 2" descr="preencoded.png"/>
          <p:cNvPicPr>
            <a:picLocks noChangeAspect="1"/>
          </p:cNvPicPr>
          <p:nvPr/>
        </p:nvPicPr>
        <p:blipFill>
          <a:blip r:embed="rId3"/>
          <a:stretch>
            <a:fillRect/>
          </a:stretch>
        </p:blipFill>
        <p:spPr>
          <a:xfrm>
            <a:off x="7960401" y="3635289"/>
            <a:ext cx="209215" cy="209215"/>
          </a:xfrm>
          <a:prstGeom prst="rect">
            <a:avLst/>
          </a:prstGeom>
        </p:spPr>
      </p:pic>
      <p:sp>
        <p:nvSpPr>
          <p:cNvPr id="31" name="Text 26"/>
          <p:cNvSpPr txBox="1"/>
          <p:nvPr/>
        </p:nvSpPr>
        <p:spPr>
          <a:xfrm>
            <a:off x="8412480" y="3483864"/>
            <a:ext cx="3063240" cy="512064"/>
          </a:xfrm>
          <a:prstGeom prst="rect">
            <a:avLst/>
          </a:prstGeom>
          <a:noFill/>
          <a:ln/>
        </p:spPr>
        <p:txBody>
          <a:bodyPr wrap="square" lIns="0" tIns="0" rIns="0" bIns="0" rtlCol="0" anchor="ctr"/>
          <a:lstStyle/>
          <a:p>
            <a:pPr marL="0" indent="0">
              <a:buNone/>
            </a:pPr>
            <a:r>
              <a:rPr lang="en-US" sz="1350" dirty="0">
                <a:solidFill>
                  <a:srgbClr val="F8FAFC"/>
                </a:solidFill>
                <a:latin typeface="Calibri" pitchFamily="34" charset="0"/>
                <a:ea typeface="Calibri" pitchFamily="34" charset="-122"/>
                <a:cs typeface="Calibri" pitchFamily="34" charset="-120"/>
              </a:rPr>
              <a:t>Sell your data, or use it for ads</a:t>
            </a:r>
            <a:endParaRPr lang="en-US" sz="1350" dirty="0"/>
          </a:p>
        </p:txBody>
      </p:sp>
      <p:sp>
        <p:nvSpPr>
          <p:cNvPr id="32" name="Shape 27"/>
          <p:cNvSpPr/>
          <p:nvPr/>
        </p:nvSpPr>
        <p:spPr>
          <a:xfrm>
            <a:off x="7863840" y="4142232"/>
            <a:ext cx="402336" cy="402336"/>
          </a:xfrm>
          <a:prstGeom prst="ellipse">
            <a:avLst/>
          </a:prstGeom>
          <a:solidFill>
            <a:srgbClr val="1E2B45"/>
          </a:solidFill>
          <a:ln w="19050">
            <a:solidFill>
              <a:srgbClr val="FBBF24"/>
            </a:solidFill>
            <a:prstDash val="solid"/>
          </a:ln>
        </p:spPr>
      </p:sp>
      <p:pic>
        <p:nvPicPr>
          <p:cNvPr id="33" name="Image 3" descr="preencoded.png"/>
          <p:cNvPicPr>
            <a:picLocks noChangeAspect="1"/>
          </p:cNvPicPr>
          <p:nvPr/>
        </p:nvPicPr>
        <p:blipFill>
          <a:blip r:embed="rId3"/>
          <a:stretch>
            <a:fillRect/>
          </a:stretch>
        </p:blipFill>
        <p:spPr>
          <a:xfrm>
            <a:off x="7960401" y="4238793"/>
            <a:ext cx="209215" cy="209215"/>
          </a:xfrm>
          <a:prstGeom prst="rect">
            <a:avLst/>
          </a:prstGeom>
        </p:spPr>
      </p:pic>
      <p:sp>
        <p:nvSpPr>
          <p:cNvPr id="34" name="Text 28"/>
          <p:cNvSpPr txBox="1"/>
          <p:nvPr/>
        </p:nvSpPr>
        <p:spPr>
          <a:xfrm>
            <a:off x="8412480" y="4087368"/>
            <a:ext cx="3063240" cy="512064"/>
          </a:xfrm>
          <a:prstGeom prst="rect">
            <a:avLst/>
          </a:prstGeom>
          <a:noFill/>
          <a:ln/>
        </p:spPr>
        <p:txBody>
          <a:bodyPr wrap="square" lIns="0" tIns="0" rIns="0" bIns="0" rtlCol="0" anchor="ctr"/>
          <a:lstStyle/>
          <a:p>
            <a:pPr marL="0" indent="0">
              <a:buNone/>
            </a:pPr>
            <a:r>
              <a:rPr lang="en-US" sz="1350" dirty="0">
                <a:solidFill>
                  <a:srgbClr val="F8FAFC"/>
                </a:solidFill>
                <a:latin typeface="Calibri" pitchFamily="34" charset="0"/>
                <a:ea typeface="Calibri" pitchFamily="34" charset="-122"/>
                <a:cs typeface="Calibri" pitchFamily="34" charset="-120"/>
              </a:rPr>
              <a:t>Show your customers' names to suppliers</a:t>
            </a:r>
            <a:endParaRPr lang="en-US" sz="1350" dirty="0"/>
          </a:p>
        </p:txBody>
      </p:sp>
      <p:sp>
        <p:nvSpPr>
          <p:cNvPr id="35" name="Shape 29"/>
          <p:cNvSpPr/>
          <p:nvPr/>
        </p:nvSpPr>
        <p:spPr>
          <a:xfrm>
            <a:off x="548640" y="5074920"/>
            <a:ext cx="11091672" cy="1097280"/>
          </a:xfrm>
          <a:prstGeom prst="roundRect">
            <a:avLst>
              <a:gd name="adj" fmla="val 10000"/>
            </a:avLst>
          </a:prstGeom>
          <a:solidFill>
            <a:srgbClr val="17223A"/>
          </a:solidFill>
          <a:ln w="12700">
            <a:solidFill>
              <a:srgbClr val="17223A"/>
            </a:solidFill>
            <a:prstDash val="solid"/>
          </a:ln>
        </p:spPr>
      </p:sp>
      <p:sp>
        <p:nvSpPr>
          <p:cNvPr id="36" name="Text 30"/>
          <p:cNvSpPr txBox="1"/>
          <p:nvPr/>
        </p:nvSpPr>
        <p:spPr>
          <a:xfrm>
            <a:off x="822960" y="5193792"/>
            <a:ext cx="3657600" cy="256032"/>
          </a:xfrm>
          <a:prstGeom prst="rect">
            <a:avLst/>
          </a:prstGeom>
          <a:noFill/>
          <a:ln/>
        </p:spPr>
        <p:txBody>
          <a:bodyPr wrap="square" lIns="0" tIns="0" rIns="0" bIns="0" rtlCol="0" anchor="t"/>
          <a:lstStyle/>
          <a:p>
            <a:pPr marL="0" indent="0">
              <a:buNone/>
            </a:pPr>
            <a:r>
              <a:rPr lang="en-US" sz="1150" b="1" kern="0" spc="200" dirty="0">
                <a:solidFill>
                  <a:srgbClr val="10B981"/>
                </a:solidFill>
                <a:latin typeface="Calibri" pitchFamily="34" charset="0"/>
                <a:ea typeface="Calibri" pitchFamily="34" charset="-122"/>
                <a:cs typeface="Calibri" pitchFamily="34" charset="-120"/>
              </a:rPr>
              <a:t>YOUR RIGHTS</a:t>
            </a:r>
            <a:endParaRPr lang="en-US" sz="1150" dirty="0"/>
          </a:p>
        </p:txBody>
      </p:sp>
      <p:sp>
        <p:nvSpPr>
          <p:cNvPr id="37" name="Text 31"/>
          <p:cNvSpPr txBox="1"/>
          <p:nvPr/>
        </p:nvSpPr>
        <p:spPr>
          <a:xfrm>
            <a:off x="822960" y="5468112"/>
            <a:ext cx="2560320" cy="274320"/>
          </a:xfrm>
          <a:prstGeom prst="rect">
            <a:avLst/>
          </a:prstGeom>
          <a:noFill/>
          <a:ln/>
        </p:spPr>
        <p:txBody>
          <a:bodyPr wrap="square" lIns="0" tIns="0" rIns="0" bIns="0" rtlCol="0" anchor="t"/>
          <a:lstStyle/>
          <a:p>
            <a:pPr marL="0" indent="0">
              <a:buNone/>
            </a:pPr>
            <a:r>
              <a:rPr lang="en-US" sz="1350" b="1" dirty="0">
                <a:solidFill>
                  <a:srgbClr val="F8FAFC"/>
                </a:solidFill>
                <a:latin typeface="Calibri" pitchFamily="34" charset="0"/>
                <a:ea typeface="Calibri" pitchFamily="34" charset="-122"/>
                <a:cs typeface="Calibri" pitchFamily="34" charset="-120"/>
              </a:rPr>
              <a:t>See and download your data</a:t>
            </a:r>
            <a:endParaRPr lang="en-US" sz="1350" dirty="0"/>
          </a:p>
        </p:txBody>
      </p:sp>
      <p:sp>
        <p:nvSpPr>
          <p:cNvPr id="38" name="Text 32"/>
          <p:cNvSpPr txBox="1"/>
          <p:nvPr/>
        </p:nvSpPr>
        <p:spPr>
          <a:xfrm>
            <a:off x="822960" y="5742432"/>
            <a:ext cx="2560320" cy="384048"/>
          </a:xfrm>
          <a:prstGeom prst="rect">
            <a:avLst/>
          </a:prstGeom>
          <a:noFill/>
          <a:ln/>
        </p:spPr>
        <p:txBody>
          <a:bodyPr wrap="square" lIns="0" tIns="0" rIns="0" bIns="0" rtlCol="0" anchor="t"/>
          <a:lstStyle/>
          <a:p>
            <a:pPr marL="0" indent="0">
              <a:buNone/>
            </a:pPr>
            <a:r>
              <a:rPr lang="en-US" sz="1100" dirty="0">
                <a:solidFill>
                  <a:srgbClr val="A3B3C9"/>
                </a:solidFill>
                <a:latin typeface="Calibri" pitchFamily="34" charset="0"/>
                <a:ea typeface="Calibri" pitchFamily="34" charset="-122"/>
                <a:cs typeface="Calibri" pitchFamily="34" charset="-120"/>
              </a:rPr>
              <a:t>On our server today; the app button is next</a:t>
            </a:r>
            <a:endParaRPr lang="en-US" sz="1100" dirty="0"/>
          </a:p>
        </p:txBody>
      </p:sp>
      <p:sp>
        <p:nvSpPr>
          <p:cNvPr id="39" name="Text 33"/>
          <p:cNvSpPr txBox="1"/>
          <p:nvPr/>
        </p:nvSpPr>
        <p:spPr>
          <a:xfrm>
            <a:off x="3538728" y="5468112"/>
            <a:ext cx="2560320" cy="274320"/>
          </a:xfrm>
          <a:prstGeom prst="rect">
            <a:avLst/>
          </a:prstGeom>
          <a:noFill/>
          <a:ln/>
        </p:spPr>
        <p:txBody>
          <a:bodyPr wrap="square" lIns="0" tIns="0" rIns="0" bIns="0" rtlCol="0" anchor="t"/>
          <a:lstStyle/>
          <a:p>
            <a:pPr marL="0" indent="0">
              <a:buNone/>
            </a:pPr>
            <a:r>
              <a:rPr lang="en-US" sz="1350" b="1" dirty="0">
                <a:solidFill>
                  <a:srgbClr val="F8FAFC"/>
                </a:solidFill>
                <a:latin typeface="Calibri" pitchFamily="34" charset="0"/>
                <a:ea typeface="Calibri" pitchFamily="34" charset="-122"/>
                <a:cs typeface="Calibri" pitchFamily="34" charset="-120"/>
              </a:rPr>
              <a:t>Close your account</a:t>
            </a:r>
            <a:endParaRPr lang="en-US" sz="1350" dirty="0"/>
          </a:p>
        </p:txBody>
      </p:sp>
      <p:sp>
        <p:nvSpPr>
          <p:cNvPr id="40" name="Text 34"/>
          <p:cNvSpPr txBox="1"/>
          <p:nvPr/>
        </p:nvSpPr>
        <p:spPr>
          <a:xfrm>
            <a:off x="3538728" y="5742432"/>
            <a:ext cx="2560320" cy="384048"/>
          </a:xfrm>
          <a:prstGeom prst="rect">
            <a:avLst/>
          </a:prstGeom>
          <a:noFill/>
          <a:ln/>
        </p:spPr>
        <p:txBody>
          <a:bodyPr wrap="square" lIns="0" tIns="0" rIns="0" bIns="0" rtlCol="0" anchor="t"/>
          <a:lstStyle/>
          <a:p>
            <a:pPr marL="0" indent="0">
              <a:buNone/>
            </a:pPr>
            <a:r>
              <a:rPr lang="en-US" sz="1100" dirty="0">
                <a:solidFill>
                  <a:srgbClr val="A3B3C9"/>
                </a:solidFill>
                <a:latin typeface="Calibri" pitchFamily="34" charset="0"/>
                <a:ea typeface="Calibri" pitchFamily="34" charset="-122"/>
                <a:cs typeface="Calibri" pitchFamily="34" charset="-120"/>
              </a:rPr>
              <a:t>In the app today; every phone is signed out</a:t>
            </a:r>
            <a:endParaRPr lang="en-US" sz="1100" dirty="0"/>
          </a:p>
        </p:txBody>
      </p:sp>
      <p:sp>
        <p:nvSpPr>
          <p:cNvPr id="41" name="Text 35"/>
          <p:cNvSpPr txBox="1"/>
          <p:nvPr/>
        </p:nvSpPr>
        <p:spPr>
          <a:xfrm>
            <a:off x="6254496" y="5468112"/>
            <a:ext cx="2560320" cy="274320"/>
          </a:xfrm>
          <a:prstGeom prst="rect">
            <a:avLst/>
          </a:prstGeom>
          <a:noFill/>
          <a:ln/>
        </p:spPr>
        <p:txBody>
          <a:bodyPr wrap="square" lIns="0" tIns="0" rIns="0" bIns="0" rtlCol="0" anchor="t"/>
          <a:lstStyle/>
          <a:p>
            <a:pPr marL="0" indent="0">
              <a:buNone/>
            </a:pPr>
            <a:r>
              <a:rPr lang="en-US" sz="1350" b="1" dirty="0">
                <a:solidFill>
                  <a:srgbClr val="F8FAFC"/>
                </a:solidFill>
                <a:latin typeface="Calibri" pitchFamily="34" charset="0"/>
                <a:ea typeface="Calibri" pitchFamily="34" charset="-122"/>
                <a:cs typeface="Calibri" pitchFamily="34" charset="-120"/>
              </a:rPr>
              <a:t>Delete your data</a:t>
            </a:r>
            <a:endParaRPr lang="en-US" sz="1350" dirty="0"/>
          </a:p>
        </p:txBody>
      </p:sp>
      <p:sp>
        <p:nvSpPr>
          <p:cNvPr id="42" name="Text 36"/>
          <p:cNvSpPr txBox="1"/>
          <p:nvPr/>
        </p:nvSpPr>
        <p:spPr>
          <a:xfrm>
            <a:off x="6254496" y="5742432"/>
            <a:ext cx="2560320" cy="384048"/>
          </a:xfrm>
          <a:prstGeom prst="rect">
            <a:avLst/>
          </a:prstGeom>
          <a:noFill/>
          <a:ln/>
        </p:spPr>
        <p:txBody>
          <a:bodyPr wrap="square" lIns="0" tIns="0" rIns="0" bIns="0" rtlCol="0" anchor="t"/>
          <a:lstStyle/>
          <a:p>
            <a:pPr marL="0" indent="0">
              <a:buNone/>
            </a:pPr>
            <a:r>
              <a:rPr lang="en-US" sz="1100" dirty="0">
                <a:solidFill>
                  <a:srgbClr val="A3B3C9"/>
                </a:solidFill>
                <a:latin typeface="Calibri" pitchFamily="34" charset="0"/>
                <a:ea typeface="Calibri" pitchFamily="34" charset="-122"/>
                <a:cs typeface="Calibri" pitchFamily="34" charset="-120"/>
              </a:rPr>
              <a:t>Next. Tax records stay 5 years, by law</a:t>
            </a:r>
            <a:endParaRPr lang="en-US" sz="1100" dirty="0"/>
          </a:p>
        </p:txBody>
      </p:sp>
      <p:sp>
        <p:nvSpPr>
          <p:cNvPr id="43" name="Text 37"/>
          <p:cNvSpPr txBox="1"/>
          <p:nvPr/>
        </p:nvSpPr>
        <p:spPr>
          <a:xfrm>
            <a:off x="8970264" y="5468112"/>
            <a:ext cx="2560320" cy="274320"/>
          </a:xfrm>
          <a:prstGeom prst="rect">
            <a:avLst/>
          </a:prstGeom>
          <a:noFill/>
          <a:ln/>
        </p:spPr>
        <p:txBody>
          <a:bodyPr wrap="square" lIns="0" tIns="0" rIns="0" bIns="0" rtlCol="0" anchor="t"/>
          <a:lstStyle/>
          <a:p>
            <a:pPr marL="0" indent="0">
              <a:buNone/>
            </a:pPr>
            <a:r>
              <a:rPr lang="en-US" sz="1350" b="1" dirty="0">
                <a:solidFill>
                  <a:srgbClr val="F8FAFC"/>
                </a:solidFill>
                <a:latin typeface="Calibri" pitchFamily="34" charset="0"/>
                <a:ea typeface="Calibri" pitchFamily="34" charset="-122"/>
                <a:cs typeface="Calibri" pitchFamily="34" charset="-120"/>
              </a:rPr>
              <a:t>If there's ever a breach</a:t>
            </a:r>
            <a:endParaRPr lang="en-US" sz="1350" dirty="0"/>
          </a:p>
        </p:txBody>
      </p:sp>
      <p:sp>
        <p:nvSpPr>
          <p:cNvPr id="44" name="Text 38"/>
          <p:cNvSpPr txBox="1"/>
          <p:nvPr/>
        </p:nvSpPr>
        <p:spPr>
          <a:xfrm>
            <a:off x="8970264" y="5742432"/>
            <a:ext cx="2560320" cy="384048"/>
          </a:xfrm>
          <a:prstGeom prst="rect">
            <a:avLst/>
          </a:prstGeom>
          <a:noFill/>
          <a:ln/>
        </p:spPr>
        <p:txBody>
          <a:bodyPr wrap="square" lIns="0" tIns="0" rIns="0" bIns="0" rtlCol="0" anchor="t"/>
          <a:lstStyle/>
          <a:p>
            <a:pPr marL="0" indent="0">
              <a:buNone/>
            </a:pPr>
            <a:r>
              <a:rPr lang="en-US" sz="1100" dirty="0">
                <a:solidFill>
                  <a:srgbClr val="A3B3C9"/>
                </a:solidFill>
                <a:latin typeface="Calibri" pitchFamily="34" charset="0"/>
                <a:ea typeface="Calibri" pitchFamily="34" charset="-122"/>
                <a:cs typeface="Calibri" pitchFamily="34" charset="-120"/>
              </a:rPr>
              <a:t>We tell you and the Information Regulator</a:t>
            </a:r>
            <a:endParaRPr lang="en-US" sz="1100" dirty="0"/>
          </a:p>
        </p:txBody>
      </p:sp>
      <p:pic>
        <p:nvPicPr>
          <p:cNvPr id="45" name="Image 4" descr="preencoded.png"/>
          <p:cNvPicPr>
            <a:picLocks noChangeAspect="1"/>
          </p:cNvPicPr>
          <p:nvPr/>
        </p:nvPicPr>
        <p:blipFill>
          <a:blip r:embed="rId4"/>
          <a:stretch>
            <a:fillRect/>
          </a:stretch>
        </p:blipFill>
        <p:spPr>
          <a:xfrm>
            <a:off x="11231575" y="6291072"/>
            <a:ext cx="384048" cy="384048"/>
          </a:xfrm>
          <a:prstGeom prst="rect">
            <a:avLst/>
          </a:prstGeom>
        </p:spPr>
      </p:pic>
      <p:sp>
        <p:nvSpPr>
          <p:cNvPr id="46" name="Text 39"/>
          <p:cNvSpPr txBox="1"/>
          <p:nvPr/>
        </p:nvSpPr>
        <p:spPr>
          <a:xfrm>
            <a:off x="10682935" y="6355080"/>
            <a:ext cx="457200" cy="274320"/>
          </a:xfrm>
          <a:prstGeom prst="rect">
            <a:avLst/>
          </a:prstGeom>
          <a:noFill/>
          <a:ln/>
        </p:spPr>
        <p:txBody>
          <a:bodyPr wrap="square" lIns="0" tIns="0" rIns="0" bIns="0" rtlCol="0" anchor="t"/>
          <a:lstStyle/>
          <a:p>
            <a:pPr marL="0" indent="0" algn="r">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
        <p:nvSpPr>
          <p:cNvPr id="47" name="Text 40"/>
          <p:cNvSpPr txBox="1"/>
          <p:nvPr/>
        </p:nvSpPr>
        <p:spPr>
          <a:xfrm>
            <a:off x="548640" y="6336792"/>
            <a:ext cx="9875520" cy="365760"/>
          </a:xfrm>
          <a:prstGeom prst="rect">
            <a:avLst/>
          </a:prstGeom>
          <a:noFill/>
          <a:ln/>
        </p:spPr>
        <p:txBody>
          <a:bodyPr wrap="square" lIns="0" tIns="0" rIns="0" bIns="0" rtlCol="0" anchor="t"/>
          <a:lstStyle/>
          <a:p>
            <a:pPr marL="0" indent="0">
              <a:buNone/>
            </a:pPr>
            <a:r>
              <a:rPr lang="en-US" sz="950" dirty="0">
                <a:solidFill>
                  <a:srgbClr val="64748B"/>
                </a:solidFill>
                <a:latin typeface="Calibri" pitchFamily="34" charset="0"/>
                <a:ea typeface="Calibri" pitchFamily="34" charset="-122"/>
                <a:cs typeface="Calibri" pitchFamily="34" charset="-120"/>
              </a:rPr>
              <a:t>A summary of our privacy policy (v0.2, a draft: a legal review comes before launch). Some providers store data outside South Africa, under POPIA section 72.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2812</Words>
  <Application>Microsoft Office PowerPoint</Application>
  <PresentationFormat>Widescreen</PresentationFormat>
  <Paragraphs>198</Paragraphs>
  <Slides>10</Slides>
  <Notes>10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Akayza - prepared by Team PR</dc:title>
  <dc:subject>PptxGenJS Presentation</dc:subject>
  <dc:creator>Team PR</dc:creator>
  <cp:lastModifiedBy>RINSUNA RB. MAHANI</cp:lastModifiedBy>
  <cp:revision>2</cp:revision>
  <dcterms:created xsi:type="dcterms:W3CDTF">2026-09-27T06:25:23Z</dcterms:created>
  <dcterms:modified xsi:type="dcterms:W3CDTF">2026-09-27T06:25:28Z</dcterms:modified>
</cp:coreProperties>
</file>